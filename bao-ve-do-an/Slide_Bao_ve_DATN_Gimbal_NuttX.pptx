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đẹp trai DŨNG" initials="đtD" lastIdx="1" clrIdx="0">
    <p:extLst>
      <p:ext uri="{19B8F6BF-5375-455C-9EA6-DF929625EA0E}">
        <p15:presenceInfo xmlns:p15="http://schemas.microsoft.com/office/powerpoint/2012/main" userId="8ff152347348adf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20" autoAdjust="0"/>
    <p:restoredTop sz="73813" autoAdjust="0"/>
  </p:normalViewPr>
  <p:slideViewPr>
    <p:cSldViewPr snapToGrid="0">
      <p:cViewPr varScale="1">
        <p:scale>
          <a:sx n="78" d="100"/>
          <a:sy n="78" d="100"/>
        </p:scale>
        <p:origin x="1290" y="84"/>
      </p:cViewPr>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commentAuthors" Target="commentAuthors.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34AF74-0498-47A1-AA6E-D5129B465BB1}"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CD068-EAB0-46FF-86FA-629D9445DB89}" type="slidenum">
              <a:rPr lang="en-US" smtClean="0"/>
              <a:t>‹#›</a:t>
            </a:fld>
            <a:endParaRPr lang="en-US"/>
          </a:p>
        </p:txBody>
      </p:sp>
    </p:spTree>
    <p:extLst>
      <p:ext uri="{BB962C8B-B14F-4D97-AF65-F5344CB8AC3E}">
        <p14:creationId xmlns:p14="http://schemas.microsoft.com/office/powerpoint/2010/main" val="25579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Kính thưa đồng chí Trưởng tiểu ban, các thầy trong Hội đồng chấm đồ án tốt nghiệp cùng toàn thể các đồng chí. Dưới sự hướng dẫn khoa học của Trung tá, TS. Nguyễn Ngọc Hưng và Trung tá, ThS. Lê Văn Huy, em đã hoàn thành đồ án với đề tài: “Thiết kế bộ điều khiển Gimbal trên cơ sở hệ điều hành thời gian thực NuttX”. Sau đây em xin trình bày tóm tắt kết quả nghiên cứu trong khoảng 20 phút.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Về lý do chọn đề tài. Camera trên máy bay không người lái là phương tiện quan sát chủ yếu trong cả lĩnh vực quân sự và dân sự, đặc biệt trên UAV cánh bằng. (Nhấp) UAV cánh bằng bay nhanh, không thể treo tại chỗ, liên tục lượn vòng và đổi hướng, lại chịu rung động cơ và nhiễu động khí quyển. Nếu camera gắn cứng, đường ngắm bị kéo lệch, ảnh rung, nhòe và dễ mất mục tiêu. (Nhấp) Vì vậy hệ ổn định camera là thành phần không thể thiếu trong các nhiệm vụ trinh sát – giám sát, bám và chỉ thị mục tiêu, tuần tra – tìm kiếm cứu nạn và khảo sát. (Nhấp) Gimbal giữ cho đường ngắm luôn hướng vào mục tiêu. Từ đó em chọn đề tài thiết kế bộ điều khiển Gimbal chạy trên Apache NuttX – hệ điều hành thời gian thực mã nguồn mở, chuẩn POSIX, cũng là nền của bộ điều khiển bay PX4 – để bảo đảm tính tất định thời gian và dễ tích hợp trên UAV.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(Nhấp) Mục tiêu của đồ án là thiết kế, chế tạo bộ điều khiển Gimbal hai trục Yaw – Pitch trên NuttX, giữ ổn định đường ngắm khi khung mang chuyển động nhanh, đảo chiều và dừng đột ngột. (Nhấp) Chất lượng được đánh giá theo bốn nhóm yêu cầu: độ chính xác giữ hướng; đáp ứng động; khả năng khử nhiễu và bảo vệ cơ cấu chấp hành; và tính tất định thời gian. (Nhấp) Ba ngưỡng thời gian thực là vòng tốc độ góc 2 ms, khe RS485 5 ms và cập nhật mỗi trục 10 ms. Phạm vi: điều khiển Yaw và Pitch, Roll chỉ ước lượng; phương pháp kết hợp lý thuyết, mô phỏng và thực nghiệm.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Đồ án gồm năm nội dung: bài toán và nguyên nhân sai lệch; thiết kế phần cứng và phần mềm thời gian thực; thuật toán điều khiển; mô phỏng, hiệu chỉnh và thực nghiệm – là phần trọng tâm; cuối cùng là đánh giá và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Đối tượng nghiên cứu là Gimbal hai trục. (Nhấp) Các khâu nối tiếp nhau: khung mang, trục Yaw, trục Pitch rồi tới camera; động cơ Pitch nằm trên khung Yaw. (Nhấp) Góc đường ngắm bằng góc khung mang cộng góc quay các khớp, nên Gimbal phải quay bù ngược chuyển động khung mang để đường ngắm đứng yên trong không gian. (Nhấp) Hệ dùng hai cảm biến: IMU1 gắn trên camera đo tư thế đường ngắm làm tín hiệu phản hồi; IMU2 gắn trên đế đo trực tiếp chuyển động khung mang để bù trước. (Nhấp) Bài toán là giữ sai lệch nhỏ trên cả hai trục trong các tình huống khó: khung quay nhanh, đảo chiều, dừng đột ngột, với trễ khoảng 12 ms trên đường tín hiệu.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Vì sao chỉ dùng phản hồi thì chưa đủ? (Nhấp) Theo (1.28), sai lệch xác lập tỉ lệ thuận với tốc độ khung mang và tỉ lệ nghịch với hệ số vòng góc: khung quay 8 °/s với K_p^θ = 9,5 cho sai lệch khoảng 0,84°; muốn giảm 10 lần phải tăng hệ số 10 lần. (Nhấp) Nhưng trên đường tín hiệu có bốn nguồn trễ: lấy mẫu và lọc, tính toán, chờ khe RS485 và đáp ứng động cơ; trễ hiệu dụng cần bù khoảng 12 ms. (Nhấp) Trễ làm mất 43° pha ở 10 Hz và 86° ở 20 Hz, nên không thể tăng hệ số tùy ý. (Nhấp) Từ đó em xác định năm nhóm nguyên nhân và ảnh hưởng: nhiễu đo; trễ và biên ổn định; truyền thông không tất định; chuyển động nhanh, đảo chiều, dừng; và giới hạn lệnh cố định. (Nhấp) Mỗi nhóm tương ứng một hướng giải pháp, đánh số từ ① đến ⑥, được thiết kế ở Phần 3 và kiểm chứng ở Phần 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Phần cứng được tổ chức thành ba miền. (Nhấp) Miền cảm biến: hai IMU ICM20948 – IMU1 trên camera, IMU2 trên khung mang – lấy mẫu 500 Hz. (Nhấp) Hai IMU đi trên hai bus SPI riêng tới miền xử lý: vi điều khiển STM32F407VET6 168 MHz có FPU, chạy Apache NuttX. (Nhấp) Miền truyền động: qua UART5 và MAX485, hai động cơ MS3506 dùng chung một bus RS485 bán song công – đây là gốc của bài toán lập lịch. (Nhấp) Nguồn 12 V hạ xuống 5 V và 3,3 V; kênh USART qua USB–TTL nối máy tính giám sát, tách khỏi kênh điều khiển.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(Nhấp) Mạch điều khiển được thiết kế trên Altium gồm năm khối: vi điều khiển, giao tiếp cảm biến kép, RS485, chuyển mức logic và nguồn – từ sơ đồ nguyên lý, mạch in hai lớp, mô hình 3D đến mạch đã chế tạo. (Nhấp) Khung cơ khí hai trục gồm 12 chi tiết: đế sợi carbon trên bốn đệm cao su mang IMU2; trục Yaw mang toàn bộ khung Pitch; trục Pitch đỡ giá chữ L mang camera và IMU1.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(Nhấp) Đây là cơ cấu Gimbal hai trục đã chế tạo hoàn chỉnh: động cơ Pitch ở trên, động cơ Yaw ở dưới tấm quay, giá camera cùng IMU1 trên trục Pitch, IMU2 gắn trên đế carbon có đệm cao su. (Nhấp) Các thành phần chính: mạch điều khiển STM32F407 tự thiết kế, hai động cơ MS3506 giao tiếp RS485 và hai cảm biến ICM20948.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(Nhấp) Phần mềm chạy trên Apache NuttX, tổ chức năm tầng: phần cứng, driver truy cập qua /dev, nhân với bộ lập lịch SCHED_FIFO, tầng đồng bộ bằng semaphore, mutex và tầng ứng dụng gồm bảy luồng. (Nhấp) Trong mỗi chu kỳ 2 ms, luồng IMU ưu tiên 120 đọc hai cảm biến rồi phát semaphore đánh thức luồng điều khiển ưu tiên 115; vòng góc chạy mỗi 10 ms, vòng tốc độ góc mỗi 2 ms trong cùng một luồng. (Nhấp) Luồng RS485 làm việc theo khe 5 ms, luân phiên Yaw và Pitch; các luồng giám sát, khôi phục IMU2, báo cáo và LED có ưu tiên thấp hơn. (Nhấp) Ba quyết định thiết kế: chờ semaphore có hạn 6 ms, chỉ dùng mẫu mới nhất để trễ không tích lũy, và nâng ưu tiên RS485 lên 116 khi phát khung.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(Nhấp) Mỗi chu kỳ 2 ms: đọc hai IMU, kiểm tra hợp lệ và tuổi mẫu, kiểm tra độ lệch thời gian hai mẫu không quá 1,5 ms, hiệu chuẩn tỉ lệ, lệch trục, điểm không, lọc rồi ước lượng tư thế bằng Mahony kết hợp Kalman. (Nhấp) IMU1 cho góc và tốc độ góc đường ngắm – tín hiệu phản hồi; mất IMU1 thì dừng an toàn. (Nhấp) IMU2 cho tốc độ góc khung mang và gia tốc góc; vì động cơ Pitch nằm trên khung Yaw nên tốc độ khung được chiếu lên từng trục theo góc q_y. Mất IMU2 thì chỉ mất khâu bù, vòng kín vẫn làm việc. (Nhấp) Điểm kỳ dị tại q_p = ±90° được chặn; IMU2 chỉ được dùng sau khi chờ yên, hiệu chuẩn và kiểm chứng.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(Nhấp) Cấu trúc điều khiển là nối tầng: vòng góc 100 Hz thuần tỉ lệ tạo tốc độ đặt, có giới hạn theo quãng đường dừng; vòng tốc độ góc 500 Hz là PI có truyền thẳng, khử nhiễu nhanh; cả hai lấy phản hồi từ IMU1. (Nhấp) Các khâu bổ sung gắn vào vòng trong: lệnh bù từ IMU2 có ngoại suy được cộng vào đầu ra vòng tốc độ, sau đó qua giới hạn động, xử lý đảo chiều – dừng – tạo dạng, rồi lịch RS485 tới động cơ. (Nhấp) Hệ số Pitch lớn hơn vì quán tính nhỏ hơn; vòng ngoài giữ thuần P để tránh hai tích phân lồng nhau; lệnh bù cộng trước khâu giới hạn nên không phá giới hạn an toàn.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(Nhấp) Khâu ② – bù IMU2: thay vì chờ sai lệch xuất hiện, tốc độ góc khung mang đo bởi IMU2 nhân hệ số k được cộng thẳng vào lệnh tốc độ. (Nhấp) Theo (1.30), với k = 0,9 sai lệch xác lập giảm 10 lần mà không phải tăng hệ số vòng kín, nên không lấn vào dự trữ ổn định; k tăng theo vùng tốc độ từ 0,85 đến 0,98. (Nhấp) Khâu ③ – lệnh bù đến động cơ trễ khoảng 12 ms. Ngoại suy dùng khai triển Taylor bậc nhất: dùng tiếp tuyến tại thời điểm hiện tại để dự báo tốc độ khung sau τ_p. (Nhấp) Lượng ngoại suy bị chặn 90 °/s, gia tốc góc lọc 18 Hz có vùng chết; IMU2 quá 12 ms thì giảm bù về 0 trong 30 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(Nhấp) Giới hạn lệnh cố định thấp thì bão hòa khi khung quay nhanh, cao thì lệnh lớn ngay cả khi tĩnh. (Nhấp) Giải pháp là bốn vùng theo tốc độ khung mang: chậm, thường, nhanh, rất nhanh với giới hạn 110, 135, 165 °/s và hệ số bù tăng dần. (Nhấp) Ngưỡng ra thấp hơn ngưỡng vào 25–30 % để không chuyển vùng qua lại; giới hạn được nội suy nên lệnh không nhảy bậc. (Nhấp) Bảng ngưỡng cho cả hai trục.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(Nhấp) Khi đảo chiều, chương trình dự báo thời điểm tốc độ khung qua không t_0 = −ω_b/α_b; khi t_0 ≤ 20 ms thì mở cửa sổ, giảm biên độ phía cũ, chỉ đổi phía khi dấu mới được xác nhận hai chu kỳ. (Nhấp) Khi khung dừng đột ngột, hệ đi qua các trạng thái phanh, ổn định, đã dừng; dừng được xác nhận bằng ba điều kiện trong 220 ms, sau đó bù giảm dần về 0 để camera không vượt ngược. (Nhấp) Tạo dạng lệnh giới hạn tốc độ biến thiên 18 000 °/s², nới 30 000 °/s² khi đảo chiều, và giới hạn độ giật để lệnh không nhảy bậc.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(Nhấp) Hai động cơ chung bus bán song công; nếu lập lịch ưu tiên động, trễ truyền thông trở thành ngẫu nhiên, trái với giả thiết trễ hằng của khâu ngoại suy. (Nhấp) Vì vậy em dùng lịch luân phiên: khe cố định 5 ms, khe chẵn Yaw, khe lẻ Pitch. (Nhấp) Mỗi trục được cập nhật đều 10 ms; phản hồi quá 3 ms ghi lỗi, không thử lại trong khe, 5 lỗi liên tiếp báo sự cố. (Nhấp) Hệ có bốn chế độ: khởi tạo, sẵn sàng, điều khiển và dừng an toàn. (Nhấp) Luồng giám sát ưu tiên 118 theo dõi mất IMU1, tuổi mẫu và lỗi RS485: có sự cố thì dừng động cơ, ghi mã lỗi; mất IMU2 thì tắt bù và khôi phục nền.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Để vận hành và thu thập số liệu, em xây dựng phần mềm giám sát trên máy tính bằng Python – PySide6. (Nhấp) Khu vực kết nối cổng nối tiếp và nút bắt đầu – dừng điều khiển. (Nhấp) Đặt góc, tốc độ và điều chỉnh nhanh cho từng trục. (Nhấp) Theo dõi sai số Yaw, Pitch, mô hình 3D và tư thế từ IMU. (Nhấp) Trạng thái cảm biến, nguồn, nhiệt độ động cơ, bus RS485 và nhịp thời gian thực; tab Động cơ hiển thị dòng điện và tốc độ. (Nhấp) Đồ thị thời gian thực, chỉ tiêu chất lượng và nhật ký sự kiện, lỗi. (Nhấp) Dữ liệu được ghi với chu kỳ 10 ms, là nguồn số liệu thực nghiệm của Phần 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Phần trọng tâm là quá trình hoàn thiện hệ thống. (Nhấp) Lộ trình đi từ cấu hình ban đầu, qua bảy bước hiệu chỉnh, tới cấu hình hoàn thiện. (Nhấp) Mỗi bước theo cùng một quy trình: nêu vấn đề, mô phỏng khảo sát các phương án, chọn tham số, áp dụng lên hệ thật, so sánh trước – sau và lượng hóa mức cải thiện trên cả Yaw và Pitch; cấu hình sau mỗi bước là đối chứng của bước tiếp theo. (Nhấp) Mô hình cơ cấu chấp hành là khâu quán tính bậc nhất nối tiếp trễ thuần 12 ms, hằng số thời gian 13 ms với Yaw, 4 ms với Pitch. (Nhấp) Mô hình tái tạo đáp ứng bậc thang hệ thật với sai lệch dạng sóng 2,4 % và 2,2 %, đủ tin cậy để khảo sát xu hướng; quyết định cuối cùng dựa trên số đo hệ thật.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Bước 1 – hiệu chỉnh cascade. Vấn đề: cần bộ hệ số vừa bám nhanh vừa còn dự trữ lệnh cho các khâu bù. (Nhấp) Mô phỏng khảo sát K_p^θ = 6; 9,5; 13: tăng lên 9,5 thời gian lên giảm từ 299,6 xuống 162,7 ms; lên 13 nhanh hơn nhưng lệnh chiếm 76 % giới hạn, không còn dự trữ. (Nhấp) Chọn K_p^θ = 9,5 cho Yaw, 38 cho Pitch; tích phân vòng tốc độ giảm J_e 85,7 % trong mô phỏng. (Nhấp) Trên hệ thật, 13 lần thử bậc thang của cả hai trục bám sát nhau. (Nhấp) Thời gian lên 224,5 và 108,6 ms, độ vọt lố 0,398 và 0,716 %, độ lệch chuẩn khi giữ tĩnh 0,0205° và 0,0068°. (Nhấp) Đây là cấu hình đối chứng: ở bài thử đảo chiều nhanh 10,1 s, e_max là 20,24° với Yaw và 13,24° với Pitch.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Bước 2 – bù IMU2. Vấn đề: phản hồi chỉ tác động khi sai lệch đã xuất hiện. (Nhấp) Mô phỏng với khung quay 240 °/s: chỉ phản hồi e_rms 20,9°; bù hệ số cố định còn 2,29°; bù theo tốc độ còn 1,89°. (Nhấp) Chọn bù theo tốc độ: hệ số k tăng theo vùng tốc độ khung mang. (Nhấp) Trên hệ thật, cấu hình đối chứng: e_max 20,24° Yaw và 13,24° Pitch. (Nhấp) Sau bù IMU2 còn 18,15° và 11,89°. (Nhấp) Tức giảm khoảng 10 % trên cả hai trục; mức cải thiện nhỏ hơn mô phỏng vì ma sát, khe hở và trễ thực; đánh đổi là thời gian xác lập tăng 5,6 % khi khung chuyển động nhanh.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Bước 3 – ngoại suy bù trễ. Vấn đề: lệnh bù đến muộn 12 ms. (Nhấp) Mô phỏng τ_p = 0; 8; 12; 15 ms: e_rms giảm từ 4,06 xuống 2,33°. (Nhấp) 15 ms tốt nhất trong mô phỏng, nhưng gia tốc góc lấy từ vi phân số có nhiễu và trễ thực thay đổi, nên em chọn 12 ms – đạt khoảng 80 % mức cải thiện của 15 ms. (Nhấp) Trên hệ thật, trước bước này e_max là 18,15° và 11,89°. (Nhấp) Sau ngoại suy còn 14,20° và 9,10°. (Nhấp) Giảm 21,8 % ở Yaw và 23,5 % ở Pitch – bước đóng góp lớn nhất của toàn bộ quá trình; tỉ lệ bão hòa Yaw giảm từ 4,3 xuống 2,6 %.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Bước 4 – giới hạn lệnh động. Vấn đề: với giới hạn cố định 135 °/s, 2,6 % số mẫu Yaw bị bão hòa. (Nhấp) Mô phỏng ở xung 600 °/s: e_rms từ 9,91° với giới hạn cố định xuống 8,17° với hai mốc và 8,05° với bốn mốc, giảm 18,8 %. (Nhấp) Chọn luật bốn mốc 110, 135, 165 °/s. (Nhấp) Trên hệ thật, so sánh với giới hạn cố định. (Nhấp) Tỉ lệ bão hòa Yaw giảm từ 2,6 xuống 0,8 %, e_max Yaw giảm 4,8 %, Pitch gần như không đổi. (Nhấp) Mức cải thiện nhỏ hơn mô phỏng vì giá thử chỉ tạo được khoảng 240 °/s.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Bước 5 – xử lý đảo chiều và dừng. Vấn đề: khi khung dừng đột ngột, lượng bù và tích phân tồn dư kéo camera vượt ngược. (Nhấp) Hai phương án: ngắt bù tức thời hoặc giảm bù dần; cùng các tham số xác nhận dừng và cửa sổ đảo chiều. (Nhấp) Chọn giảm bù dần: giữ 150 ms, giảm trong 50 ms, xác nhận dừng 220 ms. (Nhấp) Hệ thật, 12 lần thử với gia tốc hãm 2 300 °/s²: nét đứt là chưa xử lý, nét liền là có xử lý. (Nhấp) Khi chưa xử lý, camera vượt ngược sau khi khung dừng; sai lệch đỉnh gần như không đổi vì xuất hiện trong lúc hãm. (Nhấp) Thời gian phục hồi giảm 52,4 % ở Yaw và 58,7 % ở Pitch; xác nhận dừng đạt 12/12; khi đảo chiều e_max giảm thêm 4,1 % và 2,8 %.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Bước 6 – tạo dạng lệnh. Vấn đề: lệnh nhảy 109 °/s trong một chu kỳ khi đảo chiều. (Nhấp) Mô phỏng bốn phương án giới hạn tốc độ biến thiên. (Nhấp) Chọn 18 000 °/s², nới 30 000 °/s² khi đảo chiều: năng lượng rung 10–30 Hz còn 23 %, e_max chỉ tăng 2,3 %. (Nhấp) Trên hệ thật, lệnh trục Yaw quanh một lần đảo chiều. (Nhấp) Không tạo dạng: một bước nhảy 109 °/s; có tạo dạng: mỗi chu kỳ không quá 60 °/s. (Nhấp) Bước lệnh lớn nhất giảm 45 %, dòng I_q hiệu dụng giảm 22,3 %; đổi lại e_rms tăng 1,4 % ở Yaw và 1,1 % ở Pitch – đánh đổi có chủ đích để bảo vệ cơ cấu.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Bước 7 – lịch RS485. Vấn đề: chế độ ưu tiên Yaw làm trục Pitch cập nhật không đều. (Nhấp) Mô phỏng 20 000 khe: luân phiên giới hạn khoảng cập nhật lớn nhất của Pitch từ 70 xuống 22 ms. (Nhấp) Chọn lịch luân phiên khe 5 ms, không thử lại trong khe. (Nhấp) Trên hệ thật, tải đầy đủ, chế độ ưu tiên Yaw: Pitch có lúc 62,1 ms mới được cập nhật. (Nhấp) Với luân phiên, cả hai trục quanh 12 ms, lớn nhất 14,1 ms. (Nhấp) Độ tản mát của Pitch giảm 85 %, e_max Pitch thấp hơn 18,5 %. Đánh đổi: ưu tiên Yaw cho e_rms Yaw thấp hơn 8,7 %, nhưng em chọn luân phiên vì tính tất định của trễ. Hạn chế: có giao dịch kéo dài 6,00 ms, vượt khe 5 ms.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Ghép các bước trên cùng bài thử đảo chiều nhanh 10,1 s. (Nhấp) Bù IMU2 giảm khoảng 10 % trên cả hai trục. (Nhấp) Ngoại suy 12 ms giảm mạnh nhất, hơn 21 %. (Nhấp) Giới hạn động và xử lý đảo chiều, dừng giảm tiếp vài phần trăm. (Nhấp) Tạo dạng lệnh tăng nhẹ 1,6 % – đánh đổi có chủ đích; lịch RS485 giữ nguyên sai lệch nhưng bảo đảm cập nhật đều. (Nhấp) Tổng cộng e_max giảm 34,9 % ở Yaw và 32,6 % ở Pitch; e_rms giảm 23,3 % và 22,8 %; tỉ lệ bão hòa từ 6,1 xuống 0,7 %; phục hồi sau đảo chiều giảm 23,7 %, sau dừng giảm hơn 50 %.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Đánh giá theo hệ chỉ tiêu. (Nhấp) Đạt: độ lệch chuẩn khi giữ tĩnh dưới 0,03°, độ vọt lố dưới 1 %, vòng tốc độ góc giữ đúng 2 ms, xác nhận dừng 12/12. (Nhấp) Cải thiện rõ ở sai lệch, thời gian phục hồi, độ đều cập nhật và dòng động cơ. (Nhấp) Các đánh đổi có chủ đích được lượng hóa. (Nhấp) Chưa đạt: tuyến RS485 chưa tất định hoàn toàn – giao dịch lớn nhất 6,00 ms, khoảng cập nhật lớn nhất 14,1 ms. Phạm vi kiểm chứng giới hạn ở tốc độ đỉnh khoảng 240 °/s.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Tổng hợp lại, (Nhấp) hệ Gimbal hoàn thiện là kết quả của thiết kế cơ khí, thiết kế mạch, lập trình NuttX, xử lý hai IMU, điều khiển nối tầng, bù IMU2, bù trễ, xử lý chuyển động nhanh, lịch RS485 và phần mềm giám sát. (Nhấp) Tất cả đã được thiết kế, chế tạo, lập trình, mô phỏng và kiểm chứng trên hệ thật.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(Nhấp) Kết luận: đồ án đã thiết kế, chế tạo và vận hành Gimbal hai trục trên STM32F407 và Apache NuttX; xây dựng bảy luồng thời gian thực, xử lý hai IMU và sáu khâu điều khiển; mô hình mô phỏng sai lệch dạng sóng 2,4 % và 2,2 %; qua bảy bước hiệu chỉnh, e_max giảm 34,9 % và 32,6 %, phục hồi sau dừng giảm hơn 50 %. (Nhấp) Hạn chế: RS485 chưa tất định hoàn toàn; thực nghiệm mới tới khoảng 240 °/s; mô hình chưa có ma sát, khe hở. (Nhấp) Hướng phát triển: bus riêng hoặc CAN với ngoại suy thích nghi, quét tần số và lọc chắn dải, giá thử kích thích lớn hơn, tham chiếu phương vị độc lập cho Yaw và điều khiển trực tiếp dòng I_q. Em xin kết thúc phần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Em xin trân trọng cảm ơn Hội đồng đã lắng nghe và kính mong nhận được câu hỏi, ý kiến đóng góp của các thầy.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3B28B-E79B-D9E1-8763-A625877D6C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B80B3A-0210-D98A-B320-6629183EAB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BCD5B7-AFA2-77E9-6C56-36D7036E104D}"/>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5" name="Footer Placeholder 4">
            <a:extLst>
              <a:ext uri="{FF2B5EF4-FFF2-40B4-BE49-F238E27FC236}">
                <a16:creationId xmlns:a16="http://schemas.microsoft.com/office/drawing/2014/main" id="{8D7DC892-A6D0-F334-EB9B-30314167DE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CF8DEF-8338-B1C1-6B96-0587117E9986}"/>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2419131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5F641-2CFE-2D17-8FB5-B29DE719C3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B0379D-0121-FBD0-7F4D-93482710A8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DCFBC8-BECC-E030-4161-3F915E03F7FB}"/>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5" name="Footer Placeholder 4">
            <a:extLst>
              <a:ext uri="{FF2B5EF4-FFF2-40B4-BE49-F238E27FC236}">
                <a16:creationId xmlns:a16="http://schemas.microsoft.com/office/drawing/2014/main" id="{85E91ACA-10B6-2C25-6261-5CF4C568F8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4A84D-5BED-3216-DA22-BD5C218DD483}"/>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849188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5D27E-0578-FFF1-120C-350705C161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03641A-C3A1-CBAB-DF8F-4C832FFDA3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85ADC6-4844-2B17-DC52-85659C242330}"/>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5" name="Footer Placeholder 4">
            <a:extLst>
              <a:ext uri="{FF2B5EF4-FFF2-40B4-BE49-F238E27FC236}">
                <a16:creationId xmlns:a16="http://schemas.microsoft.com/office/drawing/2014/main" id="{27367A44-4C0F-3636-FF72-136FE569D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AB7460-F106-86D4-FC0B-3771F433B6AB}"/>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3518987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68923-15A2-2B8B-BB1E-43F429D070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C80079-ADE7-3FEB-643F-391CB6815A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3AAAFA-3150-0762-BD98-8169811CB2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1C361F-6B7D-08F2-3E35-2D9FD5930173}"/>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6" name="Footer Placeholder 5">
            <a:extLst>
              <a:ext uri="{FF2B5EF4-FFF2-40B4-BE49-F238E27FC236}">
                <a16:creationId xmlns:a16="http://schemas.microsoft.com/office/drawing/2014/main" id="{F6DE2D1A-9951-ACA3-1EC7-56C35DCBE7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11CCA-D7D3-539D-B0BD-FFF0931E46D9}"/>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329503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388B-A30B-7CC6-E055-F47EC8390F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407EE1-6110-7311-B2C5-9B6DE80D9C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188BEC-BF06-0400-73D6-63CCF15A33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67E73A-BD58-2603-6467-B5E947EFDB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53EE21-8812-76AC-33CA-567F37E89F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942D8A-5995-A787-4B85-3FEC0F0E4F09}"/>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8" name="Footer Placeholder 7">
            <a:extLst>
              <a:ext uri="{FF2B5EF4-FFF2-40B4-BE49-F238E27FC236}">
                <a16:creationId xmlns:a16="http://schemas.microsoft.com/office/drawing/2014/main" id="{701C889F-D0D0-4897-55B6-4476C1CD7D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316C51-CF84-80C9-8C2B-9728A48ECCC0}"/>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2235629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6F664-0D5F-15E0-7AD5-2109B57339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742B15-8EA6-2B5D-880D-94E1C5B39135}"/>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4" name="Footer Placeholder 3">
            <a:extLst>
              <a:ext uri="{FF2B5EF4-FFF2-40B4-BE49-F238E27FC236}">
                <a16:creationId xmlns:a16="http://schemas.microsoft.com/office/drawing/2014/main" id="{6B172EB2-1954-09C7-A837-9A4C7893F8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50AED3-5FBE-BEB6-779E-5BEFECF9518C}"/>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3348877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AE2E58-504A-1652-77C6-0EC6D5CA4413}"/>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3" name="Footer Placeholder 2">
            <a:extLst>
              <a:ext uri="{FF2B5EF4-FFF2-40B4-BE49-F238E27FC236}">
                <a16:creationId xmlns:a16="http://schemas.microsoft.com/office/drawing/2014/main" id="{B11A581D-D2AC-8904-FBA6-916192D6A9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5BBDE9-78ED-625D-8A40-A54F6B62B578}"/>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366025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D774C-9741-97CF-322F-D842F1715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0A7675-6E25-E808-3B13-A13A704725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8926BF-B08B-5576-F436-3269612E53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8EC680-BCF5-7DED-073B-85475FE9A085}"/>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6" name="Footer Placeholder 5">
            <a:extLst>
              <a:ext uri="{FF2B5EF4-FFF2-40B4-BE49-F238E27FC236}">
                <a16:creationId xmlns:a16="http://schemas.microsoft.com/office/drawing/2014/main" id="{1C41A2EA-73A9-3D33-8790-FF1FFB59EA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1328CD-5703-FD73-C727-2EF8313DB40B}"/>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1049805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F272C-02B6-25CA-A2D4-C2EBDC7964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5944D3-74BD-3BB8-2550-1779CE15EE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F68171-814A-9CB3-332E-963C0C0B9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7AADA-0450-CDF4-2D43-1B5C8A5E61F7}"/>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6" name="Footer Placeholder 5">
            <a:extLst>
              <a:ext uri="{FF2B5EF4-FFF2-40B4-BE49-F238E27FC236}">
                <a16:creationId xmlns:a16="http://schemas.microsoft.com/office/drawing/2014/main" id="{825BA39A-9675-CAC9-70AB-67AF4469C1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51D0AA-6C82-912D-0EF0-2D202B6B0AD5}"/>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2477263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13A12-40CA-8ED9-D467-451C479A5D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6EFF55-3CD1-2F26-D25B-AA130E46BF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E7C106-220A-A4FE-F3C2-EE90E3FA597E}"/>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5" name="Footer Placeholder 4">
            <a:extLst>
              <a:ext uri="{FF2B5EF4-FFF2-40B4-BE49-F238E27FC236}">
                <a16:creationId xmlns:a16="http://schemas.microsoft.com/office/drawing/2014/main" id="{017BFC17-F344-BE20-224F-FD5ECD5382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72E42F-5379-E493-D63E-D1CBCB28F6AC}"/>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684822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661C8B-0163-5948-3CC0-40CE756720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094CCB-2CAB-5256-2AD3-E51C36D4D7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A86D84-20FC-F9D7-B372-C5F2238868F9}"/>
              </a:ext>
            </a:extLst>
          </p:cNvPr>
          <p:cNvSpPr>
            <a:spLocks noGrp="1"/>
          </p:cNvSpPr>
          <p:nvPr>
            <p:ph type="dt" sz="half" idx="10"/>
          </p:nvPr>
        </p:nvSpPr>
        <p:spPr/>
        <p:txBody>
          <a:bodyPr/>
          <a:lstStyle/>
          <a:p>
            <a:fld id="{1019F3A2-8403-496E-8643-0F3E3E5CF550}" type="datetimeFigureOut">
              <a:rPr lang="en-US" smtClean="0"/>
              <a:t>10/1/2026</a:t>
            </a:fld>
            <a:endParaRPr lang="en-US"/>
          </a:p>
        </p:txBody>
      </p:sp>
      <p:sp>
        <p:nvSpPr>
          <p:cNvPr id="5" name="Footer Placeholder 4">
            <a:extLst>
              <a:ext uri="{FF2B5EF4-FFF2-40B4-BE49-F238E27FC236}">
                <a16:creationId xmlns:a16="http://schemas.microsoft.com/office/drawing/2014/main" id="{C081EC1D-640A-32A3-0A4A-0C74818FDC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93436A-FDCC-4704-64E9-06D33F9F8030}"/>
              </a:ext>
            </a:extLst>
          </p:cNvPr>
          <p:cNvSpPr>
            <a:spLocks noGrp="1"/>
          </p:cNvSpPr>
          <p:nvPr>
            <p:ph type="sldNum" sz="quarter" idx="12"/>
          </p:nvPr>
        </p:nvSpPr>
        <p:spPr/>
        <p:txBody>
          <a:bodyPr/>
          <a:lstStyle/>
          <a:p>
            <a:fld id="{C5371A38-2157-48F3-8B47-2C521198D039}" type="slidenum">
              <a:rPr lang="en-US" smtClean="0"/>
              <a:t>‹#›</a:t>
            </a:fld>
            <a:endParaRPr lang="en-US"/>
          </a:p>
        </p:txBody>
      </p:sp>
    </p:spTree>
    <p:extLst>
      <p:ext uri="{BB962C8B-B14F-4D97-AF65-F5344CB8AC3E}">
        <p14:creationId xmlns:p14="http://schemas.microsoft.com/office/powerpoint/2010/main" val="3969205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2C-Photos Unlocke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A78E2A-D661-BFA6-DB68-7536AA89AE95}"/>
              </a:ext>
            </a:extLst>
          </p:cNvPr>
          <p:cNvPicPr>
            <a:picLocks noChangeAspect="1"/>
          </p:cNvPicPr>
          <p:nvPr userDrawn="1"/>
        </p:nvPicPr>
        <p:blipFill>
          <a:blip r:embed="rId2"/>
          <a:srcRect/>
          <a:stretch/>
        </p:blipFill>
        <p:spPr>
          <a:xfrm>
            <a:off x="1" y="-10864"/>
            <a:ext cx="12216383" cy="6857997"/>
          </a:xfrm>
          <a:prstGeom prst="rect">
            <a:avLst/>
          </a:prstGeom>
        </p:spPr>
      </p:pic>
      <p:pic>
        <p:nvPicPr>
          <p:cNvPr id="5" name="Picture 4">
            <a:extLst>
              <a:ext uri="{FF2B5EF4-FFF2-40B4-BE49-F238E27FC236}">
                <a16:creationId xmlns:a16="http://schemas.microsoft.com/office/drawing/2014/main" id="{099C6AF0-FF34-187B-BA5E-4E9E09E800DC}"/>
              </a:ext>
            </a:extLst>
          </p:cNvPr>
          <p:cNvPicPr>
            <a:picLocks noChangeAspect="1"/>
          </p:cNvPicPr>
          <p:nvPr userDrawn="1"/>
        </p:nvPicPr>
        <p:blipFill rotWithShape="1">
          <a:blip r:embed="rId3"/>
          <a:srcRect r="26619"/>
          <a:stretch/>
        </p:blipFill>
        <p:spPr>
          <a:xfrm>
            <a:off x="-10693" y="6155746"/>
            <a:ext cx="12216384" cy="710175"/>
          </a:xfrm>
          <a:prstGeom prst="rect">
            <a:avLst/>
          </a:prstGeom>
        </p:spPr>
      </p:pic>
      <p:sp>
        <p:nvSpPr>
          <p:cNvPr id="2" name="Title 1"/>
          <p:cNvSpPr>
            <a:spLocks noGrp="1"/>
          </p:cNvSpPr>
          <p:nvPr>
            <p:ph type="ctrTitle" hasCustomPrompt="1"/>
          </p:nvPr>
        </p:nvSpPr>
        <p:spPr>
          <a:xfrm>
            <a:off x="376386" y="3442191"/>
            <a:ext cx="9363961" cy="1254357"/>
          </a:xfrm>
          <a:prstGeom prst="rect">
            <a:avLst/>
          </a:prstGeom>
        </p:spPr>
        <p:txBody>
          <a:bodyPr lIns="0" anchor="b">
            <a:normAutofit/>
          </a:bodyPr>
          <a:lstStyle>
            <a:lvl1pPr algn="l" defTabSz="914377" rtl="0" eaLnBrk="1" latinLnBrk="0" hangingPunct="1">
              <a:lnSpc>
                <a:spcPct val="90000"/>
              </a:lnSpc>
              <a:spcBef>
                <a:spcPct val="0"/>
              </a:spcBef>
              <a:buNone/>
              <a:defRPr lang="en-US" sz="3733" b="1" i="0" kern="1200" dirty="0">
                <a:solidFill>
                  <a:srgbClr val="0072AE"/>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Presentation Title</a:t>
            </a:r>
          </a:p>
        </p:txBody>
      </p:sp>
      <p:sp>
        <p:nvSpPr>
          <p:cNvPr id="3" name="Subtitle 2"/>
          <p:cNvSpPr>
            <a:spLocks noGrp="1"/>
          </p:cNvSpPr>
          <p:nvPr>
            <p:ph type="subTitle" idx="1" hasCustomPrompt="1"/>
          </p:nvPr>
        </p:nvSpPr>
        <p:spPr>
          <a:xfrm>
            <a:off x="376387" y="4743310"/>
            <a:ext cx="9363960" cy="1166439"/>
          </a:xfrm>
        </p:spPr>
        <p:txBody>
          <a:bodyPr lIns="0">
            <a:normAutofit/>
          </a:bodyPr>
          <a:lstStyle>
            <a:lvl1pPr marL="0" indent="0" algn="l">
              <a:buNone/>
              <a:defRPr sz="2800" b="1" i="1">
                <a:solidFill>
                  <a:schemeClr val="tx1">
                    <a:lumMod val="50000"/>
                    <a:lumOff val="50000"/>
                  </a:schemeClr>
                </a:solidFill>
                <a:latin typeface="Calibri" charset="0"/>
                <a:ea typeface="Calibri" charset="0"/>
                <a:cs typeface="Calibri"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Subhead</a:t>
            </a:r>
          </a:p>
        </p:txBody>
      </p:sp>
      <p:sp>
        <p:nvSpPr>
          <p:cNvPr id="10" name="Slide Number Placeholder 9"/>
          <p:cNvSpPr>
            <a:spLocks noGrp="1"/>
          </p:cNvSpPr>
          <p:nvPr>
            <p:ph type="sldNum" sz="quarter" idx="18"/>
          </p:nvPr>
        </p:nvSpPr>
        <p:spPr/>
        <p:txBody>
          <a:bodyPr/>
          <a:lstStyle>
            <a:lvl1pPr>
              <a:defRPr b="1">
                <a:solidFill>
                  <a:srgbClr val="00629B"/>
                </a:solidFill>
                <a:latin typeface="Arial" panose="020B0604020202020204" pitchFamily="34" charset="0"/>
                <a:cs typeface="Arial" panose="020B0604020202020204" pitchFamily="34" charset="0"/>
              </a:defRPr>
            </a:lvl1pPr>
          </a:lstStyle>
          <a:p>
            <a:fld id="{3DD97BEB-BAEF-0344-9D5C-EC73E478698A}" type="slidenum">
              <a:rPr lang="en-US" smtClean="0"/>
              <a:pPr/>
              <a:t>‹#›</a:t>
            </a:fld>
            <a:endParaRPr lang="en-US"/>
          </a:p>
        </p:txBody>
      </p:sp>
      <p:sp>
        <p:nvSpPr>
          <p:cNvPr id="13" name="Picture Placeholder 2">
            <a:extLst>
              <a:ext uri="{FF2B5EF4-FFF2-40B4-BE49-F238E27FC236}">
                <a16:creationId xmlns:a16="http://schemas.microsoft.com/office/drawing/2014/main" id="{41B942C3-F0D0-0FE4-55A4-3280FC67B60B}"/>
              </a:ext>
            </a:extLst>
          </p:cNvPr>
          <p:cNvSpPr>
            <a:spLocks noGrp="1"/>
          </p:cNvSpPr>
          <p:nvPr>
            <p:ph type="pic" sz="quarter" idx="13" hasCustomPrompt="1"/>
          </p:nvPr>
        </p:nvSpPr>
        <p:spPr>
          <a:xfrm>
            <a:off x="-650173" y="-367449"/>
            <a:ext cx="3511423" cy="3510688"/>
          </a:xfrm>
          <a:prstGeom prst="ellipse">
            <a:avLst/>
          </a:prstGeom>
          <a:solidFill>
            <a:schemeClr val="bg1"/>
          </a:solidFill>
        </p:spPr>
        <p:txBody>
          <a:bodyPr anchor="b">
            <a:normAutofit/>
          </a:bodyPr>
          <a:lstStyle>
            <a:lvl1pPr marL="165096" indent="0" algn="ctr">
              <a:buNone/>
              <a:defRPr sz="1867">
                <a:solidFill>
                  <a:srgbClr val="0066A1"/>
                </a:solidFill>
              </a:defRPr>
            </a:lvl1pPr>
          </a:lstStyle>
          <a:p>
            <a:r>
              <a:rPr lang="en-US"/>
              <a:t>Click to Insert </a:t>
            </a:r>
            <a:br>
              <a:rPr lang="en-US"/>
            </a:br>
            <a:r>
              <a:rPr lang="en-US"/>
              <a:t>Photo</a:t>
            </a:r>
          </a:p>
        </p:txBody>
      </p:sp>
      <p:sp>
        <p:nvSpPr>
          <p:cNvPr id="14" name="Picture Placeholder 2">
            <a:extLst>
              <a:ext uri="{FF2B5EF4-FFF2-40B4-BE49-F238E27FC236}">
                <a16:creationId xmlns:a16="http://schemas.microsoft.com/office/drawing/2014/main" id="{C561BD8F-E829-81AE-998B-EC8728C49409}"/>
              </a:ext>
            </a:extLst>
          </p:cNvPr>
          <p:cNvSpPr>
            <a:spLocks noGrp="1" noChangeAspect="1"/>
          </p:cNvSpPr>
          <p:nvPr>
            <p:ph type="pic" sz="quarter" idx="14" hasCustomPrompt="1"/>
          </p:nvPr>
        </p:nvSpPr>
        <p:spPr>
          <a:xfrm>
            <a:off x="9622651" y="576993"/>
            <a:ext cx="1751693" cy="1752060"/>
          </a:xfrm>
          <a:prstGeom prst="ellipse">
            <a:avLst/>
          </a:prstGeom>
          <a:solidFill>
            <a:schemeClr val="bg1"/>
          </a:solidFill>
        </p:spPr>
        <p:txBody>
          <a:bodyPr anchor="b">
            <a:normAutofit/>
          </a:bodyPr>
          <a:lstStyle>
            <a:lvl1pPr marL="165096" indent="0" algn="ctr">
              <a:buNone/>
              <a:defRPr sz="1200">
                <a:solidFill>
                  <a:srgbClr val="0066A1"/>
                </a:solidFill>
              </a:defRPr>
            </a:lvl1pPr>
          </a:lstStyle>
          <a:p>
            <a:r>
              <a:rPr lang="en-US"/>
              <a:t>Click to Insert Photo</a:t>
            </a:r>
          </a:p>
        </p:txBody>
      </p:sp>
      <p:sp>
        <p:nvSpPr>
          <p:cNvPr id="15" name="Picture Placeholder 2">
            <a:extLst>
              <a:ext uri="{FF2B5EF4-FFF2-40B4-BE49-F238E27FC236}">
                <a16:creationId xmlns:a16="http://schemas.microsoft.com/office/drawing/2014/main" id="{F0E25509-AA47-5110-4AD7-580DBFBBD0B5}"/>
              </a:ext>
            </a:extLst>
          </p:cNvPr>
          <p:cNvSpPr>
            <a:spLocks noGrp="1"/>
          </p:cNvSpPr>
          <p:nvPr>
            <p:ph type="pic" sz="quarter" idx="15" hasCustomPrompt="1"/>
          </p:nvPr>
        </p:nvSpPr>
        <p:spPr>
          <a:xfrm>
            <a:off x="4621105" y="-110530"/>
            <a:ext cx="2917264" cy="2916655"/>
          </a:xfrm>
          <a:prstGeom prst="ellipse">
            <a:avLst/>
          </a:prstGeom>
          <a:solidFill>
            <a:schemeClr val="bg1"/>
          </a:solidFill>
        </p:spPr>
        <p:txBody>
          <a:bodyPr anchor="b">
            <a:normAutofit/>
          </a:bodyPr>
          <a:lstStyle>
            <a:lvl1pPr marL="165096" indent="0" algn="ctr">
              <a:buNone/>
              <a:defRPr sz="1867">
                <a:solidFill>
                  <a:srgbClr val="0066A1"/>
                </a:solidFill>
              </a:defRPr>
            </a:lvl1pPr>
          </a:lstStyle>
          <a:p>
            <a:r>
              <a:rPr lang="en-US"/>
              <a:t>Click to Insert Photo</a:t>
            </a:r>
          </a:p>
        </p:txBody>
      </p:sp>
      <p:sp>
        <p:nvSpPr>
          <p:cNvPr id="16" name="Picture Placeholder 2">
            <a:extLst>
              <a:ext uri="{FF2B5EF4-FFF2-40B4-BE49-F238E27FC236}">
                <a16:creationId xmlns:a16="http://schemas.microsoft.com/office/drawing/2014/main" id="{3049B42D-8691-6A46-0F68-FF26C528C567}"/>
              </a:ext>
            </a:extLst>
          </p:cNvPr>
          <p:cNvSpPr>
            <a:spLocks noGrp="1"/>
          </p:cNvSpPr>
          <p:nvPr>
            <p:ph type="pic" sz="quarter" idx="17" hasCustomPrompt="1"/>
          </p:nvPr>
        </p:nvSpPr>
        <p:spPr>
          <a:xfrm>
            <a:off x="9927358" y="2679719"/>
            <a:ext cx="2517381" cy="2517381"/>
          </a:xfrm>
          <a:prstGeom prst="ellipse">
            <a:avLst/>
          </a:prstGeom>
          <a:solidFill>
            <a:schemeClr val="bg1"/>
          </a:solidFill>
        </p:spPr>
        <p:txBody>
          <a:bodyPr anchor="b">
            <a:normAutofit/>
          </a:bodyPr>
          <a:lstStyle>
            <a:lvl1pPr marL="165096" indent="0" algn="ctr">
              <a:buNone/>
              <a:defRPr sz="1867">
                <a:solidFill>
                  <a:srgbClr val="0066A1"/>
                </a:solidFill>
              </a:defRPr>
            </a:lvl1pPr>
          </a:lstStyle>
          <a:p>
            <a:r>
              <a:rPr lang="en-US"/>
              <a:t>Click to Insert Photo</a:t>
            </a:r>
          </a:p>
        </p:txBody>
      </p:sp>
    </p:spTree>
    <p:extLst>
      <p:ext uri="{BB962C8B-B14F-4D97-AF65-F5344CB8AC3E}">
        <p14:creationId xmlns:p14="http://schemas.microsoft.com/office/powerpoint/2010/main" val="11447599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ivider Slide 1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96ACB5-A032-535C-C189-44C3740D5E0E}"/>
              </a:ext>
            </a:extLst>
          </p:cNvPr>
          <p:cNvPicPr>
            <a:picLocks noChangeAspect="1"/>
          </p:cNvPicPr>
          <p:nvPr userDrawn="1"/>
        </p:nvPicPr>
        <p:blipFill>
          <a:blip r:embed="rId2"/>
          <a:srcRect/>
          <a:stretch/>
        </p:blipFill>
        <p:spPr>
          <a:xfrm>
            <a:off x="3" y="-10863"/>
            <a:ext cx="12216381" cy="6857997"/>
          </a:xfrm>
          <a:prstGeom prst="rect">
            <a:avLst/>
          </a:prstGeom>
        </p:spPr>
      </p:pic>
      <p:pic>
        <p:nvPicPr>
          <p:cNvPr id="2" name="Picture 1">
            <a:extLst>
              <a:ext uri="{FF2B5EF4-FFF2-40B4-BE49-F238E27FC236}">
                <a16:creationId xmlns:a16="http://schemas.microsoft.com/office/drawing/2014/main" id="{D0482E86-2029-C649-0EF8-72FF8C4C22DE}"/>
              </a:ext>
            </a:extLst>
          </p:cNvPr>
          <p:cNvPicPr>
            <a:picLocks noChangeAspect="1"/>
          </p:cNvPicPr>
          <p:nvPr userDrawn="1"/>
        </p:nvPicPr>
        <p:blipFill rotWithShape="1">
          <a:blip r:embed="rId3"/>
          <a:srcRect r="26619"/>
          <a:stretch/>
        </p:blipFill>
        <p:spPr>
          <a:xfrm>
            <a:off x="-10693" y="6155746"/>
            <a:ext cx="12216384" cy="710175"/>
          </a:xfrm>
          <a:prstGeom prst="rect">
            <a:avLst/>
          </a:prstGeom>
        </p:spPr>
      </p:pic>
      <p:sp>
        <p:nvSpPr>
          <p:cNvPr id="10" name="Slide Number Placeholder 9"/>
          <p:cNvSpPr>
            <a:spLocks noGrp="1"/>
          </p:cNvSpPr>
          <p:nvPr>
            <p:ph type="sldNum" sz="quarter" idx="18"/>
          </p:nvPr>
        </p:nvSpPr>
        <p:spPr/>
        <p:txBody>
          <a:bodyPr/>
          <a:lstStyle>
            <a:lvl1pPr>
              <a:defRPr>
                <a:solidFill>
                  <a:srgbClr val="00629B"/>
                </a:solidFill>
              </a:defRPr>
            </a:lvl1pPr>
          </a:lstStyle>
          <a:p>
            <a:fld id="{3DD97BEB-BAEF-0344-9D5C-EC73E478698A}" type="slidenum">
              <a:rPr lang="en-US" smtClean="0"/>
              <a:pPr/>
              <a:t>‹#›</a:t>
            </a:fld>
            <a:endParaRPr lang="en-US"/>
          </a:p>
        </p:txBody>
      </p:sp>
      <p:sp>
        <p:nvSpPr>
          <p:cNvPr id="13" name="Title 1">
            <a:extLst>
              <a:ext uri="{FF2B5EF4-FFF2-40B4-BE49-F238E27FC236}">
                <a16:creationId xmlns:a16="http://schemas.microsoft.com/office/drawing/2014/main" id="{BF31D605-ADDB-54A4-FC63-4B18372882C9}"/>
              </a:ext>
            </a:extLst>
          </p:cNvPr>
          <p:cNvSpPr>
            <a:spLocks noGrp="1"/>
          </p:cNvSpPr>
          <p:nvPr>
            <p:ph type="title" hasCustomPrompt="1"/>
          </p:nvPr>
        </p:nvSpPr>
        <p:spPr>
          <a:xfrm>
            <a:off x="376386" y="2670629"/>
            <a:ext cx="11404012" cy="1419961"/>
          </a:xfrm>
          <a:prstGeom prst="rect">
            <a:avLst/>
          </a:prstGeom>
        </p:spPr>
        <p:txBody>
          <a:bodyPr lIns="0" anchor="b">
            <a:normAutofit/>
          </a:bodyPr>
          <a:lstStyle>
            <a:lvl1pPr algn="l" defTabSz="914377" rtl="0" eaLnBrk="1" latinLnBrk="0" hangingPunct="1">
              <a:lnSpc>
                <a:spcPct val="90000"/>
              </a:lnSpc>
              <a:spcBef>
                <a:spcPct val="0"/>
              </a:spcBef>
              <a:buNone/>
              <a:defRPr lang="en-US" sz="3733" b="1" i="0" kern="1200" dirty="0">
                <a:solidFill>
                  <a:srgbClr val="0072AE"/>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Divider Title</a:t>
            </a:r>
          </a:p>
        </p:txBody>
      </p:sp>
      <p:sp>
        <p:nvSpPr>
          <p:cNvPr id="14" name="Text Placeholder 2">
            <a:extLst>
              <a:ext uri="{FF2B5EF4-FFF2-40B4-BE49-F238E27FC236}">
                <a16:creationId xmlns:a16="http://schemas.microsoft.com/office/drawing/2014/main" id="{404A8526-DBEB-ABFE-0AA2-2CF6022C45EE}"/>
              </a:ext>
            </a:extLst>
          </p:cNvPr>
          <p:cNvSpPr>
            <a:spLocks noGrp="1"/>
          </p:cNvSpPr>
          <p:nvPr>
            <p:ph type="body" idx="1" hasCustomPrompt="1"/>
          </p:nvPr>
        </p:nvSpPr>
        <p:spPr>
          <a:xfrm>
            <a:off x="376387" y="4117577"/>
            <a:ext cx="11404011" cy="1087159"/>
          </a:xfrm>
        </p:spPr>
        <p:txBody>
          <a:bodyPr lIns="0">
            <a:normAutofit/>
          </a:bodyPr>
          <a:lstStyle>
            <a:lvl1pPr marL="0" indent="0">
              <a:buNone/>
              <a:defRPr sz="2800" b="1" i="1">
                <a:solidFill>
                  <a:schemeClr val="tx1">
                    <a:lumMod val="50000"/>
                    <a:lumOff val="50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Subhead</a:t>
            </a:r>
          </a:p>
        </p:txBody>
      </p:sp>
    </p:spTree>
    <p:extLst>
      <p:ext uri="{BB962C8B-B14F-4D97-AF65-F5344CB8AC3E}">
        <p14:creationId xmlns:p14="http://schemas.microsoft.com/office/powerpoint/2010/main" val="2036466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ivider Slide 2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8C6F44-660A-B745-91FF-45D342C7A560}"/>
              </a:ext>
            </a:extLst>
          </p:cNvPr>
          <p:cNvPicPr>
            <a:picLocks noChangeAspect="1"/>
          </p:cNvPicPr>
          <p:nvPr userDrawn="1"/>
        </p:nvPicPr>
        <p:blipFill>
          <a:blip r:embed="rId2"/>
          <a:srcRect/>
          <a:stretch/>
        </p:blipFill>
        <p:spPr>
          <a:xfrm>
            <a:off x="1" y="-10864"/>
            <a:ext cx="12216383" cy="6857997"/>
          </a:xfrm>
          <a:prstGeom prst="rect">
            <a:avLst/>
          </a:prstGeom>
        </p:spPr>
      </p:pic>
      <p:pic>
        <p:nvPicPr>
          <p:cNvPr id="5" name="Picture 4">
            <a:extLst>
              <a:ext uri="{FF2B5EF4-FFF2-40B4-BE49-F238E27FC236}">
                <a16:creationId xmlns:a16="http://schemas.microsoft.com/office/drawing/2014/main" id="{1F9C8966-6876-32BB-6CC2-8B5303ED0619}"/>
              </a:ext>
            </a:extLst>
          </p:cNvPr>
          <p:cNvPicPr>
            <a:picLocks noChangeAspect="1"/>
          </p:cNvPicPr>
          <p:nvPr userDrawn="1"/>
        </p:nvPicPr>
        <p:blipFill rotWithShape="1">
          <a:blip r:embed="rId3"/>
          <a:srcRect r="26619"/>
          <a:stretch/>
        </p:blipFill>
        <p:spPr>
          <a:xfrm>
            <a:off x="-10693" y="6155746"/>
            <a:ext cx="12216384" cy="710175"/>
          </a:xfrm>
          <a:prstGeom prst="rect">
            <a:avLst/>
          </a:prstGeom>
        </p:spPr>
      </p:pic>
      <p:sp>
        <p:nvSpPr>
          <p:cNvPr id="10" name="Slide Number Placeholder 9"/>
          <p:cNvSpPr>
            <a:spLocks noGrp="1"/>
          </p:cNvSpPr>
          <p:nvPr>
            <p:ph type="sldNum" sz="quarter" idx="18"/>
          </p:nvPr>
        </p:nvSpPr>
        <p:spPr/>
        <p:txBody>
          <a:bodyPr/>
          <a:lstStyle>
            <a:lvl1pPr>
              <a:defRPr>
                <a:solidFill>
                  <a:srgbClr val="00629B"/>
                </a:solidFill>
              </a:defRPr>
            </a:lvl1pPr>
          </a:lstStyle>
          <a:p>
            <a:fld id="{3DD97BEB-BAEF-0344-9D5C-EC73E478698A}" type="slidenum">
              <a:rPr lang="en-US" smtClean="0"/>
              <a:pPr/>
              <a:t>‹#›</a:t>
            </a:fld>
            <a:endParaRPr lang="en-US"/>
          </a:p>
        </p:txBody>
      </p:sp>
      <p:sp>
        <p:nvSpPr>
          <p:cNvPr id="13" name="Title 1">
            <a:extLst>
              <a:ext uri="{FF2B5EF4-FFF2-40B4-BE49-F238E27FC236}">
                <a16:creationId xmlns:a16="http://schemas.microsoft.com/office/drawing/2014/main" id="{BF31D605-ADDB-54A4-FC63-4B18372882C9}"/>
              </a:ext>
            </a:extLst>
          </p:cNvPr>
          <p:cNvSpPr>
            <a:spLocks noGrp="1"/>
          </p:cNvSpPr>
          <p:nvPr>
            <p:ph type="title" hasCustomPrompt="1"/>
          </p:nvPr>
        </p:nvSpPr>
        <p:spPr>
          <a:xfrm>
            <a:off x="376386" y="2670629"/>
            <a:ext cx="11404012" cy="1419961"/>
          </a:xfrm>
          <a:prstGeom prst="rect">
            <a:avLst/>
          </a:prstGeom>
        </p:spPr>
        <p:txBody>
          <a:bodyPr lIns="0" anchor="b">
            <a:normAutofit/>
          </a:bodyPr>
          <a:lstStyle>
            <a:lvl1pPr algn="l" defTabSz="914377" rtl="0" eaLnBrk="1" latinLnBrk="0" hangingPunct="1">
              <a:lnSpc>
                <a:spcPct val="90000"/>
              </a:lnSpc>
              <a:spcBef>
                <a:spcPct val="0"/>
              </a:spcBef>
              <a:buNone/>
              <a:defRPr lang="en-US" sz="3733" b="1" i="0" kern="1200" dirty="0">
                <a:solidFill>
                  <a:srgbClr val="0072AE"/>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Divider Title</a:t>
            </a:r>
          </a:p>
        </p:txBody>
      </p:sp>
      <p:sp>
        <p:nvSpPr>
          <p:cNvPr id="14" name="Text Placeholder 2">
            <a:extLst>
              <a:ext uri="{FF2B5EF4-FFF2-40B4-BE49-F238E27FC236}">
                <a16:creationId xmlns:a16="http://schemas.microsoft.com/office/drawing/2014/main" id="{404A8526-DBEB-ABFE-0AA2-2CF6022C45EE}"/>
              </a:ext>
            </a:extLst>
          </p:cNvPr>
          <p:cNvSpPr>
            <a:spLocks noGrp="1"/>
          </p:cNvSpPr>
          <p:nvPr>
            <p:ph type="body" idx="1" hasCustomPrompt="1"/>
          </p:nvPr>
        </p:nvSpPr>
        <p:spPr>
          <a:xfrm>
            <a:off x="376387" y="4117577"/>
            <a:ext cx="11404011" cy="1087159"/>
          </a:xfrm>
        </p:spPr>
        <p:txBody>
          <a:bodyPr lIns="0">
            <a:normAutofit/>
          </a:bodyPr>
          <a:lstStyle>
            <a:lvl1pPr marL="0" indent="0">
              <a:buNone/>
              <a:defRPr sz="2800" b="1" i="1">
                <a:solidFill>
                  <a:schemeClr val="tx1">
                    <a:lumMod val="50000"/>
                    <a:lumOff val="50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Subhead</a:t>
            </a:r>
          </a:p>
        </p:txBody>
      </p:sp>
    </p:spTree>
    <p:extLst>
      <p:ext uri="{BB962C8B-B14F-4D97-AF65-F5344CB8AC3E}">
        <p14:creationId xmlns:p14="http://schemas.microsoft.com/office/powerpoint/2010/main" val="35215287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AC1AA5-84D9-FFAD-2CD9-B8726D9D6F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B3A13D-57F5-D873-C5F9-7AA7C7D444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E6C05-40E4-7468-FCCF-BBBF92DBD3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19F3A2-8403-496E-8643-0F3E3E5CF550}" type="datetimeFigureOut">
              <a:rPr lang="en-US" smtClean="0"/>
              <a:t>10/1/2026</a:t>
            </a:fld>
            <a:endParaRPr lang="en-US"/>
          </a:p>
        </p:txBody>
      </p:sp>
      <p:sp>
        <p:nvSpPr>
          <p:cNvPr id="5" name="Footer Placeholder 4">
            <a:extLst>
              <a:ext uri="{FF2B5EF4-FFF2-40B4-BE49-F238E27FC236}">
                <a16:creationId xmlns:a16="http://schemas.microsoft.com/office/drawing/2014/main" id="{F8D7EECB-C1DC-EB67-C077-A6B33B4E51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5CB851-9E37-B800-0497-DB3C6BD7EA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371A38-2157-48F3-8B47-2C521198D039}" type="slidenum">
              <a:rPr lang="en-US" smtClean="0"/>
              <a:t>‹#›</a:t>
            </a:fld>
            <a:endParaRPr lang="en-US"/>
          </a:p>
        </p:txBody>
      </p:sp>
    </p:spTree>
    <p:extLst>
      <p:ext uri="{BB962C8B-B14F-4D97-AF65-F5344CB8AC3E}">
        <p14:creationId xmlns:p14="http://schemas.microsoft.com/office/powerpoint/2010/main" val="3877930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0.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jpg"/><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jp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6.jpg"/><Relationship Id="rId3" Type="http://schemas.openxmlformats.org/officeDocument/2006/relationships/image" Target="../media/image41.jpg"/><Relationship Id="rId4" Type="http://schemas.openxmlformats.org/officeDocument/2006/relationships/image" Target="../media/image33.png"/><Relationship Id="rId5" Type="http://schemas.openxmlformats.org/officeDocument/2006/relationships/image" Target="../media/image29.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9.png"/><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50.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5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27.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4.png"/><Relationship Id="rId3" Type="http://schemas.openxmlformats.org/officeDocument/2006/relationships/image" Target="../media/image10.png"/><Relationship Id="rId4" Type="http://schemas.openxmlformats.org/officeDocument/2006/relationships/image" Target="../media/image55.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6.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27.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16.pn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63.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63.png"/><Relationship Id="rId4" Type="http://schemas.openxmlformats.org/officeDocument/2006/relationships/image" Target="../media/image68.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63.png"/><Relationship Id="rId4" Type="http://schemas.openxmlformats.org/officeDocument/2006/relationships/image" Target="../media/image71.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63.png"/><Relationship Id="rId4" Type="http://schemas.openxmlformats.org/officeDocument/2006/relationships/image" Target="../media/image7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63.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77.png"/><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63.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78.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63.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79.png"/><Relationship Id="rId7" Type="http://schemas.openxmlformats.org/officeDocument/2006/relationships/image" Target="../media/image80.png"/><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88.png"/><Relationship Id="rId3" Type="http://schemas.openxmlformats.org/officeDocument/2006/relationships/image" Target="../media/image16.png"/><Relationship Id="rId4" Type="http://schemas.openxmlformats.org/officeDocument/2006/relationships/image" Target="../media/image62.png"/><Relationship Id="rId5" Type="http://schemas.openxmlformats.org/officeDocument/2006/relationships/image" Target="../media/image89.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2.png"/><Relationship Id="rId3" Type="http://schemas.openxmlformats.org/officeDocument/2006/relationships/image" Target="../media/image37.png"/><Relationship Id="rId4" Type="http://schemas.openxmlformats.org/officeDocument/2006/relationships/image" Target="../media/image90.png"/><Relationship Id="rId5" Type="http://schemas.openxmlformats.org/officeDocument/2006/relationships/image" Target="../media/image22.png"/><Relationship Id="rId6" Type="http://schemas.openxmlformats.org/officeDocument/2006/relationships/image" Target="../media/image91.png"/><Relationship Id="rId7" Type="http://schemas.openxmlformats.org/officeDocument/2006/relationships/image" Target="../media/image52.png"/><Relationship Id="rId8" Type="http://schemas.openxmlformats.org/officeDocument/2006/relationships/image" Target="../media/image18.png"/><Relationship Id="rId9" Type="http://schemas.openxmlformats.org/officeDocument/2006/relationships/image" Target="../media/image26.png"/><Relationship Id="rId10" Type="http://schemas.openxmlformats.org/officeDocument/2006/relationships/image" Target="../media/image25.png"/><Relationship Id="rId11" Type="http://schemas.openxmlformats.org/officeDocument/2006/relationships/image" Target="../media/image92.png"/><Relationship Id="rId12" Type="http://schemas.openxmlformats.org/officeDocument/2006/relationships/image" Target="../media/image5.png"/><Relationship Id="rId1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88.png"/><Relationship Id="rId3" Type="http://schemas.openxmlformats.org/officeDocument/2006/relationships/image" Target="../media/image58.png"/><Relationship Id="rId4" Type="http://schemas.openxmlformats.org/officeDocument/2006/relationships/image" Target="../media/image26.pn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502920" y="347472"/>
            <a:ext cx="1024128" cy="1024128"/>
          </a:xfrm>
          <a:prstGeom prst="rect">
            <a:avLst/>
          </a:prstGeom>
        </p:spPr>
      </p:pic>
      <p:sp>
        <p:nvSpPr>
          <p:cNvPr id="3" name="TextBox 2"/>
          <p:cNvSpPr txBox="1"/>
          <p:nvPr/>
        </p:nvSpPr>
        <p:spPr>
          <a:xfrm>
            <a:off x="1691640" y="384048"/>
            <a:ext cx="6400800" cy="960120"/>
          </a:xfrm>
          <a:prstGeom prst="rect">
            <a:avLst/>
          </a:prstGeom>
          <a:noFill/>
        </p:spPr>
        <p:txBody>
          <a:bodyPr wrap="square" lIns="0" tIns="0" rIns="0" bIns="0" anchor="ctr">
            <a:noAutofit/>
          </a:bodyPr>
          <a:lstStyle/>
          <a:p>
            <a:pPr algn="l">
              <a:lnSpc>
                <a:spcPct val="110000"/>
              </a:lnSpc>
            </a:pPr>
            <a:r>
              <a:rPr sz="2100" b="1" i="0" lang="vi-VN">
                <a:solidFill>
                  <a:srgbClr val="B71C1C"/>
                </a:solidFill>
                <a:latin typeface="Arial"/>
                <a:ea typeface="Arial"/>
                <a:cs typeface="Arial"/>
              </a:rPr>
              <a:t>HỌC VIỆN KỸ THUẬT QUÂN SỰ</a:t>
            </a:r>
          </a:p>
          <a:p>
            <a:pPr algn="l">
              <a:lnSpc>
                <a:spcPct val="110000"/>
              </a:lnSpc>
            </a:pPr>
            <a:r>
              <a:rPr sz="1600" b="1" i="0" lang="vi-VN">
                <a:solidFill>
                  <a:srgbClr val="0A5FA8"/>
                </a:solidFill>
                <a:latin typeface="Arial"/>
                <a:ea typeface="Arial"/>
                <a:cs typeface="Arial"/>
              </a:rPr>
              <a:t>VIỆN TÊN LỬA VÀ KỸ THUẬT ĐIỀU KHIỂN</a:t>
            </a:r>
          </a:p>
        </p:txBody>
      </p:sp>
      <p:sp>
        <p:nvSpPr>
          <p:cNvPr id="4" name="Rounded Rectangle 3"/>
          <p:cNvSpPr/>
          <p:nvPr/>
        </p:nvSpPr>
        <p:spPr>
          <a:xfrm>
            <a:off x="502920" y="1719072"/>
            <a:ext cx="3931920" cy="384048"/>
          </a:xfrm>
          <a:prstGeom prst="roundRect">
            <a:avLst>
              <a:gd name="adj" fmla="val 50000"/>
            </a:avLst>
          </a:prstGeom>
          <a:noFill/>
          <a:ln w="12700">
            <a:solidFill>
              <a:srgbClr val="0B2545"/>
            </a:solidFill>
          </a:ln>
        </p:spPr>
        <p:txBody>
          <a:bodyPr rtlCol="0" anchor="ctr" lIns="73152" tIns="18288" rIns="73152" bIns="18288" wrap="square">
            <a:noAutofit/>
          </a:bodyPr>
          <a:lstStyle/>
          <a:p>
            <a:pPr algn="ctr"/>
            <a:r>
              <a:rPr sz="1400" b="1" i="0" lang="vi-VN" spc="60">
                <a:solidFill>
                  <a:srgbClr val="0B2545"/>
                </a:solidFill>
                <a:latin typeface="Arial"/>
                <a:ea typeface="Arial"/>
                <a:cs typeface="Arial"/>
              </a:rPr>
              <a:t>BÁO CÁO ĐỒ ÁN TỐT NGHIỆP 2026</a:t>
            </a:r>
          </a:p>
        </p:txBody>
      </p:sp>
      <p:sp>
        <p:nvSpPr>
          <p:cNvPr id="5" name="TextBox 4"/>
          <p:cNvSpPr txBox="1"/>
          <p:nvPr/>
        </p:nvSpPr>
        <p:spPr>
          <a:xfrm>
            <a:off x="502920" y="2267712"/>
            <a:ext cx="7406640" cy="1481328"/>
          </a:xfrm>
          <a:prstGeom prst="rect">
            <a:avLst/>
          </a:prstGeom>
          <a:noFill/>
        </p:spPr>
        <p:txBody>
          <a:bodyPr wrap="square" lIns="0" tIns="0" rIns="0" bIns="0" anchor="ctr">
            <a:noAutofit/>
          </a:bodyPr>
          <a:lstStyle/>
          <a:p>
            <a:pPr algn="l">
              <a:lnSpc>
                <a:spcPct val="102000"/>
              </a:lnSpc>
            </a:pPr>
            <a:r>
              <a:rPr sz="3100" b="1" i="0" lang="vi-VN">
                <a:solidFill>
                  <a:srgbClr val="0B2545"/>
                </a:solidFill>
                <a:latin typeface="Arial"/>
                <a:ea typeface="Arial"/>
                <a:cs typeface="Arial"/>
              </a:rPr>
              <a:t>THIẾT KẾ BỘ ĐIỀU KHIỂN GIMBAL</a:t>
            </a:r>
          </a:p>
          <a:p>
            <a:pPr algn="l">
              <a:lnSpc>
                <a:spcPct val="102000"/>
              </a:lnSpc>
            </a:pPr>
            <a:r>
              <a:rPr sz="3100" b="1" i="0" lang="vi-VN">
                <a:solidFill>
                  <a:srgbClr val="0B2545"/>
                </a:solidFill>
                <a:latin typeface="Arial"/>
                <a:ea typeface="Arial"/>
                <a:cs typeface="Arial"/>
              </a:rPr>
              <a:t>TRÊN CƠ SỞ HỆ ĐIỀU HÀNH</a:t>
            </a:r>
          </a:p>
          <a:p>
            <a:pPr algn="l">
              <a:lnSpc>
                <a:spcPct val="102000"/>
              </a:lnSpc>
            </a:pPr>
            <a:r>
              <a:rPr sz="3100" b="1" i="0" lang="vi-VN">
                <a:solidFill>
                  <a:srgbClr val="0B2545"/>
                </a:solidFill>
                <a:latin typeface="Arial"/>
                <a:ea typeface="Arial"/>
                <a:cs typeface="Arial"/>
              </a:rPr>
              <a:t>THỜI GIAN THỰC NUTTX</a:t>
            </a:r>
          </a:p>
        </p:txBody>
      </p:sp>
      <p:pic>
        <p:nvPicPr>
          <p:cNvPr id="6" name="Picture 5" descr="cad_render_cut.png"/>
          <p:cNvPicPr>
            <a:picLocks noChangeAspect="1"/>
          </p:cNvPicPr>
          <p:nvPr/>
        </p:nvPicPr>
        <p:blipFill>
          <a:blip r:embed="rId3"/>
          <a:stretch>
            <a:fillRect/>
          </a:stretch>
        </p:blipFill>
        <p:spPr>
          <a:xfrm>
            <a:off x="8001000" y="960120"/>
            <a:ext cx="3794760" cy="3520791"/>
          </a:xfrm>
          <a:prstGeom prst="rect">
            <a:avLst/>
          </a:prstGeom>
        </p:spPr>
      </p:pic>
      <p:grpSp>
        <p:nvGrpSpPr>
          <p:cNvPr id="7" name="Group 6"/>
          <p:cNvGrpSpPr/>
          <p:nvPr/>
        </p:nvGrpSpPr>
        <p:grpSpPr>
          <a:xfrm>
            <a:off x="502920" y="4069080"/>
            <a:ext cx="7315200" cy="1691640"/>
            <a:chOff x="502920" y="4069080"/>
            <a:chExt cx="7315200" cy="1691640"/>
          </a:xfrm>
        </p:grpSpPr>
        <p:sp>
          <p:nvSpPr>
            <p:cNvPr id="8" name="Rounded Rectangle 7"/>
            <p:cNvSpPr/>
            <p:nvPr/>
          </p:nvSpPr>
          <p:spPr>
            <a:xfrm>
              <a:off x="502920" y="4069080"/>
              <a:ext cx="7315200" cy="1691640"/>
            </a:xfrm>
            <a:prstGeom prst="roundRect">
              <a:avLst>
                <a:gd name="adj" fmla="val 6486"/>
              </a:avLst>
            </a:prstGeom>
            <a:solidFill>
              <a:srgbClr val="FFFFFF">
                <a:alpha val="72000"/>
              </a:srgbClr>
            </a:solidFill>
            <a:ln>
              <a:noFill/>
            </a:ln>
          </p:spPr>
          <p:txBody>
            <a:bodyPr rtlCol="0" anchor="ctr" lIns="54864" tIns="54864" rIns="54864" bIns="54864" wrap="square">
              <a:noAutofit/>
            </a:bodyPr>
            <a:lstStyle/>
            <a:p>
              <a:pPr algn="ctr"/>
            </a:p>
          </p:txBody>
        </p:sp>
        <p:sp>
          <p:nvSpPr>
            <p:cNvPr id="9" name="TextBox 8"/>
            <p:cNvSpPr txBox="1"/>
            <p:nvPr/>
          </p:nvSpPr>
          <p:spPr>
            <a:xfrm>
              <a:off x="685800" y="4206240"/>
              <a:ext cx="1691640" cy="566928"/>
            </a:xfrm>
            <a:prstGeom prst="rect">
              <a:avLst/>
            </a:prstGeom>
            <a:noFill/>
          </p:spPr>
          <p:txBody>
            <a:bodyPr wrap="square" lIns="0" tIns="0" rIns="0" bIns="0" anchor="t">
              <a:noAutofit/>
            </a:bodyPr>
            <a:lstStyle/>
            <a:p>
              <a:pPr algn="l">
                <a:lnSpc>
                  <a:spcPct val="95000"/>
                </a:lnSpc>
              </a:pPr>
              <a:r>
                <a:rPr sz="1400" b="0" i="0" lang="vi-VN">
                  <a:solidFill>
                    <a:srgbClr val="5B6B7B"/>
                  </a:solidFill>
                  <a:latin typeface="Arial"/>
                  <a:ea typeface="Arial"/>
                  <a:cs typeface="Arial"/>
                </a:rPr>
                <a:t>Giảng viên</a:t>
              </a:r>
            </a:p>
            <a:p>
              <a:pPr algn="l">
                <a:lnSpc>
                  <a:spcPct val="95000"/>
                </a:lnSpc>
              </a:pPr>
              <a:r>
                <a:rPr sz="1400" b="0" i="0" lang="vi-VN">
                  <a:solidFill>
                    <a:srgbClr val="5B6B7B"/>
                  </a:solidFill>
                  <a:latin typeface="Arial"/>
                  <a:ea typeface="Arial"/>
                  <a:cs typeface="Arial"/>
                </a:rPr>
                <a:t>hướng dẫn</a:t>
              </a:r>
            </a:p>
          </p:txBody>
        </p:sp>
        <p:sp>
          <p:nvSpPr>
            <p:cNvPr id="10" name="TextBox 9"/>
            <p:cNvSpPr txBox="1"/>
            <p:nvPr/>
          </p:nvSpPr>
          <p:spPr>
            <a:xfrm>
              <a:off x="2331720" y="4187952"/>
              <a:ext cx="5440680" cy="658368"/>
            </a:xfrm>
            <a:prstGeom prst="rect">
              <a:avLst/>
            </a:prstGeom>
            <a:noFill/>
          </p:spPr>
          <p:txBody>
            <a:bodyPr wrap="square" lIns="0" tIns="0" rIns="0" bIns="0" anchor="t">
              <a:noAutofit/>
            </a:bodyPr>
            <a:lstStyle/>
            <a:p>
              <a:pPr algn="l">
                <a:lnSpc>
                  <a:spcPct val="108000"/>
                </a:lnSpc>
              </a:pPr>
              <a:r>
                <a:rPr sz="1400" b="0" i="0" lang="vi-VN">
                  <a:solidFill>
                    <a:srgbClr val="1E2B3A"/>
                  </a:solidFill>
                  <a:latin typeface="Arial"/>
                  <a:ea typeface="Arial"/>
                  <a:cs typeface="Arial"/>
                </a:rPr>
                <a:t>Trung tá, TS. </a:t>
              </a:r>
              <a:r>
                <a:rPr sz="1400" b="1" i="0" lang="vi-VN">
                  <a:solidFill>
                    <a:srgbClr val="1E2B3A"/>
                  </a:solidFill>
                  <a:latin typeface="Arial"/>
                  <a:ea typeface="Arial"/>
                  <a:cs typeface="Arial"/>
                </a:rPr>
                <a:t>Nguyễn Ngọc Hưng</a:t>
              </a:r>
              <a:r>
                <a:rPr sz="1400" b="0" i="0" lang="vi-VN">
                  <a:solidFill>
                    <a:srgbClr val="1E2B3A"/>
                  </a:solidFill>
                  <a:latin typeface="Arial"/>
                  <a:ea typeface="Arial"/>
                  <a:cs typeface="Arial"/>
                </a:rPr>
                <a:t> – Viện Tên lửa và KTĐK</a:t>
              </a:r>
            </a:p>
            <a:p>
              <a:pPr algn="l">
                <a:lnSpc>
                  <a:spcPct val="108000"/>
                </a:lnSpc>
              </a:pPr>
              <a:r>
                <a:rPr sz="1400" b="0" i="0" lang="vi-VN">
                  <a:solidFill>
                    <a:srgbClr val="1E2B3A"/>
                  </a:solidFill>
                  <a:latin typeface="Arial"/>
                  <a:ea typeface="Arial"/>
                  <a:cs typeface="Arial"/>
                </a:rPr>
                <a:t>Trung tá, ThS. </a:t>
              </a:r>
              <a:r>
                <a:rPr sz="1400" b="1" i="0" lang="vi-VN">
                  <a:solidFill>
                    <a:srgbClr val="1E2B3A"/>
                  </a:solidFill>
                  <a:latin typeface="Arial"/>
                  <a:ea typeface="Arial"/>
                  <a:cs typeface="Arial"/>
                </a:rPr>
                <a:t>Lê Văn Huy</a:t>
              </a:r>
              <a:r>
                <a:rPr sz="1400" b="0" i="0" lang="vi-VN">
                  <a:solidFill>
                    <a:srgbClr val="1E2B3A"/>
                  </a:solidFill>
                  <a:latin typeface="Arial"/>
                  <a:ea typeface="Arial"/>
                  <a:cs typeface="Arial"/>
                </a:rPr>
                <a:t> – Trường Cao đẳng Kỹ thuật PK-KQ</a:t>
              </a:r>
            </a:p>
          </p:txBody>
        </p:sp>
        <p:sp>
          <p:nvSpPr>
            <p:cNvPr id="11" name="TextBox 10"/>
            <p:cNvSpPr txBox="1"/>
            <p:nvPr/>
          </p:nvSpPr>
          <p:spPr>
            <a:xfrm>
              <a:off x="685800" y="5029200"/>
              <a:ext cx="1691640" cy="566928"/>
            </a:xfrm>
            <a:prstGeom prst="rect">
              <a:avLst/>
            </a:prstGeom>
            <a:noFill/>
          </p:spPr>
          <p:txBody>
            <a:bodyPr wrap="square" lIns="0" tIns="0" rIns="0" bIns="0" anchor="t">
              <a:noAutofit/>
            </a:bodyPr>
            <a:lstStyle/>
            <a:p>
              <a:pPr algn="l">
                <a:lnSpc>
                  <a:spcPct val="95000"/>
                </a:lnSpc>
              </a:pPr>
              <a:r>
                <a:rPr sz="1400" b="0" i="0" lang="vi-VN">
                  <a:solidFill>
                    <a:srgbClr val="5B6B7B"/>
                  </a:solidFill>
                  <a:latin typeface="Arial"/>
                  <a:ea typeface="Arial"/>
                  <a:cs typeface="Arial"/>
                </a:rPr>
                <a:t>Học viên</a:t>
              </a:r>
            </a:p>
            <a:p>
              <a:pPr algn="l">
                <a:lnSpc>
                  <a:spcPct val="95000"/>
                </a:lnSpc>
              </a:pPr>
              <a:r>
                <a:rPr sz="1400" b="0" i="0" lang="vi-VN">
                  <a:solidFill>
                    <a:srgbClr val="5B6B7B"/>
                  </a:solidFill>
                  <a:latin typeface="Arial"/>
                  <a:ea typeface="Arial"/>
                  <a:cs typeface="Arial"/>
                </a:rPr>
                <a:t>thực hiện</a:t>
              </a:r>
            </a:p>
          </p:txBody>
        </p:sp>
        <p:sp>
          <p:nvSpPr>
            <p:cNvPr id="12" name="TextBox 11"/>
            <p:cNvSpPr txBox="1"/>
            <p:nvPr/>
          </p:nvSpPr>
          <p:spPr>
            <a:xfrm>
              <a:off x="2331720" y="5074920"/>
              <a:ext cx="5440680" cy="365760"/>
            </a:xfrm>
            <a:prstGeom prst="rect">
              <a:avLst/>
            </a:prstGeom>
            <a:noFill/>
          </p:spPr>
          <p:txBody>
            <a:bodyPr wrap="square" lIns="0" tIns="0" rIns="0" bIns="0" anchor="ctr">
              <a:noAutofit/>
            </a:bodyPr>
            <a:lstStyle/>
            <a:p>
              <a:pPr algn="l"/>
              <a:r>
                <a:rPr sz="1400" b="1" i="0" lang="vi-VN">
                  <a:solidFill>
                    <a:srgbClr val="1E2B3A"/>
                  </a:solidFill>
                  <a:latin typeface="Arial"/>
                  <a:ea typeface="Arial"/>
                  <a:cs typeface="Arial"/>
                </a:rPr>
                <a:t>Huỳnh Thanh Nam</a:t>
              </a:r>
              <a:r>
                <a:rPr sz="1400" b="0" i="0" lang="vi-VN">
                  <a:solidFill>
                    <a:srgbClr val="1E2B3A"/>
                  </a:solidFill>
                  <a:latin typeface="Arial"/>
                  <a:ea typeface="Arial"/>
                  <a:cs typeface="Arial"/>
                </a:rPr>
                <a:t> – Lớp Tên lửa phòng không 2, c157, d1</a:t>
              </a:r>
            </a:p>
          </p:txBody>
        </p:sp>
      </p:grpSp>
      <p:sp>
        <p:nvSpPr>
          <p:cNvPr id="13" name="TextBox 12"/>
          <p:cNvSpPr txBox="1"/>
          <p:nvPr/>
        </p:nvSpPr>
        <p:spPr>
          <a:xfrm>
            <a:off x="8001000" y="5257800"/>
            <a:ext cx="3703320" cy="365760"/>
          </a:xfrm>
          <a:prstGeom prst="rect">
            <a:avLst/>
          </a:prstGeom>
          <a:noFill/>
        </p:spPr>
        <p:txBody>
          <a:bodyPr wrap="square" lIns="0" tIns="0" rIns="0" bIns="0" anchor="t">
            <a:noAutofit/>
          </a:bodyPr>
          <a:lstStyle/>
          <a:p>
            <a:pPr algn="ctr"/>
            <a:r>
              <a:rPr sz="1500" b="0" i="1" lang="vi-VN">
                <a:solidFill>
                  <a:srgbClr val="0B2545"/>
                </a:solidFill>
                <a:latin typeface="Arial"/>
                <a:ea typeface="Arial"/>
                <a:cs typeface="Arial"/>
              </a:rPr>
              <a:t>Hà Nội, tháng 10 năm 2026</a:t>
            </a:r>
          </a:p>
        </p:txBody>
      </p:sp>
      <p:sp>
        <p:nvSpPr>
          <p:cNvPr id="26"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a:t>
            </a:fld>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anim calcmode="lin" valueType="num">
                                      <p:cBhvr>
                                        <p:cTn id="8" dur="700" fill="hold"/>
                                        <p:tgtEl>
                                          <p:spTgt spid="6"/>
                                        </p:tgtEl>
                                        <p:attrNameLst>
                                          <p:attrName>ppt_w</p:attrName>
                                        </p:attrNameLst>
                                      </p:cBhvr>
                                      <p:tavLst>
                                        <p:tav tm="0">
                                          <p:val>
                                            <p:strVal val="0"/>
                                          </p:val>
                                        </p:tav>
                                        <p:tav tm="100000">
                                          <p:val>
                                            <p:strVal val="#ppt_w"/>
                                          </p:val>
                                        </p:tav>
                                      </p:tavLst>
                                    </p:anim>
                                    <p:anim calcmode="lin" valueType="num">
                                      <p:cBhvr>
                                        <p:cTn id="9" dur="700" fill="hold"/>
                                        <p:tgtEl>
                                          <p:spTgt spid="6"/>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22" presetClass="entr" presetSubtype="8"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00"/>
                                        <p:tgtEl>
                                          <p:spTgt spid="4"/>
                                        </p:tgtEl>
                                      </p:cBhvr>
                                    </p:animEffect>
                                  </p:childTnLst>
                                </p:cTn>
                              </p:par>
                            </p:childTnLst>
                          </p:cTn>
                        </p:par>
                        <p:par>
                          <p:cTn id="17" fill="hold">
                            <p:stCondLst>
                              <p:cond delay="1300"/>
                            </p:stCondLst>
                            <p:childTnLst>
                              <p:par>
                                <p:cTn id="18" presetID="42"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05"/>
                                          </p:val>
                                        </p:tav>
                                        <p:tav tm="100000">
                                          <p:val>
                                            <p:strVal val="#ppt_y"/>
                                          </p:val>
                                        </p:tav>
                                      </p:tavLst>
                                    </p:anim>
                                  </p:childTnLst>
                                </p:cTn>
                              </p:par>
                              <p:par>
                                <p:cTn id="23" presetID="10" presetClass="entr" presetSubtype="0" fill="hold" grpId="0" nodeType="withEffect">
                                  <p:stCondLst>
                                    <p:cond delay="20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1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MỞ ĐẦU · LÝ DO CHỌN ĐỀ TÀI</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Camera trên UAV cánh bằng cần được ổn định đường ngắm</a:t>
            </a:r>
          </a:p>
        </p:txBody>
      </p:sp>
      <p:sp>
        <p:nvSpPr>
          <p:cNvPr id="4" name="Rounded Rectangle 3"/>
          <p:cNvSpPr/>
          <p:nvPr/>
        </p:nvSpPr>
        <p:spPr>
          <a:xfrm>
            <a:off x="502920" y="1261872"/>
            <a:ext cx="5989320" cy="4791456"/>
          </a:xfrm>
          <a:prstGeom prst="roundRect">
            <a:avLst>
              <a:gd name="adj" fmla="val 19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 name="TextBox 4"/>
          <p:cNvSpPr txBox="1"/>
          <p:nvPr/>
        </p:nvSpPr>
        <p:spPr>
          <a:xfrm>
            <a:off x="685800" y="1353312"/>
            <a:ext cx="5486400" cy="292608"/>
          </a:xfrm>
          <a:prstGeom prst="rect">
            <a:avLst/>
          </a:prstGeom>
          <a:noFill/>
        </p:spPr>
        <p:txBody>
          <a:bodyPr wrap="square" lIns="0" tIns="0" rIns="0" bIns="0" anchor="t">
            <a:noAutofit/>
          </a:bodyPr>
          <a:lstStyle/>
          <a:p>
            <a:pPr algn="l"/>
            <a:r>
              <a:rPr sz="1250" b="1" i="0" lang="vi-VN" spc="40">
                <a:solidFill>
                  <a:srgbClr val="0A5FA8"/>
                </a:solidFill>
                <a:latin typeface="Arial"/>
                <a:ea typeface="Arial"/>
                <a:cs typeface="Arial"/>
              </a:rPr>
              <a:t>UAV CÁNH BẰNG MANG CAMERA QUAN SÁT</a:t>
            </a:r>
          </a:p>
        </p:txBody>
      </p:sp>
      <p:sp>
        <p:nvSpPr>
          <p:cNvPr id="6" name="Rounded Rectangle 5"/>
          <p:cNvSpPr/>
          <p:nvPr/>
        </p:nvSpPr>
        <p:spPr>
          <a:xfrm>
            <a:off x="612648" y="5440680"/>
            <a:ext cx="5769864" cy="502920"/>
          </a:xfrm>
          <a:prstGeom prst="roundRect">
            <a:avLst>
              <a:gd name="adj" fmla="val 14545"/>
            </a:avLst>
          </a:prstGeom>
          <a:solidFill>
            <a:srgbClr val="DCE8DF"/>
          </a:solidFill>
          <a:ln>
            <a:noFill/>
          </a:ln>
        </p:spPr>
        <p:txBody>
          <a:bodyPr rtlCol="0" anchor="ctr" lIns="54864" tIns="54864" rIns="54864" bIns="54864" wrap="square">
            <a:noAutofit/>
          </a:bodyPr>
          <a:lstStyle/>
          <a:p>
            <a:pPr algn="ctr"/>
          </a:p>
        </p:txBody>
      </p:sp>
      <p:grpSp>
        <p:nvGrpSpPr>
          <p:cNvPr id="7" name="Group 6"/>
          <p:cNvGrpSpPr/>
          <p:nvPr/>
        </p:nvGrpSpPr>
        <p:grpSpPr>
          <a:xfrm>
            <a:off x="5120640" y="5184648"/>
            <a:ext cx="457200" cy="457200"/>
            <a:chOff x="5120640" y="5184648"/>
            <a:chExt cx="457200" cy="457200"/>
          </a:xfrm>
        </p:grpSpPr>
        <p:sp>
          <p:nvSpPr>
            <p:cNvPr id="8" name="Oval 7"/>
            <p:cNvSpPr/>
            <p:nvPr/>
          </p:nvSpPr>
          <p:spPr>
            <a:xfrm>
              <a:off x="5120640" y="5184648"/>
              <a:ext cx="457200" cy="457200"/>
            </a:xfrm>
            <a:prstGeom prst="ellipse">
              <a:avLst/>
            </a:prstGeom>
            <a:solidFill>
              <a:srgbClr val="C62828"/>
            </a:solidFill>
            <a:ln>
              <a:noFill/>
            </a:ln>
          </p:spPr>
          <p:txBody>
            <a:bodyPr rtlCol="0" anchor="ctr" lIns="54864" tIns="54864" rIns="54864" bIns="54864" wrap="square">
              <a:noAutofit/>
            </a:bodyPr>
            <a:lstStyle/>
            <a:p>
              <a:pPr algn="ctr"/>
            </a:p>
          </p:txBody>
        </p:sp>
        <p:pic>
          <p:nvPicPr>
            <p:cNvPr id="9" name="Picture 8" descr="crosshairs.png"/>
            <p:cNvPicPr>
              <a:picLocks noChangeAspect="1"/>
            </p:cNvPicPr>
            <p:nvPr/>
          </p:nvPicPr>
          <p:blipFill>
            <a:blip r:embed="rId2"/>
            <a:stretch>
              <a:fillRect/>
            </a:stretch>
          </p:blipFill>
          <p:spPr>
            <a:xfrm>
              <a:off x="5221224" y="5285232"/>
              <a:ext cx="256032" cy="256032"/>
            </a:xfrm>
            <a:prstGeom prst="rect">
              <a:avLst/>
            </a:prstGeom>
          </p:spPr>
        </p:pic>
      </p:grpSp>
      <p:sp>
        <p:nvSpPr>
          <p:cNvPr id="10" name="TextBox 9"/>
          <p:cNvSpPr txBox="1"/>
          <p:nvPr/>
        </p:nvSpPr>
        <p:spPr>
          <a:xfrm>
            <a:off x="4572000" y="5669280"/>
            <a:ext cx="1554480" cy="274320"/>
          </a:xfrm>
          <a:prstGeom prst="rect">
            <a:avLst/>
          </a:prstGeom>
          <a:noFill/>
        </p:spPr>
        <p:txBody>
          <a:bodyPr wrap="square" lIns="0" tIns="0" rIns="0" bIns="0" anchor="t">
            <a:noAutofit/>
          </a:bodyPr>
          <a:lstStyle/>
          <a:p>
            <a:pPr algn="ctr"/>
            <a:r>
              <a:rPr sz="1250" b="0" i="0" lang="vi-VN">
                <a:solidFill>
                  <a:srgbClr val="1E2B3A"/>
                </a:solidFill>
                <a:latin typeface="Arial"/>
                <a:ea typeface="Arial"/>
                <a:cs typeface="Arial"/>
              </a:rPr>
              <a:t>mục tiêu</a:t>
            </a:r>
          </a:p>
        </p:txBody>
      </p:sp>
      <p:grpSp>
        <p:nvGrpSpPr>
          <p:cNvPr id="11" name="Group 10"/>
          <p:cNvGrpSpPr/>
          <p:nvPr/>
        </p:nvGrpSpPr>
        <p:grpSpPr>
          <a:xfrm>
            <a:off x="758952" y="2057400"/>
            <a:ext cx="3127248" cy="1261872"/>
            <a:chOff x="758952" y="2057400"/>
            <a:chExt cx="3127248" cy="1261872"/>
          </a:xfrm>
        </p:grpSpPr>
        <p:sp>
          <p:nvSpPr>
            <p:cNvPr id="12" name="Rounded Rectangle 11"/>
            <p:cNvSpPr/>
            <p:nvPr/>
          </p:nvSpPr>
          <p:spPr>
            <a:xfrm>
              <a:off x="960120" y="2606040"/>
              <a:ext cx="2788920" cy="402336"/>
            </a:xfrm>
            <a:prstGeom prst="roundRect">
              <a:avLst>
                <a:gd name="adj" fmla="val 50000"/>
              </a:avLst>
            </a:prstGeom>
            <a:solidFill>
              <a:srgbClr val="4B5D73"/>
            </a:solidFill>
            <a:ln>
              <a:noFill/>
            </a:ln>
          </p:spPr>
          <p:txBody>
            <a:bodyPr rtlCol="0" anchor="ctr" lIns="54864" tIns="54864" rIns="54864" bIns="54864" wrap="square">
              <a:noAutofit/>
            </a:bodyPr>
            <a:lstStyle/>
            <a:p>
              <a:pPr algn="ctr"/>
            </a:p>
          </p:txBody>
        </p:sp>
        <p:sp>
          <p:nvSpPr>
            <p:cNvPr id="13" name="Oval 12"/>
            <p:cNvSpPr/>
            <p:nvPr/>
          </p:nvSpPr>
          <p:spPr>
            <a:xfrm>
              <a:off x="3474720" y="2633472"/>
              <a:ext cx="411480" cy="347472"/>
            </a:xfrm>
            <a:prstGeom prst="ellipse">
              <a:avLst/>
            </a:prstGeom>
            <a:solidFill>
              <a:srgbClr val="4B5D73"/>
            </a:solidFill>
            <a:ln>
              <a:noFill/>
            </a:ln>
          </p:spPr>
          <p:txBody>
            <a:bodyPr rtlCol="0" anchor="ctr" lIns="54864" tIns="54864" rIns="54864" bIns="54864" wrap="square">
              <a:noAutofit/>
            </a:bodyPr>
            <a:lstStyle/>
            <a:p>
              <a:pPr algn="ctr"/>
            </a:p>
          </p:txBody>
        </p:sp>
        <p:sp>
          <p:nvSpPr>
            <p:cNvPr id="14" name="Oval 13"/>
            <p:cNvSpPr/>
            <p:nvPr/>
          </p:nvSpPr>
          <p:spPr>
            <a:xfrm>
              <a:off x="1920240" y="2551176"/>
              <a:ext cx="1143000" cy="146304"/>
            </a:xfrm>
            <a:prstGeom prst="ellipse">
              <a:avLst/>
            </a:prstGeom>
            <a:solidFill>
              <a:srgbClr val="2F3E52"/>
            </a:solidFill>
            <a:ln>
              <a:noFill/>
            </a:ln>
          </p:spPr>
          <p:txBody>
            <a:bodyPr rtlCol="0" anchor="ctr" lIns="54864" tIns="54864" rIns="54864" bIns="54864" wrap="square">
              <a:noAutofit/>
            </a:bodyPr>
            <a:lstStyle/>
            <a:p>
              <a:pPr algn="ctr"/>
            </a:p>
          </p:txBody>
        </p:sp>
        <p:sp>
          <p:nvSpPr>
            <p:cNvPr id="15" name="Right Triangle 14"/>
            <p:cNvSpPr/>
            <p:nvPr/>
          </p:nvSpPr>
          <p:spPr>
            <a:xfrm>
              <a:off x="978408" y="2057400"/>
              <a:ext cx="502920" cy="566928"/>
            </a:xfrm>
            <a:prstGeom prst="rtTriangle">
              <a:avLst/>
            </a:prstGeom>
            <a:solidFill>
              <a:srgbClr val="4B5D73"/>
            </a:solidFill>
            <a:ln>
              <a:noFill/>
            </a:ln>
          </p:spPr>
          <p:txBody>
            <a:bodyPr rtlCol="0" anchor="ctr" lIns="54864" tIns="54864" rIns="54864" bIns="54864" wrap="square">
              <a:noAutofit/>
            </a:bodyPr>
            <a:lstStyle/>
            <a:p>
              <a:pPr algn="ctr"/>
            </a:p>
          </p:txBody>
        </p:sp>
        <p:sp>
          <p:nvSpPr>
            <p:cNvPr id="16" name="Oval 15"/>
            <p:cNvSpPr/>
            <p:nvPr/>
          </p:nvSpPr>
          <p:spPr>
            <a:xfrm>
              <a:off x="914400" y="2642616"/>
              <a:ext cx="685800" cy="100584"/>
            </a:xfrm>
            <a:prstGeom prst="ellipse">
              <a:avLst/>
            </a:prstGeom>
            <a:solidFill>
              <a:srgbClr val="2F3E52"/>
            </a:solidFill>
            <a:ln>
              <a:noFill/>
            </a:ln>
          </p:spPr>
          <p:txBody>
            <a:bodyPr rtlCol="0" anchor="ctr" lIns="54864" tIns="54864" rIns="54864" bIns="54864" wrap="square">
              <a:noAutofit/>
            </a:bodyPr>
            <a:lstStyle/>
            <a:p>
              <a:pPr algn="ctr"/>
            </a:p>
          </p:txBody>
        </p:sp>
        <p:sp>
          <p:nvSpPr>
            <p:cNvPr id="17" name="Oval 16"/>
            <p:cNvSpPr/>
            <p:nvPr/>
          </p:nvSpPr>
          <p:spPr>
            <a:xfrm>
              <a:off x="758952" y="2404872"/>
              <a:ext cx="82296" cy="804672"/>
            </a:xfrm>
            <a:prstGeom prst="ellipse">
              <a:avLst/>
            </a:prstGeom>
            <a:solidFill>
              <a:srgbClr val="9AA7B4"/>
            </a:solidFill>
            <a:ln>
              <a:noFill/>
            </a:ln>
          </p:spPr>
          <p:txBody>
            <a:bodyPr rtlCol="0" anchor="ctr" lIns="54864" tIns="54864" rIns="54864" bIns="54864" wrap="square">
              <a:noAutofit/>
            </a:bodyPr>
            <a:lstStyle/>
            <a:p>
              <a:pPr algn="ctr"/>
            </a:p>
          </p:txBody>
        </p:sp>
        <p:sp>
          <p:nvSpPr>
            <p:cNvPr id="18" name="Oval 17"/>
            <p:cNvSpPr/>
            <p:nvPr/>
          </p:nvSpPr>
          <p:spPr>
            <a:xfrm>
              <a:off x="813816" y="2743200"/>
              <a:ext cx="146304" cy="128016"/>
            </a:xfrm>
            <a:prstGeom prst="ellipse">
              <a:avLst/>
            </a:prstGeom>
            <a:solidFill>
              <a:srgbClr val="2F3E52"/>
            </a:solidFill>
            <a:ln>
              <a:noFill/>
            </a:ln>
          </p:spPr>
          <p:txBody>
            <a:bodyPr rtlCol="0" anchor="ctr" lIns="54864" tIns="54864" rIns="54864" bIns="54864" wrap="square">
              <a:noAutofit/>
            </a:bodyPr>
            <a:lstStyle/>
            <a:p>
              <a:pPr algn="ctr"/>
            </a:p>
          </p:txBody>
        </p:sp>
        <p:sp>
          <p:nvSpPr>
            <p:cNvPr id="19" name="Oval 18"/>
            <p:cNvSpPr/>
            <p:nvPr/>
          </p:nvSpPr>
          <p:spPr>
            <a:xfrm>
              <a:off x="2834640" y="2898648"/>
              <a:ext cx="420624" cy="420624"/>
            </a:xfrm>
            <a:prstGeom prst="ellipse">
              <a:avLst/>
            </a:prstGeom>
            <a:solidFill>
              <a:srgbClr val="1E2B3A"/>
            </a:solidFill>
            <a:ln>
              <a:noFill/>
            </a:ln>
          </p:spPr>
          <p:txBody>
            <a:bodyPr rtlCol="0" anchor="ctr" lIns="54864" tIns="54864" rIns="54864" bIns="54864" wrap="square">
              <a:noAutofit/>
            </a:bodyPr>
            <a:lstStyle/>
            <a:p>
              <a:pPr algn="ctr"/>
            </a:p>
          </p:txBody>
        </p:sp>
        <p:sp>
          <p:nvSpPr>
            <p:cNvPr id="20" name="Oval 19"/>
            <p:cNvSpPr/>
            <p:nvPr/>
          </p:nvSpPr>
          <p:spPr>
            <a:xfrm>
              <a:off x="2980944" y="3063240"/>
              <a:ext cx="155448" cy="155448"/>
            </a:xfrm>
            <a:prstGeom prst="ellipse">
              <a:avLst/>
            </a:prstGeom>
            <a:solidFill>
              <a:srgbClr val="4FC3F7"/>
            </a:solidFill>
            <a:ln>
              <a:noFill/>
            </a:ln>
          </p:spPr>
          <p:txBody>
            <a:bodyPr rtlCol="0" anchor="ctr" lIns="54864" tIns="54864" rIns="54864" bIns="54864" wrap="square">
              <a:noAutofit/>
            </a:bodyPr>
            <a:lstStyle/>
            <a:p>
              <a:pPr algn="ctr"/>
            </a:p>
          </p:txBody>
        </p:sp>
      </p:grpSp>
      <p:cxnSp>
        <p:nvCxnSpPr>
          <p:cNvPr id="21" name="Connector 20"/>
          <p:cNvCxnSpPr/>
          <p:nvPr/>
        </p:nvCxnSpPr>
        <p:spPr>
          <a:xfrm>
            <a:off x="3044952" y="3108960"/>
            <a:ext cx="1161288" cy="2304288"/>
          </a:xfrm>
          <a:prstGeom prst="line">
            <a:avLst/>
          </a:prstGeom>
          <a:ln w="25400">
            <a:solidFill>
              <a:srgbClr val="C62828"/>
            </a:solidFill>
            <a:prstDash val="dash"/>
          </a:ln>
        </p:spPr>
      </p:cxnSp>
      <p:cxnSp>
        <p:nvCxnSpPr>
          <p:cNvPr id="22" name="Connector 21"/>
          <p:cNvCxnSpPr/>
          <p:nvPr/>
        </p:nvCxnSpPr>
        <p:spPr>
          <a:xfrm>
            <a:off x="3044952" y="3108960"/>
            <a:ext cx="3172968" cy="2304288"/>
          </a:xfrm>
          <a:prstGeom prst="line">
            <a:avLst/>
          </a:prstGeom>
          <a:ln w="25400">
            <a:solidFill>
              <a:srgbClr val="C62828"/>
            </a:solidFill>
            <a:prstDash val="dash"/>
          </a:ln>
        </p:spPr>
      </p:cxnSp>
      <p:cxnSp>
        <p:nvCxnSpPr>
          <p:cNvPr id="23" name="Connector 22"/>
          <p:cNvCxnSpPr/>
          <p:nvPr/>
        </p:nvCxnSpPr>
        <p:spPr>
          <a:xfrm>
            <a:off x="3044952" y="3108960"/>
            <a:ext cx="1984248" cy="2304288"/>
          </a:xfrm>
          <a:prstGeom prst="line">
            <a:avLst/>
          </a:prstGeom>
          <a:ln w="25400">
            <a:solidFill>
              <a:srgbClr val="C62828"/>
            </a:solidFill>
            <a:prstDash val="dash"/>
          </a:ln>
        </p:spPr>
      </p:cxnSp>
      <p:sp>
        <p:nvSpPr>
          <p:cNvPr id="24" name="TextBox 23"/>
          <p:cNvSpPr txBox="1"/>
          <p:nvPr/>
        </p:nvSpPr>
        <p:spPr>
          <a:xfrm>
            <a:off x="914400" y="4526280"/>
            <a:ext cx="2468880" cy="566928"/>
          </a:xfrm>
          <a:prstGeom prst="rect">
            <a:avLst/>
          </a:prstGeom>
          <a:noFill/>
        </p:spPr>
        <p:txBody>
          <a:bodyPr wrap="square" lIns="0" tIns="0" rIns="0" bIns="0" anchor="t">
            <a:noAutofit/>
          </a:bodyPr>
          <a:lstStyle/>
          <a:p>
            <a:pPr algn="l">
              <a:lnSpc>
                <a:spcPct val="100000"/>
              </a:lnSpc>
            </a:pPr>
            <a:r>
              <a:rPr sz="1300" b="1" i="0" lang="vi-VN">
                <a:solidFill>
                  <a:srgbClr val="C62828"/>
                </a:solidFill>
                <a:latin typeface="Arial"/>
                <a:ea typeface="Arial"/>
                <a:cs typeface="Arial"/>
              </a:rPr>
              <a:t>Gắn cứng: đường ngắm bị</a:t>
            </a:r>
          </a:p>
          <a:p>
            <a:pPr algn="l">
              <a:lnSpc>
                <a:spcPct val="100000"/>
              </a:lnSpc>
            </a:pPr>
            <a:r>
              <a:rPr sz="1300" b="1" i="0" lang="vi-VN">
                <a:solidFill>
                  <a:srgbClr val="C62828"/>
                </a:solidFill>
                <a:latin typeface="Arial"/>
                <a:ea typeface="Arial"/>
                <a:cs typeface="Arial"/>
              </a:rPr>
              <a:t>kéo lệch, ảnh rung, mất mục tiêu</a:t>
            </a:r>
          </a:p>
        </p:txBody>
      </p:sp>
      <p:grpSp>
        <p:nvGrpSpPr>
          <p:cNvPr id="25" name="Group 24"/>
          <p:cNvGrpSpPr/>
          <p:nvPr/>
        </p:nvGrpSpPr>
        <p:grpSpPr>
          <a:xfrm>
            <a:off x="2011680" y="1764792"/>
            <a:ext cx="2560320" cy="347472"/>
            <a:chOff x="2011680" y="1764792"/>
            <a:chExt cx="2560320" cy="347472"/>
          </a:xfrm>
        </p:grpSpPr>
        <p:pic>
          <p:nvPicPr>
            <p:cNvPr id="26" name="Picture 25" descr="wind_5B6B7B.png"/>
            <p:cNvPicPr>
              <a:picLocks noChangeAspect="1"/>
            </p:cNvPicPr>
            <p:nvPr/>
          </p:nvPicPr>
          <p:blipFill>
            <a:blip r:embed="rId3"/>
            <a:stretch>
              <a:fillRect/>
            </a:stretch>
          </p:blipFill>
          <p:spPr>
            <a:xfrm>
              <a:off x="2011680" y="1783080"/>
              <a:ext cx="310896" cy="310896"/>
            </a:xfrm>
            <a:prstGeom prst="rect">
              <a:avLst/>
            </a:prstGeom>
          </p:spPr>
        </p:pic>
        <p:sp>
          <p:nvSpPr>
            <p:cNvPr id="27" name="TextBox 26"/>
            <p:cNvSpPr txBox="1"/>
            <p:nvPr/>
          </p:nvSpPr>
          <p:spPr>
            <a:xfrm>
              <a:off x="2377440" y="1764792"/>
              <a:ext cx="2194560" cy="347472"/>
            </a:xfrm>
            <a:prstGeom prst="rect">
              <a:avLst/>
            </a:prstGeom>
            <a:noFill/>
          </p:spPr>
          <p:txBody>
            <a:bodyPr wrap="square" lIns="0" tIns="0" rIns="0" bIns="0" anchor="ctr">
              <a:noAutofit/>
            </a:bodyPr>
            <a:lstStyle/>
            <a:p>
              <a:pPr algn="l"/>
              <a:r>
                <a:rPr sz="1300" b="0" i="0" lang="vi-VN">
                  <a:solidFill>
                    <a:srgbClr val="1E2B3A"/>
                  </a:solidFill>
                  <a:latin typeface="Arial"/>
                  <a:ea typeface="Arial"/>
                  <a:cs typeface="Arial"/>
                </a:rPr>
                <a:t>nhiễu động khí quyển</a:t>
              </a:r>
            </a:p>
          </p:txBody>
        </p:sp>
      </p:grpSp>
      <p:grpSp>
        <p:nvGrpSpPr>
          <p:cNvPr id="28" name="Group 27"/>
          <p:cNvGrpSpPr/>
          <p:nvPr/>
        </p:nvGrpSpPr>
        <p:grpSpPr>
          <a:xfrm>
            <a:off x="685800" y="3410712"/>
            <a:ext cx="2084832" cy="347472"/>
            <a:chOff x="685800" y="3410712"/>
            <a:chExt cx="2084832" cy="347472"/>
          </a:xfrm>
        </p:grpSpPr>
        <p:pic>
          <p:nvPicPr>
            <p:cNvPr id="29" name="Picture 28" descr="wave_5B6B7B.png"/>
            <p:cNvPicPr>
              <a:picLocks noChangeAspect="1"/>
            </p:cNvPicPr>
            <p:nvPr/>
          </p:nvPicPr>
          <p:blipFill>
            <a:blip r:embed="rId4"/>
            <a:stretch>
              <a:fillRect/>
            </a:stretch>
          </p:blipFill>
          <p:spPr>
            <a:xfrm>
              <a:off x="685800" y="3429000"/>
              <a:ext cx="310896" cy="310896"/>
            </a:xfrm>
            <a:prstGeom prst="rect">
              <a:avLst/>
            </a:prstGeom>
          </p:spPr>
        </p:pic>
        <p:sp>
          <p:nvSpPr>
            <p:cNvPr id="30" name="TextBox 29"/>
            <p:cNvSpPr txBox="1"/>
            <p:nvPr/>
          </p:nvSpPr>
          <p:spPr>
            <a:xfrm>
              <a:off x="1033272" y="3410712"/>
              <a:ext cx="1737360" cy="347472"/>
            </a:xfrm>
            <a:prstGeom prst="rect">
              <a:avLst/>
            </a:prstGeom>
            <a:noFill/>
          </p:spPr>
          <p:txBody>
            <a:bodyPr wrap="square" lIns="0" tIns="0" rIns="0" bIns="0" anchor="ctr">
              <a:noAutofit/>
            </a:bodyPr>
            <a:lstStyle/>
            <a:p>
              <a:pPr algn="l"/>
              <a:r>
                <a:rPr sz="1300" b="0" i="0" lang="vi-VN">
                  <a:solidFill>
                    <a:srgbClr val="1E2B3A"/>
                  </a:solidFill>
                  <a:latin typeface="Arial"/>
                  <a:ea typeface="Arial"/>
                  <a:cs typeface="Arial"/>
                </a:rPr>
                <a:t>rung động cơ</a:t>
              </a:r>
            </a:p>
          </p:txBody>
        </p:sp>
      </p:grpSp>
      <p:grpSp>
        <p:nvGrpSpPr>
          <p:cNvPr id="31" name="Group 30"/>
          <p:cNvGrpSpPr/>
          <p:nvPr/>
        </p:nvGrpSpPr>
        <p:grpSpPr>
          <a:xfrm>
            <a:off x="4251960" y="2286000"/>
            <a:ext cx="2130552" cy="548640"/>
            <a:chOff x="4251960" y="2286000"/>
            <a:chExt cx="2130552" cy="548640"/>
          </a:xfrm>
        </p:grpSpPr>
        <p:pic>
          <p:nvPicPr>
            <p:cNvPr id="32" name="Picture 31" descr="sync_5B6B7B.png"/>
            <p:cNvPicPr>
              <a:picLocks noChangeAspect="1"/>
            </p:cNvPicPr>
            <p:nvPr/>
          </p:nvPicPr>
          <p:blipFill>
            <a:blip r:embed="rId5"/>
            <a:stretch>
              <a:fillRect/>
            </a:stretch>
          </p:blipFill>
          <p:spPr>
            <a:xfrm>
              <a:off x="4251960" y="2395728"/>
              <a:ext cx="310896" cy="310896"/>
            </a:xfrm>
            <a:prstGeom prst="rect">
              <a:avLst/>
            </a:prstGeom>
          </p:spPr>
        </p:pic>
        <p:sp>
          <p:nvSpPr>
            <p:cNvPr id="33" name="TextBox 32"/>
            <p:cNvSpPr txBox="1"/>
            <p:nvPr/>
          </p:nvSpPr>
          <p:spPr>
            <a:xfrm>
              <a:off x="4599432" y="2286000"/>
              <a:ext cx="1783080" cy="548640"/>
            </a:xfrm>
            <a:prstGeom prst="rect">
              <a:avLst/>
            </a:prstGeom>
            <a:noFill/>
          </p:spPr>
          <p:txBody>
            <a:bodyPr wrap="square" lIns="0" tIns="0" rIns="0" bIns="0" anchor="ctr">
              <a:noAutofit/>
            </a:bodyPr>
            <a:lstStyle/>
            <a:p>
              <a:pPr algn="l">
                <a:lnSpc>
                  <a:spcPct val="100000"/>
                </a:lnSpc>
              </a:pPr>
              <a:r>
                <a:rPr sz="1300" b="0" i="0" lang="vi-VN">
                  <a:solidFill>
                    <a:srgbClr val="1E2B3A"/>
                  </a:solidFill>
                  <a:latin typeface="Arial"/>
                  <a:ea typeface="Arial"/>
                  <a:cs typeface="Arial"/>
                </a:rPr>
                <a:t>lượn vòng,</a:t>
              </a:r>
            </a:p>
            <a:p>
              <a:pPr algn="l">
                <a:lnSpc>
                  <a:spcPct val="100000"/>
                </a:lnSpc>
              </a:pPr>
              <a:r>
                <a:rPr sz="1300" b="0" i="0" lang="vi-VN">
                  <a:solidFill>
                    <a:srgbClr val="1E2B3A"/>
                  </a:solidFill>
                  <a:latin typeface="Arial"/>
                  <a:ea typeface="Arial"/>
                  <a:cs typeface="Arial"/>
                </a:rPr>
                <a:t>đổi hướng nhanh</a:t>
              </a:r>
            </a:p>
          </p:txBody>
        </p:sp>
      </p:grpSp>
      <p:cxnSp>
        <p:nvCxnSpPr>
          <p:cNvPr id="34" name="Connector 33"/>
          <p:cNvCxnSpPr/>
          <p:nvPr/>
        </p:nvCxnSpPr>
        <p:spPr>
          <a:xfrm>
            <a:off x="3044952" y="3108960"/>
            <a:ext cx="2304288" cy="2286000"/>
          </a:xfrm>
          <a:prstGeom prst="line">
            <a:avLst/>
          </a:prstGeom>
          <a:ln w="38100">
            <a:solidFill>
              <a:srgbClr val="0A5FA8"/>
            </a:solidFill>
            <a:tailEnd type="triangle" w="med" len="med"/>
          </a:ln>
        </p:spPr>
      </p:cxnSp>
      <p:sp>
        <p:nvSpPr>
          <p:cNvPr id="35" name="Rounded Rectangle 34"/>
          <p:cNvSpPr/>
          <p:nvPr/>
        </p:nvSpPr>
        <p:spPr>
          <a:xfrm>
            <a:off x="4315968" y="3840480"/>
            <a:ext cx="2103120" cy="402336"/>
          </a:xfrm>
          <a:prstGeom prst="roundRect">
            <a:avLst>
              <a:gd name="adj" fmla="val 50000"/>
            </a:avLst>
          </a:prstGeom>
          <a:solidFill>
            <a:srgbClr val="0A5FA8"/>
          </a:solidFill>
          <a:ln>
            <a:noFill/>
          </a:ln>
        </p:spPr>
        <p:txBody>
          <a:bodyPr rtlCol="0" anchor="ctr" lIns="73152" tIns="18288" rIns="73152" bIns="18288" wrap="square">
            <a:noAutofit/>
          </a:bodyPr>
          <a:lstStyle/>
          <a:p>
            <a:pPr algn="ctr"/>
            <a:r>
              <a:rPr sz="1200" b="1" i="0" lang="vi-VN">
                <a:solidFill>
                  <a:srgbClr val="FFFFFF"/>
                </a:solidFill>
                <a:latin typeface="Arial"/>
                <a:ea typeface="Arial"/>
                <a:cs typeface="Arial"/>
              </a:rPr>
              <a:t>Gimbal giữ đường ngắm</a:t>
            </a:r>
          </a:p>
        </p:txBody>
      </p:sp>
      <p:grpSp>
        <p:nvGrpSpPr>
          <p:cNvPr id="36" name="Group 35"/>
          <p:cNvGrpSpPr/>
          <p:nvPr/>
        </p:nvGrpSpPr>
        <p:grpSpPr>
          <a:xfrm>
            <a:off x="6675120" y="1261872"/>
            <a:ext cx="5029200" cy="1481328"/>
            <a:chOff x="6675120" y="1261872"/>
            <a:chExt cx="5029200" cy="1481328"/>
          </a:xfrm>
        </p:grpSpPr>
        <p:sp>
          <p:nvSpPr>
            <p:cNvPr id="37" name="Rounded Rectangle 36"/>
            <p:cNvSpPr/>
            <p:nvPr/>
          </p:nvSpPr>
          <p:spPr>
            <a:xfrm>
              <a:off x="6675120" y="1261872"/>
              <a:ext cx="5029200" cy="1481328"/>
            </a:xfrm>
            <a:prstGeom prst="roundRect">
              <a:avLst>
                <a:gd name="adj" fmla="val 617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38" name="Picture 37" descr="warning_C62828.png"/>
            <p:cNvPicPr>
              <a:picLocks noChangeAspect="1"/>
            </p:cNvPicPr>
            <p:nvPr/>
          </p:nvPicPr>
          <p:blipFill>
            <a:blip r:embed="rId6"/>
            <a:stretch>
              <a:fillRect/>
            </a:stretch>
          </p:blipFill>
          <p:spPr>
            <a:xfrm>
              <a:off x="6858000" y="1362456"/>
              <a:ext cx="237744" cy="237744"/>
            </a:xfrm>
            <a:prstGeom prst="rect">
              <a:avLst/>
            </a:prstGeom>
          </p:spPr>
        </p:pic>
        <p:sp>
          <p:nvSpPr>
            <p:cNvPr id="39" name="TextBox 38"/>
            <p:cNvSpPr txBox="1"/>
            <p:nvPr/>
          </p:nvSpPr>
          <p:spPr>
            <a:xfrm>
              <a:off x="7187184" y="1335024"/>
              <a:ext cx="424281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ĐẶC ĐIỂM UAV CÁNH BẰNG</a:t>
              </a:r>
            </a:p>
          </p:txBody>
        </p:sp>
        <p:sp>
          <p:nvSpPr>
            <p:cNvPr id="40" name="TextBox 39"/>
            <p:cNvSpPr txBox="1"/>
            <p:nvPr/>
          </p:nvSpPr>
          <p:spPr>
            <a:xfrm>
              <a:off x="6876288" y="1664208"/>
              <a:ext cx="4663440" cy="1051560"/>
            </a:xfrm>
            <a:prstGeom prst="rect">
              <a:avLst/>
            </a:prstGeom>
            <a:noFill/>
          </p:spPr>
          <p:txBody>
            <a:bodyPr wrap="square" lIns="0" tIns="0" rIns="0" bIns="0" anchor="t">
              <a:noAutofit/>
            </a:bodyPr>
            <a:lstStyle/>
            <a:p>
              <a:pPr algn="l" marL="201168" indent="-201168">
                <a:lnSpc>
                  <a:spcPct val="100000"/>
                </a:lnSpc>
                <a:spcAft>
                  <a:spcPts val="300"/>
                </a:spcAft>
                <a:buClr>
                  <a:srgbClr val="C62828"/>
                </a:buClr>
                <a:buSzPct val="100000"/>
                <a:buFont typeface="Arial"/>
                <a:buChar char="•"/>
              </a:pPr>
              <a:r>
                <a:rPr sz="1450" b="0" i="0" lang="vi-VN">
                  <a:solidFill>
                    <a:srgbClr val="1E2B3A"/>
                  </a:solidFill>
                  <a:latin typeface="Arial"/>
                  <a:ea typeface="Arial"/>
                  <a:cs typeface="Arial"/>
                </a:rPr>
                <a:t>Bay nhanh, không treo tại chỗ, liên tục lượn vòng</a:t>
              </a:r>
            </a:p>
            <a:p>
              <a:pPr algn="l" marL="201168" indent="-201168">
                <a:lnSpc>
                  <a:spcPct val="100000"/>
                </a:lnSpc>
                <a:spcAft>
                  <a:spcPts val="300"/>
                </a:spcAft>
                <a:buClr>
                  <a:srgbClr val="C62828"/>
                </a:buClr>
                <a:buSzPct val="100000"/>
                <a:buFont typeface="Arial"/>
                <a:buChar char="•"/>
              </a:pPr>
              <a:r>
                <a:rPr sz="1450" b="0" i="0" lang="vi-VN">
                  <a:solidFill>
                    <a:srgbClr val="1E2B3A"/>
                  </a:solidFill>
                  <a:latin typeface="Arial"/>
                  <a:ea typeface="Arial"/>
                  <a:cs typeface="Arial"/>
                </a:rPr>
                <a:t>Rung động cơ, nhiễu động khí quyển</a:t>
              </a:r>
            </a:p>
            <a:p>
              <a:pPr algn="l" marL="201168" indent="-201168">
                <a:lnSpc>
                  <a:spcPct val="100000"/>
                </a:lnSpc>
                <a:spcAft>
                  <a:spcPts val="300"/>
                </a:spcAft>
                <a:buClr>
                  <a:srgbClr val="C62828"/>
                </a:buClr>
                <a:buSzPct val="100000"/>
                <a:buFont typeface="Arial"/>
                <a:buChar char="•"/>
              </a:pPr>
              <a:r>
                <a:rPr sz="1450" b="0" i="0" lang="vi-VN">
                  <a:solidFill>
                    <a:srgbClr val="1E2B3A"/>
                  </a:solidFill>
                  <a:latin typeface="Arial"/>
                  <a:ea typeface="Arial"/>
                  <a:cs typeface="Arial"/>
                </a:rPr>
                <a:t>Camera gắn cứng → ảnh nhòe, đường ngắm lệch</a:t>
              </a:r>
            </a:p>
          </p:txBody>
        </p:sp>
      </p:grpSp>
      <p:grpSp>
        <p:nvGrpSpPr>
          <p:cNvPr id="41" name="Group 40"/>
          <p:cNvGrpSpPr/>
          <p:nvPr/>
        </p:nvGrpSpPr>
        <p:grpSpPr>
          <a:xfrm>
            <a:off x="6675120" y="2862072"/>
            <a:ext cx="5029200" cy="1572768"/>
            <a:chOff x="6675120" y="2862072"/>
            <a:chExt cx="5029200" cy="1572768"/>
          </a:xfrm>
        </p:grpSpPr>
        <p:sp>
          <p:nvSpPr>
            <p:cNvPr id="42" name="Rounded Rectangle 41"/>
            <p:cNvSpPr/>
            <p:nvPr/>
          </p:nvSpPr>
          <p:spPr>
            <a:xfrm>
              <a:off x="6675120" y="2862072"/>
              <a:ext cx="5029200" cy="1572768"/>
            </a:xfrm>
            <a:prstGeom prst="roundRect">
              <a:avLst>
                <a:gd name="adj" fmla="val 5813"/>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43" name="Picture 42" descr="video_0A5FA8.png"/>
            <p:cNvPicPr>
              <a:picLocks noChangeAspect="1"/>
            </p:cNvPicPr>
            <p:nvPr/>
          </p:nvPicPr>
          <p:blipFill>
            <a:blip r:embed="rId7"/>
            <a:stretch>
              <a:fillRect/>
            </a:stretch>
          </p:blipFill>
          <p:spPr>
            <a:xfrm>
              <a:off x="6858000" y="2953512"/>
              <a:ext cx="237744" cy="237744"/>
            </a:xfrm>
            <a:prstGeom prst="rect">
              <a:avLst/>
            </a:prstGeom>
          </p:spPr>
        </p:pic>
        <p:sp>
          <p:nvSpPr>
            <p:cNvPr id="44" name="TextBox 43"/>
            <p:cNvSpPr txBox="1"/>
            <p:nvPr/>
          </p:nvSpPr>
          <p:spPr>
            <a:xfrm>
              <a:off x="7187184" y="2926080"/>
              <a:ext cx="424281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ỨNG DỤNG HỆ ỔN ĐỊNH CAMERA</a:t>
              </a:r>
            </a:p>
          </p:txBody>
        </p:sp>
      </p:grpSp>
      <p:grpSp>
        <p:nvGrpSpPr>
          <p:cNvPr id="45" name="Group 44"/>
          <p:cNvGrpSpPr/>
          <p:nvPr/>
        </p:nvGrpSpPr>
        <p:grpSpPr>
          <a:xfrm>
            <a:off x="6858000" y="3291840"/>
            <a:ext cx="1097280" cy="1051560"/>
            <a:chOff x="6858000" y="3291840"/>
            <a:chExt cx="1097280" cy="1051560"/>
          </a:xfrm>
        </p:grpSpPr>
        <p:sp>
          <p:nvSpPr>
            <p:cNvPr id="46" name="Rounded Rectangle 45"/>
            <p:cNvSpPr/>
            <p:nvPr/>
          </p:nvSpPr>
          <p:spPr>
            <a:xfrm>
              <a:off x="6858000" y="3291840"/>
              <a:ext cx="1097280" cy="1051560"/>
            </a:xfrm>
            <a:prstGeom prst="roundRect">
              <a:avLst>
                <a:gd name="adj" fmla="val 6956"/>
              </a:avLst>
            </a:prstGeom>
            <a:solidFill>
              <a:srgbClr val="EAF3FB"/>
            </a:solidFill>
            <a:ln>
              <a:noFill/>
            </a:ln>
          </p:spPr>
          <p:txBody>
            <a:bodyPr rtlCol="0" anchor="ctr" lIns="54864" tIns="54864" rIns="54864" bIns="54864" wrap="square">
              <a:noAutofit/>
            </a:bodyPr>
            <a:lstStyle/>
            <a:p>
              <a:pPr algn="ctr"/>
            </a:p>
          </p:txBody>
        </p:sp>
        <p:grpSp>
          <p:nvGrpSpPr>
            <p:cNvPr id="47" name="Group 46"/>
            <p:cNvGrpSpPr/>
            <p:nvPr/>
          </p:nvGrpSpPr>
          <p:grpSpPr>
            <a:xfrm>
              <a:off x="7196328" y="3374136"/>
              <a:ext cx="420624" cy="420624"/>
              <a:chOff x="7196328" y="3374136"/>
              <a:chExt cx="420624" cy="420624"/>
            </a:xfrm>
          </p:grpSpPr>
          <p:sp>
            <p:nvSpPr>
              <p:cNvPr id="48" name="Oval 47"/>
              <p:cNvSpPr/>
              <p:nvPr/>
            </p:nvSpPr>
            <p:spPr>
              <a:xfrm>
                <a:off x="7196328" y="3374136"/>
                <a:ext cx="420624" cy="420624"/>
              </a:xfrm>
              <a:prstGeom prst="ellipse">
                <a:avLst/>
              </a:prstGeom>
              <a:solidFill>
                <a:srgbClr val="0A5FA8"/>
              </a:solidFill>
              <a:ln>
                <a:noFill/>
              </a:ln>
            </p:spPr>
            <p:txBody>
              <a:bodyPr rtlCol="0" anchor="ctr" lIns="54864" tIns="54864" rIns="54864" bIns="54864" wrap="square">
                <a:noAutofit/>
              </a:bodyPr>
              <a:lstStyle/>
              <a:p>
                <a:pPr algn="ctr"/>
              </a:p>
            </p:txBody>
          </p:sp>
          <p:pic>
            <p:nvPicPr>
              <p:cNvPr id="49" name="Picture 48" descr="binoculars.png"/>
              <p:cNvPicPr>
                <a:picLocks noChangeAspect="1"/>
              </p:cNvPicPr>
              <p:nvPr/>
            </p:nvPicPr>
            <p:blipFill>
              <a:blip r:embed="rId8"/>
              <a:stretch>
                <a:fillRect/>
              </a:stretch>
            </p:blipFill>
            <p:spPr>
              <a:xfrm>
                <a:off x="7288865" y="3466673"/>
                <a:ext cx="235549" cy="235549"/>
              </a:xfrm>
              <a:prstGeom prst="rect">
                <a:avLst/>
              </a:prstGeom>
            </p:spPr>
          </p:pic>
        </p:grpSp>
        <p:sp>
          <p:nvSpPr>
            <p:cNvPr id="50" name="TextBox 49"/>
            <p:cNvSpPr txBox="1"/>
            <p:nvPr/>
          </p:nvSpPr>
          <p:spPr>
            <a:xfrm>
              <a:off x="6876288" y="3822192"/>
              <a:ext cx="1060704" cy="502920"/>
            </a:xfrm>
            <a:prstGeom prst="rect">
              <a:avLst/>
            </a:prstGeom>
            <a:noFill/>
          </p:spPr>
          <p:txBody>
            <a:bodyPr wrap="square" lIns="0" tIns="0" rIns="0" bIns="0" anchor="t">
              <a:noAutofit/>
            </a:bodyPr>
            <a:lstStyle/>
            <a:p>
              <a:pPr algn="ctr">
                <a:lnSpc>
                  <a:spcPct val="95000"/>
                </a:lnSpc>
              </a:pPr>
              <a:r>
                <a:rPr sz="1250" b="1" i="0" lang="vi-VN">
                  <a:solidFill>
                    <a:srgbClr val="1E2B3A"/>
                  </a:solidFill>
                  <a:latin typeface="Arial"/>
                  <a:ea typeface="Arial"/>
                  <a:cs typeface="Arial"/>
                </a:rPr>
                <a:t>Trinh sát,</a:t>
              </a:r>
            </a:p>
            <a:p>
              <a:pPr algn="ctr">
                <a:lnSpc>
                  <a:spcPct val="95000"/>
                </a:lnSpc>
              </a:pPr>
              <a:r>
                <a:rPr sz="1250" b="1" i="0" lang="vi-VN">
                  <a:solidFill>
                    <a:srgbClr val="1E2B3A"/>
                  </a:solidFill>
                  <a:latin typeface="Arial"/>
                  <a:ea typeface="Arial"/>
                  <a:cs typeface="Arial"/>
                </a:rPr>
                <a:t>giám sát</a:t>
              </a:r>
            </a:p>
          </p:txBody>
        </p:sp>
      </p:grpSp>
      <p:grpSp>
        <p:nvGrpSpPr>
          <p:cNvPr id="51" name="Group 50"/>
          <p:cNvGrpSpPr/>
          <p:nvPr/>
        </p:nvGrpSpPr>
        <p:grpSpPr>
          <a:xfrm>
            <a:off x="8037576" y="3291840"/>
            <a:ext cx="1097280" cy="1051560"/>
            <a:chOff x="8037576" y="3291840"/>
            <a:chExt cx="1097280" cy="1051560"/>
          </a:xfrm>
        </p:grpSpPr>
        <p:sp>
          <p:nvSpPr>
            <p:cNvPr id="52" name="Rounded Rectangle 51"/>
            <p:cNvSpPr/>
            <p:nvPr/>
          </p:nvSpPr>
          <p:spPr>
            <a:xfrm>
              <a:off x="8037576" y="3291840"/>
              <a:ext cx="1097280" cy="1051560"/>
            </a:xfrm>
            <a:prstGeom prst="roundRect">
              <a:avLst>
                <a:gd name="adj" fmla="val 6956"/>
              </a:avLst>
            </a:prstGeom>
            <a:solidFill>
              <a:srgbClr val="EAF3FB"/>
            </a:solidFill>
            <a:ln>
              <a:noFill/>
            </a:ln>
          </p:spPr>
          <p:txBody>
            <a:bodyPr rtlCol="0" anchor="ctr" lIns="54864" tIns="54864" rIns="54864" bIns="54864" wrap="square">
              <a:noAutofit/>
            </a:bodyPr>
            <a:lstStyle/>
            <a:p>
              <a:pPr algn="ctr"/>
            </a:p>
          </p:txBody>
        </p:sp>
        <p:grpSp>
          <p:nvGrpSpPr>
            <p:cNvPr id="53" name="Group 52"/>
            <p:cNvGrpSpPr/>
            <p:nvPr/>
          </p:nvGrpSpPr>
          <p:grpSpPr>
            <a:xfrm>
              <a:off x="8375904" y="3374136"/>
              <a:ext cx="420624" cy="420624"/>
              <a:chOff x="8375904" y="3374136"/>
              <a:chExt cx="420624" cy="420624"/>
            </a:xfrm>
          </p:grpSpPr>
          <p:sp>
            <p:nvSpPr>
              <p:cNvPr id="54" name="Oval 53"/>
              <p:cNvSpPr/>
              <p:nvPr/>
            </p:nvSpPr>
            <p:spPr>
              <a:xfrm>
                <a:off x="8375904" y="3374136"/>
                <a:ext cx="420624" cy="420624"/>
              </a:xfrm>
              <a:prstGeom prst="ellipse">
                <a:avLst/>
              </a:prstGeom>
              <a:solidFill>
                <a:srgbClr val="0A5FA8"/>
              </a:solidFill>
              <a:ln>
                <a:noFill/>
              </a:ln>
            </p:spPr>
            <p:txBody>
              <a:bodyPr rtlCol="0" anchor="ctr" lIns="54864" tIns="54864" rIns="54864" bIns="54864" wrap="square">
                <a:noAutofit/>
              </a:bodyPr>
              <a:lstStyle/>
              <a:p>
                <a:pPr algn="ctr"/>
              </a:p>
            </p:txBody>
          </p:sp>
          <p:pic>
            <p:nvPicPr>
              <p:cNvPr id="55" name="Picture 54" descr="crosshairs.png"/>
              <p:cNvPicPr>
                <a:picLocks noChangeAspect="1"/>
              </p:cNvPicPr>
              <p:nvPr/>
            </p:nvPicPr>
            <p:blipFill>
              <a:blip r:embed="rId2"/>
              <a:stretch>
                <a:fillRect/>
              </a:stretch>
            </p:blipFill>
            <p:spPr>
              <a:xfrm>
                <a:off x="8468441" y="3466673"/>
                <a:ext cx="235549" cy="235549"/>
              </a:xfrm>
              <a:prstGeom prst="rect">
                <a:avLst/>
              </a:prstGeom>
            </p:spPr>
          </p:pic>
        </p:grpSp>
        <p:sp>
          <p:nvSpPr>
            <p:cNvPr id="56" name="TextBox 55"/>
            <p:cNvSpPr txBox="1"/>
            <p:nvPr/>
          </p:nvSpPr>
          <p:spPr>
            <a:xfrm>
              <a:off x="8055864" y="3822192"/>
              <a:ext cx="1060704" cy="502920"/>
            </a:xfrm>
            <a:prstGeom prst="rect">
              <a:avLst/>
            </a:prstGeom>
            <a:noFill/>
          </p:spPr>
          <p:txBody>
            <a:bodyPr wrap="square" lIns="0" tIns="0" rIns="0" bIns="0" anchor="t">
              <a:noAutofit/>
            </a:bodyPr>
            <a:lstStyle/>
            <a:p>
              <a:pPr algn="ctr">
                <a:lnSpc>
                  <a:spcPct val="95000"/>
                </a:lnSpc>
              </a:pPr>
              <a:r>
                <a:rPr sz="1250" b="1" i="0" lang="vi-VN">
                  <a:solidFill>
                    <a:srgbClr val="1E2B3A"/>
                  </a:solidFill>
                  <a:latin typeface="Arial"/>
                  <a:ea typeface="Arial"/>
                  <a:cs typeface="Arial"/>
                </a:rPr>
                <a:t>Bám, chỉ thị</a:t>
              </a:r>
            </a:p>
            <a:p>
              <a:pPr algn="ctr">
                <a:lnSpc>
                  <a:spcPct val="95000"/>
                </a:lnSpc>
              </a:pPr>
              <a:r>
                <a:rPr sz="1250" b="1" i="0" lang="vi-VN">
                  <a:solidFill>
                    <a:srgbClr val="1E2B3A"/>
                  </a:solidFill>
                  <a:latin typeface="Arial"/>
                  <a:ea typeface="Arial"/>
                  <a:cs typeface="Arial"/>
                </a:rPr>
                <a:t>mục tiêu</a:t>
              </a:r>
            </a:p>
          </p:txBody>
        </p:sp>
      </p:grpSp>
      <p:grpSp>
        <p:nvGrpSpPr>
          <p:cNvPr id="57" name="Group 56"/>
          <p:cNvGrpSpPr/>
          <p:nvPr/>
        </p:nvGrpSpPr>
        <p:grpSpPr>
          <a:xfrm>
            <a:off x="9217152" y="3291840"/>
            <a:ext cx="1097280" cy="1051560"/>
            <a:chOff x="9217152" y="3291840"/>
            <a:chExt cx="1097280" cy="1051560"/>
          </a:xfrm>
        </p:grpSpPr>
        <p:sp>
          <p:nvSpPr>
            <p:cNvPr id="58" name="Rounded Rectangle 57"/>
            <p:cNvSpPr/>
            <p:nvPr/>
          </p:nvSpPr>
          <p:spPr>
            <a:xfrm>
              <a:off x="9217152" y="3291840"/>
              <a:ext cx="1097280" cy="1051560"/>
            </a:xfrm>
            <a:prstGeom prst="roundRect">
              <a:avLst>
                <a:gd name="adj" fmla="val 6956"/>
              </a:avLst>
            </a:prstGeom>
            <a:solidFill>
              <a:srgbClr val="EAF3FB"/>
            </a:solidFill>
            <a:ln>
              <a:noFill/>
            </a:ln>
          </p:spPr>
          <p:txBody>
            <a:bodyPr rtlCol="0" anchor="ctr" lIns="54864" tIns="54864" rIns="54864" bIns="54864" wrap="square">
              <a:noAutofit/>
            </a:bodyPr>
            <a:lstStyle/>
            <a:p>
              <a:pPr algn="ctr"/>
            </a:p>
          </p:txBody>
        </p:sp>
        <p:grpSp>
          <p:nvGrpSpPr>
            <p:cNvPr id="59" name="Group 58"/>
            <p:cNvGrpSpPr/>
            <p:nvPr/>
          </p:nvGrpSpPr>
          <p:grpSpPr>
            <a:xfrm>
              <a:off x="9555480" y="3374136"/>
              <a:ext cx="420624" cy="420624"/>
              <a:chOff x="9555480" y="3374136"/>
              <a:chExt cx="420624" cy="420624"/>
            </a:xfrm>
          </p:grpSpPr>
          <p:sp>
            <p:nvSpPr>
              <p:cNvPr id="60" name="Oval 59"/>
              <p:cNvSpPr/>
              <p:nvPr/>
            </p:nvSpPr>
            <p:spPr>
              <a:xfrm>
                <a:off x="9555480" y="3374136"/>
                <a:ext cx="420624" cy="420624"/>
              </a:xfrm>
              <a:prstGeom prst="ellipse">
                <a:avLst/>
              </a:prstGeom>
              <a:solidFill>
                <a:srgbClr val="0A5FA8"/>
              </a:solidFill>
              <a:ln>
                <a:noFill/>
              </a:ln>
            </p:spPr>
            <p:txBody>
              <a:bodyPr rtlCol="0" anchor="ctr" lIns="54864" tIns="54864" rIns="54864" bIns="54864" wrap="square">
                <a:noAutofit/>
              </a:bodyPr>
              <a:lstStyle/>
              <a:p>
                <a:pPr algn="ctr"/>
              </a:p>
            </p:txBody>
          </p:sp>
          <p:pic>
            <p:nvPicPr>
              <p:cNvPr id="61" name="Picture 60" descr="lifering.png"/>
              <p:cNvPicPr>
                <a:picLocks noChangeAspect="1"/>
              </p:cNvPicPr>
              <p:nvPr/>
            </p:nvPicPr>
            <p:blipFill>
              <a:blip r:embed="rId9"/>
              <a:stretch>
                <a:fillRect/>
              </a:stretch>
            </p:blipFill>
            <p:spPr>
              <a:xfrm>
                <a:off x="9648017" y="3466673"/>
                <a:ext cx="235549" cy="235549"/>
              </a:xfrm>
              <a:prstGeom prst="rect">
                <a:avLst/>
              </a:prstGeom>
            </p:spPr>
          </p:pic>
        </p:grpSp>
        <p:sp>
          <p:nvSpPr>
            <p:cNvPr id="62" name="TextBox 61"/>
            <p:cNvSpPr txBox="1"/>
            <p:nvPr/>
          </p:nvSpPr>
          <p:spPr>
            <a:xfrm>
              <a:off x="9235440" y="3822192"/>
              <a:ext cx="1060704" cy="502920"/>
            </a:xfrm>
            <a:prstGeom prst="rect">
              <a:avLst/>
            </a:prstGeom>
            <a:noFill/>
          </p:spPr>
          <p:txBody>
            <a:bodyPr wrap="square" lIns="0" tIns="0" rIns="0" bIns="0" anchor="t">
              <a:noAutofit/>
            </a:bodyPr>
            <a:lstStyle/>
            <a:p>
              <a:pPr algn="ctr">
                <a:lnSpc>
                  <a:spcPct val="95000"/>
                </a:lnSpc>
              </a:pPr>
              <a:r>
                <a:rPr sz="1250" b="1" i="0" lang="vi-VN">
                  <a:solidFill>
                    <a:srgbClr val="1E2B3A"/>
                  </a:solidFill>
                  <a:latin typeface="Arial"/>
                  <a:ea typeface="Arial"/>
                  <a:cs typeface="Arial"/>
                </a:rPr>
                <a:t>Tuần tra,</a:t>
              </a:r>
            </a:p>
            <a:p>
              <a:pPr algn="ctr">
                <a:lnSpc>
                  <a:spcPct val="95000"/>
                </a:lnSpc>
              </a:pPr>
              <a:r>
                <a:rPr sz="1250" b="1" i="0" lang="vi-VN">
                  <a:solidFill>
                    <a:srgbClr val="1E2B3A"/>
                  </a:solidFill>
                  <a:latin typeface="Arial"/>
                  <a:ea typeface="Arial"/>
                  <a:cs typeface="Arial"/>
                </a:rPr>
                <a:t>cứu nạn</a:t>
              </a:r>
            </a:p>
          </p:txBody>
        </p:sp>
      </p:grpSp>
      <p:grpSp>
        <p:nvGrpSpPr>
          <p:cNvPr id="63" name="Group 62"/>
          <p:cNvGrpSpPr/>
          <p:nvPr/>
        </p:nvGrpSpPr>
        <p:grpSpPr>
          <a:xfrm>
            <a:off x="10396728" y="3291840"/>
            <a:ext cx="1097280" cy="1051560"/>
            <a:chOff x="10396728" y="3291840"/>
            <a:chExt cx="1097280" cy="1051560"/>
          </a:xfrm>
        </p:grpSpPr>
        <p:sp>
          <p:nvSpPr>
            <p:cNvPr id="64" name="Rounded Rectangle 63"/>
            <p:cNvSpPr/>
            <p:nvPr/>
          </p:nvSpPr>
          <p:spPr>
            <a:xfrm>
              <a:off x="10396728" y="3291840"/>
              <a:ext cx="1097280" cy="1051560"/>
            </a:xfrm>
            <a:prstGeom prst="roundRect">
              <a:avLst>
                <a:gd name="adj" fmla="val 6956"/>
              </a:avLst>
            </a:prstGeom>
            <a:solidFill>
              <a:srgbClr val="EAF3FB"/>
            </a:solidFill>
            <a:ln>
              <a:noFill/>
            </a:ln>
          </p:spPr>
          <p:txBody>
            <a:bodyPr rtlCol="0" anchor="ctr" lIns="54864" tIns="54864" rIns="54864" bIns="54864" wrap="square">
              <a:noAutofit/>
            </a:bodyPr>
            <a:lstStyle/>
            <a:p>
              <a:pPr algn="ctr"/>
            </a:p>
          </p:txBody>
        </p:sp>
        <p:grpSp>
          <p:nvGrpSpPr>
            <p:cNvPr id="65" name="Group 64"/>
            <p:cNvGrpSpPr/>
            <p:nvPr/>
          </p:nvGrpSpPr>
          <p:grpSpPr>
            <a:xfrm>
              <a:off x="10735056" y="3374136"/>
              <a:ext cx="420624" cy="420624"/>
              <a:chOff x="10735056" y="3374136"/>
              <a:chExt cx="420624" cy="420624"/>
            </a:xfrm>
          </p:grpSpPr>
          <p:sp>
            <p:nvSpPr>
              <p:cNvPr id="66" name="Oval 65"/>
              <p:cNvSpPr/>
              <p:nvPr/>
            </p:nvSpPr>
            <p:spPr>
              <a:xfrm>
                <a:off x="10735056" y="3374136"/>
                <a:ext cx="420624" cy="420624"/>
              </a:xfrm>
              <a:prstGeom prst="ellipse">
                <a:avLst/>
              </a:prstGeom>
              <a:solidFill>
                <a:srgbClr val="0A5FA8"/>
              </a:solidFill>
              <a:ln>
                <a:noFill/>
              </a:ln>
            </p:spPr>
            <p:txBody>
              <a:bodyPr rtlCol="0" anchor="ctr" lIns="54864" tIns="54864" rIns="54864" bIns="54864" wrap="square">
                <a:noAutofit/>
              </a:bodyPr>
              <a:lstStyle/>
              <a:p>
                <a:pPr algn="ctr"/>
              </a:p>
            </p:txBody>
          </p:sp>
          <p:pic>
            <p:nvPicPr>
              <p:cNvPr id="67" name="Picture 66" descr="map.png"/>
              <p:cNvPicPr>
                <a:picLocks noChangeAspect="1"/>
              </p:cNvPicPr>
              <p:nvPr/>
            </p:nvPicPr>
            <p:blipFill>
              <a:blip r:embed="rId10"/>
              <a:stretch>
                <a:fillRect/>
              </a:stretch>
            </p:blipFill>
            <p:spPr>
              <a:xfrm>
                <a:off x="10827593" y="3466673"/>
                <a:ext cx="235549" cy="235549"/>
              </a:xfrm>
              <a:prstGeom prst="rect">
                <a:avLst/>
              </a:prstGeom>
            </p:spPr>
          </p:pic>
        </p:grpSp>
        <p:sp>
          <p:nvSpPr>
            <p:cNvPr id="68" name="TextBox 67"/>
            <p:cNvSpPr txBox="1"/>
            <p:nvPr/>
          </p:nvSpPr>
          <p:spPr>
            <a:xfrm>
              <a:off x="10415016" y="3822192"/>
              <a:ext cx="1060704" cy="502920"/>
            </a:xfrm>
            <a:prstGeom prst="rect">
              <a:avLst/>
            </a:prstGeom>
            <a:noFill/>
          </p:spPr>
          <p:txBody>
            <a:bodyPr wrap="square" lIns="0" tIns="0" rIns="0" bIns="0" anchor="t">
              <a:noAutofit/>
            </a:bodyPr>
            <a:lstStyle/>
            <a:p>
              <a:pPr algn="ctr">
                <a:lnSpc>
                  <a:spcPct val="95000"/>
                </a:lnSpc>
              </a:pPr>
              <a:r>
                <a:rPr sz="1250" b="1" i="0" lang="vi-VN">
                  <a:solidFill>
                    <a:srgbClr val="1E2B3A"/>
                  </a:solidFill>
                  <a:latin typeface="Arial"/>
                  <a:ea typeface="Arial"/>
                  <a:cs typeface="Arial"/>
                </a:rPr>
                <a:t>Khảo sát,</a:t>
              </a:r>
            </a:p>
            <a:p>
              <a:pPr algn="ctr">
                <a:lnSpc>
                  <a:spcPct val="95000"/>
                </a:lnSpc>
              </a:pPr>
              <a:r>
                <a:rPr sz="1250" b="1" i="0" lang="vi-VN">
                  <a:solidFill>
                    <a:srgbClr val="1E2B3A"/>
                  </a:solidFill>
                  <a:latin typeface="Arial"/>
                  <a:ea typeface="Arial"/>
                  <a:cs typeface="Arial"/>
                </a:rPr>
                <a:t>lập bản đồ</a:t>
              </a:r>
            </a:p>
          </p:txBody>
        </p:sp>
      </p:grpSp>
      <p:grpSp>
        <p:nvGrpSpPr>
          <p:cNvPr id="69" name="Group 68"/>
          <p:cNvGrpSpPr/>
          <p:nvPr/>
        </p:nvGrpSpPr>
        <p:grpSpPr>
          <a:xfrm>
            <a:off x="6675120" y="4553712"/>
            <a:ext cx="5029200" cy="1499616"/>
            <a:chOff x="6675120" y="4553712"/>
            <a:chExt cx="5029200" cy="1499616"/>
          </a:xfrm>
        </p:grpSpPr>
        <p:sp>
          <p:nvSpPr>
            <p:cNvPr id="70" name="Rounded Rectangle 69"/>
            <p:cNvSpPr/>
            <p:nvPr/>
          </p:nvSpPr>
          <p:spPr>
            <a:xfrm>
              <a:off x="6675120" y="4553712"/>
              <a:ext cx="5029200" cy="1499616"/>
            </a:xfrm>
            <a:prstGeom prst="roundRect">
              <a:avLst>
                <a:gd name="adj" fmla="val 6097"/>
              </a:avLst>
            </a:prstGeom>
            <a:solidFill>
              <a:srgbClr val="0B2545"/>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71" name="TextBox 70"/>
            <p:cNvSpPr txBox="1"/>
            <p:nvPr/>
          </p:nvSpPr>
          <p:spPr>
            <a:xfrm>
              <a:off x="6903720" y="4626864"/>
              <a:ext cx="4572000" cy="749808"/>
            </a:xfrm>
            <a:prstGeom prst="rect">
              <a:avLst/>
            </a:prstGeom>
            <a:noFill/>
          </p:spPr>
          <p:txBody>
            <a:bodyPr wrap="square" lIns="0" tIns="0" rIns="0" bIns="0" anchor="ctr">
              <a:noAutofit/>
            </a:bodyPr>
            <a:lstStyle/>
            <a:p>
              <a:pPr algn="l">
                <a:lnSpc>
                  <a:spcPct val="100000"/>
                </a:lnSpc>
              </a:pPr>
              <a:r>
                <a:rPr sz="1600" b="0" i="0" lang="vi-VN">
                  <a:solidFill>
                    <a:srgbClr val="FFFFFF"/>
                  </a:solidFill>
                  <a:latin typeface="Arial"/>
                  <a:ea typeface="Arial"/>
                  <a:cs typeface="Arial"/>
                </a:rPr>
                <a:t>→ Đề tài: </a:t>
              </a:r>
              <a:r>
                <a:rPr sz="1600" b="1" i="0" lang="vi-VN">
                  <a:solidFill>
                    <a:srgbClr val="FFFFFF"/>
                  </a:solidFill>
                  <a:latin typeface="Arial"/>
                  <a:ea typeface="Arial"/>
                  <a:cs typeface="Arial"/>
                </a:rPr>
                <a:t>Thiết kế bộ điều khiển Gimbal trên cơ sở hệ điều hành thời gian thực NuttX</a:t>
              </a:r>
            </a:p>
          </p:txBody>
        </p:sp>
        <p:sp>
          <p:nvSpPr>
            <p:cNvPr id="72" name="TextBox 71"/>
            <p:cNvSpPr txBox="1"/>
            <p:nvPr/>
          </p:nvSpPr>
          <p:spPr>
            <a:xfrm>
              <a:off x="6903720" y="5358384"/>
              <a:ext cx="4572000" cy="658368"/>
            </a:xfrm>
            <a:prstGeom prst="rect">
              <a:avLst/>
            </a:prstGeom>
            <a:noFill/>
          </p:spPr>
          <p:txBody>
            <a:bodyPr wrap="square" lIns="0" tIns="0" rIns="0" bIns="0" anchor="ctr">
              <a:noAutofit/>
            </a:bodyPr>
            <a:lstStyle/>
            <a:p>
              <a:pPr algn="l">
                <a:lnSpc>
                  <a:spcPct val="100000"/>
                </a:lnSpc>
              </a:pPr>
              <a:r>
                <a:rPr sz="1300" b="0" i="0" lang="vi-VN">
                  <a:solidFill>
                    <a:srgbClr val="CFE3F7"/>
                  </a:solidFill>
                  <a:latin typeface="Arial"/>
                  <a:ea typeface="Arial"/>
                  <a:cs typeface="Arial"/>
                </a:rPr>
                <a:t>Apache NuttX: RTOS mã nguồn mở, chuẩn POSIX, là nền của PX4 trên UAV → tất định thời gian, dễ tích hợp</a:t>
              </a:r>
            </a:p>
          </p:txBody>
        </p:sp>
      </p:grpSp>
      <p:sp>
        <p:nvSpPr>
          <p:cNvPr id="96"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900" fill="hold"/>
                                        <p:tgtEl>
                                          <p:spTgt spid="11"/>
                                        </p:tgtEl>
                                        <p:attrNameLst>
                                          <p:attrName>ppt_x</p:attrName>
                                        </p:attrNameLst>
                                      </p:cBhvr>
                                      <p:tavLst>
                                        <p:tav tm="0">
                                          <p:val>
                                            <p:strVal val="0-#ppt_w/2"/>
                                          </p:val>
                                        </p:tav>
                                        <p:tav tm="100000">
                                          <p:val>
                                            <p:strVal val="#ppt_x"/>
                                          </p:val>
                                        </p:tav>
                                      </p:tavLst>
                                    </p:anim>
                                    <p:anim calcmode="lin" valueType="num">
                                      <p:cBhvr>
                                        <p:cTn id="8" dur="9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400"/>
                                        <p:tgtEl>
                                          <p:spTgt spid="28"/>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par>
                                <p:cTn id="20" presetID="22" presetClass="entr" presetSubtype="8" fill="hold" grpId="0" nodeType="withEffect">
                                  <p:stCondLst>
                                    <p:cond delay="42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par>
                                <p:cTn id="23" presetID="22" presetClass="entr" presetSubtype="8" fill="hold" grpId="0" nodeType="withEffect">
                                  <p:stCondLst>
                                    <p:cond delay="54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par>
                                <p:cTn id="26" presetID="22" presetClass="entr" presetSubtype="8" fill="hold" grpId="0" nodeType="withEffect">
                                  <p:stCondLst>
                                    <p:cond delay="660"/>
                                  </p:stCondLst>
                                  <p:childTnLst>
                                    <p:set>
                                      <p:cBhvr>
                                        <p:cTn id="27" dur="1" fill="hold">
                                          <p:stCondLst>
                                            <p:cond delay="0"/>
                                          </p:stCondLst>
                                        </p:cTn>
                                        <p:tgtEl>
                                          <p:spTgt spid="23"/>
                                        </p:tgtEl>
                                        <p:attrNameLst>
                                          <p:attrName>style.visibility</p:attrName>
                                        </p:attrNameLst>
                                      </p:cBhvr>
                                      <p:to>
                                        <p:strVal val="visible"/>
                                      </p:to>
                                    </p:set>
                                    <p:animEffect transition="in" filter="wipe(left)">
                                      <p:cBhvr>
                                        <p:cTn id="28" dur="500"/>
                                        <p:tgtEl>
                                          <p:spTgt spid="23"/>
                                        </p:tgtEl>
                                      </p:cBhvr>
                                    </p:animEffect>
                                  </p:childTnLst>
                                </p:cTn>
                              </p:par>
                              <p:par>
                                <p:cTn id="29" presetID="10" presetClass="entr" presetSubtype="0" fill="hold" grpId="0" nodeType="withEffect">
                                  <p:stCondLst>
                                    <p:cond delay="86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42" presetClass="entr" presetSubtype="0" fill="hold" grpId="0" nodeType="withEffect">
                                  <p:stCondLst>
                                    <p:cond delay="101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anim calcmode="lin" valueType="num">
                                      <p:cBhvr>
                                        <p:cTn id="35" dur="500" fill="hold"/>
                                        <p:tgtEl>
                                          <p:spTgt spid="36"/>
                                        </p:tgtEl>
                                        <p:attrNameLst>
                                          <p:attrName>ppt_x</p:attrName>
                                        </p:attrNameLst>
                                      </p:cBhvr>
                                      <p:tavLst>
                                        <p:tav tm="0">
                                          <p:val>
                                            <p:strVal val="#ppt_x"/>
                                          </p:val>
                                        </p:tav>
                                        <p:tav tm="100000">
                                          <p:val>
                                            <p:strVal val="#ppt_x"/>
                                          </p:val>
                                        </p:tav>
                                      </p:tavLst>
                                    </p:anim>
                                    <p:anim calcmode="lin" valueType="num">
                                      <p:cBhvr>
                                        <p:cTn id="36" dur="500" fill="hold"/>
                                        <p:tgtEl>
                                          <p:spTgt spid="36"/>
                                        </p:tgtEl>
                                        <p:attrNameLst>
                                          <p:attrName>ppt_y</p:attrName>
                                        </p:attrNameLst>
                                      </p:cBhvr>
                                      <p:tavLst>
                                        <p:tav tm="0">
                                          <p:val>
                                            <p:strVal val="#ppt_y+.05"/>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500"/>
                                        <p:tgtEl>
                                          <p:spTgt spid="41"/>
                                        </p:tgtEl>
                                      </p:cBhvr>
                                    </p:animEffect>
                                    <p:anim calcmode="lin" valueType="num">
                                      <p:cBhvr>
                                        <p:cTn id="42" dur="500" fill="hold"/>
                                        <p:tgtEl>
                                          <p:spTgt spid="41"/>
                                        </p:tgtEl>
                                        <p:attrNameLst>
                                          <p:attrName>ppt_x</p:attrName>
                                        </p:attrNameLst>
                                      </p:cBhvr>
                                      <p:tavLst>
                                        <p:tav tm="0">
                                          <p:val>
                                            <p:strVal val="#ppt_x"/>
                                          </p:val>
                                        </p:tav>
                                        <p:tav tm="100000">
                                          <p:val>
                                            <p:strVal val="#ppt_x"/>
                                          </p:val>
                                        </p:tav>
                                      </p:tavLst>
                                    </p:anim>
                                    <p:anim calcmode="lin" valueType="num">
                                      <p:cBhvr>
                                        <p:cTn id="43" dur="500" fill="hold"/>
                                        <p:tgtEl>
                                          <p:spTgt spid="41"/>
                                        </p:tgtEl>
                                        <p:attrNameLst>
                                          <p:attrName>ppt_y</p:attrName>
                                        </p:attrNameLst>
                                      </p:cBhvr>
                                      <p:tavLst>
                                        <p:tav tm="0">
                                          <p:val>
                                            <p:strVal val="#ppt_y+.05"/>
                                          </p:val>
                                        </p:tav>
                                        <p:tav tm="100000">
                                          <p:val>
                                            <p:strVal val="#ppt_y"/>
                                          </p:val>
                                        </p:tav>
                                      </p:tavLst>
                                    </p:anim>
                                  </p:childTnLst>
                                </p:cTn>
                              </p:par>
                              <p:par>
                                <p:cTn id="44" presetID="53" presetClass="entr" presetSubtype="16" fill="hold" grpId="0" nodeType="withEffect">
                                  <p:stCondLst>
                                    <p:cond delay="12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350"/>
                                        <p:tgtEl>
                                          <p:spTgt spid="45"/>
                                        </p:tgtEl>
                                      </p:cBhvr>
                                    </p:animEffect>
                                    <p:anim calcmode="lin" valueType="num">
                                      <p:cBhvr>
                                        <p:cTn id="47" dur="350" fill="hold"/>
                                        <p:tgtEl>
                                          <p:spTgt spid="45"/>
                                        </p:tgtEl>
                                        <p:attrNameLst>
                                          <p:attrName>ppt_w</p:attrName>
                                        </p:attrNameLst>
                                      </p:cBhvr>
                                      <p:tavLst>
                                        <p:tav tm="0">
                                          <p:val>
                                            <p:strVal val="0"/>
                                          </p:val>
                                        </p:tav>
                                        <p:tav tm="100000">
                                          <p:val>
                                            <p:strVal val="#ppt_w"/>
                                          </p:val>
                                        </p:tav>
                                      </p:tavLst>
                                    </p:anim>
                                    <p:anim calcmode="lin" valueType="num">
                                      <p:cBhvr>
                                        <p:cTn id="48" dur="350" fill="hold"/>
                                        <p:tgtEl>
                                          <p:spTgt spid="45"/>
                                        </p:tgtEl>
                                        <p:attrNameLst>
                                          <p:attrName>ppt_h</p:attrName>
                                        </p:attrNameLst>
                                      </p:cBhvr>
                                      <p:tavLst>
                                        <p:tav tm="0">
                                          <p:val>
                                            <p:strVal val="0"/>
                                          </p:val>
                                        </p:tav>
                                        <p:tav tm="100000">
                                          <p:val>
                                            <p:strVal val="#ppt_h"/>
                                          </p:val>
                                        </p:tav>
                                      </p:tavLst>
                                    </p:anim>
                                  </p:childTnLst>
                                </p:cTn>
                              </p:par>
                              <p:par>
                                <p:cTn id="49" presetID="53" presetClass="entr" presetSubtype="16" fill="hold" grpId="0" nodeType="withEffect">
                                  <p:stCondLst>
                                    <p:cond delay="24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350"/>
                                        <p:tgtEl>
                                          <p:spTgt spid="51"/>
                                        </p:tgtEl>
                                      </p:cBhvr>
                                    </p:animEffect>
                                    <p:anim calcmode="lin" valueType="num">
                                      <p:cBhvr>
                                        <p:cTn id="52" dur="350" fill="hold"/>
                                        <p:tgtEl>
                                          <p:spTgt spid="51"/>
                                        </p:tgtEl>
                                        <p:attrNameLst>
                                          <p:attrName>ppt_w</p:attrName>
                                        </p:attrNameLst>
                                      </p:cBhvr>
                                      <p:tavLst>
                                        <p:tav tm="0">
                                          <p:val>
                                            <p:strVal val="0"/>
                                          </p:val>
                                        </p:tav>
                                        <p:tav tm="100000">
                                          <p:val>
                                            <p:strVal val="#ppt_w"/>
                                          </p:val>
                                        </p:tav>
                                      </p:tavLst>
                                    </p:anim>
                                    <p:anim calcmode="lin" valueType="num">
                                      <p:cBhvr>
                                        <p:cTn id="53" dur="350" fill="hold"/>
                                        <p:tgtEl>
                                          <p:spTgt spid="51"/>
                                        </p:tgtEl>
                                        <p:attrNameLst>
                                          <p:attrName>ppt_h</p:attrName>
                                        </p:attrNameLst>
                                      </p:cBhvr>
                                      <p:tavLst>
                                        <p:tav tm="0">
                                          <p:val>
                                            <p:strVal val="0"/>
                                          </p:val>
                                        </p:tav>
                                        <p:tav tm="100000">
                                          <p:val>
                                            <p:strVal val="#ppt_h"/>
                                          </p:val>
                                        </p:tav>
                                      </p:tavLst>
                                    </p:anim>
                                  </p:childTnLst>
                                </p:cTn>
                              </p:par>
                              <p:par>
                                <p:cTn id="54" presetID="53" presetClass="entr" presetSubtype="16" fill="hold" grpId="0" nodeType="withEffect">
                                  <p:stCondLst>
                                    <p:cond delay="360"/>
                                  </p:stCondLst>
                                  <p:childTnLst>
                                    <p:set>
                                      <p:cBhvr>
                                        <p:cTn id="55" dur="1" fill="hold">
                                          <p:stCondLst>
                                            <p:cond delay="0"/>
                                          </p:stCondLst>
                                        </p:cTn>
                                        <p:tgtEl>
                                          <p:spTgt spid="57"/>
                                        </p:tgtEl>
                                        <p:attrNameLst>
                                          <p:attrName>style.visibility</p:attrName>
                                        </p:attrNameLst>
                                      </p:cBhvr>
                                      <p:to>
                                        <p:strVal val="visible"/>
                                      </p:to>
                                    </p:set>
                                    <p:animEffect transition="in" filter="fade">
                                      <p:cBhvr>
                                        <p:cTn id="56" dur="350"/>
                                        <p:tgtEl>
                                          <p:spTgt spid="57"/>
                                        </p:tgtEl>
                                      </p:cBhvr>
                                    </p:animEffect>
                                    <p:anim calcmode="lin" valueType="num">
                                      <p:cBhvr>
                                        <p:cTn id="57" dur="350" fill="hold"/>
                                        <p:tgtEl>
                                          <p:spTgt spid="57"/>
                                        </p:tgtEl>
                                        <p:attrNameLst>
                                          <p:attrName>ppt_w</p:attrName>
                                        </p:attrNameLst>
                                      </p:cBhvr>
                                      <p:tavLst>
                                        <p:tav tm="0">
                                          <p:val>
                                            <p:strVal val="0"/>
                                          </p:val>
                                        </p:tav>
                                        <p:tav tm="100000">
                                          <p:val>
                                            <p:strVal val="#ppt_w"/>
                                          </p:val>
                                        </p:tav>
                                      </p:tavLst>
                                    </p:anim>
                                    <p:anim calcmode="lin" valueType="num">
                                      <p:cBhvr>
                                        <p:cTn id="58" dur="350" fill="hold"/>
                                        <p:tgtEl>
                                          <p:spTgt spid="57"/>
                                        </p:tgtEl>
                                        <p:attrNameLst>
                                          <p:attrName>ppt_h</p:attrName>
                                        </p:attrNameLst>
                                      </p:cBhvr>
                                      <p:tavLst>
                                        <p:tav tm="0">
                                          <p:val>
                                            <p:strVal val="0"/>
                                          </p:val>
                                        </p:tav>
                                        <p:tav tm="100000">
                                          <p:val>
                                            <p:strVal val="#ppt_h"/>
                                          </p:val>
                                        </p:tav>
                                      </p:tavLst>
                                    </p:anim>
                                  </p:childTnLst>
                                </p:cTn>
                              </p:par>
                              <p:par>
                                <p:cTn id="59" presetID="53" presetClass="entr" presetSubtype="16" fill="hold" grpId="0" nodeType="withEffect">
                                  <p:stCondLst>
                                    <p:cond delay="48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350"/>
                                        <p:tgtEl>
                                          <p:spTgt spid="63"/>
                                        </p:tgtEl>
                                      </p:cBhvr>
                                    </p:animEffect>
                                    <p:anim calcmode="lin" valueType="num">
                                      <p:cBhvr>
                                        <p:cTn id="62" dur="350" fill="hold"/>
                                        <p:tgtEl>
                                          <p:spTgt spid="63"/>
                                        </p:tgtEl>
                                        <p:attrNameLst>
                                          <p:attrName>ppt_w</p:attrName>
                                        </p:attrNameLst>
                                      </p:cBhvr>
                                      <p:tavLst>
                                        <p:tav tm="0">
                                          <p:val>
                                            <p:strVal val="0"/>
                                          </p:val>
                                        </p:tav>
                                        <p:tav tm="100000">
                                          <p:val>
                                            <p:strVal val="#ppt_w"/>
                                          </p:val>
                                        </p:tav>
                                      </p:tavLst>
                                    </p:anim>
                                    <p:anim calcmode="lin" valueType="num">
                                      <p:cBhvr>
                                        <p:cTn id="63" dur="350" fill="hold"/>
                                        <p:tgtEl>
                                          <p:spTgt spid="63"/>
                                        </p:tgtEl>
                                        <p:attrNameLst>
                                          <p:attrName>ppt_h</p:attrName>
                                        </p:attrNameLst>
                                      </p:cBhvr>
                                      <p:tavLst>
                                        <p:tav tm="0">
                                          <p:val>
                                            <p:str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grpId="1" nodeType="clickEffect">
                                  <p:stCondLst>
                                    <p:cond delay="0"/>
                                  </p:stCondLst>
                                  <p:childTnLst>
                                    <p:animEffect transition="out" filter="fade">
                                      <p:cBhvr>
                                        <p:cTn id="67" dur="300"/>
                                        <p:tgtEl>
                                          <p:spTgt spid="21"/>
                                        </p:tgtEl>
                                      </p:cBhvr>
                                    </p:animEffect>
                                    <p:set>
                                      <p:cBhvr>
                                        <p:cTn id="68" dur="1" fill="hold">
                                          <p:stCondLst>
                                            <p:cond delay="299"/>
                                          </p:stCondLst>
                                        </p:cTn>
                                        <p:tgtEl>
                                          <p:spTgt spid="21"/>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300"/>
                                        <p:tgtEl>
                                          <p:spTgt spid="22"/>
                                        </p:tgtEl>
                                      </p:cBhvr>
                                    </p:animEffect>
                                    <p:set>
                                      <p:cBhvr>
                                        <p:cTn id="71" dur="1" fill="hold">
                                          <p:stCondLst>
                                            <p:cond delay="299"/>
                                          </p:stCondLst>
                                        </p:cTn>
                                        <p:tgtEl>
                                          <p:spTgt spid="22"/>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300"/>
                                        <p:tgtEl>
                                          <p:spTgt spid="23"/>
                                        </p:tgtEl>
                                      </p:cBhvr>
                                    </p:animEffect>
                                    <p:set>
                                      <p:cBhvr>
                                        <p:cTn id="74" dur="1" fill="hold">
                                          <p:stCondLst>
                                            <p:cond delay="299"/>
                                          </p:stCondLst>
                                        </p:cTn>
                                        <p:tgtEl>
                                          <p:spTgt spid="23"/>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300"/>
                                        <p:tgtEl>
                                          <p:spTgt spid="24"/>
                                        </p:tgtEl>
                                      </p:cBhvr>
                                    </p:animEffect>
                                    <p:set>
                                      <p:cBhvr>
                                        <p:cTn id="77" dur="1" fill="hold">
                                          <p:stCondLst>
                                            <p:cond delay="299"/>
                                          </p:stCondLst>
                                        </p:cTn>
                                        <p:tgtEl>
                                          <p:spTgt spid="24"/>
                                        </p:tgtEl>
                                        <p:attrNameLst>
                                          <p:attrName>style.visibility</p:attrName>
                                        </p:attrNameLst>
                                      </p:cBhvr>
                                      <p:to>
                                        <p:strVal val="hidden"/>
                                      </p:to>
                                    </p:set>
                                  </p:childTnLst>
                                </p:cTn>
                              </p:par>
                            </p:childTnLst>
                          </p:cTn>
                        </p:par>
                        <p:par>
                          <p:cTn id="78" fill="hold">
                            <p:stCondLst>
                              <p:cond delay="300"/>
                            </p:stCondLst>
                            <p:childTnLst>
                              <p:par>
                                <p:cTn id="79" presetID="22" presetClass="entr" presetSubtype="8" fill="hold" grpId="0" nodeType="after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wipe(left)">
                                      <p:cBhvr>
                                        <p:cTn id="81" dur="500"/>
                                        <p:tgtEl>
                                          <p:spTgt spid="34"/>
                                        </p:tgtEl>
                                      </p:cBhvr>
                                    </p:animEffect>
                                  </p:childTnLst>
                                </p:cTn>
                              </p:par>
                              <p:par>
                                <p:cTn id="82" presetID="53" presetClass="entr" presetSubtype="16" fill="hold" grpId="0" nodeType="withEffect">
                                  <p:stCondLst>
                                    <p:cond delay="20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anim calcmode="lin" valueType="num">
                                      <p:cBhvr>
                                        <p:cTn id="85" dur="400" fill="hold"/>
                                        <p:tgtEl>
                                          <p:spTgt spid="35"/>
                                        </p:tgtEl>
                                        <p:attrNameLst>
                                          <p:attrName>ppt_w</p:attrName>
                                        </p:attrNameLst>
                                      </p:cBhvr>
                                      <p:tavLst>
                                        <p:tav tm="0">
                                          <p:val>
                                            <p:strVal val="0"/>
                                          </p:val>
                                        </p:tav>
                                        <p:tav tm="100000">
                                          <p:val>
                                            <p:strVal val="#ppt_w"/>
                                          </p:val>
                                        </p:tav>
                                      </p:tavLst>
                                    </p:anim>
                                    <p:anim calcmode="lin" valueType="num">
                                      <p:cBhvr>
                                        <p:cTn id="86" dur="400" fill="hold"/>
                                        <p:tgtEl>
                                          <p:spTgt spid="35"/>
                                        </p:tgtEl>
                                        <p:attrNameLst>
                                          <p:attrName>ppt_h</p:attrName>
                                        </p:attrNameLst>
                                      </p:cBhvr>
                                      <p:tavLst>
                                        <p:tav tm="0">
                                          <p:val>
                                            <p:strVal val="0"/>
                                          </p:val>
                                        </p:tav>
                                        <p:tav tm="100000">
                                          <p:val>
                                            <p:strVal val="#ppt_h"/>
                                          </p:val>
                                        </p:tav>
                                      </p:tavLst>
                                    </p:anim>
                                  </p:childTnLst>
                                </p:cTn>
                              </p:par>
                            </p:childTnLst>
                          </p:cTn>
                        </p:par>
                        <p:par>
                          <p:cTn id="87" fill="hold">
                            <p:stCondLst>
                              <p:cond delay="900"/>
                            </p:stCondLst>
                            <p:childTnLst>
                              <p:par>
                                <p:cTn id="88" presetID="42" presetClass="entr" presetSubtype="0" fill="hold" grpId="0" nodeType="afterEffect">
                                  <p:stCondLst>
                                    <p:cond delay="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500"/>
                                        <p:tgtEl>
                                          <p:spTgt spid="69"/>
                                        </p:tgtEl>
                                      </p:cBhvr>
                                    </p:animEffect>
                                    <p:anim calcmode="lin" valueType="num">
                                      <p:cBhvr>
                                        <p:cTn id="91" dur="500" fill="hold"/>
                                        <p:tgtEl>
                                          <p:spTgt spid="69"/>
                                        </p:tgtEl>
                                        <p:attrNameLst>
                                          <p:attrName>ppt_x</p:attrName>
                                        </p:attrNameLst>
                                      </p:cBhvr>
                                      <p:tavLst>
                                        <p:tav tm="0">
                                          <p:val>
                                            <p:strVal val="#ppt_x"/>
                                          </p:val>
                                        </p:tav>
                                        <p:tav tm="100000">
                                          <p:val>
                                            <p:strVal val="#ppt_x"/>
                                          </p:val>
                                        </p:tav>
                                      </p:tavLst>
                                    </p:anim>
                                    <p:anim calcmode="lin" valueType="num">
                                      <p:cBhvr>
                                        <p:cTn id="92" dur="500" fill="hold"/>
                                        <p:tgtEl>
                                          <p:spTgt spid="69"/>
                                        </p:tgtEl>
                                        <p:attrNameLst>
                                          <p:attrName>ppt_y</p:attrName>
                                        </p:attrNameLst>
                                      </p:cBhvr>
                                      <p:tavLst>
                                        <p:tav tm="0">
                                          <p:val>
                                            <p:strVal val="#ppt_y+.05"/>
                                          </p:val>
                                        </p:tav>
                                        <p:tav tm="100000">
                                          <p:val>
                                            <p:strVal val="#ppt_y"/>
                                          </p:val>
                                        </p:tav>
                                      </p:tavLst>
                                    </p:anim>
                                  </p:childTnLst>
                                </p:cTn>
                              </p:par>
                            </p:childTnLst>
                          </p:cTn>
                        </p:par>
                        <p:par>
                          <p:cTn id="93" fill="hold">
                            <p:stCondLst>
                              <p:cond delay="1400"/>
                            </p:stCondLst>
                            <p:childTnLst>
                              <p:par>
                                <p:cTn id="94" presetID="6" presetClass="emph" presetSubtype="0" fill="hold" grpId="1" nodeType="afterEffect">
                                  <p:stCondLst>
                                    <p:cond delay="0"/>
                                  </p:stCondLst>
                                  <p:childTnLst>
                                    <p:animScale>
                                      <p:cBhvr>
                                        <p:cTn id="95" dur="300" autoRev="1" fill="hold"/>
                                        <p:tgtEl>
                                          <p:spTgt spid="69"/>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35"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MỞ ĐẦU · MỤC TIÊU VÀ YÊU CẦU</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Mục tiêu và yêu cầu của đồ án</a:t>
            </a:r>
          </a:p>
        </p:txBody>
      </p:sp>
      <p:grpSp>
        <p:nvGrpSpPr>
          <p:cNvPr id="4" name="Group 3"/>
          <p:cNvGrpSpPr/>
          <p:nvPr/>
        </p:nvGrpSpPr>
        <p:grpSpPr>
          <a:xfrm>
            <a:off x="502920" y="1261872"/>
            <a:ext cx="11201400" cy="1115568"/>
            <a:chOff x="502920" y="1261872"/>
            <a:chExt cx="11201400" cy="1115568"/>
          </a:xfrm>
        </p:grpSpPr>
        <p:sp>
          <p:nvSpPr>
            <p:cNvPr id="5" name="Rounded Rectangle 4"/>
            <p:cNvSpPr/>
            <p:nvPr/>
          </p:nvSpPr>
          <p:spPr>
            <a:xfrm>
              <a:off x="502920" y="1261872"/>
              <a:ext cx="11201400" cy="1115568"/>
            </a:xfrm>
            <a:prstGeom prst="roundRect">
              <a:avLst>
                <a:gd name="adj" fmla="val 9836"/>
              </a:avLst>
            </a:prstGeom>
            <a:solidFill>
              <a:srgbClr val="0B2545"/>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6" name="Group 5"/>
            <p:cNvGrpSpPr/>
            <p:nvPr/>
          </p:nvGrpSpPr>
          <p:grpSpPr>
            <a:xfrm>
              <a:off x="740664" y="1463040"/>
              <a:ext cx="713232" cy="713232"/>
              <a:chOff x="740664" y="1463040"/>
              <a:chExt cx="713232" cy="713232"/>
            </a:xfrm>
          </p:grpSpPr>
          <p:sp>
            <p:nvSpPr>
              <p:cNvPr id="7" name="Oval 6"/>
              <p:cNvSpPr/>
              <p:nvPr/>
            </p:nvSpPr>
            <p:spPr>
              <a:xfrm>
                <a:off x="740664" y="1463040"/>
                <a:ext cx="713232" cy="713232"/>
              </a:xfrm>
              <a:prstGeom prst="ellipse">
                <a:avLst/>
              </a:prstGeom>
              <a:solidFill>
                <a:srgbClr val="E8710A"/>
              </a:solidFill>
              <a:ln>
                <a:noFill/>
              </a:ln>
            </p:spPr>
            <p:txBody>
              <a:bodyPr rtlCol="0" anchor="ctr" lIns="54864" tIns="54864" rIns="54864" bIns="54864" wrap="square">
                <a:noAutofit/>
              </a:bodyPr>
              <a:lstStyle/>
              <a:p>
                <a:pPr algn="ctr"/>
              </a:p>
            </p:txBody>
          </p:sp>
          <p:pic>
            <p:nvPicPr>
              <p:cNvPr id="8" name="Picture 7" descr="bullseye.png"/>
              <p:cNvPicPr>
                <a:picLocks noChangeAspect="1"/>
              </p:cNvPicPr>
              <p:nvPr/>
            </p:nvPicPr>
            <p:blipFill>
              <a:blip r:embed="rId2"/>
              <a:stretch>
                <a:fillRect/>
              </a:stretch>
            </p:blipFill>
            <p:spPr>
              <a:xfrm>
                <a:off x="897575" y="1619951"/>
                <a:ext cx="399410" cy="399410"/>
              </a:xfrm>
              <a:prstGeom prst="rect">
                <a:avLst/>
              </a:prstGeom>
            </p:spPr>
          </p:pic>
        </p:grpSp>
        <p:sp>
          <p:nvSpPr>
            <p:cNvPr id="9" name="TextBox 8"/>
            <p:cNvSpPr txBox="1"/>
            <p:nvPr/>
          </p:nvSpPr>
          <p:spPr>
            <a:xfrm>
              <a:off x="1645920" y="1298448"/>
              <a:ext cx="9875520" cy="1042416"/>
            </a:xfrm>
            <a:prstGeom prst="rect">
              <a:avLst/>
            </a:prstGeom>
            <a:noFill/>
          </p:spPr>
          <p:txBody>
            <a:bodyPr wrap="square" lIns="0" tIns="0" rIns="0" bIns="0" anchor="ctr">
              <a:noAutofit/>
            </a:bodyPr>
            <a:lstStyle/>
            <a:p>
              <a:pPr algn="l">
                <a:lnSpc>
                  <a:spcPct val="102000"/>
                </a:lnSpc>
              </a:pPr>
              <a:r>
                <a:rPr sz="1800" b="1" i="0" lang="vi-VN">
                  <a:solidFill>
                    <a:srgbClr val="FFFFFF"/>
                  </a:solidFill>
                  <a:latin typeface="Arial"/>
                  <a:ea typeface="Arial"/>
                  <a:cs typeface="Arial"/>
                </a:rPr>
                <a:t>Mục tiêu:</a:t>
              </a:r>
              <a:r>
                <a:rPr sz="1800" b="0" i="0" lang="vi-VN">
                  <a:solidFill>
                    <a:srgbClr val="FFFFFF"/>
                  </a:solidFill>
                  <a:latin typeface="Arial"/>
                  <a:ea typeface="Arial"/>
                  <a:cs typeface="Arial"/>
                </a:rPr>
                <a:t> thiết kế, chế tạo bộ điều khiển Gimbal hai trục Yaw – Pitch trên Apache NuttX, giữ ổn định đường ngắm camera khi khung mang chuyển động nhanh, đảo chiều và dừng đột ngột.</a:t>
              </a:r>
            </a:p>
          </p:txBody>
        </p:sp>
      </p:grpSp>
      <p:sp>
        <p:nvSpPr>
          <p:cNvPr id="10" name="TextBox 9"/>
          <p:cNvSpPr txBox="1"/>
          <p:nvPr/>
        </p:nvSpPr>
        <p:spPr>
          <a:xfrm>
            <a:off x="502920" y="2542032"/>
            <a:ext cx="8229600" cy="292608"/>
          </a:xfrm>
          <a:prstGeom prst="rect">
            <a:avLst/>
          </a:prstGeom>
          <a:noFill/>
        </p:spPr>
        <p:txBody>
          <a:bodyPr wrap="square" lIns="0" tIns="0" rIns="0" bIns="0" anchor="t">
            <a:noAutofit/>
          </a:bodyPr>
          <a:lstStyle/>
          <a:p>
            <a:pPr algn="l"/>
            <a:r>
              <a:rPr sz="1250" b="1" i="0" lang="vi-VN" spc="40">
                <a:solidFill>
                  <a:srgbClr val="0A5FA8"/>
                </a:solidFill>
                <a:latin typeface="Arial"/>
                <a:ea typeface="Arial"/>
                <a:cs typeface="Arial"/>
              </a:rPr>
              <a:t>YÊU CẦU · BỐN NHÓM CHỈ TIÊU ĐÁNH GIÁ</a:t>
            </a:r>
          </a:p>
        </p:txBody>
      </p:sp>
      <p:grpSp>
        <p:nvGrpSpPr>
          <p:cNvPr id="11" name="Group 10"/>
          <p:cNvGrpSpPr/>
          <p:nvPr/>
        </p:nvGrpSpPr>
        <p:grpSpPr>
          <a:xfrm>
            <a:off x="502920" y="2852928"/>
            <a:ext cx="2663190" cy="2212848"/>
            <a:chOff x="502920" y="2852928"/>
            <a:chExt cx="2663190" cy="2212848"/>
          </a:xfrm>
        </p:grpSpPr>
        <p:sp>
          <p:nvSpPr>
            <p:cNvPr id="12" name="Rounded Rectangle 11"/>
            <p:cNvSpPr/>
            <p:nvPr/>
          </p:nvSpPr>
          <p:spPr>
            <a:xfrm>
              <a:off x="502920" y="2852928"/>
              <a:ext cx="2663190" cy="2212848"/>
            </a:xfrm>
            <a:prstGeom prst="roundRect">
              <a:avLst>
                <a:gd name="adj" fmla="val 413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13" name="Group 12"/>
            <p:cNvGrpSpPr/>
            <p:nvPr/>
          </p:nvGrpSpPr>
          <p:grpSpPr>
            <a:xfrm>
              <a:off x="640080" y="2990088"/>
              <a:ext cx="603504" cy="603504"/>
              <a:chOff x="640080" y="2990088"/>
              <a:chExt cx="603504" cy="603504"/>
            </a:xfrm>
          </p:grpSpPr>
          <p:sp>
            <p:nvSpPr>
              <p:cNvPr id="14" name="Oval 13"/>
              <p:cNvSpPr/>
              <p:nvPr/>
            </p:nvSpPr>
            <p:spPr>
              <a:xfrm>
                <a:off x="640080" y="2990088"/>
                <a:ext cx="603504" cy="603504"/>
              </a:xfrm>
              <a:prstGeom prst="ellipse">
                <a:avLst/>
              </a:prstGeom>
              <a:solidFill>
                <a:srgbClr val="0A5FA8"/>
              </a:solidFill>
              <a:ln>
                <a:noFill/>
              </a:ln>
            </p:spPr>
            <p:txBody>
              <a:bodyPr rtlCol="0" anchor="ctr" lIns="54864" tIns="54864" rIns="54864" bIns="54864" wrap="square">
                <a:noAutofit/>
              </a:bodyPr>
              <a:lstStyle/>
              <a:p>
                <a:pPr algn="ctr"/>
              </a:p>
            </p:txBody>
          </p:sp>
          <p:pic>
            <p:nvPicPr>
              <p:cNvPr id="15" name="Picture 14" descr="crosshairs.png"/>
              <p:cNvPicPr>
                <a:picLocks noChangeAspect="1"/>
              </p:cNvPicPr>
              <p:nvPr/>
            </p:nvPicPr>
            <p:blipFill>
              <a:blip r:embed="rId3"/>
              <a:stretch>
                <a:fillRect/>
              </a:stretch>
            </p:blipFill>
            <p:spPr>
              <a:xfrm>
                <a:off x="772851" y="3122859"/>
                <a:ext cx="337962" cy="337962"/>
              </a:xfrm>
              <a:prstGeom prst="rect">
                <a:avLst/>
              </a:prstGeom>
            </p:spPr>
          </p:pic>
        </p:grpSp>
        <p:sp>
          <p:nvSpPr>
            <p:cNvPr id="16" name="TextBox 15"/>
            <p:cNvSpPr txBox="1"/>
            <p:nvPr/>
          </p:nvSpPr>
          <p:spPr>
            <a:xfrm>
              <a:off x="1344168" y="2990088"/>
              <a:ext cx="1748790" cy="603504"/>
            </a:xfrm>
            <a:prstGeom prst="rect">
              <a:avLst/>
            </a:prstGeom>
            <a:noFill/>
          </p:spPr>
          <p:txBody>
            <a:bodyPr wrap="square" lIns="0" tIns="0" rIns="0" bIns="0" anchor="ctr">
              <a:noAutofit/>
            </a:bodyPr>
            <a:lstStyle/>
            <a:p>
              <a:pPr algn="l">
                <a:lnSpc>
                  <a:spcPct val="95000"/>
                </a:lnSpc>
              </a:pPr>
              <a:r>
                <a:rPr sz="1700" b="1" i="0" lang="vi-VN">
                  <a:solidFill>
                    <a:srgbClr val="0B2545"/>
                  </a:solidFill>
                  <a:latin typeface="Arial"/>
                  <a:ea typeface="Arial"/>
                  <a:cs typeface="Arial"/>
                </a:rPr>
                <a:t>Độ chính xác giữ hướng</a:t>
              </a:r>
            </a:p>
          </p:txBody>
        </p:sp>
        <p:sp>
          <p:nvSpPr>
            <p:cNvPr id="17" name="TextBox 16"/>
            <p:cNvSpPr txBox="1"/>
            <p:nvPr/>
          </p:nvSpPr>
          <p:spPr>
            <a:xfrm>
              <a:off x="704088" y="3767328"/>
              <a:ext cx="2352294" cy="1261872"/>
            </a:xfrm>
            <a:prstGeom prst="rect">
              <a:avLst/>
            </a:prstGeom>
            <a:noFill/>
          </p:spPr>
          <p:txBody>
            <a:bodyPr wrap="square" lIns="0" tIns="0" rIns="0" bIns="0" anchor="t">
              <a:noAutofit/>
            </a:bodyPr>
            <a:lstStyle/>
            <a:p>
              <a:pPr algn="l" marL="201168" indent="-201168">
                <a:lnSpc>
                  <a:spcPct val="100000"/>
                </a:lnSpc>
                <a:spcAft>
                  <a:spcPts val="600"/>
                </a:spcAft>
                <a:buClr>
                  <a:srgbClr val="0A5FA8"/>
                </a:buClr>
                <a:buSzPct val="100000"/>
                <a:buFont typeface="Arial"/>
                <a:buChar char="•"/>
              </a:pPr>
              <a:r>
                <a:rPr sz="1600" b="0" i="0" lang="vi-VN">
                  <a:solidFill>
                    <a:srgbClr val="1E2B3A"/>
                  </a:solidFill>
                  <a:latin typeface="Arial"/>
                  <a:ea typeface="Arial"/>
                  <a:cs typeface="Arial"/>
                </a:rPr>
                <a:t>σ khi giữ tĩnh</a:t>
              </a:r>
            </a:p>
            <a:p>
              <a:pPr algn="l" marL="201168" indent="-201168">
                <a:lnSpc>
                  <a:spcPct val="100000"/>
                </a:lnSpc>
                <a:spcAft>
                  <a:spcPts val="600"/>
                </a:spcAft>
                <a:buClr>
                  <a:srgbClr val="0A5FA8"/>
                </a:buClr>
                <a:buSzPct val="100000"/>
                <a:buFont typeface="Arial"/>
                <a:buChar char="•"/>
              </a:pPr>
              <a:r>
                <a:rPr sz="1600" b="0" i="1" lang="vi-VN">
                  <a:solidFill>
                    <a:srgbClr val="1E2B3A"/>
                  </a:solidFill>
                  <a:latin typeface="Arial"/>
                  <a:ea typeface="Arial"/>
                  <a:cs typeface="Arial"/>
                </a:rPr>
                <a:t>e</a:t>
              </a:r>
              <a:r>
                <a:rPr sz="1600" b="0" i="0" lang="vi-VN" baseline="-25000">
                  <a:solidFill>
                    <a:srgbClr val="1E2B3A"/>
                  </a:solidFill>
                  <a:latin typeface="Arial"/>
                  <a:ea typeface="Arial"/>
                  <a:cs typeface="Arial"/>
                </a:rPr>
                <a:t>rms</a:t>
              </a:r>
              <a:r>
                <a:rPr sz="1600" b="0" i="0" lang="vi-VN">
                  <a:solidFill>
                    <a:srgbClr val="1E2B3A"/>
                  </a:solidFill>
                  <a:latin typeface="Arial"/>
                  <a:ea typeface="Arial"/>
                  <a:cs typeface="Arial"/>
                </a:rPr>
                <a:t>, </a:t>
              </a:r>
              <a:r>
                <a:rPr sz="1600" b="0" i="1" lang="vi-VN">
                  <a:solidFill>
                    <a:srgbClr val="1E2B3A"/>
                  </a:solidFill>
                  <a:latin typeface="Arial"/>
                  <a:ea typeface="Arial"/>
                  <a:cs typeface="Arial"/>
                </a:rPr>
                <a:t>e</a:t>
              </a:r>
              <a:r>
                <a:rPr sz="1600" b="0" i="0" lang="vi-VN" baseline="-25000">
                  <a:solidFill>
                    <a:srgbClr val="1E2B3A"/>
                  </a:solidFill>
                  <a:latin typeface="Arial"/>
                  <a:ea typeface="Arial"/>
                  <a:cs typeface="Arial"/>
                </a:rPr>
                <a:t>max</a:t>
              </a:r>
              <a:r>
                <a:rPr sz="1600" b="0" i="0" lang="vi-VN">
                  <a:solidFill>
                    <a:srgbClr val="1E2B3A"/>
                  </a:solidFill>
                  <a:latin typeface="Arial"/>
                  <a:ea typeface="Arial"/>
                  <a:cs typeface="Arial"/>
                </a:rPr>
                <a:t> khi khung chuyển động</a:t>
              </a:r>
            </a:p>
          </p:txBody>
        </p:sp>
      </p:grpSp>
      <p:grpSp>
        <p:nvGrpSpPr>
          <p:cNvPr id="18" name="Group 17"/>
          <p:cNvGrpSpPr/>
          <p:nvPr/>
        </p:nvGrpSpPr>
        <p:grpSpPr>
          <a:xfrm>
            <a:off x="3348990" y="2852928"/>
            <a:ext cx="2663190" cy="2212848"/>
            <a:chOff x="3348990" y="2852928"/>
            <a:chExt cx="2663190" cy="2212848"/>
          </a:xfrm>
        </p:grpSpPr>
        <p:sp>
          <p:nvSpPr>
            <p:cNvPr id="19" name="Rounded Rectangle 18"/>
            <p:cNvSpPr/>
            <p:nvPr/>
          </p:nvSpPr>
          <p:spPr>
            <a:xfrm>
              <a:off x="3348990" y="2852928"/>
              <a:ext cx="2663190" cy="2212848"/>
            </a:xfrm>
            <a:prstGeom prst="roundRect">
              <a:avLst>
                <a:gd name="adj" fmla="val 413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20" name="Group 19"/>
            <p:cNvGrpSpPr/>
            <p:nvPr/>
          </p:nvGrpSpPr>
          <p:grpSpPr>
            <a:xfrm>
              <a:off x="3486150" y="2990088"/>
              <a:ext cx="603504" cy="603504"/>
              <a:chOff x="3486150" y="2990088"/>
              <a:chExt cx="603504" cy="603504"/>
            </a:xfrm>
          </p:grpSpPr>
          <p:sp>
            <p:nvSpPr>
              <p:cNvPr id="21" name="Oval 20"/>
              <p:cNvSpPr/>
              <p:nvPr/>
            </p:nvSpPr>
            <p:spPr>
              <a:xfrm>
                <a:off x="3486150" y="2990088"/>
                <a:ext cx="603504" cy="603504"/>
              </a:xfrm>
              <a:prstGeom prst="ellipse">
                <a:avLst/>
              </a:prstGeom>
              <a:solidFill>
                <a:srgbClr val="0A5FA8"/>
              </a:solidFill>
              <a:ln>
                <a:noFill/>
              </a:ln>
            </p:spPr>
            <p:txBody>
              <a:bodyPr rtlCol="0" anchor="ctr" lIns="54864" tIns="54864" rIns="54864" bIns="54864" wrap="square">
                <a:noAutofit/>
              </a:bodyPr>
              <a:lstStyle/>
              <a:p>
                <a:pPr algn="ctr"/>
              </a:p>
            </p:txBody>
          </p:sp>
          <p:pic>
            <p:nvPicPr>
              <p:cNvPr id="22" name="Picture 21" descr="chartline.png"/>
              <p:cNvPicPr>
                <a:picLocks noChangeAspect="1"/>
              </p:cNvPicPr>
              <p:nvPr/>
            </p:nvPicPr>
            <p:blipFill>
              <a:blip r:embed="rId4"/>
              <a:stretch>
                <a:fillRect/>
              </a:stretch>
            </p:blipFill>
            <p:spPr>
              <a:xfrm>
                <a:off x="3618921" y="3122859"/>
                <a:ext cx="337962" cy="337962"/>
              </a:xfrm>
              <a:prstGeom prst="rect">
                <a:avLst/>
              </a:prstGeom>
            </p:spPr>
          </p:pic>
        </p:grpSp>
        <p:sp>
          <p:nvSpPr>
            <p:cNvPr id="23" name="TextBox 22"/>
            <p:cNvSpPr txBox="1"/>
            <p:nvPr/>
          </p:nvSpPr>
          <p:spPr>
            <a:xfrm>
              <a:off x="4190238" y="2990088"/>
              <a:ext cx="1748790" cy="603504"/>
            </a:xfrm>
            <a:prstGeom prst="rect">
              <a:avLst/>
            </a:prstGeom>
            <a:noFill/>
          </p:spPr>
          <p:txBody>
            <a:bodyPr wrap="square" lIns="0" tIns="0" rIns="0" bIns="0" anchor="ctr">
              <a:noAutofit/>
            </a:bodyPr>
            <a:lstStyle/>
            <a:p>
              <a:pPr algn="l">
                <a:lnSpc>
                  <a:spcPct val="95000"/>
                </a:lnSpc>
              </a:pPr>
              <a:r>
                <a:rPr sz="1700" b="1" i="0" lang="vi-VN">
                  <a:solidFill>
                    <a:srgbClr val="0B2545"/>
                  </a:solidFill>
                  <a:latin typeface="Arial"/>
                  <a:ea typeface="Arial"/>
                  <a:cs typeface="Arial"/>
                </a:rPr>
                <a:t>Đáp ứng động</a:t>
              </a:r>
            </a:p>
          </p:txBody>
        </p:sp>
        <p:sp>
          <p:nvSpPr>
            <p:cNvPr id="24" name="TextBox 23"/>
            <p:cNvSpPr txBox="1"/>
            <p:nvPr/>
          </p:nvSpPr>
          <p:spPr>
            <a:xfrm>
              <a:off x="3550158" y="3767328"/>
              <a:ext cx="2352294" cy="1261872"/>
            </a:xfrm>
            <a:prstGeom prst="rect">
              <a:avLst/>
            </a:prstGeom>
            <a:noFill/>
          </p:spPr>
          <p:txBody>
            <a:bodyPr wrap="square" lIns="0" tIns="0" rIns="0" bIns="0" anchor="t">
              <a:noAutofit/>
            </a:bodyPr>
            <a:lstStyle/>
            <a:p>
              <a:pPr algn="l" marL="201168" indent="-201168">
                <a:lnSpc>
                  <a:spcPct val="100000"/>
                </a:lnSpc>
                <a:spcAft>
                  <a:spcPts val="600"/>
                </a:spcAft>
                <a:buClr>
                  <a:srgbClr val="0A5FA8"/>
                </a:buClr>
                <a:buSzPct val="100000"/>
                <a:buFont typeface="Arial"/>
                <a:buChar char="•"/>
              </a:pPr>
              <a:r>
                <a:rPr sz="1600" b="0" i="0" lang="vi-VN">
                  <a:solidFill>
                    <a:srgbClr val="1E2B3A"/>
                  </a:solidFill>
                  <a:latin typeface="Arial"/>
                  <a:ea typeface="Arial"/>
                  <a:cs typeface="Arial"/>
                </a:rPr>
                <a:t>Thời gian lên </a:t>
              </a:r>
              <a:r>
                <a:rPr sz="1600" b="0" i="1" lang="vi-VN">
                  <a:solidFill>
                    <a:srgbClr val="1E2B3A"/>
                  </a:solidFill>
                  <a:latin typeface="Arial"/>
                  <a:ea typeface="Arial"/>
                  <a:cs typeface="Arial"/>
                </a:rPr>
                <a:t>t</a:t>
              </a:r>
              <a:r>
                <a:rPr sz="1600" b="0" i="0" lang="vi-VN" baseline="-25000">
                  <a:solidFill>
                    <a:srgbClr val="1E2B3A"/>
                  </a:solidFill>
                  <a:latin typeface="Arial"/>
                  <a:ea typeface="Arial"/>
                  <a:cs typeface="Arial"/>
                </a:rPr>
                <a:t>r</a:t>
              </a:r>
              <a:r>
                <a:rPr sz="1600" b="0" i="0" lang="vi-VN">
                  <a:solidFill>
                    <a:srgbClr val="1E2B3A"/>
                  </a:solidFill>
                  <a:latin typeface="Arial"/>
                  <a:ea typeface="Arial"/>
                  <a:cs typeface="Arial"/>
                </a:rPr>
                <a:t>, xác lập </a:t>
              </a:r>
              <a:r>
                <a:rPr sz="1600" b="0" i="1" lang="vi-VN">
                  <a:solidFill>
                    <a:srgbClr val="1E2B3A"/>
                  </a:solidFill>
                  <a:latin typeface="Arial"/>
                  <a:ea typeface="Arial"/>
                  <a:cs typeface="Arial"/>
                </a:rPr>
                <a:t>t</a:t>
              </a:r>
              <a:r>
                <a:rPr sz="1600" b="0" i="0" lang="vi-VN" baseline="-25000">
                  <a:solidFill>
                    <a:srgbClr val="1E2B3A"/>
                  </a:solidFill>
                  <a:latin typeface="Arial"/>
                  <a:ea typeface="Arial"/>
                  <a:cs typeface="Arial"/>
                </a:rPr>
                <a:t>s</a:t>
              </a:r>
            </a:p>
            <a:p>
              <a:pPr algn="l" marL="201168" indent="-201168">
                <a:lnSpc>
                  <a:spcPct val="100000"/>
                </a:lnSpc>
                <a:spcAft>
                  <a:spcPts val="600"/>
                </a:spcAft>
                <a:buClr>
                  <a:srgbClr val="0A5FA8"/>
                </a:buClr>
                <a:buSzPct val="100000"/>
                <a:buFont typeface="Arial"/>
                <a:buChar char="•"/>
              </a:pPr>
              <a:r>
                <a:rPr sz="1600" b="0" i="0" lang="vi-VN">
                  <a:solidFill>
                    <a:srgbClr val="1E2B3A"/>
                  </a:solidFill>
                  <a:latin typeface="Arial"/>
                  <a:ea typeface="Arial"/>
                  <a:cs typeface="Arial"/>
                </a:rPr>
                <a:t>Độ vọt lố, thời gian phục hồi</a:t>
              </a:r>
            </a:p>
          </p:txBody>
        </p:sp>
      </p:grpSp>
      <p:grpSp>
        <p:nvGrpSpPr>
          <p:cNvPr id="25" name="Group 24"/>
          <p:cNvGrpSpPr/>
          <p:nvPr/>
        </p:nvGrpSpPr>
        <p:grpSpPr>
          <a:xfrm>
            <a:off x="6195060" y="2852928"/>
            <a:ext cx="2663190" cy="2212848"/>
            <a:chOff x="6195060" y="2852928"/>
            <a:chExt cx="2663190" cy="2212848"/>
          </a:xfrm>
        </p:grpSpPr>
        <p:sp>
          <p:nvSpPr>
            <p:cNvPr id="26" name="Rounded Rectangle 25"/>
            <p:cNvSpPr/>
            <p:nvPr/>
          </p:nvSpPr>
          <p:spPr>
            <a:xfrm>
              <a:off x="6195060" y="2852928"/>
              <a:ext cx="2663190" cy="2212848"/>
            </a:xfrm>
            <a:prstGeom prst="roundRect">
              <a:avLst>
                <a:gd name="adj" fmla="val 413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27" name="Group 26"/>
            <p:cNvGrpSpPr/>
            <p:nvPr/>
          </p:nvGrpSpPr>
          <p:grpSpPr>
            <a:xfrm>
              <a:off x="6332220" y="2990088"/>
              <a:ext cx="603504" cy="603504"/>
              <a:chOff x="6332220" y="2990088"/>
              <a:chExt cx="603504" cy="603504"/>
            </a:xfrm>
          </p:grpSpPr>
          <p:sp>
            <p:nvSpPr>
              <p:cNvPr id="28" name="Oval 27"/>
              <p:cNvSpPr/>
              <p:nvPr/>
            </p:nvSpPr>
            <p:spPr>
              <a:xfrm>
                <a:off x="6332220" y="2990088"/>
                <a:ext cx="603504" cy="603504"/>
              </a:xfrm>
              <a:prstGeom prst="ellipse">
                <a:avLst/>
              </a:prstGeom>
              <a:solidFill>
                <a:srgbClr val="0A5FA8"/>
              </a:solidFill>
              <a:ln>
                <a:noFill/>
              </a:ln>
            </p:spPr>
            <p:txBody>
              <a:bodyPr rtlCol="0" anchor="ctr" lIns="54864" tIns="54864" rIns="54864" bIns="54864" wrap="square">
                <a:noAutofit/>
              </a:bodyPr>
              <a:lstStyle/>
              <a:p>
                <a:pPr algn="ctr"/>
              </a:p>
            </p:txBody>
          </p:sp>
          <p:pic>
            <p:nvPicPr>
              <p:cNvPr id="29" name="Picture 28" descr="wave.png"/>
              <p:cNvPicPr>
                <a:picLocks noChangeAspect="1"/>
              </p:cNvPicPr>
              <p:nvPr/>
            </p:nvPicPr>
            <p:blipFill>
              <a:blip r:embed="rId5"/>
              <a:stretch>
                <a:fillRect/>
              </a:stretch>
            </p:blipFill>
            <p:spPr>
              <a:xfrm>
                <a:off x="6464991" y="3122859"/>
                <a:ext cx="337962" cy="337962"/>
              </a:xfrm>
              <a:prstGeom prst="rect">
                <a:avLst/>
              </a:prstGeom>
            </p:spPr>
          </p:pic>
        </p:grpSp>
        <p:sp>
          <p:nvSpPr>
            <p:cNvPr id="30" name="TextBox 29"/>
            <p:cNvSpPr txBox="1"/>
            <p:nvPr/>
          </p:nvSpPr>
          <p:spPr>
            <a:xfrm>
              <a:off x="7036308" y="2990088"/>
              <a:ext cx="1748790" cy="603504"/>
            </a:xfrm>
            <a:prstGeom prst="rect">
              <a:avLst/>
            </a:prstGeom>
            <a:noFill/>
          </p:spPr>
          <p:txBody>
            <a:bodyPr wrap="square" lIns="0" tIns="0" rIns="0" bIns="0" anchor="ctr">
              <a:noAutofit/>
            </a:bodyPr>
            <a:lstStyle/>
            <a:p>
              <a:pPr algn="l">
                <a:lnSpc>
                  <a:spcPct val="95000"/>
                </a:lnSpc>
              </a:pPr>
              <a:r>
                <a:rPr sz="1700" b="1" i="0" lang="vi-VN">
                  <a:solidFill>
                    <a:srgbClr val="0B2545"/>
                  </a:solidFill>
                  <a:latin typeface="Arial"/>
                  <a:ea typeface="Arial"/>
                  <a:cs typeface="Arial"/>
                </a:rPr>
                <a:t>Khử nhiễu, bảo vệ cơ cấu</a:t>
              </a:r>
            </a:p>
          </p:txBody>
        </p:sp>
        <p:sp>
          <p:nvSpPr>
            <p:cNvPr id="31" name="TextBox 30"/>
            <p:cNvSpPr txBox="1"/>
            <p:nvPr/>
          </p:nvSpPr>
          <p:spPr>
            <a:xfrm>
              <a:off x="6396228" y="3767328"/>
              <a:ext cx="2352294" cy="1261872"/>
            </a:xfrm>
            <a:prstGeom prst="rect">
              <a:avLst/>
            </a:prstGeom>
            <a:noFill/>
          </p:spPr>
          <p:txBody>
            <a:bodyPr wrap="square" lIns="0" tIns="0" rIns="0" bIns="0" anchor="t">
              <a:noAutofit/>
            </a:bodyPr>
            <a:lstStyle/>
            <a:p>
              <a:pPr algn="l" marL="201168" indent="-201168">
                <a:lnSpc>
                  <a:spcPct val="100000"/>
                </a:lnSpc>
                <a:spcAft>
                  <a:spcPts val="600"/>
                </a:spcAft>
                <a:buClr>
                  <a:srgbClr val="0A5FA8"/>
                </a:buClr>
                <a:buSzPct val="100000"/>
                <a:buFont typeface="Arial"/>
                <a:buChar char="•"/>
              </a:pPr>
              <a:r>
                <a:rPr sz="1600" b="0" i="0" lang="vi-VN">
                  <a:solidFill>
                    <a:srgbClr val="1E2B3A"/>
                  </a:solidFill>
                  <a:latin typeface="Arial"/>
                  <a:ea typeface="Arial"/>
                  <a:cs typeface="Arial"/>
                </a:rPr>
                <a:t>Tốc độ góc dư, tỉ lệ bão hòa </a:t>
              </a:r>
              <a:r>
                <a:rPr sz="1600" b="0" i="1" lang="vi-VN">
                  <a:solidFill>
                    <a:srgbClr val="1E2B3A"/>
                  </a:solidFill>
                  <a:latin typeface="Arial"/>
                  <a:ea typeface="Arial"/>
                  <a:cs typeface="Arial"/>
                </a:rPr>
                <a:t>ρ</a:t>
              </a:r>
              <a:r>
                <a:rPr sz="1600" b="0" i="0" lang="vi-VN" baseline="-25000">
                  <a:solidFill>
                    <a:srgbClr val="1E2B3A"/>
                  </a:solidFill>
                  <a:latin typeface="Arial"/>
                  <a:ea typeface="Arial"/>
                  <a:cs typeface="Arial"/>
                </a:rPr>
                <a:t>sat</a:t>
              </a:r>
            </a:p>
            <a:p>
              <a:pPr algn="l" marL="201168" indent="-201168">
                <a:lnSpc>
                  <a:spcPct val="100000"/>
                </a:lnSpc>
                <a:spcAft>
                  <a:spcPts val="600"/>
                </a:spcAft>
                <a:buClr>
                  <a:srgbClr val="0A5FA8"/>
                </a:buClr>
                <a:buSzPct val="100000"/>
                <a:buFont typeface="Arial"/>
                <a:buChar char="•"/>
              </a:pPr>
              <a:r>
                <a:rPr sz="1600" b="0" i="0" lang="vi-VN">
                  <a:solidFill>
                    <a:srgbClr val="1E2B3A"/>
                  </a:solidFill>
                  <a:latin typeface="Arial"/>
                  <a:ea typeface="Arial"/>
                  <a:cs typeface="Arial"/>
                </a:rPr>
                <a:t>Bước thay đổi lệnh, dòng động cơ</a:t>
              </a:r>
            </a:p>
          </p:txBody>
        </p:sp>
      </p:grpSp>
      <p:grpSp>
        <p:nvGrpSpPr>
          <p:cNvPr id="32" name="Group 31"/>
          <p:cNvGrpSpPr/>
          <p:nvPr/>
        </p:nvGrpSpPr>
        <p:grpSpPr>
          <a:xfrm>
            <a:off x="9041130" y="2852928"/>
            <a:ext cx="2663190" cy="2212848"/>
            <a:chOff x="9041130" y="2852928"/>
            <a:chExt cx="2663190" cy="2212848"/>
          </a:xfrm>
        </p:grpSpPr>
        <p:sp>
          <p:nvSpPr>
            <p:cNvPr id="33" name="Rounded Rectangle 32"/>
            <p:cNvSpPr/>
            <p:nvPr/>
          </p:nvSpPr>
          <p:spPr>
            <a:xfrm>
              <a:off x="9041130" y="2852928"/>
              <a:ext cx="2663190" cy="2212848"/>
            </a:xfrm>
            <a:prstGeom prst="roundRect">
              <a:avLst>
                <a:gd name="adj" fmla="val 413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34" name="Group 33"/>
            <p:cNvGrpSpPr/>
            <p:nvPr/>
          </p:nvGrpSpPr>
          <p:grpSpPr>
            <a:xfrm>
              <a:off x="9178290" y="2990088"/>
              <a:ext cx="603504" cy="603504"/>
              <a:chOff x="9178290" y="2990088"/>
              <a:chExt cx="603504" cy="603504"/>
            </a:xfrm>
          </p:grpSpPr>
          <p:sp>
            <p:nvSpPr>
              <p:cNvPr id="35" name="Oval 34"/>
              <p:cNvSpPr/>
              <p:nvPr/>
            </p:nvSpPr>
            <p:spPr>
              <a:xfrm>
                <a:off x="9178290" y="2990088"/>
                <a:ext cx="603504" cy="603504"/>
              </a:xfrm>
              <a:prstGeom prst="ellipse">
                <a:avLst/>
              </a:prstGeom>
              <a:solidFill>
                <a:srgbClr val="E8710A"/>
              </a:solidFill>
              <a:ln>
                <a:noFill/>
              </a:ln>
            </p:spPr>
            <p:txBody>
              <a:bodyPr rtlCol="0" anchor="ctr" lIns="54864" tIns="54864" rIns="54864" bIns="54864" wrap="square">
                <a:noAutofit/>
              </a:bodyPr>
              <a:lstStyle/>
              <a:p>
                <a:pPr algn="ctr"/>
              </a:p>
            </p:txBody>
          </p:sp>
          <p:pic>
            <p:nvPicPr>
              <p:cNvPr id="36" name="Picture 35" descr="stopwatch.png"/>
              <p:cNvPicPr>
                <a:picLocks noChangeAspect="1"/>
              </p:cNvPicPr>
              <p:nvPr/>
            </p:nvPicPr>
            <p:blipFill>
              <a:blip r:embed="rId6"/>
              <a:stretch>
                <a:fillRect/>
              </a:stretch>
            </p:blipFill>
            <p:spPr>
              <a:xfrm>
                <a:off x="9311061" y="3122859"/>
                <a:ext cx="337962" cy="337962"/>
              </a:xfrm>
              <a:prstGeom prst="rect">
                <a:avLst/>
              </a:prstGeom>
            </p:spPr>
          </p:pic>
        </p:grpSp>
        <p:sp>
          <p:nvSpPr>
            <p:cNvPr id="37" name="TextBox 36"/>
            <p:cNvSpPr txBox="1"/>
            <p:nvPr/>
          </p:nvSpPr>
          <p:spPr>
            <a:xfrm>
              <a:off x="9882378" y="2990088"/>
              <a:ext cx="1748790" cy="603504"/>
            </a:xfrm>
            <a:prstGeom prst="rect">
              <a:avLst/>
            </a:prstGeom>
            <a:noFill/>
          </p:spPr>
          <p:txBody>
            <a:bodyPr wrap="square" lIns="0" tIns="0" rIns="0" bIns="0" anchor="ctr">
              <a:noAutofit/>
            </a:bodyPr>
            <a:lstStyle/>
            <a:p>
              <a:pPr algn="l">
                <a:lnSpc>
                  <a:spcPct val="95000"/>
                </a:lnSpc>
              </a:pPr>
              <a:r>
                <a:rPr sz="1700" b="1" i="0" lang="vi-VN">
                  <a:solidFill>
                    <a:srgbClr val="0B2545"/>
                  </a:solidFill>
                  <a:latin typeface="Arial"/>
                  <a:ea typeface="Arial"/>
                  <a:cs typeface="Arial"/>
                </a:rPr>
                <a:t>Tất định thời gian</a:t>
              </a:r>
            </a:p>
          </p:txBody>
        </p:sp>
        <p:sp>
          <p:nvSpPr>
            <p:cNvPr id="38" name="TextBox 37"/>
            <p:cNvSpPr txBox="1"/>
            <p:nvPr/>
          </p:nvSpPr>
          <p:spPr>
            <a:xfrm>
              <a:off x="9242298" y="3767328"/>
              <a:ext cx="2352294" cy="1261872"/>
            </a:xfrm>
            <a:prstGeom prst="rect">
              <a:avLst/>
            </a:prstGeom>
            <a:noFill/>
          </p:spPr>
          <p:txBody>
            <a:bodyPr wrap="square" lIns="0" tIns="0" rIns="0" bIns="0" anchor="t">
              <a:noAutofit/>
            </a:bodyPr>
            <a:lstStyle/>
            <a:p>
              <a:pPr algn="l" marL="201168" indent="-201168">
                <a:lnSpc>
                  <a:spcPct val="100000"/>
                </a:lnSpc>
                <a:spcAft>
                  <a:spcPts val="600"/>
                </a:spcAft>
                <a:buClr>
                  <a:srgbClr val="0A5FA8"/>
                </a:buClr>
                <a:buSzPct val="100000"/>
                <a:buFont typeface="Arial"/>
                <a:buChar char="•"/>
              </a:pPr>
              <a:r>
                <a:rPr sz="1600" b="0" i="0" lang="vi-VN">
                  <a:solidFill>
                    <a:srgbClr val="1E2B3A"/>
                  </a:solidFill>
                  <a:latin typeface="Arial"/>
                  <a:ea typeface="Arial"/>
                  <a:cs typeface="Arial"/>
                </a:rPr>
                <a:t>Vòng tốc độ góc </a:t>
              </a:r>
              <a:r>
                <a:rPr sz="1600" b="1" i="0" lang="vi-VN">
                  <a:solidFill>
                    <a:srgbClr val="1E2B3A"/>
                  </a:solidFill>
                  <a:latin typeface="Arial"/>
                  <a:ea typeface="Arial"/>
                  <a:cs typeface="Arial"/>
                </a:rPr>
                <a:t>2 ms</a:t>
              </a:r>
            </a:p>
            <a:p>
              <a:pPr algn="l" marL="201168" indent="-201168">
                <a:lnSpc>
                  <a:spcPct val="100000"/>
                </a:lnSpc>
                <a:spcAft>
                  <a:spcPts val="600"/>
                </a:spcAft>
                <a:buClr>
                  <a:srgbClr val="0A5FA8"/>
                </a:buClr>
                <a:buSzPct val="100000"/>
                <a:buFont typeface="Arial"/>
                <a:buChar char="•"/>
              </a:pPr>
              <a:r>
                <a:rPr sz="1600" b="0" i="0" lang="vi-VN">
                  <a:solidFill>
                    <a:srgbClr val="1E2B3A"/>
                  </a:solidFill>
                  <a:latin typeface="Arial"/>
                  <a:ea typeface="Arial"/>
                  <a:cs typeface="Arial"/>
                </a:rPr>
                <a:t>Khe RS485 </a:t>
              </a:r>
              <a:r>
                <a:rPr sz="1600" b="1" i="0" lang="vi-VN">
                  <a:solidFill>
                    <a:srgbClr val="1E2B3A"/>
                  </a:solidFill>
                  <a:latin typeface="Arial"/>
                  <a:ea typeface="Arial"/>
                  <a:cs typeface="Arial"/>
                </a:rPr>
                <a:t>5 ms</a:t>
              </a:r>
              <a:r>
                <a:rPr sz="1600" b="0" i="0" lang="vi-VN">
                  <a:solidFill>
                    <a:srgbClr val="1E2B3A"/>
                  </a:solidFill>
                  <a:latin typeface="Arial"/>
                  <a:ea typeface="Arial"/>
                  <a:cs typeface="Arial"/>
                </a:rPr>
                <a:t> · mỗi trục </a:t>
              </a:r>
              <a:r>
                <a:rPr sz="1600" b="1" i="0" lang="vi-VN">
                  <a:solidFill>
                    <a:srgbClr val="1E2B3A"/>
                  </a:solidFill>
                  <a:latin typeface="Arial"/>
                  <a:ea typeface="Arial"/>
                  <a:cs typeface="Arial"/>
                </a:rPr>
                <a:t>10 ms</a:t>
              </a:r>
            </a:p>
          </p:txBody>
        </p:sp>
      </p:grpSp>
      <p:sp>
        <p:nvSpPr>
          <p:cNvPr id="39" name="Rounded Rectangle 38"/>
          <p:cNvSpPr/>
          <p:nvPr/>
        </p:nvSpPr>
        <p:spPr>
          <a:xfrm>
            <a:off x="502920" y="5303520"/>
            <a:ext cx="5486400" cy="548640"/>
          </a:xfrm>
          <a:prstGeom prst="roundRect">
            <a:avLst>
              <a:gd name="adj" fmla="val 50000"/>
            </a:avLst>
          </a:prstGeom>
          <a:solidFill>
            <a:srgbClr val="FFFFFF"/>
          </a:solidFill>
          <a:ln w="12700">
            <a:solidFill>
              <a:srgbClr val="0A5FA8"/>
            </a:solidFill>
          </a:ln>
        </p:spPr>
        <p:txBody>
          <a:bodyPr rtlCol="0" anchor="ctr" lIns="73152" tIns="18288" rIns="73152" bIns="18288" wrap="square">
            <a:noAutofit/>
          </a:bodyPr>
          <a:lstStyle/>
          <a:p>
            <a:pPr algn="ctr"/>
            <a:r>
              <a:rPr sz="1500" b="1" i="0" lang="vi-VN">
                <a:solidFill>
                  <a:srgbClr val="0B2545"/>
                </a:solidFill>
                <a:latin typeface="Arial"/>
                <a:ea typeface="Arial"/>
                <a:cs typeface="Arial"/>
              </a:rPr>
              <a:t>Phạm vi: điều khiển Yaw và Pitch · Roll chỉ ước lượng</a:t>
            </a:r>
          </a:p>
        </p:txBody>
      </p:sp>
      <p:sp>
        <p:nvSpPr>
          <p:cNvPr id="40" name="Rounded Rectangle 39"/>
          <p:cNvSpPr/>
          <p:nvPr/>
        </p:nvSpPr>
        <p:spPr>
          <a:xfrm>
            <a:off x="6217920" y="5303520"/>
            <a:ext cx="5486400" cy="548640"/>
          </a:xfrm>
          <a:prstGeom prst="roundRect">
            <a:avLst>
              <a:gd name="adj" fmla="val 50000"/>
            </a:avLst>
          </a:prstGeom>
          <a:solidFill>
            <a:srgbClr val="FFFFFF"/>
          </a:solidFill>
          <a:ln w="12700">
            <a:solidFill>
              <a:srgbClr val="0A5FA8"/>
            </a:solidFill>
          </a:ln>
        </p:spPr>
        <p:txBody>
          <a:bodyPr rtlCol="0" anchor="ctr" lIns="73152" tIns="18288" rIns="73152" bIns="18288" wrap="square">
            <a:noAutofit/>
          </a:bodyPr>
          <a:lstStyle/>
          <a:p>
            <a:pPr algn="ctr"/>
            <a:r>
              <a:rPr sz="1500" b="1" i="0" lang="vi-VN">
                <a:solidFill>
                  <a:srgbClr val="0B2545"/>
                </a:solidFill>
                <a:latin typeface="Arial"/>
                <a:ea typeface="Arial"/>
                <a:cs typeface="Arial"/>
              </a:rPr>
              <a:t>Phương pháp: lý thuyết → mô phỏng → thực nghiệm</a:t>
            </a:r>
          </a:p>
        </p:txBody>
      </p:sp>
      <p:sp>
        <p:nvSpPr>
          <p:cNvPr id="43"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6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300"/>
                                        <p:tgtEl>
                                          <p:spTgt spid="10"/>
                                        </p:tgtEl>
                                      </p:cBhvr>
                                    </p:animEffect>
                                  </p:childTnLst>
                                </p:cTn>
                              </p:par>
                              <p:par>
                                <p:cTn id="13" presetID="42" presetClass="entr" presetSubtype="0" fill="hold" grpId="0" nodeType="withEffect">
                                  <p:stCondLst>
                                    <p:cond delay="15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anim calcmode="lin" valueType="num">
                                      <p:cBhvr>
                                        <p:cTn id="16" dur="450" fill="hold"/>
                                        <p:tgtEl>
                                          <p:spTgt spid="11"/>
                                        </p:tgtEl>
                                        <p:attrNameLst>
                                          <p:attrName>ppt_x</p:attrName>
                                        </p:attrNameLst>
                                      </p:cBhvr>
                                      <p:tavLst>
                                        <p:tav tm="0">
                                          <p:val>
                                            <p:strVal val="#ppt_x"/>
                                          </p:val>
                                        </p:tav>
                                        <p:tav tm="100000">
                                          <p:val>
                                            <p:strVal val="#ppt_x"/>
                                          </p:val>
                                        </p:tav>
                                      </p:tavLst>
                                    </p:anim>
                                    <p:anim calcmode="lin" valueType="num">
                                      <p:cBhvr>
                                        <p:cTn id="17" dur="450" fill="hold"/>
                                        <p:tgtEl>
                                          <p:spTgt spid="11"/>
                                        </p:tgtEl>
                                        <p:attrNameLst>
                                          <p:attrName>ppt_y</p:attrName>
                                        </p:attrNameLst>
                                      </p:cBhvr>
                                      <p:tavLst>
                                        <p:tav tm="0">
                                          <p:val>
                                            <p:strVal val="#ppt_y+.05"/>
                                          </p:val>
                                        </p:tav>
                                        <p:tav tm="100000">
                                          <p:val>
                                            <p:strVal val="#ppt_y"/>
                                          </p:val>
                                        </p:tav>
                                      </p:tavLst>
                                    </p:anim>
                                  </p:childTnLst>
                                </p:cTn>
                              </p:par>
                              <p:par>
                                <p:cTn id="18" presetID="42" presetClass="entr" presetSubtype="0" fill="hold" grpId="0" nodeType="withEffect">
                                  <p:stCondLst>
                                    <p:cond delay="30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anim calcmode="lin" valueType="num">
                                      <p:cBhvr>
                                        <p:cTn id="21" dur="450" fill="hold"/>
                                        <p:tgtEl>
                                          <p:spTgt spid="18"/>
                                        </p:tgtEl>
                                        <p:attrNameLst>
                                          <p:attrName>ppt_x</p:attrName>
                                        </p:attrNameLst>
                                      </p:cBhvr>
                                      <p:tavLst>
                                        <p:tav tm="0">
                                          <p:val>
                                            <p:strVal val="#ppt_x"/>
                                          </p:val>
                                        </p:tav>
                                        <p:tav tm="100000">
                                          <p:val>
                                            <p:strVal val="#ppt_x"/>
                                          </p:val>
                                        </p:tav>
                                      </p:tavLst>
                                    </p:anim>
                                    <p:anim calcmode="lin" valueType="num">
                                      <p:cBhvr>
                                        <p:cTn id="22" dur="450" fill="hold"/>
                                        <p:tgtEl>
                                          <p:spTgt spid="18"/>
                                        </p:tgtEl>
                                        <p:attrNameLst>
                                          <p:attrName>ppt_y</p:attrName>
                                        </p:attrNameLst>
                                      </p:cBhvr>
                                      <p:tavLst>
                                        <p:tav tm="0">
                                          <p:val>
                                            <p:strVal val="#ppt_y+.05"/>
                                          </p:val>
                                        </p:tav>
                                        <p:tav tm="100000">
                                          <p:val>
                                            <p:strVal val="#ppt_y"/>
                                          </p:val>
                                        </p:tav>
                                      </p:tavLst>
                                    </p:anim>
                                  </p:childTnLst>
                                </p:cTn>
                              </p:par>
                              <p:par>
                                <p:cTn id="23" presetID="42" presetClass="entr" presetSubtype="0" fill="hold" grpId="0" nodeType="withEffect">
                                  <p:stCondLst>
                                    <p:cond delay="45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05"/>
                                          </p:val>
                                        </p:tav>
                                        <p:tav tm="100000">
                                          <p:val>
                                            <p:strVal val="#ppt_y"/>
                                          </p:val>
                                        </p:tav>
                                      </p:tavLst>
                                    </p:anim>
                                  </p:childTnLst>
                                </p:cTn>
                              </p:par>
                              <p:par>
                                <p:cTn id="28" presetID="42" presetClass="entr" presetSubtype="0" fill="hold" grpId="0" nodeType="withEffect">
                                  <p:stCondLst>
                                    <p:cond delay="60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450"/>
                                        <p:tgtEl>
                                          <p:spTgt spid="32"/>
                                        </p:tgtEl>
                                      </p:cBhvr>
                                    </p:animEffect>
                                    <p:anim calcmode="lin" valueType="num">
                                      <p:cBhvr>
                                        <p:cTn id="31" dur="450" fill="hold"/>
                                        <p:tgtEl>
                                          <p:spTgt spid="32"/>
                                        </p:tgtEl>
                                        <p:attrNameLst>
                                          <p:attrName>ppt_x</p:attrName>
                                        </p:attrNameLst>
                                      </p:cBhvr>
                                      <p:tavLst>
                                        <p:tav tm="0">
                                          <p:val>
                                            <p:strVal val="#ppt_x"/>
                                          </p:val>
                                        </p:tav>
                                        <p:tav tm="100000">
                                          <p:val>
                                            <p:strVal val="#ppt_x"/>
                                          </p:val>
                                        </p:tav>
                                      </p:tavLst>
                                    </p:anim>
                                    <p:anim calcmode="lin" valueType="num">
                                      <p:cBhvr>
                                        <p:cTn id="32" dur="450" fill="hold"/>
                                        <p:tgtEl>
                                          <p:spTgt spid="32"/>
                                        </p:tgtEl>
                                        <p:attrNameLst>
                                          <p:attrName>ppt_y</p:attrName>
                                        </p:attrNameLst>
                                      </p:cBhvr>
                                      <p:tavLst>
                                        <p:tav tm="0">
                                          <p:val>
                                            <p:strVal val="#ppt_y+.05"/>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6" presetClass="emph" presetSubtype="0" fill="hold" grpId="1" nodeType="clickEffect">
                                  <p:stCondLst>
                                    <p:cond delay="0"/>
                                  </p:stCondLst>
                                  <p:childTnLst>
                                    <p:animScale>
                                      <p:cBhvr>
                                        <p:cTn id="36" dur="300" autoRev="1" fill="hold"/>
                                        <p:tgtEl>
                                          <p:spTgt spid="32"/>
                                        </p:tgtEl>
                                      </p:cBhvr>
                                      <p:by x="112000" y="112000"/>
                                    </p:animScale>
                                  </p:childTnLst>
                                </p:cTn>
                              </p:par>
                              <p:par>
                                <p:cTn id="37" presetID="10" presetClass="entr" presetSubtype="0" fill="hold" grpId="0" nodeType="withEffect">
                                  <p:stCondLst>
                                    <p:cond delay="20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400"/>
                                        <p:tgtEl>
                                          <p:spTgt spid="39"/>
                                        </p:tgtEl>
                                      </p:cBhvr>
                                    </p:animEffect>
                                  </p:childTnLst>
                                </p:cTn>
                              </p:par>
                              <p:par>
                                <p:cTn id="40" presetID="10" presetClass="entr" presetSubtype="0" fill="hold" grpId="0" nodeType="withEffect">
                                  <p:stCondLst>
                                    <p:cond delay="35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9" grpId="0" animBg="1"/>
      <p:bldP spid="4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MỞ ĐẦU</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Kết cấu đồ án tốt nghiệp</a:t>
            </a:r>
          </a:p>
        </p:txBody>
      </p:sp>
      <p:cxnSp>
        <p:nvCxnSpPr>
          <p:cNvPr id="4" name="Connector 3"/>
          <p:cNvCxnSpPr/>
          <p:nvPr/>
        </p:nvCxnSpPr>
        <p:spPr>
          <a:xfrm>
            <a:off x="1554480" y="2331720"/>
            <a:ext cx="9098280" cy="0"/>
          </a:xfrm>
          <a:prstGeom prst="line">
            <a:avLst/>
          </a:prstGeom>
          <a:ln w="38100">
            <a:solidFill>
              <a:srgbClr val="9FB8D3"/>
            </a:solidFill>
          </a:ln>
        </p:spPr>
      </p:cxnSp>
      <p:grpSp>
        <p:nvGrpSpPr>
          <p:cNvPr id="5" name="Group 4"/>
          <p:cNvGrpSpPr/>
          <p:nvPr/>
        </p:nvGrpSpPr>
        <p:grpSpPr>
          <a:xfrm>
            <a:off x="512064" y="1938528"/>
            <a:ext cx="2084832" cy="3730752"/>
            <a:chOff x="512064" y="1938528"/>
            <a:chExt cx="2084832" cy="3730752"/>
          </a:xfrm>
        </p:grpSpPr>
        <p:sp>
          <p:nvSpPr>
            <p:cNvPr id="6" name="Oval 5"/>
            <p:cNvSpPr/>
            <p:nvPr/>
          </p:nvSpPr>
          <p:spPr>
            <a:xfrm>
              <a:off x="1161288" y="1938528"/>
              <a:ext cx="786384" cy="786384"/>
            </a:xfrm>
            <a:prstGeom prst="ellipse">
              <a:avLst/>
            </a:prstGeom>
            <a:solidFill>
              <a:srgbClr val="0B2545"/>
            </a:solidFill>
            <a:ln w="38100">
              <a:solidFill>
                <a:srgbClr val="FFFFFF"/>
              </a:solidFill>
            </a:ln>
          </p:spPr>
          <p:txBody>
            <a:bodyPr rtlCol="0" anchor="ctr" lIns="54864" tIns="54864" rIns="54864" bIns="54864" wrap="square">
              <a:noAutofit/>
            </a:bodyPr>
            <a:lstStyle/>
            <a:p>
              <a:pPr algn="ctr"/>
              <a:r>
                <a:rPr sz="2100" b="1" i="0" lang="vi-VN">
                  <a:solidFill>
                    <a:srgbClr val="FFFFFF"/>
                  </a:solidFill>
                  <a:latin typeface="Arial"/>
                  <a:ea typeface="Arial"/>
                  <a:cs typeface="Arial"/>
                </a:rPr>
                <a:t>01</a:t>
              </a:r>
            </a:p>
          </p:txBody>
        </p:sp>
        <p:sp>
          <p:nvSpPr>
            <p:cNvPr id="7" name="Rounded Rectangle 6"/>
            <p:cNvSpPr/>
            <p:nvPr/>
          </p:nvSpPr>
          <p:spPr>
            <a:xfrm>
              <a:off x="512064" y="3063240"/>
              <a:ext cx="2084832" cy="2606040"/>
            </a:xfrm>
            <a:prstGeom prst="roundRect">
              <a:avLst>
                <a:gd name="adj" fmla="val 4385"/>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8" name="TextBox 7"/>
            <p:cNvSpPr txBox="1"/>
            <p:nvPr/>
          </p:nvSpPr>
          <p:spPr>
            <a:xfrm>
              <a:off x="603504" y="3182112"/>
              <a:ext cx="1901952" cy="1115568"/>
            </a:xfrm>
            <a:prstGeom prst="rect">
              <a:avLst/>
            </a:prstGeom>
            <a:noFill/>
          </p:spPr>
          <p:txBody>
            <a:bodyPr wrap="square" lIns="0" tIns="0" rIns="0" bIns="0" anchor="ctr">
              <a:noAutofit/>
            </a:bodyPr>
            <a:lstStyle/>
            <a:p>
              <a:pPr algn="ctr">
                <a:lnSpc>
                  <a:spcPct val="98000"/>
                </a:lnSpc>
              </a:pPr>
              <a:r>
                <a:rPr sz="1600" b="1" i="0" lang="vi-VN">
                  <a:solidFill>
                    <a:srgbClr val="0B2545"/>
                  </a:solidFill>
                  <a:latin typeface="Arial"/>
                  <a:ea typeface="Arial"/>
                  <a:cs typeface="Arial"/>
                </a:rPr>
                <a:t>Bài toán, yêu cầu và nguyên nhân sai lệch</a:t>
              </a:r>
            </a:p>
          </p:txBody>
        </p:sp>
        <p:sp>
          <p:nvSpPr>
            <p:cNvPr id="9" name="TextBox 8"/>
            <p:cNvSpPr txBox="1"/>
            <p:nvPr/>
          </p:nvSpPr>
          <p:spPr>
            <a:xfrm>
              <a:off x="603504" y="4315968"/>
              <a:ext cx="1901952" cy="822960"/>
            </a:xfrm>
            <a:prstGeom prst="rect">
              <a:avLst/>
            </a:prstGeom>
            <a:noFill/>
          </p:spPr>
          <p:txBody>
            <a:bodyPr wrap="square" lIns="0" tIns="0" rIns="0" bIns="0" anchor="t">
              <a:noAutofit/>
            </a:bodyPr>
            <a:lstStyle/>
            <a:p>
              <a:pPr algn="ctr">
                <a:lnSpc>
                  <a:spcPct val="98000"/>
                </a:lnSpc>
              </a:pPr>
              <a:r>
                <a:rPr sz="1300" b="0" i="0" lang="vi-VN">
                  <a:solidFill>
                    <a:srgbClr val="5B6B7B"/>
                  </a:solidFill>
                  <a:latin typeface="Arial"/>
                  <a:ea typeface="Arial"/>
                  <a:cs typeface="Arial"/>
                </a:rPr>
                <a:t>Gimbal Yaw–Pitch · chỉ tiêu · 5 nhóm nguyên nhân</a:t>
              </a:r>
            </a:p>
          </p:txBody>
        </p:sp>
        <p:sp>
          <p:nvSpPr>
            <p:cNvPr id="10" name="Rounded Rectangle 9"/>
            <p:cNvSpPr/>
            <p:nvPr/>
          </p:nvSpPr>
          <p:spPr>
            <a:xfrm>
              <a:off x="914400" y="5193792"/>
              <a:ext cx="1280160" cy="329184"/>
            </a:xfrm>
            <a:prstGeom prst="roundRect">
              <a:avLst>
                <a:gd name="adj" fmla="val 50000"/>
              </a:avLst>
            </a:prstGeom>
            <a:solidFill>
              <a:srgbClr val="0A5FA8"/>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Chương 1</a:t>
              </a:r>
            </a:p>
          </p:txBody>
        </p:sp>
      </p:grpSp>
      <p:grpSp>
        <p:nvGrpSpPr>
          <p:cNvPr id="11" name="Group 10"/>
          <p:cNvGrpSpPr/>
          <p:nvPr/>
        </p:nvGrpSpPr>
        <p:grpSpPr>
          <a:xfrm>
            <a:off x="2786634" y="1938528"/>
            <a:ext cx="2084832" cy="3730752"/>
            <a:chOff x="2786634" y="1938528"/>
            <a:chExt cx="2084832" cy="3730752"/>
          </a:xfrm>
        </p:grpSpPr>
        <p:sp>
          <p:nvSpPr>
            <p:cNvPr id="12" name="Oval 11"/>
            <p:cNvSpPr/>
            <p:nvPr/>
          </p:nvSpPr>
          <p:spPr>
            <a:xfrm>
              <a:off x="3435858" y="1938528"/>
              <a:ext cx="786384" cy="786384"/>
            </a:xfrm>
            <a:prstGeom prst="ellipse">
              <a:avLst/>
            </a:prstGeom>
            <a:solidFill>
              <a:srgbClr val="0B2545"/>
            </a:solidFill>
            <a:ln w="38100">
              <a:solidFill>
                <a:srgbClr val="FFFFFF"/>
              </a:solidFill>
            </a:ln>
          </p:spPr>
          <p:txBody>
            <a:bodyPr rtlCol="0" anchor="ctr" lIns="54864" tIns="54864" rIns="54864" bIns="54864" wrap="square">
              <a:noAutofit/>
            </a:bodyPr>
            <a:lstStyle/>
            <a:p>
              <a:pPr algn="ctr"/>
              <a:r>
                <a:rPr sz="2100" b="1" i="0" lang="vi-VN">
                  <a:solidFill>
                    <a:srgbClr val="FFFFFF"/>
                  </a:solidFill>
                  <a:latin typeface="Arial"/>
                  <a:ea typeface="Arial"/>
                  <a:cs typeface="Arial"/>
                </a:rPr>
                <a:t>02</a:t>
              </a:r>
            </a:p>
          </p:txBody>
        </p:sp>
        <p:sp>
          <p:nvSpPr>
            <p:cNvPr id="13" name="Rounded Rectangle 12"/>
            <p:cNvSpPr/>
            <p:nvPr/>
          </p:nvSpPr>
          <p:spPr>
            <a:xfrm>
              <a:off x="2786634" y="3063240"/>
              <a:ext cx="2084832" cy="2606040"/>
            </a:xfrm>
            <a:prstGeom prst="roundRect">
              <a:avLst>
                <a:gd name="adj" fmla="val 4385"/>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14" name="TextBox 13"/>
            <p:cNvSpPr txBox="1"/>
            <p:nvPr/>
          </p:nvSpPr>
          <p:spPr>
            <a:xfrm>
              <a:off x="2878074" y="3182112"/>
              <a:ext cx="1901952" cy="1115568"/>
            </a:xfrm>
            <a:prstGeom prst="rect">
              <a:avLst/>
            </a:prstGeom>
            <a:noFill/>
          </p:spPr>
          <p:txBody>
            <a:bodyPr wrap="square" lIns="0" tIns="0" rIns="0" bIns="0" anchor="ctr">
              <a:noAutofit/>
            </a:bodyPr>
            <a:lstStyle/>
            <a:p>
              <a:pPr algn="ctr">
                <a:lnSpc>
                  <a:spcPct val="98000"/>
                </a:lnSpc>
              </a:pPr>
              <a:r>
                <a:rPr sz="1600" b="1" i="0" lang="vi-VN">
                  <a:solidFill>
                    <a:srgbClr val="0B2545"/>
                  </a:solidFill>
                  <a:latin typeface="Arial"/>
                  <a:ea typeface="Arial"/>
                  <a:cs typeface="Arial"/>
                </a:rPr>
                <a:t>Thiết kế phần cứng và phần mềm thời gian thực</a:t>
              </a:r>
            </a:p>
          </p:txBody>
        </p:sp>
        <p:sp>
          <p:nvSpPr>
            <p:cNvPr id="15" name="TextBox 14"/>
            <p:cNvSpPr txBox="1"/>
            <p:nvPr/>
          </p:nvSpPr>
          <p:spPr>
            <a:xfrm>
              <a:off x="2878074" y="4315968"/>
              <a:ext cx="1901952" cy="822960"/>
            </a:xfrm>
            <a:prstGeom prst="rect">
              <a:avLst/>
            </a:prstGeom>
            <a:noFill/>
          </p:spPr>
          <p:txBody>
            <a:bodyPr wrap="square" lIns="0" tIns="0" rIns="0" bIns="0" anchor="t">
              <a:noAutofit/>
            </a:bodyPr>
            <a:lstStyle/>
            <a:p>
              <a:pPr algn="ctr">
                <a:lnSpc>
                  <a:spcPct val="98000"/>
                </a:lnSpc>
              </a:pPr>
              <a:r>
                <a:rPr sz="1300" b="0" i="0" lang="vi-VN">
                  <a:solidFill>
                    <a:srgbClr val="5B6B7B"/>
                  </a:solidFill>
                  <a:latin typeface="Arial"/>
                  <a:ea typeface="Arial"/>
                  <a:cs typeface="Arial"/>
                </a:rPr>
                <a:t>Mạch · cơ khí · NuttX 7 luồng · 2 IMU</a:t>
              </a:r>
            </a:p>
          </p:txBody>
        </p:sp>
        <p:sp>
          <p:nvSpPr>
            <p:cNvPr id="16" name="Rounded Rectangle 15"/>
            <p:cNvSpPr/>
            <p:nvPr/>
          </p:nvSpPr>
          <p:spPr>
            <a:xfrm>
              <a:off x="3188970" y="5193792"/>
              <a:ext cx="1280160" cy="329184"/>
            </a:xfrm>
            <a:prstGeom prst="roundRect">
              <a:avLst>
                <a:gd name="adj" fmla="val 50000"/>
              </a:avLst>
            </a:prstGeom>
            <a:solidFill>
              <a:srgbClr val="0A5FA8"/>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Chương 2</a:t>
              </a:r>
            </a:p>
          </p:txBody>
        </p:sp>
      </p:grpSp>
      <p:grpSp>
        <p:nvGrpSpPr>
          <p:cNvPr id="17" name="Group 16"/>
          <p:cNvGrpSpPr/>
          <p:nvPr/>
        </p:nvGrpSpPr>
        <p:grpSpPr>
          <a:xfrm>
            <a:off x="5061204" y="1938528"/>
            <a:ext cx="2084832" cy="3730752"/>
            <a:chOff x="5061204" y="1938528"/>
            <a:chExt cx="2084832" cy="3730752"/>
          </a:xfrm>
        </p:grpSpPr>
        <p:sp>
          <p:nvSpPr>
            <p:cNvPr id="18" name="Oval 17"/>
            <p:cNvSpPr/>
            <p:nvPr/>
          </p:nvSpPr>
          <p:spPr>
            <a:xfrm>
              <a:off x="5710428" y="1938528"/>
              <a:ext cx="786384" cy="786384"/>
            </a:xfrm>
            <a:prstGeom prst="ellipse">
              <a:avLst/>
            </a:prstGeom>
            <a:solidFill>
              <a:srgbClr val="0B2545"/>
            </a:solidFill>
            <a:ln w="38100">
              <a:solidFill>
                <a:srgbClr val="FFFFFF"/>
              </a:solidFill>
            </a:ln>
          </p:spPr>
          <p:txBody>
            <a:bodyPr rtlCol="0" anchor="ctr" lIns="54864" tIns="54864" rIns="54864" bIns="54864" wrap="square">
              <a:noAutofit/>
            </a:bodyPr>
            <a:lstStyle/>
            <a:p>
              <a:pPr algn="ctr"/>
              <a:r>
                <a:rPr sz="2100" b="1" i="0" lang="vi-VN">
                  <a:solidFill>
                    <a:srgbClr val="FFFFFF"/>
                  </a:solidFill>
                  <a:latin typeface="Arial"/>
                  <a:ea typeface="Arial"/>
                  <a:cs typeface="Arial"/>
                </a:rPr>
                <a:t>03</a:t>
              </a:r>
            </a:p>
          </p:txBody>
        </p:sp>
        <p:sp>
          <p:nvSpPr>
            <p:cNvPr id="19" name="Rounded Rectangle 18"/>
            <p:cNvSpPr/>
            <p:nvPr/>
          </p:nvSpPr>
          <p:spPr>
            <a:xfrm>
              <a:off x="5061204" y="3063240"/>
              <a:ext cx="2084832" cy="2606040"/>
            </a:xfrm>
            <a:prstGeom prst="roundRect">
              <a:avLst>
                <a:gd name="adj" fmla="val 4385"/>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20" name="TextBox 19"/>
            <p:cNvSpPr txBox="1"/>
            <p:nvPr/>
          </p:nvSpPr>
          <p:spPr>
            <a:xfrm>
              <a:off x="5152644" y="3182112"/>
              <a:ext cx="1901952" cy="1115568"/>
            </a:xfrm>
            <a:prstGeom prst="rect">
              <a:avLst/>
            </a:prstGeom>
            <a:noFill/>
          </p:spPr>
          <p:txBody>
            <a:bodyPr wrap="square" lIns="0" tIns="0" rIns="0" bIns="0" anchor="ctr">
              <a:noAutofit/>
            </a:bodyPr>
            <a:lstStyle/>
            <a:p>
              <a:pPr algn="ctr">
                <a:lnSpc>
                  <a:spcPct val="98000"/>
                </a:lnSpc>
              </a:pPr>
              <a:r>
                <a:rPr sz="1600" b="1" i="0" lang="vi-VN">
                  <a:solidFill>
                    <a:srgbClr val="0B2545"/>
                  </a:solidFill>
                  <a:latin typeface="Arial"/>
                  <a:ea typeface="Arial"/>
                  <a:cs typeface="Arial"/>
                </a:rPr>
                <a:t>Thuật toán điều khiển</a:t>
              </a:r>
            </a:p>
          </p:txBody>
        </p:sp>
        <p:sp>
          <p:nvSpPr>
            <p:cNvPr id="21" name="TextBox 20"/>
            <p:cNvSpPr txBox="1"/>
            <p:nvPr/>
          </p:nvSpPr>
          <p:spPr>
            <a:xfrm>
              <a:off x="5152644" y="4315968"/>
              <a:ext cx="1901952" cy="822960"/>
            </a:xfrm>
            <a:prstGeom prst="rect">
              <a:avLst/>
            </a:prstGeom>
            <a:noFill/>
          </p:spPr>
          <p:txBody>
            <a:bodyPr wrap="square" lIns="0" tIns="0" rIns="0" bIns="0" anchor="t">
              <a:noAutofit/>
            </a:bodyPr>
            <a:lstStyle/>
            <a:p>
              <a:pPr algn="ctr">
                <a:lnSpc>
                  <a:spcPct val="98000"/>
                </a:lnSpc>
              </a:pPr>
              <a:r>
                <a:rPr sz="1300" b="0" i="0" lang="vi-VN">
                  <a:solidFill>
                    <a:srgbClr val="5B6B7B"/>
                  </a:solidFill>
                  <a:latin typeface="Arial"/>
                  <a:ea typeface="Arial"/>
                  <a:cs typeface="Arial"/>
                </a:rPr>
                <a:t>Cascade · bù IMU2 · bù trễ · giới hạn · đảo chiều · RS485</a:t>
              </a:r>
            </a:p>
          </p:txBody>
        </p:sp>
        <p:sp>
          <p:nvSpPr>
            <p:cNvPr id="22" name="Rounded Rectangle 21"/>
            <p:cNvSpPr/>
            <p:nvPr/>
          </p:nvSpPr>
          <p:spPr>
            <a:xfrm>
              <a:off x="5463540" y="5193792"/>
              <a:ext cx="1280160" cy="329184"/>
            </a:xfrm>
            <a:prstGeom prst="roundRect">
              <a:avLst>
                <a:gd name="adj" fmla="val 50000"/>
              </a:avLst>
            </a:prstGeom>
            <a:solidFill>
              <a:srgbClr val="0A5FA8"/>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Chương 2</a:t>
              </a:r>
            </a:p>
          </p:txBody>
        </p:sp>
      </p:grpSp>
      <p:grpSp>
        <p:nvGrpSpPr>
          <p:cNvPr id="23" name="Group 22"/>
          <p:cNvGrpSpPr/>
          <p:nvPr/>
        </p:nvGrpSpPr>
        <p:grpSpPr>
          <a:xfrm>
            <a:off x="7335774" y="1481328"/>
            <a:ext cx="2084832" cy="4187952"/>
            <a:chOff x="7335774" y="1481328"/>
            <a:chExt cx="2084832" cy="4187952"/>
          </a:xfrm>
        </p:grpSpPr>
        <p:sp>
          <p:nvSpPr>
            <p:cNvPr id="24" name="Oval 23"/>
            <p:cNvSpPr/>
            <p:nvPr/>
          </p:nvSpPr>
          <p:spPr>
            <a:xfrm>
              <a:off x="7920990" y="1874520"/>
              <a:ext cx="914400" cy="914400"/>
            </a:xfrm>
            <a:prstGeom prst="ellipse">
              <a:avLst/>
            </a:prstGeom>
            <a:solidFill>
              <a:srgbClr val="E8710A"/>
            </a:solidFill>
            <a:ln w="38100">
              <a:solidFill>
                <a:srgbClr val="FFFFFF"/>
              </a:solidFill>
            </a:ln>
          </p:spPr>
          <p:txBody>
            <a:bodyPr rtlCol="0" anchor="ctr" lIns="54864" tIns="54864" rIns="54864" bIns="54864" wrap="square">
              <a:noAutofit/>
            </a:bodyPr>
            <a:lstStyle/>
            <a:p>
              <a:pPr algn="ctr"/>
              <a:r>
                <a:rPr sz="2400" b="1" i="0" lang="vi-VN">
                  <a:solidFill>
                    <a:srgbClr val="FFFFFF"/>
                  </a:solidFill>
                  <a:latin typeface="Arial"/>
                  <a:ea typeface="Arial"/>
                  <a:cs typeface="Arial"/>
                </a:rPr>
                <a:t>04</a:t>
              </a:r>
            </a:p>
          </p:txBody>
        </p:sp>
        <p:sp>
          <p:nvSpPr>
            <p:cNvPr id="25" name="Rounded Rectangle 24"/>
            <p:cNvSpPr/>
            <p:nvPr/>
          </p:nvSpPr>
          <p:spPr>
            <a:xfrm>
              <a:off x="7335774" y="3063240"/>
              <a:ext cx="2084832" cy="2606040"/>
            </a:xfrm>
            <a:prstGeom prst="roundRect">
              <a:avLst>
                <a:gd name="adj" fmla="val 4385"/>
              </a:avLst>
            </a:prstGeom>
            <a:solidFill>
              <a:srgbClr val="FFFFFF"/>
            </a:solidFill>
            <a:ln w="25400">
              <a:solidFill>
                <a:srgbClr val="E8710A"/>
              </a:solid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26" name="TextBox 25"/>
            <p:cNvSpPr txBox="1"/>
            <p:nvPr/>
          </p:nvSpPr>
          <p:spPr>
            <a:xfrm>
              <a:off x="7427214" y="3182112"/>
              <a:ext cx="1901952" cy="1115568"/>
            </a:xfrm>
            <a:prstGeom prst="rect">
              <a:avLst/>
            </a:prstGeom>
            <a:noFill/>
          </p:spPr>
          <p:txBody>
            <a:bodyPr wrap="square" lIns="0" tIns="0" rIns="0" bIns="0" anchor="ctr">
              <a:noAutofit/>
            </a:bodyPr>
            <a:lstStyle/>
            <a:p>
              <a:pPr algn="ctr">
                <a:lnSpc>
                  <a:spcPct val="98000"/>
                </a:lnSpc>
              </a:pPr>
              <a:r>
                <a:rPr sz="1600" b="1" i="0" lang="vi-VN">
                  <a:solidFill>
                    <a:srgbClr val="0B2545"/>
                  </a:solidFill>
                  <a:latin typeface="Arial"/>
                  <a:ea typeface="Arial"/>
                  <a:cs typeface="Arial"/>
                </a:rPr>
                <a:t>Mô phỏng, hiệu chỉnh và thực nghiệm</a:t>
              </a:r>
            </a:p>
          </p:txBody>
        </p:sp>
        <p:sp>
          <p:nvSpPr>
            <p:cNvPr id="27" name="TextBox 26"/>
            <p:cNvSpPr txBox="1"/>
            <p:nvPr/>
          </p:nvSpPr>
          <p:spPr>
            <a:xfrm>
              <a:off x="7427214" y="4315968"/>
              <a:ext cx="1901952" cy="822960"/>
            </a:xfrm>
            <a:prstGeom prst="rect">
              <a:avLst/>
            </a:prstGeom>
            <a:noFill/>
          </p:spPr>
          <p:txBody>
            <a:bodyPr wrap="square" lIns="0" tIns="0" rIns="0" bIns="0" anchor="t">
              <a:noAutofit/>
            </a:bodyPr>
            <a:lstStyle/>
            <a:p>
              <a:pPr algn="ctr">
                <a:lnSpc>
                  <a:spcPct val="98000"/>
                </a:lnSpc>
              </a:pPr>
              <a:r>
                <a:rPr sz="1300" b="0" i="0" lang="vi-VN">
                  <a:solidFill>
                    <a:srgbClr val="5B6B7B"/>
                  </a:solidFill>
                  <a:latin typeface="Arial"/>
                  <a:ea typeface="Arial"/>
                  <a:cs typeface="Arial"/>
                </a:rPr>
                <a:t>7 bước hiệu chỉnh, so sánh trước – sau trên hệ thật</a:t>
              </a:r>
            </a:p>
          </p:txBody>
        </p:sp>
        <p:sp>
          <p:nvSpPr>
            <p:cNvPr id="28" name="Rounded Rectangle 27"/>
            <p:cNvSpPr/>
            <p:nvPr/>
          </p:nvSpPr>
          <p:spPr>
            <a:xfrm>
              <a:off x="7738110" y="5193792"/>
              <a:ext cx="1280160" cy="329184"/>
            </a:xfrm>
            <a:prstGeom prst="roundRect">
              <a:avLst>
                <a:gd name="adj" fmla="val 50000"/>
              </a:avLst>
            </a:prstGeom>
            <a:solidFill>
              <a:srgbClr val="E8710A"/>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Chương 3</a:t>
              </a:r>
            </a:p>
          </p:txBody>
        </p:sp>
        <p:sp>
          <p:nvSpPr>
            <p:cNvPr id="29" name="Rounded Rectangle 28"/>
            <p:cNvSpPr/>
            <p:nvPr/>
          </p:nvSpPr>
          <p:spPr>
            <a:xfrm>
              <a:off x="7719822" y="1481328"/>
              <a:ext cx="1316736" cy="329184"/>
            </a:xfrm>
            <a:prstGeom prst="roundRect">
              <a:avLst>
                <a:gd name="adj" fmla="val 50000"/>
              </a:avLst>
            </a:prstGeom>
            <a:solidFill>
              <a:srgbClr val="E8710A"/>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TRỌNG TÂM</a:t>
              </a:r>
            </a:p>
          </p:txBody>
        </p:sp>
      </p:grpSp>
      <p:grpSp>
        <p:nvGrpSpPr>
          <p:cNvPr id="30" name="Group 29"/>
          <p:cNvGrpSpPr/>
          <p:nvPr/>
        </p:nvGrpSpPr>
        <p:grpSpPr>
          <a:xfrm>
            <a:off x="9610344" y="1938528"/>
            <a:ext cx="2084832" cy="3730752"/>
            <a:chOff x="9610344" y="1938528"/>
            <a:chExt cx="2084832" cy="3730752"/>
          </a:xfrm>
        </p:grpSpPr>
        <p:sp>
          <p:nvSpPr>
            <p:cNvPr id="31" name="Oval 30"/>
            <p:cNvSpPr/>
            <p:nvPr/>
          </p:nvSpPr>
          <p:spPr>
            <a:xfrm>
              <a:off x="10259568" y="1938528"/>
              <a:ext cx="786384" cy="786384"/>
            </a:xfrm>
            <a:prstGeom prst="ellipse">
              <a:avLst/>
            </a:prstGeom>
            <a:solidFill>
              <a:srgbClr val="0B2545"/>
            </a:solidFill>
            <a:ln w="38100">
              <a:solidFill>
                <a:srgbClr val="FFFFFF"/>
              </a:solidFill>
            </a:ln>
          </p:spPr>
          <p:txBody>
            <a:bodyPr rtlCol="0" anchor="ctr" lIns="54864" tIns="54864" rIns="54864" bIns="54864" wrap="square">
              <a:noAutofit/>
            </a:bodyPr>
            <a:lstStyle/>
            <a:p>
              <a:pPr algn="ctr"/>
              <a:r>
                <a:rPr sz="2100" b="1" i="0" lang="vi-VN">
                  <a:solidFill>
                    <a:srgbClr val="FFFFFF"/>
                  </a:solidFill>
                  <a:latin typeface="Arial"/>
                  <a:ea typeface="Arial"/>
                  <a:cs typeface="Arial"/>
                </a:rPr>
                <a:t>05</a:t>
              </a:r>
            </a:p>
          </p:txBody>
        </p:sp>
        <p:sp>
          <p:nvSpPr>
            <p:cNvPr id="32" name="Rounded Rectangle 31"/>
            <p:cNvSpPr/>
            <p:nvPr/>
          </p:nvSpPr>
          <p:spPr>
            <a:xfrm>
              <a:off x="9610344" y="3063240"/>
              <a:ext cx="2084832" cy="2606040"/>
            </a:xfrm>
            <a:prstGeom prst="roundRect">
              <a:avLst>
                <a:gd name="adj" fmla="val 4385"/>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33" name="TextBox 32"/>
            <p:cNvSpPr txBox="1"/>
            <p:nvPr/>
          </p:nvSpPr>
          <p:spPr>
            <a:xfrm>
              <a:off x="9701784" y="3182112"/>
              <a:ext cx="1901952" cy="1115568"/>
            </a:xfrm>
            <a:prstGeom prst="rect">
              <a:avLst/>
            </a:prstGeom>
            <a:noFill/>
          </p:spPr>
          <p:txBody>
            <a:bodyPr wrap="square" lIns="0" tIns="0" rIns="0" bIns="0" anchor="ctr">
              <a:noAutofit/>
            </a:bodyPr>
            <a:lstStyle/>
            <a:p>
              <a:pPr algn="ctr">
                <a:lnSpc>
                  <a:spcPct val="98000"/>
                </a:lnSpc>
              </a:pPr>
              <a:r>
                <a:rPr sz="1600" b="1" i="0" lang="vi-VN">
                  <a:solidFill>
                    <a:srgbClr val="0B2545"/>
                  </a:solidFill>
                  <a:latin typeface="Arial"/>
                  <a:ea typeface="Arial"/>
                  <a:cs typeface="Arial"/>
                </a:rPr>
                <a:t>Đánh giá, kết luận và hướng phát triển</a:t>
              </a:r>
            </a:p>
          </p:txBody>
        </p:sp>
        <p:sp>
          <p:nvSpPr>
            <p:cNvPr id="34" name="TextBox 33"/>
            <p:cNvSpPr txBox="1"/>
            <p:nvPr/>
          </p:nvSpPr>
          <p:spPr>
            <a:xfrm>
              <a:off x="9701784" y="4315968"/>
              <a:ext cx="1901952" cy="822960"/>
            </a:xfrm>
            <a:prstGeom prst="rect">
              <a:avLst/>
            </a:prstGeom>
            <a:noFill/>
          </p:spPr>
          <p:txBody>
            <a:bodyPr wrap="square" lIns="0" tIns="0" rIns="0" bIns="0" anchor="t">
              <a:noAutofit/>
            </a:bodyPr>
            <a:lstStyle/>
            <a:p>
              <a:pPr algn="ctr">
                <a:lnSpc>
                  <a:spcPct val="98000"/>
                </a:lnSpc>
              </a:pPr>
              <a:r>
                <a:rPr sz="1300" b="0" i="0" lang="vi-VN">
                  <a:solidFill>
                    <a:srgbClr val="5B6B7B"/>
                  </a:solidFill>
                  <a:latin typeface="Arial"/>
                  <a:ea typeface="Arial"/>
                  <a:cs typeface="Arial"/>
                </a:rPr>
                <a:t>Đạt · đánh đổi · hạn chế · hướng tiếp theo</a:t>
              </a:r>
            </a:p>
          </p:txBody>
        </p:sp>
        <p:sp>
          <p:nvSpPr>
            <p:cNvPr id="35" name="Rounded Rectangle 34"/>
            <p:cNvSpPr/>
            <p:nvPr/>
          </p:nvSpPr>
          <p:spPr>
            <a:xfrm>
              <a:off x="10012680" y="5193792"/>
              <a:ext cx="1280160" cy="329184"/>
            </a:xfrm>
            <a:prstGeom prst="roundRect">
              <a:avLst>
                <a:gd name="adj" fmla="val 50000"/>
              </a:avLst>
            </a:prstGeom>
            <a:solidFill>
              <a:srgbClr val="0A5FA8"/>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Kết luận</a:t>
              </a:r>
            </a:p>
          </p:txBody>
        </p:sp>
      </p:grpSp>
      <p:sp>
        <p:nvSpPr>
          <p:cNvPr id="41"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700"/>
                                        <p:tgtEl>
                                          <p:spTgt spid="4"/>
                                        </p:tgtEl>
                                      </p:cBhvr>
                                    </p:animEffect>
                                  </p:childTnLst>
                                </p:cTn>
                              </p:par>
                            </p:childTnLst>
                          </p:cTn>
                        </p:par>
                        <p:par>
                          <p:cTn id="8"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anim calcmode="lin" valueType="num">
                                      <p:cBhvr>
                                        <p:cTn id="12" dur="450" fill="hold"/>
                                        <p:tgtEl>
                                          <p:spTgt spid="5"/>
                                        </p:tgtEl>
                                        <p:attrNameLst>
                                          <p:attrName>ppt_x</p:attrName>
                                        </p:attrNameLst>
                                      </p:cBhvr>
                                      <p:tavLst>
                                        <p:tav tm="0">
                                          <p:val>
                                            <p:strVal val="#ppt_x"/>
                                          </p:val>
                                        </p:tav>
                                        <p:tav tm="100000">
                                          <p:val>
                                            <p:strVal val="#ppt_x"/>
                                          </p:val>
                                        </p:tav>
                                      </p:tavLst>
                                    </p:anim>
                                    <p:anim calcmode="lin" valueType="num">
                                      <p:cBhvr>
                                        <p:cTn id="13" dur="450" fill="hold"/>
                                        <p:tgtEl>
                                          <p:spTgt spid="5"/>
                                        </p:tgtEl>
                                        <p:attrNameLst>
                                          <p:attrName>ppt_y</p:attrName>
                                        </p:attrNameLst>
                                      </p:cBhvr>
                                      <p:tavLst>
                                        <p:tav tm="0">
                                          <p:val>
                                            <p:strVal val="#ppt_y+.05"/>
                                          </p:val>
                                        </p:tav>
                                        <p:tav tm="100000">
                                          <p:val>
                                            <p:strVal val="#ppt_y"/>
                                          </p:val>
                                        </p:tav>
                                      </p:tavLst>
                                    </p:anim>
                                  </p:childTnLst>
                                </p:cTn>
                              </p:par>
                            </p:childTnLst>
                          </p:cTn>
                        </p:par>
                        <p:par>
                          <p:cTn id="14" fill="hold">
                            <p:stCondLst>
                              <p:cond delay="1150"/>
                            </p:stCondLst>
                            <p:childTnLst>
                              <p:par>
                                <p:cTn id="15" presetID="42"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anim calcmode="lin" valueType="num">
                                      <p:cBhvr>
                                        <p:cTn id="18" dur="450" fill="hold"/>
                                        <p:tgtEl>
                                          <p:spTgt spid="11"/>
                                        </p:tgtEl>
                                        <p:attrNameLst>
                                          <p:attrName>ppt_x</p:attrName>
                                        </p:attrNameLst>
                                      </p:cBhvr>
                                      <p:tavLst>
                                        <p:tav tm="0">
                                          <p:val>
                                            <p:strVal val="#ppt_x"/>
                                          </p:val>
                                        </p:tav>
                                        <p:tav tm="100000">
                                          <p:val>
                                            <p:strVal val="#ppt_x"/>
                                          </p:val>
                                        </p:tav>
                                      </p:tavLst>
                                    </p:anim>
                                    <p:anim calcmode="lin" valueType="num">
                                      <p:cBhvr>
                                        <p:cTn id="19" dur="450" fill="hold"/>
                                        <p:tgtEl>
                                          <p:spTgt spid="11"/>
                                        </p:tgtEl>
                                        <p:attrNameLst>
                                          <p:attrName>ppt_y</p:attrName>
                                        </p:attrNameLst>
                                      </p:cBhvr>
                                      <p:tavLst>
                                        <p:tav tm="0">
                                          <p:val>
                                            <p:strVal val="#ppt_y+.05"/>
                                          </p:val>
                                        </p:tav>
                                        <p:tav tm="100000">
                                          <p:val>
                                            <p:strVal val="#ppt_y"/>
                                          </p:val>
                                        </p:tav>
                                      </p:tavLst>
                                    </p:anim>
                                  </p:childTnLst>
                                </p:cTn>
                              </p:par>
                            </p:childTnLst>
                          </p:cTn>
                        </p:par>
                        <p:par>
                          <p:cTn id="20" fill="hold">
                            <p:stCondLst>
                              <p:cond delay="1600"/>
                            </p:stCondLst>
                            <p:childTnLst>
                              <p:par>
                                <p:cTn id="21" presetID="42"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anim calcmode="lin" valueType="num">
                                      <p:cBhvr>
                                        <p:cTn id="24" dur="450" fill="hold"/>
                                        <p:tgtEl>
                                          <p:spTgt spid="17"/>
                                        </p:tgtEl>
                                        <p:attrNameLst>
                                          <p:attrName>ppt_x</p:attrName>
                                        </p:attrNameLst>
                                      </p:cBhvr>
                                      <p:tavLst>
                                        <p:tav tm="0">
                                          <p:val>
                                            <p:strVal val="#ppt_x"/>
                                          </p:val>
                                        </p:tav>
                                        <p:tav tm="100000">
                                          <p:val>
                                            <p:strVal val="#ppt_x"/>
                                          </p:val>
                                        </p:tav>
                                      </p:tavLst>
                                    </p:anim>
                                    <p:anim calcmode="lin" valueType="num">
                                      <p:cBhvr>
                                        <p:cTn id="25" dur="450" fill="hold"/>
                                        <p:tgtEl>
                                          <p:spTgt spid="17"/>
                                        </p:tgtEl>
                                        <p:attrNameLst>
                                          <p:attrName>ppt_y</p:attrName>
                                        </p:attrNameLst>
                                      </p:cBhvr>
                                      <p:tavLst>
                                        <p:tav tm="0">
                                          <p:val>
                                            <p:strVal val="#ppt_y+.05"/>
                                          </p:val>
                                        </p:tav>
                                        <p:tav tm="100000">
                                          <p:val>
                                            <p:strVal val="#ppt_y"/>
                                          </p:val>
                                        </p:tav>
                                      </p:tavLst>
                                    </p:anim>
                                  </p:childTnLst>
                                </p:cTn>
                              </p:par>
                            </p:childTnLst>
                          </p:cTn>
                        </p:par>
                        <p:par>
                          <p:cTn id="26" fill="hold">
                            <p:stCondLst>
                              <p:cond delay="2050"/>
                            </p:stCondLst>
                            <p:childTnLst>
                              <p:par>
                                <p:cTn id="27" presetID="42" presetClass="entr" presetSubtype="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450"/>
                                        <p:tgtEl>
                                          <p:spTgt spid="23"/>
                                        </p:tgtEl>
                                      </p:cBhvr>
                                    </p:animEffect>
                                    <p:anim calcmode="lin" valueType="num">
                                      <p:cBhvr>
                                        <p:cTn id="30" dur="450" fill="hold"/>
                                        <p:tgtEl>
                                          <p:spTgt spid="23"/>
                                        </p:tgtEl>
                                        <p:attrNameLst>
                                          <p:attrName>ppt_x</p:attrName>
                                        </p:attrNameLst>
                                      </p:cBhvr>
                                      <p:tavLst>
                                        <p:tav tm="0">
                                          <p:val>
                                            <p:strVal val="#ppt_x"/>
                                          </p:val>
                                        </p:tav>
                                        <p:tav tm="100000">
                                          <p:val>
                                            <p:strVal val="#ppt_x"/>
                                          </p:val>
                                        </p:tav>
                                      </p:tavLst>
                                    </p:anim>
                                    <p:anim calcmode="lin" valueType="num">
                                      <p:cBhvr>
                                        <p:cTn id="31" dur="450" fill="hold"/>
                                        <p:tgtEl>
                                          <p:spTgt spid="23"/>
                                        </p:tgtEl>
                                        <p:attrNameLst>
                                          <p:attrName>ppt_y</p:attrName>
                                        </p:attrNameLst>
                                      </p:cBhvr>
                                      <p:tavLst>
                                        <p:tav tm="0">
                                          <p:val>
                                            <p:strVal val="#ppt_y+.05"/>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450"/>
                                        <p:tgtEl>
                                          <p:spTgt spid="30"/>
                                        </p:tgtEl>
                                      </p:cBhvr>
                                    </p:animEffect>
                                    <p:anim calcmode="lin" valueType="num">
                                      <p:cBhvr>
                                        <p:cTn id="36" dur="450" fill="hold"/>
                                        <p:tgtEl>
                                          <p:spTgt spid="30"/>
                                        </p:tgtEl>
                                        <p:attrNameLst>
                                          <p:attrName>ppt_x</p:attrName>
                                        </p:attrNameLst>
                                      </p:cBhvr>
                                      <p:tavLst>
                                        <p:tav tm="0">
                                          <p:val>
                                            <p:strVal val="#ppt_x"/>
                                          </p:val>
                                        </p:tav>
                                        <p:tav tm="100000">
                                          <p:val>
                                            <p:strVal val="#ppt_x"/>
                                          </p:val>
                                        </p:tav>
                                      </p:tavLst>
                                    </p:anim>
                                    <p:anim calcmode="lin" valueType="num">
                                      <p:cBhvr>
                                        <p:cTn id="37" dur="450" fill="hold"/>
                                        <p:tgtEl>
                                          <p:spTgt spid="30"/>
                                        </p:tgtEl>
                                        <p:attrNameLst>
                                          <p:attrName>ppt_y</p:attrName>
                                        </p:attrNameLst>
                                      </p:cBhvr>
                                      <p:tavLst>
                                        <p:tav tm="0">
                                          <p:val>
                                            <p:strVal val="#ppt_y+.05"/>
                                          </p:val>
                                        </p:tav>
                                        <p:tav tm="100000">
                                          <p:val>
                                            <p:strVal val="#ppt_y"/>
                                          </p:val>
                                        </p:tav>
                                      </p:tavLst>
                                    </p:anim>
                                  </p:childTnLst>
                                </p:cTn>
                              </p:par>
                            </p:childTnLst>
                          </p:cTn>
                        </p:par>
                        <p:par>
                          <p:cTn id="38" fill="hold">
                            <p:stCondLst>
                              <p:cond delay="2950"/>
                            </p:stCondLst>
                            <p:childTnLst>
                              <p:par>
                                <p:cTn id="39" presetID="6" presetClass="emph" presetSubtype="0" fill="hold" grpId="1" nodeType="afterEffect">
                                  <p:stCondLst>
                                    <p:cond delay="0"/>
                                  </p:stCondLst>
                                  <p:childTnLst>
                                    <p:animScale>
                                      <p:cBhvr>
                                        <p:cTn id="40" dur="300" autoRev="1" fill="hold"/>
                                        <p:tgtEl>
                                          <p:spTgt spid="23"/>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1 · BÀI TOÁN VÀ YÊU CẦU</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Bài toán: Gimbal tạo chuyển động bù để đường ngắm đứng yên</a:t>
            </a:r>
          </a:p>
        </p:txBody>
      </p:sp>
      <p:sp>
        <p:nvSpPr>
          <p:cNvPr id="4" name="Rounded Rectangle 3"/>
          <p:cNvSpPr/>
          <p:nvPr/>
        </p:nvSpPr>
        <p:spPr>
          <a:xfrm>
            <a:off x="502920" y="1261872"/>
            <a:ext cx="5760720" cy="4791456"/>
          </a:xfrm>
          <a:prstGeom prst="roundRect">
            <a:avLst>
              <a:gd name="adj" fmla="val 19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5" name="Picture 4" descr="gimbal_illus.png"/>
          <p:cNvPicPr>
            <a:picLocks noChangeAspect="1"/>
          </p:cNvPicPr>
          <p:nvPr/>
        </p:nvPicPr>
        <p:blipFill>
          <a:blip r:embed="rId2"/>
          <a:stretch>
            <a:fillRect/>
          </a:stretch>
        </p:blipFill>
        <p:spPr>
          <a:xfrm>
            <a:off x="640080" y="1371600"/>
            <a:ext cx="5486400" cy="3297296"/>
          </a:xfrm>
          <a:prstGeom prst="rect">
            <a:avLst/>
          </a:prstGeom>
        </p:spPr>
      </p:pic>
      <p:sp>
        <p:nvSpPr>
          <p:cNvPr id="6" name="Oval 5"/>
          <p:cNvSpPr/>
          <p:nvPr/>
        </p:nvSpPr>
        <p:spPr>
          <a:xfrm>
            <a:off x="3089198" y="1489126"/>
            <a:ext cx="603504" cy="603504"/>
          </a:xfrm>
          <a:prstGeom prst="ellipse">
            <a:avLst/>
          </a:prstGeom>
          <a:noFill/>
          <a:ln w="38100">
            <a:solidFill>
              <a:srgbClr val="E8710A"/>
            </a:solidFill>
          </a:ln>
        </p:spPr>
        <p:txBody>
          <a:bodyPr rtlCol="0" anchor="ctr" lIns="54864" tIns="54864" rIns="54864" bIns="54864" wrap="square">
            <a:noAutofit/>
          </a:bodyPr>
          <a:lstStyle/>
          <a:p>
            <a:pPr algn="ctr"/>
          </a:p>
        </p:txBody>
      </p:sp>
      <p:sp>
        <p:nvSpPr>
          <p:cNvPr id="7" name="Oval 6"/>
          <p:cNvSpPr/>
          <p:nvPr/>
        </p:nvSpPr>
        <p:spPr>
          <a:xfrm>
            <a:off x="3723227" y="3575287"/>
            <a:ext cx="603504" cy="603504"/>
          </a:xfrm>
          <a:prstGeom prst="ellipse">
            <a:avLst/>
          </a:prstGeom>
          <a:noFill/>
          <a:ln w="38100">
            <a:solidFill>
              <a:srgbClr val="E8710A"/>
            </a:solidFill>
          </a:ln>
        </p:spPr>
        <p:txBody>
          <a:bodyPr rtlCol="0" anchor="ctr" lIns="54864" tIns="54864" rIns="54864" bIns="54864" wrap="square">
            <a:noAutofit/>
          </a:bodyPr>
          <a:lstStyle/>
          <a:p>
            <a:pPr algn="ctr"/>
          </a:p>
        </p:txBody>
      </p:sp>
      <p:grpSp>
        <p:nvGrpSpPr>
          <p:cNvPr id="8" name="Group 7"/>
          <p:cNvGrpSpPr/>
          <p:nvPr/>
        </p:nvGrpSpPr>
        <p:grpSpPr>
          <a:xfrm>
            <a:off x="658368" y="4864608"/>
            <a:ext cx="1426464" cy="457200"/>
            <a:chOff x="658368" y="4864608"/>
            <a:chExt cx="1426464" cy="457200"/>
          </a:xfrm>
        </p:grpSpPr>
        <p:sp>
          <p:nvSpPr>
            <p:cNvPr id="9" name="Rounded Rectangle 8"/>
            <p:cNvSpPr/>
            <p:nvPr/>
          </p:nvSpPr>
          <p:spPr>
            <a:xfrm>
              <a:off x="658368" y="4864608"/>
              <a:ext cx="1261872" cy="457200"/>
            </a:xfrm>
            <a:prstGeom prst="roundRect">
              <a:avLst>
                <a:gd name="adj" fmla="val 20000"/>
              </a:avLst>
            </a:prstGeom>
            <a:solidFill>
              <a:srgbClr val="7F8B98"/>
            </a:solidFill>
            <a:ln>
              <a:noFill/>
            </a:ln>
          </p:spPr>
          <p:txBody>
            <a:bodyPr rtlCol="0" anchor="ctr" lIns="27432" tIns="27432" rIns="27432" bIns="27432" wrap="square">
              <a:noAutofit/>
            </a:bodyPr>
            <a:lstStyle/>
            <a:p>
              <a:pPr algn="ctr"/>
              <a:r>
                <a:rPr sz="1350" b="1" i="0" lang="vi-VN">
                  <a:solidFill>
                    <a:srgbClr val="FFFFFF"/>
                  </a:solidFill>
                  <a:latin typeface="Arial"/>
                  <a:ea typeface="Arial"/>
                  <a:cs typeface="Arial"/>
                </a:rPr>
                <a:t>Khung mang</a:t>
              </a:r>
            </a:p>
          </p:txBody>
        </p:sp>
        <p:cxnSp>
          <p:nvCxnSpPr>
            <p:cNvPr id="10" name="Connector 9"/>
            <p:cNvCxnSpPr/>
            <p:nvPr/>
          </p:nvCxnSpPr>
          <p:spPr>
            <a:xfrm>
              <a:off x="1947672" y="5093208"/>
              <a:ext cx="137160" cy="0"/>
            </a:xfrm>
            <a:prstGeom prst="line">
              <a:avLst/>
            </a:prstGeom>
            <a:ln w="25400">
              <a:solidFill>
                <a:srgbClr val="5B6B7B"/>
              </a:solidFill>
              <a:tailEnd type="triangle" w="med" len="med"/>
            </a:ln>
          </p:spPr>
        </p:cxnSp>
      </p:grpSp>
      <p:grpSp>
        <p:nvGrpSpPr>
          <p:cNvPr id="11" name="Group 10"/>
          <p:cNvGrpSpPr/>
          <p:nvPr/>
        </p:nvGrpSpPr>
        <p:grpSpPr>
          <a:xfrm>
            <a:off x="2112264" y="4864608"/>
            <a:ext cx="1490472" cy="457200"/>
            <a:chOff x="2112264" y="4864608"/>
            <a:chExt cx="1490472" cy="457200"/>
          </a:xfrm>
        </p:grpSpPr>
        <p:sp>
          <p:nvSpPr>
            <p:cNvPr id="12" name="Rounded Rectangle 11"/>
            <p:cNvSpPr/>
            <p:nvPr/>
          </p:nvSpPr>
          <p:spPr>
            <a:xfrm>
              <a:off x="2112264" y="4864608"/>
              <a:ext cx="1325880" cy="457200"/>
            </a:xfrm>
            <a:prstGeom prst="roundRect">
              <a:avLst>
                <a:gd name="adj" fmla="val 20000"/>
              </a:avLst>
            </a:prstGeom>
            <a:solidFill>
              <a:srgbClr val="1F5FAF"/>
            </a:solidFill>
            <a:ln>
              <a:noFill/>
            </a:ln>
          </p:spPr>
          <p:txBody>
            <a:bodyPr rtlCol="0" anchor="ctr" lIns="27432" tIns="27432" rIns="27432" bIns="27432" wrap="square">
              <a:noAutofit/>
            </a:bodyPr>
            <a:lstStyle/>
            <a:p>
              <a:pPr algn="ctr"/>
              <a:r>
                <a:rPr sz="1350" b="1" i="0" lang="vi-VN">
                  <a:solidFill>
                    <a:srgbClr val="FFFFFF"/>
                  </a:solidFill>
                  <a:latin typeface="Arial"/>
                  <a:ea typeface="Arial"/>
                  <a:cs typeface="Arial"/>
                </a:rPr>
                <a:t>Trục Yaw · </a:t>
              </a:r>
              <a:r>
                <a:rPr sz="1350" b="1" i="1" lang="vi-VN">
                  <a:solidFill>
                    <a:srgbClr val="FFFFFF"/>
                  </a:solidFill>
                  <a:latin typeface="Cambria"/>
                  <a:ea typeface="Cambria"/>
                  <a:cs typeface="Cambria"/>
                </a:rPr>
                <a:t>q</a:t>
              </a:r>
              <a:r>
                <a:rPr sz="1350" b="1" i="0" lang="vi-VN" baseline="-25000">
                  <a:solidFill>
                    <a:srgbClr val="FFFFFF"/>
                  </a:solidFill>
                  <a:latin typeface="Cambria"/>
                  <a:ea typeface="Cambria"/>
                  <a:cs typeface="Cambria"/>
                </a:rPr>
                <a:t>y</a:t>
              </a:r>
            </a:p>
          </p:txBody>
        </p:sp>
        <p:cxnSp>
          <p:nvCxnSpPr>
            <p:cNvPr id="13" name="Connector 12"/>
            <p:cNvCxnSpPr/>
            <p:nvPr/>
          </p:nvCxnSpPr>
          <p:spPr>
            <a:xfrm>
              <a:off x="3465576" y="5093208"/>
              <a:ext cx="137160" cy="0"/>
            </a:xfrm>
            <a:prstGeom prst="line">
              <a:avLst/>
            </a:prstGeom>
            <a:ln w="25400">
              <a:solidFill>
                <a:srgbClr val="5B6B7B"/>
              </a:solidFill>
              <a:tailEnd type="triangle" w="med" len="med"/>
            </a:ln>
          </p:spPr>
        </p:cxnSp>
      </p:grpSp>
      <p:grpSp>
        <p:nvGrpSpPr>
          <p:cNvPr id="14" name="Group 13"/>
          <p:cNvGrpSpPr/>
          <p:nvPr/>
        </p:nvGrpSpPr>
        <p:grpSpPr>
          <a:xfrm>
            <a:off x="3630168" y="4864608"/>
            <a:ext cx="1581912" cy="457200"/>
            <a:chOff x="3630168" y="4864608"/>
            <a:chExt cx="1581912" cy="457200"/>
          </a:xfrm>
        </p:grpSpPr>
        <p:sp>
          <p:nvSpPr>
            <p:cNvPr id="15" name="Rounded Rectangle 14"/>
            <p:cNvSpPr/>
            <p:nvPr/>
          </p:nvSpPr>
          <p:spPr>
            <a:xfrm>
              <a:off x="3630168" y="4864608"/>
              <a:ext cx="1417320" cy="457200"/>
            </a:xfrm>
            <a:prstGeom prst="roundRect">
              <a:avLst>
                <a:gd name="adj" fmla="val 20000"/>
              </a:avLst>
            </a:prstGeom>
            <a:solidFill>
              <a:srgbClr val="2E8B57"/>
            </a:solidFill>
            <a:ln>
              <a:noFill/>
            </a:ln>
          </p:spPr>
          <p:txBody>
            <a:bodyPr rtlCol="0" anchor="ctr" lIns="27432" tIns="27432" rIns="27432" bIns="27432" wrap="square">
              <a:noAutofit/>
            </a:bodyPr>
            <a:lstStyle/>
            <a:p>
              <a:pPr algn="ctr"/>
              <a:r>
                <a:rPr sz="1350" b="1" i="0" lang="vi-VN">
                  <a:solidFill>
                    <a:srgbClr val="FFFFFF"/>
                  </a:solidFill>
                  <a:latin typeface="Arial"/>
                  <a:ea typeface="Arial"/>
                  <a:cs typeface="Arial"/>
                </a:rPr>
                <a:t>Trục Pitch · </a:t>
              </a:r>
              <a:r>
                <a:rPr sz="1350" b="1" i="1" lang="vi-VN">
                  <a:solidFill>
                    <a:srgbClr val="FFFFFF"/>
                  </a:solidFill>
                  <a:latin typeface="Cambria"/>
                  <a:ea typeface="Cambria"/>
                  <a:cs typeface="Cambria"/>
                </a:rPr>
                <a:t>q</a:t>
              </a:r>
              <a:r>
                <a:rPr sz="1350" b="1" i="0" lang="vi-VN" baseline="-25000">
                  <a:solidFill>
                    <a:srgbClr val="FFFFFF"/>
                  </a:solidFill>
                  <a:latin typeface="Cambria"/>
                  <a:ea typeface="Cambria"/>
                  <a:cs typeface="Cambria"/>
                </a:rPr>
                <a:t>p</a:t>
              </a:r>
            </a:p>
          </p:txBody>
        </p:sp>
        <p:cxnSp>
          <p:nvCxnSpPr>
            <p:cNvPr id="16" name="Connector 15"/>
            <p:cNvCxnSpPr/>
            <p:nvPr/>
          </p:nvCxnSpPr>
          <p:spPr>
            <a:xfrm>
              <a:off x="5074920" y="5093208"/>
              <a:ext cx="137160" cy="0"/>
            </a:xfrm>
            <a:prstGeom prst="line">
              <a:avLst/>
            </a:prstGeom>
            <a:ln w="25400">
              <a:solidFill>
                <a:srgbClr val="5B6B7B"/>
              </a:solidFill>
              <a:tailEnd type="triangle" w="med" len="med"/>
            </a:ln>
          </p:spPr>
        </p:cxnSp>
      </p:grpSp>
      <p:grpSp>
        <p:nvGrpSpPr>
          <p:cNvPr id="17" name="Group 16"/>
          <p:cNvGrpSpPr/>
          <p:nvPr/>
        </p:nvGrpSpPr>
        <p:grpSpPr>
          <a:xfrm>
            <a:off x="5239512" y="4864608"/>
            <a:ext cx="914400" cy="457200"/>
            <a:chOff x="5239512" y="4864608"/>
            <a:chExt cx="914400" cy="457200"/>
          </a:xfrm>
        </p:grpSpPr>
        <p:sp>
          <p:nvSpPr>
            <p:cNvPr id="18" name="Rounded Rectangle 17"/>
            <p:cNvSpPr/>
            <p:nvPr/>
          </p:nvSpPr>
          <p:spPr>
            <a:xfrm>
              <a:off x="5239512" y="4864608"/>
              <a:ext cx="914400" cy="457200"/>
            </a:xfrm>
            <a:prstGeom prst="roundRect">
              <a:avLst>
                <a:gd name="adj" fmla="val 20000"/>
              </a:avLst>
            </a:prstGeom>
            <a:solidFill>
              <a:srgbClr val="0B2545"/>
            </a:solidFill>
            <a:ln>
              <a:noFill/>
            </a:ln>
          </p:spPr>
          <p:txBody>
            <a:bodyPr rtlCol="0" anchor="ctr" lIns="27432" tIns="27432" rIns="27432" bIns="27432" wrap="square">
              <a:noAutofit/>
            </a:bodyPr>
            <a:lstStyle/>
            <a:p>
              <a:pPr algn="ctr"/>
              <a:r>
                <a:rPr sz="1350" b="1" i="0" lang="vi-VN">
                  <a:solidFill>
                    <a:srgbClr val="FFFFFF"/>
                  </a:solidFill>
                  <a:latin typeface="Arial"/>
                  <a:ea typeface="Arial"/>
                  <a:cs typeface="Arial"/>
                </a:rPr>
                <a:t>Camera</a:t>
              </a:r>
            </a:p>
          </p:txBody>
        </p:sp>
      </p:grpSp>
      <p:sp>
        <p:nvSpPr>
          <p:cNvPr id="19" name="TextBox 18"/>
          <p:cNvSpPr txBox="1"/>
          <p:nvPr/>
        </p:nvSpPr>
        <p:spPr>
          <a:xfrm>
            <a:off x="658368" y="5413248"/>
            <a:ext cx="5486400" cy="274320"/>
          </a:xfrm>
          <a:prstGeom prst="rect">
            <a:avLst/>
          </a:prstGeom>
          <a:noFill/>
        </p:spPr>
        <p:txBody>
          <a:bodyPr wrap="square" lIns="0" tIns="0" rIns="0" bIns="0" anchor="t">
            <a:noAutofit/>
          </a:bodyPr>
          <a:lstStyle/>
          <a:p>
            <a:pPr algn="l"/>
            <a:r>
              <a:rPr sz="1250" b="0" i="1" lang="vi-VN">
                <a:solidFill>
                  <a:srgbClr val="5B6B7B"/>
                </a:solidFill>
                <a:latin typeface="Arial"/>
                <a:ea typeface="Arial"/>
                <a:cs typeface="Arial"/>
              </a:rPr>
              <a:t>Chuỗi động học nối tiếp: động cơ Pitch nằm trên khung Yaw</a:t>
            </a:r>
          </a:p>
        </p:txBody>
      </p:sp>
      <p:grpSp>
        <p:nvGrpSpPr>
          <p:cNvPr id="20" name="Group 19"/>
          <p:cNvGrpSpPr/>
          <p:nvPr/>
        </p:nvGrpSpPr>
        <p:grpSpPr>
          <a:xfrm>
            <a:off x="6446520" y="1261872"/>
            <a:ext cx="5257800" cy="1444752"/>
            <a:chOff x="6446520" y="1261872"/>
            <a:chExt cx="5257800" cy="1444752"/>
          </a:xfrm>
        </p:grpSpPr>
        <p:sp>
          <p:nvSpPr>
            <p:cNvPr id="21" name="Rounded Rectangle 20"/>
            <p:cNvSpPr/>
            <p:nvPr/>
          </p:nvSpPr>
          <p:spPr>
            <a:xfrm>
              <a:off x="6446520" y="1261872"/>
              <a:ext cx="5257800" cy="1444752"/>
            </a:xfrm>
            <a:prstGeom prst="roundRect">
              <a:avLst>
                <a:gd name="adj" fmla="val 6329"/>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2" name="Picture 21" descr="bullseye_0A5FA8.png"/>
            <p:cNvPicPr>
              <a:picLocks noChangeAspect="1"/>
            </p:cNvPicPr>
            <p:nvPr/>
          </p:nvPicPr>
          <p:blipFill>
            <a:blip r:embed="rId3"/>
            <a:stretch>
              <a:fillRect/>
            </a:stretch>
          </p:blipFill>
          <p:spPr>
            <a:xfrm>
              <a:off x="6629400" y="1362456"/>
              <a:ext cx="237744" cy="237744"/>
            </a:xfrm>
            <a:prstGeom prst="rect">
              <a:avLst/>
            </a:prstGeom>
          </p:spPr>
        </p:pic>
        <p:sp>
          <p:nvSpPr>
            <p:cNvPr id="23" name="TextBox 22"/>
            <p:cNvSpPr txBox="1"/>
            <p:nvPr/>
          </p:nvSpPr>
          <p:spPr>
            <a:xfrm>
              <a:off x="6958584" y="1335024"/>
              <a:ext cx="456285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NGUYÊN LÝ ỔN ĐỊNH</a:t>
              </a:r>
            </a:p>
          </p:txBody>
        </p:sp>
        <p:sp>
          <p:nvSpPr>
            <p:cNvPr id="24" name="TextBox 23"/>
            <p:cNvSpPr txBox="1"/>
            <p:nvPr/>
          </p:nvSpPr>
          <p:spPr>
            <a:xfrm>
              <a:off x="6647688" y="1664208"/>
              <a:ext cx="4855464" cy="1005840"/>
            </a:xfrm>
            <a:prstGeom prst="rect">
              <a:avLst/>
            </a:prstGeom>
            <a:noFill/>
          </p:spPr>
          <p:txBody>
            <a:bodyPr wrap="square" lIns="0" tIns="0" rIns="0" bIns="0" anchor="t">
              <a:noAutofit/>
            </a:bodyPr>
            <a:lstStyle/>
            <a:p>
              <a:pPr algn="l">
                <a:lnSpc>
                  <a:spcPct val="102000"/>
                </a:lnSpc>
              </a:pPr>
              <a:r>
                <a:rPr sz="1500" b="0" i="0" lang="vi-VN">
                  <a:solidFill>
                    <a:srgbClr val="1E2B3A"/>
                  </a:solidFill>
                  <a:latin typeface="Arial"/>
                  <a:ea typeface="Arial"/>
                  <a:cs typeface="Arial"/>
                </a:rPr>
                <a:t>Góc đường ngắm = góc khung mang + góc quay các khớp ⇒ Gimbal quay bù </a:t>
              </a:r>
              <a:r>
                <a:rPr sz="1500" b="1" i="0" lang="vi-VN">
                  <a:solidFill>
                    <a:srgbClr val="1E2B3A"/>
                  </a:solidFill>
                  <a:latin typeface="Arial"/>
                  <a:ea typeface="Arial"/>
                  <a:cs typeface="Arial"/>
                </a:rPr>
                <a:t>ngược</a:t>
              </a:r>
              <a:r>
                <a:rPr sz="1500" b="0" i="0" lang="vi-VN">
                  <a:solidFill>
                    <a:srgbClr val="1E2B3A"/>
                  </a:solidFill>
                  <a:latin typeface="Arial"/>
                  <a:ea typeface="Arial"/>
                  <a:cs typeface="Arial"/>
                </a:rPr>
                <a:t> chuyển động khung mang để đường ngắm đứng yên trong không gian</a:t>
              </a:r>
            </a:p>
          </p:txBody>
        </p:sp>
      </p:grpSp>
      <p:grpSp>
        <p:nvGrpSpPr>
          <p:cNvPr id="25" name="Group 24"/>
          <p:cNvGrpSpPr/>
          <p:nvPr/>
        </p:nvGrpSpPr>
        <p:grpSpPr>
          <a:xfrm>
            <a:off x="6446520" y="2834640"/>
            <a:ext cx="2555748" cy="1417320"/>
            <a:chOff x="6446520" y="2834640"/>
            <a:chExt cx="2555748" cy="1417320"/>
          </a:xfrm>
        </p:grpSpPr>
        <p:sp>
          <p:nvSpPr>
            <p:cNvPr id="26" name="Rounded Rectangle 25"/>
            <p:cNvSpPr/>
            <p:nvPr/>
          </p:nvSpPr>
          <p:spPr>
            <a:xfrm>
              <a:off x="6446520" y="2834640"/>
              <a:ext cx="2555748" cy="1417320"/>
            </a:xfrm>
            <a:prstGeom prst="roundRect">
              <a:avLst>
                <a:gd name="adj" fmla="val 645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27" name="Group 26"/>
            <p:cNvGrpSpPr/>
            <p:nvPr/>
          </p:nvGrpSpPr>
          <p:grpSpPr>
            <a:xfrm>
              <a:off x="6574536" y="2944368"/>
              <a:ext cx="512064" cy="512064"/>
              <a:chOff x="6574536" y="2944368"/>
              <a:chExt cx="512064" cy="512064"/>
            </a:xfrm>
          </p:grpSpPr>
          <p:sp>
            <p:nvSpPr>
              <p:cNvPr id="28" name="Oval 27"/>
              <p:cNvSpPr/>
              <p:nvPr/>
            </p:nvSpPr>
            <p:spPr>
              <a:xfrm>
                <a:off x="6574536" y="2944368"/>
                <a:ext cx="512064" cy="512064"/>
              </a:xfrm>
              <a:prstGeom prst="ellipse">
                <a:avLst/>
              </a:prstGeom>
              <a:solidFill>
                <a:srgbClr val="0A5FA8"/>
              </a:solidFill>
              <a:ln>
                <a:noFill/>
              </a:ln>
            </p:spPr>
            <p:txBody>
              <a:bodyPr rtlCol="0" anchor="ctr" lIns="54864" tIns="54864" rIns="54864" bIns="54864" wrap="square">
                <a:noAutofit/>
              </a:bodyPr>
              <a:lstStyle/>
              <a:p>
                <a:pPr algn="ctr"/>
              </a:p>
            </p:txBody>
          </p:sp>
          <p:pic>
            <p:nvPicPr>
              <p:cNvPr id="29" name="Picture 28" descr="video.png"/>
              <p:cNvPicPr>
                <a:picLocks noChangeAspect="1"/>
              </p:cNvPicPr>
              <p:nvPr/>
            </p:nvPicPr>
            <p:blipFill>
              <a:blip r:embed="rId4"/>
              <a:stretch>
                <a:fillRect/>
              </a:stretch>
            </p:blipFill>
            <p:spPr>
              <a:xfrm>
                <a:off x="6687190" y="3057022"/>
                <a:ext cx="286756" cy="286756"/>
              </a:xfrm>
              <a:prstGeom prst="rect">
                <a:avLst/>
              </a:prstGeom>
            </p:spPr>
          </p:pic>
        </p:grpSp>
        <p:sp>
          <p:nvSpPr>
            <p:cNvPr id="30" name="TextBox 29"/>
            <p:cNvSpPr txBox="1"/>
            <p:nvPr/>
          </p:nvSpPr>
          <p:spPr>
            <a:xfrm>
              <a:off x="7159752" y="2944368"/>
              <a:ext cx="1778508" cy="512064"/>
            </a:xfrm>
            <a:prstGeom prst="rect">
              <a:avLst/>
            </a:prstGeom>
            <a:noFill/>
          </p:spPr>
          <p:txBody>
            <a:bodyPr wrap="square" lIns="0" tIns="0" rIns="0" bIns="0" anchor="ctr">
              <a:noAutofit/>
            </a:bodyPr>
            <a:lstStyle/>
            <a:p>
              <a:pPr algn="l"/>
              <a:r>
                <a:rPr sz="1500" b="1" i="0" lang="vi-VN">
                  <a:solidFill>
                    <a:srgbClr val="0B2545"/>
                  </a:solidFill>
                  <a:latin typeface="Arial"/>
                  <a:ea typeface="Arial"/>
                  <a:cs typeface="Arial"/>
                </a:rPr>
                <a:t>IMU1 · trên camera</a:t>
              </a:r>
            </a:p>
          </p:txBody>
        </p:sp>
        <p:sp>
          <p:nvSpPr>
            <p:cNvPr id="31" name="TextBox 30"/>
            <p:cNvSpPr txBox="1"/>
            <p:nvPr/>
          </p:nvSpPr>
          <p:spPr>
            <a:xfrm>
              <a:off x="6629400" y="3529584"/>
              <a:ext cx="2235708" cy="685800"/>
            </a:xfrm>
            <a:prstGeom prst="rect">
              <a:avLst/>
            </a:prstGeom>
            <a:noFill/>
          </p:spPr>
          <p:txBody>
            <a:bodyPr wrap="square" lIns="0" tIns="0" rIns="0" bIns="0" anchor="t">
              <a:noAutofit/>
            </a:bodyPr>
            <a:lstStyle/>
            <a:p>
              <a:pPr algn="l">
                <a:lnSpc>
                  <a:spcPct val="100000"/>
                </a:lnSpc>
              </a:pPr>
              <a:r>
                <a:rPr sz="1400" b="0" i="0" lang="vi-VN">
                  <a:solidFill>
                    <a:srgbClr val="1E2B3A"/>
                  </a:solidFill>
                  <a:latin typeface="Arial"/>
                  <a:ea typeface="Arial"/>
                  <a:cs typeface="Arial"/>
                </a:rPr>
                <a:t>Đo </a:t>
              </a:r>
              <a:r>
                <a:rPr sz="1400" b="0" i="1" lang="vi-VN">
                  <a:solidFill>
                    <a:srgbClr val="1E2B3A"/>
                  </a:solidFill>
                  <a:latin typeface="Cambria"/>
                  <a:ea typeface="Cambria"/>
                  <a:cs typeface="Cambria"/>
                </a:rPr>
                <a:t>θ</a:t>
              </a:r>
              <a:r>
                <a:rPr sz="1400" b="0" i="0" lang="vi-VN">
                  <a:solidFill>
                    <a:srgbClr val="1E2B3A"/>
                  </a:solidFill>
                  <a:latin typeface="Arial"/>
                  <a:ea typeface="Arial"/>
                  <a:cs typeface="Arial"/>
                </a:rPr>
                <a:t>, </a:t>
              </a:r>
              <a:r>
                <a:rPr sz="1400" b="0" i="1" lang="vi-VN">
                  <a:solidFill>
                    <a:srgbClr val="1E2B3A"/>
                  </a:solidFill>
                  <a:latin typeface="Cambria"/>
                  <a:ea typeface="Cambria"/>
                  <a:cs typeface="Cambria"/>
                </a:rPr>
                <a:t>ω</a:t>
              </a:r>
              <a:r>
                <a:rPr sz="1400" b="0" i="0" lang="vi-VN">
                  <a:solidFill>
                    <a:srgbClr val="1E2B3A"/>
                  </a:solidFill>
                  <a:latin typeface="Arial"/>
                  <a:ea typeface="Arial"/>
                  <a:cs typeface="Arial"/>
                </a:rPr>
                <a:t> của đường ngắm → tín hiệu </a:t>
              </a:r>
              <a:r>
                <a:rPr sz="1400" b="1" i="0" lang="vi-VN">
                  <a:solidFill>
                    <a:srgbClr val="1E2B3A"/>
                  </a:solidFill>
                  <a:latin typeface="Arial"/>
                  <a:ea typeface="Arial"/>
                  <a:cs typeface="Arial"/>
                </a:rPr>
                <a:t>phản hồi</a:t>
              </a:r>
            </a:p>
          </p:txBody>
        </p:sp>
      </p:grpSp>
      <p:grpSp>
        <p:nvGrpSpPr>
          <p:cNvPr id="32" name="Group 31"/>
          <p:cNvGrpSpPr/>
          <p:nvPr/>
        </p:nvGrpSpPr>
        <p:grpSpPr>
          <a:xfrm>
            <a:off x="9148572" y="2834640"/>
            <a:ext cx="2555748" cy="1417320"/>
            <a:chOff x="9148572" y="2834640"/>
            <a:chExt cx="2555748" cy="1417320"/>
          </a:xfrm>
        </p:grpSpPr>
        <p:sp>
          <p:nvSpPr>
            <p:cNvPr id="33" name="Rounded Rectangle 32"/>
            <p:cNvSpPr/>
            <p:nvPr/>
          </p:nvSpPr>
          <p:spPr>
            <a:xfrm>
              <a:off x="9148572" y="2834640"/>
              <a:ext cx="2555748" cy="1417320"/>
            </a:xfrm>
            <a:prstGeom prst="roundRect">
              <a:avLst>
                <a:gd name="adj" fmla="val 645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34" name="Group 33"/>
            <p:cNvGrpSpPr/>
            <p:nvPr/>
          </p:nvGrpSpPr>
          <p:grpSpPr>
            <a:xfrm>
              <a:off x="9276588" y="2944368"/>
              <a:ext cx="512064" cy="512064"/>
              <a:chOff x="9276588" y="2944368"/>
              <a:chExt cx="512064" cy="512064"/>
            </a:xfrm>
          </p:grpSpPr>
          <p:sp>
            <p:nvSpPr>
              <p:cNvPr id="35" name="Oval 34"/>
              <p:cNvSpPr/>
              <p:nvPr/>
            </p:nvSpPr>
            <p:spPr>
              <a:xfrm>
                <a:off x="9276588" y="2944368"/>
                <a:ext cx="512064" cy="512064"/>
              </a:xfrm>
              <a:prstGeom prst="ellipse">
                <a:avLst/>
              </a:prstGeom>
              <a:solidFill>
                <a:srgbClr val="0B2545"/>
              </a:solidFill>
              <a:ln>
                <a:noFill/>
              </a:ln>
            </p:spPr>
            <p:txBody>
              <a:bodyPr rtlCol="0" anchor="ctr" lIns="54864" tIns="54864" rIns="54864" bIns="54864" wrap="square">
                <a:noAutofit/>
              </a:bodyPr>
              <a:lstStyle/>
              <a:p>
                <a:pPr algn="ctr"/>
              </a:p>
            </p:txBody>
          </p:sp>
          <p:pic>
            <p:nvPicPr>
              <p:cNvPr id="36" name="Picture 35" descr="compass.png"/>
              <p:cNvPicPr>
                <a:picLocks noChangeAspect="1"/>
              </p:cNvPicPr>
              <p:nvPr/>
            </p:nvPicPr>
            <p:blipFill>
              <a:blip r:embed="rId5"/>
              <a:stretch>
                <a:fillRect/>
              </a:stretch>
            </p:blipFill>
            <p:spPr>
              <a:xfrm>
                <a:off x="9389242" y="3057022"/>
                <a:ext cx="286756" cy="286756"/>
              </a:xfrm>
              <a:prstGeom prst="rect">
                <a:avLst/>
              </a:prstGeom>
            </p:spPr>
          </p:pic>
        </p:grpSp>
        <p:sp>
          <p:nvSpPr>
            <p:cNvPr id="37" name="TextBox 36"/>
            <p:cNvSpPr txBox="1"/>
            <p:nvPr/>
          </p:nvSpPr>
          <p:spPr>
            <a:xfrm>
              <a:off x="9861804" y="2944368"/>
              <a:ext cx="1778508" cy="512064"/>
            </a:xfrm>
            <a:prstGeom prst="rect">
              <a:avLst/>
            </a:prstGeom>
            <a:noFill/>
          </p:spPr>
          <p:txBody>
            <a:bodyPr wrap="square" lIns="0" tIns="0" rIns="0" bIns="0" anchor="ctr">
              <a:noAutofit/>
            </a:bodyPr>
            <a:lstStyle/>
            <a:p>
              <a:pPr algn="l"/>
              <a:r>
                <a:rPr sz="1500" b="1" i="0" lang="vi-VN">
                  <a:solidFill>
                    <a:srgbClr val="0B2545"/>
                  </a:solidFill>
                  <a:latin typeface="Arial"/>
                  <a:ea typeface="Arial"/>
                  <a:cs typeface="Arial"/>
                </a:rPr>
                <a:t>IMU2 · trên khung mang</a:t>
              </a:r>
            </a:p>
          </p:txBody>
        </p:sp>
        <p:sp>
          <p:nvSpPr>
            <p:cNvPr id="38" name="TextBox 37"/>
            <p:cNvSpPr txBox="1"/>
            <p:nvPr/>
          </p:nvSpPr>
          <p:spPr>
            <a:xfrm>
              <a:off x="9331452" y="3529584"/>
              <a:ext cx="2235708" cy="685800"/>
            </a:xfrm>
            <a:prstGeom prst="rect">
              <a:avLst/>
            </a:prstGeom>
            <a:noFill/>
          </p:spPr>
          <p:txBody>
            <a:bodyPr wrap="square" lIns="0" tIns="0" rIns="0" bIns="0" anchor="t">
              <a:noAutofit/>
            </a:bodyPr>
            <a:lstStyle/>
            <a:p>
              <a:pPr algn="l">
                <a:lnSpc>
                  <a:spcPct val="100000"/>
                </a:lnSpc>
              </a:pPr>
              <a:r>
                <a:rPr sz="1400" b="0" i="0" lang="vi-VN">
                  <a:solidFill>
                    <a:srgbClr val="1E2B3A"/>
                  </a:solidFill>
                  <a:latin typeface="Arial"/>
                  <a:ea typeface="Arial"/>
                  <a:cs typeface="Arial"/>
                </a:rPr>
                <a:t>Đo </a:t>
              </a:r>
              <a:r>
                <a:rPr sz="1400" b="0" i="1" lang="vi-VN">
                  <a:solidFill>
                    <a:srgbClr val="1E2B3A"/>
                  </a:solidFill>
                  <a:latin typeface="Cambria"/>
                  <a:ea typeface="Cambria"/>
                  <a:cs typeface="Cambria"/>
                </a:rPr>
                <a:t>ω</a:t>
              </a:r>
              <a:r>
                <a:rPr sz="1400" b="0" i="0" lang="vi-VN" baseline="-25000">
                  <a:solidFill>
                    <a:srgbClr val="1E2B3A"/>
                  </a:solidFill>
                  <a:latin typeface="Cambria"/>
                  <a:ea typeface="Cambria"/>
                  <a:cs typeface="Cambria"/>
                </a:rPr>
                <a:t>b</a:t>
              </a:r>
              <a:r>
                <a:rPr sz="1400" b="0" i="0" lang="vi-VN">
                  <a:solidFill>
                    <a:srgbClr val="1E2B3A"/>
                  </a:solidFill>
                  <a:latin typeface="Arial"/>
                  <a:ea typeface="Arial"/>
                  <a:cs typeface="Arial"/>
                </a:rPr>
                <a:t>, </a:t>
              </a:r>
              <a:r>
                <a:rPr sz="1400" b="0" i="1" lang="vi-VN">
                  <a:solidFill>
                    <a:srgbClr val="1E2B3A"/>
                  </a:solidFill>
                  <a:latin typeface="Cambria"/>
                  <a:ea typeface="Cambria"/>
                  <a:cs typeface="Cambria"/>
                </a:rPr>
                <a:t>α</a:t>
              </a:r>
              <a:r>
                <a:rPr sz="1400" b="0" i="0" lang="vi-VN" baseline="-25000">
                  <a:solidFill>
                    <a:srgbClr val="1E2B3A"/>
                  </a:solidFill>
                  <a:latin typeface="Cambria"/>
                  <a:ea typeface="Cambria"/>
                  <a:cs typeface="Cambria"/>
                </a:rPr>
                <a:t>b</a:t>
              </a:r>
              <a:r>
                <a:rPr sz="1400" b="0" i="0" lang="vi-VN">
                  <a:solidFill>
                    <a:srgbClr val="1E2B3A"/>
                  </a:solidFill>
                  <a:latin typeface="Arial"/>
                  <a:ea typeface="Arial"/>
                  <a:cs typeface="Arial"/>
                </a:rPr>
                <a:t> của khung → </a:t>
              </a:r>
              <a:r>
                <a:rPr sz="1400" b="1" i="0" lang="vi-VN">
                  <a:solidFill>
                    <a:srgbClr val="1E2B3A"/>
                  </a:solidFill>
                  <a:latin typeface="Arial"/>
                  <a:ea typeface="Arial"/>
                  <a:cs typeface="Arial"/>
                </a:rPr>
                <a:t>bù trước</a:t>
              </a:r>
            </a:p>
          </p:txBody>
        </p:sp>
      </p:grpSp>
      <p:grpSp>
        <p:nvGrpSpPr>
          <p:cNvPr id="39" name="Group 38"/>
          <p:cNvGrpSpPr/>
          <p:nvPr/>
        </p:nvGrpSpPr>
        <p:grpSpPr>
          <a:xfrm>
            <a:off x="6446520" y="4389120"/>
            <a:ext cx="5257800" cy="1664208"/>
            <a:chOff x="6446520" y="4389120"/>
            <a:chExt cx="5257800" cy="1664208"/>
          </a:xfrm>
        </p:grpSpPr>
        <p:sp>
          <p:nvSpPr>
            <p:cNvPr id="40" name="Rounded Rectangle 39"/>
            <p:cNvSpPr/>
            <p:nvPr/>
          </p:nvSpPr>
          <p:spPr>
            <a:xfrm>
              <a:off x="6446520" y="4389120"/>
              <a:ext cx="5257800" cy="1664208"/>
            </a:xfrm>
            <a:prstGeom prst="roundRect">
              <a:avLst>
                <a:gd name="adj" fmla="val 5494"/>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41" name="Picture 40" descr="warning_C62828.png"/>
            <p:cNvPicPr>
              <a:picLocks noChangeAspect="1"/>
            </p:cNvPicPr>
            <p:nvPr/>
          </p:nvPicPr>
          <p:blipFill>
            <a:blip r:embed="rId6"/>
            <a:stretch>
              <a:fillRect/>
            </a:stretch>
          </p:blipFill>
          <p:spPr>
            <a:xfrm>
              <a:off x="6629400" y="4489704"/>
              <a:ext cx="237744" cy="237744"/>
            </a:xfrm>
            <a:prstGeom prst="rect">
              <a:avLst/>
            </a:prstGeom>
          </p:spPr>
        </p:pic>
        <p:sp>
          <p:nvSpPr>
            <p:cNvPr id="42" name="TextBox 41"/>
            <p:cNvSpPr txBox="1"/>
            <p:nvPr/>
          </p:nvSpPr>
          <p:spPr>
            <a:xfrm>
              <a:off x="6958584" y="4462272"/>
              <a:ext cx="456285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TÌNH HUỐNG KHÓ</a:t>
              </a:r>
            </a:p>
          </p:txBody>
        </p:sp>
        <p:sp>
          <p:nvSpPr>
            <p:cNvPr id="43" name="TextBox 42"/>
            <p:cNvSpPr txBox="1"/>
            <p:nvPr/>
          </p:nvSpPr>
          <p:spPr>
            <a:xfrm>
              <a:off x="6647688" y="4791456"/>
              <a:ext cx="4855464" cy="1234440"/>
            </a:xfrm>
            <a:prstGeom prst="rect">
              <a:avLst/>
            </a:prstGeom>
            <a:noFill/>
          </p:spPr>
          <p:txBody>
            <a:bodyPr wrap="square" lIns="0" tIns="0" rIns="0" bIns="0" anchor="t">
              <a:noAutofit/>
            </a:bodyPr>
            <a:lstStyle/>
            <a:p>
              <a:pPr algn="l" marL="201168" indent="-201168">
                <a:lnSpc>
                  <a:spcPct val="100000"/>
                </a:lnSpc>
                <a:spcAft>
                  <a:spcPts val="200"/>
                </a:spcAft>
                <a:buClr>
                  <a:srgbClr val="C62828"/>
                </a:buClr>
                <a:buSzPct val="100000"/>
                <a:buFont typeface="Arial"/>
                <a:buChar char="•"/>
              </a:pPr>
              <a:r>
                <a:rPr sz="1450" b="0" i="0" lang="vi-VN">
                  <a:solidFill>
                    <a:srgbClr val="1E2B3A"/>
                  </a:solidFill>
                  <a:latin typeface="Arial"/>
                  <a:ea typeface="Arial"/>
                  <a:cs typeface="Arial"/>
                </a:rPr>
                <a:t>Khung quay nhanh (giá thử đến ≈ 240 °/s), đảo chiều, dừng đột ngột</a:t>
              </a:r>
            </a:p>
            <a:p>
              <a:pPr algn="l" marL="201168" indent="-201168">
                <a:lnSpc>
                  <a:spcPct val="100000"/>
                </a:lnSpc>
                <a:spcAft>
                  <a:spcPts val="200"/>
                </a:spcAft>
                <a:buClr>
                  <a:srgbClr val="C62828"/>
                </a:buClr>
                <a:buSzPct val="100000"/>
                <a:buFont typeface="Arial"/>
                <a:buChar char="•"/>
              </a:pPr>
              <a:r>
                <a:rPr sz="1450" b="0" i="0" lang="vi-VN">
                  <a:solidFill>
                    <a:srgbClr val="1E2B3A"/>
                  </a:solidFill>
                  <a:latin typeface="Arial"/>
                  <a:ea typeface="Arial"/>
                  <a:cs typeface="Arial"/>
                </a:rPr>
                <a:t>Trễ ≈ 12 ms trên đường tín hiệu; bus RS485 dùng chung</a:t>
              </a:r>
            </a:p>
            <a:p>
              <a:pPr algn="l" marL="201168" indent="-201168">
                <a:lnSpc>
                  <a:spcPct val="100000"/>
                </a:lnSpc>
                <a:spcAft>
                  <a:spcPts val="200"/>
                </a:spcAft>
                <a:buClr>
                  <a:srgbClr val="C62828"/>
                </a:buClr>
                <a:buSzPct val="100000"/>
                <a:buFont typeface="Arial"/>
                <a:buChar char="•"/>
              </a:pPr>
              <a:r>
                <a:rPr sz="1450" b="0" i="0" lang="vi-VN">
                  <a:solidFill>
                    <a:srgbClr val="1E2B3A"/>
                  </a:solidFill>
                  <a:latin typeface="Arial"/>
                  <a:ea typeface="Arial"/>
                  <a:cs typeface="Arial"/>
                </a:rPr>
                <a:t>Yêu cầu: sai lệch nhỏ trên </a:t>
              </a:r>
              <a:r>
                <a:rPr sz="1450" b="1" i="0" lang="vi-VN">
                  <a:solidFill>
                    <a:srgbClr val="1E2B3A"/>
                  </a:solidFill>
                  <a:latin typeface="Arial"/>
                  <a:ea typeface="Arial"/>
                  <a:cs typeface="Arial"/>
                </a:rPr>
                <a:t>cả Yaw và Pitch</a:t>
              </a:r>
            </a:p>
          </p:txBody>
        </p:sp>
      </p:grpSp>
      <p:sp>
        <p:nvSpPr>
          <p:cNvPr id="60"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5</a:t>
            </a:fl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350"/>
                                        <p:tgtEl>
                                          <p:spTgt spid="8"/>
                                        </p:tgtEl>
                                      </p:cBhvr>
                                    </p:animEffect>
                                  </p:childTnLst>
                                </p:cTn>
                              </p:par>
                            </p:childTnLst>
                          </p:cTn>
                        </p:par>
                        <p:par>
                          <p:cTn id="8" fill="hold">
                            <p:stCondLst>
                              <p:cond delay="35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350"/>
                                        <p:tgtEl>
                                          <p:spTgt spid="11"/>
                                        </p:tgtEl>
                                      </p:cBhvr>
                                    </p:animEffect>
                                  </p:childTnLst>
                                </p:cTn>
                              </p:par>
                            </p:childTnLst>
                          </p:cTn>
                        </p:par>
                        <p:par>
                          <p:cTn id="12" fill="hold">
                            <p:stCondLst>
                              <p:cond delay="7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350"/>
                                        <p:tgtEl>
                                          <p:spTgt spid="14"/>
                                        </p:tgtEl>
                                      </p:cBhvr>
                                    </p:animEffect>
                                  </p:childTnLst>
                                </p:cTn>
                              </p:par>
                            </p:childTnLst>
                          </p:cTn>
                        </p:par>
                        <p:par>
                          <p:cTn id="16" fill="hold">
                            <p:stCondLst>
                              <p:cond delay="105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350"/>
                                        <p:tgtEl>
                                          <p:spTgt spid="17"/>
                                        </p:tgtEl>
                                      </p:cBhvr>
                                    </p:animEffect>
                                  </p:childTnLst>
                                </p:cTn>
                              </p:par>
                            </p:childTnLst>
                          </p:cTn>
                        </p:par>
                        <p:par>
                          <p:cTn id="20" fill="hold">
                            <p:stCondLst>
                              <p:cond delay="1400"/>
                            </p:stCondLst>
                            <p:childTnLst>
                              <p:par>
                                <p:cTn id="21" presetID="10"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anim calcmode="lin" valueType="num">
                                      <p:cBhvr>
                                        <p:cTn id="29" dur="500" fill="hold"/>
                                        <p:tgtEl>
                                          <p:spTgt spid="20"/>
                                        </p:tgtEl>
                                        <p:attrNameLst>
                                          <p:attrName>ppt_x</p:attrName>
                                        </p:attrNameLst>
                                      </p:cBhvr>
                                      <p:tavLst>
                                        <p:tav tm="0">
                                          <p:val>
                                            <p:strVal val="#ppt_x"/>
                                          </p:val>
                                        </p:tav>
                                        <p:tav tm="100000">
                                          <p:val>
                                            <p:strVal val="#ppt_x"/>
                                          </p:val>
                                        </p:tav>
                                      </p:tavLst>
                                    </p:anim>
                                    <p:anim calcmode="lin" valueType="num">
                                      <p:cBhvr>
                                        <p:cTn id="30" dur="500" fill="hold"/>
                                        <p:tgtEl>
                                          <p:spTgt spid="20"/>
                                        </p:tgtEl>
                                        <p:attrNameLst>
                                          <p:attrName>ppt_y</p:attrName>
                                        </p:attrNameLst>
                                      </p:cBhvr>
                                      <p:tavLst>
                                        <p:tav tm="0">
                                          <p:val>
                                            <p:strVal val="#ppt_y+.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anim calcmode="lin" valueType="num">
                                      <p:cBhvr>
                                        <p:cTn id="36" dur="450" fill="hold"/>
                                        <p:tgtEl>
                                          <p:spTgt spid="25"/>
                                        </p:tgtEl>
                                        <p:attrNameLst>
                                          <p:attrName>ppt_x</p:attrName>
                                        </p:attrNameLst>
                                      </p:cBhvr>
                                      <p:tavLst>
                                        <p:tav tm="0">
                                          <p:val>
                                            <p:strVal val="#ppt_x"/>
                                          </p:val>
                                        </p:tav>
                                        <p:tav tm="100000">
                                          <p:val>
                                            <p:strVal val="#ppt_x"/>
                                          </p:val>
                                        </p:tav>
                                      </p:tavLst>
                                    </p:anim>
                                    <p:anim calcmode="lin" valueType="num">
                                      <p:cBhvr>
                                        <p:cTn id="37" dur="450" fill="hold"/>
                                        <p:tgtEl>
                                          <p:spTgt spid="25"/>
                                        </p:tgtEl>
                                        <p:attrNameLst>
                                          <p:attrName>ppt_y</p:attrName>
                                        </p:attrNameLst>
                                      </p:cBhvr>
                                      <p:tavLst>
                                        <p:tav tm="0">
                                          <p:val>
                                            <p:strVal val="#ppt_y+.05"/>
                                          </p:val>
                                        </p:tav>
                                        <p:tav tm="100000">
                                          <p:val>
                                            <p:strVal val="#ppt_y"/>
                                          </p:val>
                                        </p:tav>
                                      </p:tavLst>
                                    </p:anim>
                                  </p:childTnLst>
                                </p:cTn>
                              </p:par>
                              <p:par>
                                <p:cTn id="38" presetID="53" presetClass="entr" presetSubtype="16" fill="hold" grpId="0" nodeType="withEffect">
                                  <p:stCondLst>
                                    <p:cond delay="15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400"/>
                                        <p:tgtEl>
                                          <p:spTgt spid="6"/>
                                        </p:tgtEl>
                                      </p:cBhvr>
                                    </p:animEffect>
                                    <p:anim calcmode="lin" valueType="num">
                                      <p:cBhvr>
                                        <p:cTn id="41" dur="400" fill="hold"/>
                                        <p:tgtEl>
                                          <p:spTgt spid="6"/>
                                        </p:tgtEl>
                                        <p:attrNameLst>
                                          <p:attrName>ppt_w</p:attrName>
                                        </p:attrNameLst>
                                      </p:cBhvr>
                                      <p:tavLst>
                                        <p:tav tm="0">
                                          <p:val>
                                            <p:strVal val="0"/>
                                          </p:val>
                                        </p:tav>
                                        <p:tav tm="100000">
                                          <p:val>
                                            <p:strVal val="#ppt_w"/>
                                          </p:val>
                                        </p:tav>
                                      </p:tavLst>
                                    </p:anim>
                                    <p:anim calcmode="lin" valueType="num">
                                      <p:cBhvr>
                                        <p:cTn id="42" dur="400" fill="hold"/>
                                        <p:tgtEl>
                                          <p:spTgt spid="6"/>
                                        </p:tgtEl>
                                        <p:attrNameLst>
                                          <p:attrName>ppt_h</p:attrName>
                                        </p:attrNameLst>
                                      </p:cBhvr>
                                      <p:tavLst>
                                        <p:tav tm="0">
                                          <p:val>
                                            <p:strVal val="0"/>
                                          </p:val>
                                        </p:tav>
                                        <p:tav tm="100000">
                                          <p:val>
                                            <p:strVal val="#ppt_h"/>
                                          </p:val>
                                        </p:tav>
                                      </p:tavLst>
                                    </p:anim>
                                  </p:childTnLst>
                                </p:cTn>
                              </p:par>
                              <p:par>
                                <p:cTn id="43" presetID="42" presetClass="entr" presetSubtype="0" fill="hold" grpId="0" nodeType="withEffect">
                                  <p:stCondLst>
                                    <p:cond delay="40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450"/>
                                        <p:tgtEl>
                                          <p:spTgt spid="32"/>
                                        </p:tgtEl>
                                      </p:cBhvr>
                                    </p:animEffect>
                                    <p:anim calcmode="lin" valueType="num">
                                      <p:cBhvr>
                                        <p:cTn id="46" dur="450" fill="hold"/>
                                        <p:tgtEl>
                                          <p:spTgt spid="32"/>
                                        </p:tgtEl>
                                        <p:attrNameLst>
                                          <p:attrName>ppt_x</p:attrName>
                                        </p:attrNameLst>
                                      </p:cBhvr>
                                      <p:tavLst>
                                        <p:tav tm="0">
                                          <p:val>
                                            <p:strVal val="#ppt_x"/>
                                          </p:val>
                                        </p:tav>
                                        <p:tav tm="100000">
                                          <p:val>
                                            <p:strVal val="#ppt_x"/>
                                          </p:val>
                                        </p:tav>
                                      </p:tavLst>
                                    </p:anim>
                                    <p:anim calcmode="lin" valueType="num">
                                      <p:cBhvr>
                                        <p:cTn id="47" dur="450" fill="hold"/>
                                        <p:tgtEl>
                                          <p:spTgt spid="32"/>
                                        </p:tgtEl>
                                        <p:attrNameLst>
                                          <p:attrName>ppt_y</p:attrName>
                                        </p:attrNameLst>
                                      </p:cBhvr>
                                      <p:tavLst>
                                        <p:tav tm="0">
                                          <p:val>
                                            <p:strVal val="#ppt_y+.05"/>
                                          </p:val>
                                        </p:tav>
                                        <p:tav tm="100000">
                                          <p:val>
                                            <p:strVal val="#ppt_y"/>
                                          </p:val>
                                        </p:tav>
                                      </p:tavLst>
                                    </p:anim>
                                  </p:childTnLst>
                                </p:cTn>
                              </p:par>
                              <p:par>
                                <p:cTn id="48" presetID="53" presetClass="entr" presetSubtype="16" fill="hold" grpId="0" nodeType="withEffect">
                                  <p:stCondLst>
                                    <p:cond delay="55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400"/>
                                        <p:tgtEl>
                                          <p:spTgt spid="7"/>
                                        </p:tgtEl>
                                      </p:cBhvr>
                                    </p:animEffect>
                                    <p:anim calcmode="lin" valueType="num">
                                      <p:cBhvr>
                                        <p:cTn id="51" dur="400" fill="hold"/>
                                        <p:tgtEl>
                                          <p:spTgt spid="7"/>
                                        </p:tgtEl>
                                        <p:attrNameLst>
                                          <p:attrName>ppt_w</p:attrName>
                                        </p:attrNameLst>
                                      </p:cBhvr>
                                      <p:tavLst>
                                        <p:tav tm="0">
                                          <p:val>
                                            <p:strVal val="0"/>
                                          </p:val>
                                        </p:tav>
                                        <p:tav tm="100000">
                                          <p:val>
                                            <p:strVal val="#ppt_w"/>
                                          </p:val>
                                        </p:tav>
                                      </p:tavLst>
                                    </p:anim>
                                    <p:anim calcmode="lin" valueType="num">
                                      <p:cBhvr>
                                        <p:cTn id="52" dur="400" fill="hold"/>
                                        <p:tgtEl>
                                          <p:spTgt spid="7"/>
                                        </p:tgtEl>
                                        <p:attrNameLst>
                                          <p:attrName>ppt_h</p:attrName>
                                        </p:attrNameLst>
                                      </p:cBhvr>
                                      <p:tavLst>
                                        <p:tav tm="0">
                                          <p:val>
                                            <p:str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500"/>
                                        <p:tgtEl>
                                          <p:spTgt spid="39"/>
                                        </p:tgtEl>
                                      </p:cBhvr>
                                    </p:animEffect>
                                    <p:anim calcmode="lin" valueType="num">
                                      <p:cBhvr>
                                        <p:cTn id="58" dur="500" fill="hold"/>
                                        <p:tgtEl>
                                          <p:spTgt spid="39"/>
                                        </p:tgtEl>
                                        <p:attrNameLst>
                                          <p:attrName>ppt_x</p:attrName>
                                        </p:attrNameLst>
                                      </p:cBhvr>
                                      <p:tavLst>
                                        <p:tav tm="0">
                                          <p:val>
                                            <p:strVal val="#ppt_x"/>
                                          </p:val>
                                        </p:tav>
                                        <p:tav tm="100000">
                                          <p:val>
                                            <p:strVal val="#ppt_x"/>
                                          </p:val>
                                        </p:tav>
                                      </p:tavLst>
                                    </p:anim>
                                    <p:anim calcmode="lin" valueType="num">
                                      <p:cBhvr>
                                        <p:cTn id="59" dur="500" fill="hold"/>
                                        <p:tgtEl>
                                          <p:spTgt spid="39"/>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P spid="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1 · BÀI TOÁN VÀ YÊU CẦU</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Nguyên nhân sai lệch: phản hồi đến muộn, trễ chặn việc tăng hệ số</a:t>
            </a:r>
          </a:p>
        </p:txBody>
      </p:sp>
      <p:grpSp>
        <p:nvGrpSpPr>
          <p:cNvPr id="4" name="Group 3"/>
          <p:cNvGrpSpPr/>
          <p:nvPr/>
        </p:nvGrpSpPr>
        <p:grpSpPr>
          <a:xfrm>
            <a:off x="502920" y="1261872"/>
            <a:ext cx="3611880" cy="2395728"/>
            <a:chOff x="502920" y="1261872"/>
            <a:chExt cx="3611880" cy="2395728"/>
          </a:xfrm>
        </p:grpSpPr>
        <p:sp>
          <p:nvSpPr>
            <p:cNvPr id="5" name="Rounded Rectangle 4"/>
            <p:cNvSpPr/>
            <p:nvPr/>
          </p:nvSpPr>
          <p:spPr>
            <a:xfrm>
              <a:off x="502920" y="1261872"/>
              <a:ext cx="3611880" cy="2395728"/>
            </a:xfrm>
            <a:prstGeom prst="roundRect">
              <a:avLst>
                <a:gd name="adj" fmla="val 38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6" name="Picture 5" descr="warning_C62828.png"/>
            <p:cNvPicPr>
              <a:picLocks noChangeAspect="1"/>
            </p:cNvPicPr>
            <p:nvPr/>
          </p:nvPicPr>
          <p:blipFill>
            <a:blip r:embed="rId2"/>
            <a:stretch>
              <a:fillRect/>
            </a:stretch>
          </p:blipFill>
          <p:spPr>
            <a:xfrm>
              <a:off x="667512" y="1353312"/>
              <a:ext cx="237744" cy="237744"/>
            </a:xfrm>
            <a:prstGeom prst="rect">
              <a:avLst/>
            </a:prstGeom>
          </p:spPr>
        </p:pic>
        <p:sp>
          <p:nvSpPr>
            <p:cNvPr id="7" name="TextBox 6"/>
            <p:cNvSpPr txBox="1"/>
            <p:nvPr/>
          </p:nvSpPr>
          <p:spPr>
            <a:xfrm>
              <a:off x="996696" y="1325880"/>
              <a:ext cx="305409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CHỈ CÓ PHẢN HỒI (1.28)</a:t>
              </a:r>
            </a:p>
          </p:txBody>
        </p:sp>
        <p:sp>
          <p:nvSpPr>
            <p:cNvPr id="8" name="TextBox 7"/>
            <p:cNvSpPr txBox="1"/>
            <p:nvPr/>
          </p:nvSpPr>
          <p:spPr>
            <a:xfrm>
              <a:off x="594360" y="1700784"/>
              <a:ext cx="3429000" cy="640080"/>
            </a:xfrm>
            <a:prstGeom prst="rect">
              <a:avLst/>
            </a:prstGeom>
            <a:noFill/>
          </p:spPr>
          <p:txBody>
            <a:bodyPr wrap="square" lIns="0" tIns="0" rIns="0" bIns="0" anchor="ctr">
              <a:noAutofit/>
            </a:bodyPr>
            <a:lstStyle/>
            <a:p>
              <a:pPr algn="ctr"/>
              <a:r>
                <a:rPr sz="2700" b="0" i="1" lang="vi-VN">
                  <a:solidFill>
                    <a:srgbClr val="0B2545"/>
                  </a:solidFill>
                  <a:latin typeface="Cambria"/>
                  <a:ea typeface="Cambria"/>
                  <a:cs typeface="Cambria"/>
                </a:rPr>
                <a:t>e</a:t>
              </a:r>
              <a:r>
                <a:rPr sz="2700" b="0" i="0" lang="vi-VN" baseline="-25000">
                  <a:solidFill>
                    <a:srgbClr val="0B2545"/>
                  </a:solidFill>
                  <a:latin typeface="Cambria"/>
                  <a:ea typeface="Cambria"/>
                  <a:cs typeface="Cambria"/>
                </a:rPr>
                <a:t>θ,ss</a:t>
              </a:r>
              <a:r>
                <a:rPr sz="2700" b="0" i="0" lang="vi-VN">
                  <a:solidFill>
                    <a:srgbClr val="0B2545"/>
                  </a:solidFill>
                  <a:latin typeface="Cambria"/>
                  <a:ea typeface="Cambria"/>
                  <a:cs typeface="Cambria"/>
                </a:rPr>
                <a:t> = −</a:t>
              </a:r>
              <a:r>
                <a:rPr sz="2700" b="0" i="1" lang="vi-VN">
                  <a:solidFill>
                    <a:srgbClr val="0B2545"/>
                  </a:solidFill>
                  <a:latin typeface="Cambria"/>
                  <a:ea typeface="Cambria"/>
                  <a:cs typeface="Cambria"/>
                </a:rPr>
                <a:t>ω</a:t>
              </a:r>
              <a:r>
                <a:rPr sz="2700" b="0" i="0" lang="vi-VN" baseline="-25000">
                  <a:solidFill>
                    <a:srgbClr val="0B2545"/>
                  </a:solidFill>
                  <a:latin typeface="Cambria"/>
                  <a:ea typeface="Cambria"/>
                  <a:cs typeface="Cambria"/>
                </a:rPr>
                <a:t>b</a:t>
              </a:r>
              <a:r>
                <a:rPr sz="2700" b="0" i="0" lang="vi-VN">
                  <a:solidFill>
                    <a:srgbClr val="0B2545"/>
                  </a:solidFill>
                  <a:latin typeface="Cambria"/>
                  <a:ea typeface="Cambria"/>
                  <a:cs typeface="Cambria"/>
                </a:rPr>
                <a:t> / </a:t>
              </a:r>
              <a:r>
                <a:rPr sz="2700" b="0" i="1" lang="vi-VN">
                  <a:solidFill>
                    <a:srgbClr val="0B2545"/>
                  </a:solidFill>
                  <a:latin typeface="Cambria"/>
                  <a:ea typeface="Cambria"/>
                  <a:cs typeface="Cambria"/>
                </a:rPr>
                <a:t>K</a:t>
              </a:r>
              <a:r>
                <a:rPr sz="2700" b="0" i="0" lang="vi-VN" baseline="-25000">
                  <a:solidFill>
                    <a:srgbClr val="0B2545"/>
                  </a:solidFill>
                  <a:latin typeface="Cambria"/>
                  <a:ea typeface="Cambria"/>
                  <a:cs typeface="Cambria"/>
                </a:rPr>
                <a:t>p</a:t>
              </a:r>
              <a:r>
                <a:rPr sz="2700" b="0" i="0" lang="vi-VN" baseline="30000">
                  <a:solidFill>
                    <a:srgbClr val="0B2545"/>
                  </a:solidFill>
                  <a:latin typeface="Cambria"/>
                  <a:ea typeface="Cambria"/>
                  <a:cs typeface="Cambria"/>
                </a:rPr>
                <a:t>θ</a:t>
              </a:r>
            </a:p>
          </p:txBody>
        </p:sp>
        <p:sp>
          <p:nvSpPr>
            <p:cNvPr id="9" name="TextBox 8"/>
            <p:cNvSpPr txBox="1"/>
            <p:nvPr/>
          </p:nvSpPr>
          <p:spPr>
            <a:xfrm>
              <a:off x="685800" y="2395728"/>
              <a:ext cx="3291840" cy="566928"/>
            </a:xfrm>
            <a:prstGeom prst="rect">
              <a:avLst/>
            </a:prstGeom>
            <a:noFill/>
          </p:spPr>
          <p:txBody>
            <a:bodyPr wrap="square" lIns="0" tIns="0" rIns="0" bIns="0" anchor="t">
              <a:noAutofit/>
            </a:bodyPr>
            <a:lstStyle/>
            <a:p>
              <a:pPr algn="l">
                <a:lnSpc>
                  <a:spcPct val="100000"/>
                </a:lnSpc>
              </a:pPr>
              <a:r>
                <a:rPr sz="1450" b="0" i="0" lang="vi-VN">
                  <a:solidFill>
                    <a:srgbClr val="1E2B3A"/>
                  </a:solidFill>
                  <a:latin typeface="Arial"/>
                  <a:ea typeface="Arial"/>
                  <a:cs typeface="Arial"/>
                </a:rPr>
                <a:t>Khung quay 8 °/s, </a:t>
              </a:r>
              <a:r>
                <a:rPr sz="1450" b="0" i="1" lang="vi-VN">
                  <a:solidFill>
                    <a:srgbClr val="1E2B3A"/>
                  </a:solidFill>
                  <a:latin typeface="Cambria"/>
                  <a:ea typeface="Cambria"/>
                  <a:cs typeface="Cambria"/>
                </a:rPr>
                <a:t>K</a:t>
              </a:r>
              <a:r>
                <a:rPr sz="1450" b="0" i="0" lang="vi-VN" baseline="-25000">
                  <a:solidFill>
                    <a:srgbClr val="1E2B3A"/>
                  </a:solidFill>
                  <a:latin typeface="Cambria"/>
                  <a:ea typeface="Cambria"/>
                  <a:cs typeface="Cambria"/>
                </a:rPr>
                <a:t>p</a:t>
              </a:r>
              <a:r>
                <a:rPr sz="1450" b="0" i="0" lang="vi-VN" baseline="30000">
                  <a:solidFill>
                    <a:srgbClr val="1E2B3A"/>
                  </a:solidFill>
                  <a:latin typeface="Cambria"/>
                  <a:ea typeface="Cambria"/>
                  <a:cs typeface="Cambria"/>
                </a:rPr>
                <a:t>θ</a:t>
              </a:r>
              <a:r>
                <a:rPr sz="1450" b="0" i="0" lang="vi-VN">
                  <a:solidFill>
                    <a:srgbClr val="1E2B3A"/>
                  </a:solidFill>
                  <a:latin typeface="Arial"/>
                  <a:ea typeface="Arial"/>
                  <a:cs typeface="Arial"/>
                </a:rPr>
                <a:t> = 9,5 s</a:t>
              </a:r>
              <a:r>
                <a:rPr sz="1450" b="0" i="0" lang="vi-VN" baseline="30000">
                  <a:solidFill>
                    <a:srgbClr val="1E2B3A"/>
                  </a:solidFill>
                  <a:latin typeface="Arial"/>
                  <a:ea typeface="Arial"/>
                  <a:cs typeface="Arial"/>
                </a:rPr>
                <a:t>−1</a:t>
              </a:r>
              <a:r>
                <a:rPr sz="1450" b="0" i="0" lang="vi-VN">
                  <a:solidFill>
                    <a:srgbClr val="1E2B3A"/>
                  </a:solidFill>
                  <a:latin typeface="Arial"/>
                  <a:ea typeface="Arial"/>
                  <a:cs typeface="Arial"/>
                </a:rPr>
                <a:t> → sai lệch ≈ </a:t>
              </a:r>
              <a:r>
                <a:rPr sz="1450" b="1" i="0" lang="vi-VN">
                  <a:solidFill>
                    <a:srgbClr val="1E2B3A"/>
                  </a:solidFill>
                  <a:latin typeface="Arial"/>
                  <a:ea typeface="Arial"/>
                  <a:cs typeface="Arial"/>
                </a:rPr>
                <a:t>0,84°</a:t>
              </a:r>
            </a:p>
          </p:txBody>
        </p:sp>
        <p:sp>
          <p:nvSpPr>
            <p:cNvPr id="10" name="Rounded Rectangle 9"/>
            <p:cNvSpPr/>
            <p:nvPr/>
          </p:nvSpPr>
          <p:spPr>
            <a:xfrm>
              <a:off x="685800" y="3017520"/>
              <a:ext cx="3246120" cy="457200"/>
            </a:xfrm>
            <a:prstGeom prst="roundRect">
              <a:avLst>
                <a:gd name="adj" fmla="val 20000"/>
              </a:avLst>
            </a:prstGeom>
            <a:solidFill>
              <a:srgbClr val="FFF1E6"/>
            </a:solidFill>
            <a:ln>
              <a:noFill/>
            </a:ln>
          </p:spPr>
          <p:txBody>
            <a:bodyPr rtlCol="0" anchor="ctr" lIns="73152" tIns="18288" rIns="73152" bIns="18288" wrap="square">
              <a:noAutofit/>
            </a:bodyPr>
            <a:lstStyle/>
            <a:p>
              <a:pPr algn="ctr"/>
              <a:r>
                <a:rPr sz="1400" b="1" i="0" lang="vi-VN">
                  <a:solidFill>
                    <a:srgbClr val="1E2B3A"/>
                  </a:solidFill>
                  <a:latin typeface="Arial"/>
                  <a:ea typeface="Arial"/>
                  <a:cs typeface="Arial"/>
                </a:rPr>
                <a:t>Giảm 10 lần ⇒ phải tăng </a:t>
              </a:r>
              <a:r>
                <a:rPr sz="1400" b="1" i="1" lang="vi-VN">
                  <a:solidFill>
                    <a:srgbClr val="1E2B3A"/>
                  </a:solidFill>
                  <a:latin typeface="Cambria"/>
                  <a:ea typeface="Cambria"/>
                  <a:cs typeface="Cambria"/>
                </a:rPr>
                <a:t>K</a:t>
              </a:r>
              <a:r>
                <a:rPr sz="1400" b="1" i="0" lang="vi-VN" baseline="-25000">
                  <a:solidFill>
                    <a:srgbClr val="1E2B3A"/>
                  </a:solidFill>
                  <a:latin typeface="Cambria"/>
                  <a:ea typeface="Cambria"/>
                  <a:cs typeface="Cambria"/>
                </a:rPr>
                <a:t>p</a:t>
              </a:r>
              <a:r>
                <a:rPr sz="1400" b="1" i="0" lang="vi-VN" baseline="30000">
                  <a:solidFill>
                    <a:srgbClr val="1E2B3A"/>
                  </a:solidFill>
                  <a:latin typeface="Cambria"/>
                  <a:ea typeface="Cambria"/>
                  <a:cs typeface="Cambria"/>
                </a:rPr>
                <a:t>θ</a:t>
              </a:r>
              <a:r>
                <a:rPr sz="1400" b="1" i="0" lang="vi-VN">
                  <a:solidFill>
                    <a:srgbClr val="1E2B3A"/>
                  </a:solidFill>
                  <a:latin typeface="Arial"/>
                  <a:ea typeface="Arial"/>
                  <a:cs typeface="Arial"/>
                </a:rPr>
                <a:t> 10 lần</a:t>
              </a:r>
            </a:p>
          </p:txBody>
        </p:sp>
      </p:grpSp>
      <p:grpSp>
        <p:nvGrpSpPr>
          <p:cNvPr id="11" name="Group 10"/>
          <p:cNvGrpSpPr/>
          <p:nvPr/>
        </p:nvGrpSpPr>
        <p:grpSpPr>
          <a:xfrm>
            <a:off x="4297680" y="1261872"/>
            <a:ext cx="4206240" cy="2395728"/>
            <a:chOff x="4297680" y="1261872"/>
            <a:chExt cx="4206240" cy="2395728"/>
          </a:xfrm>
        </p:grpSpPr>
        <p:sp>
          <p:nvSpPr>
            <p:cNvPr id="12" name="Rounded Rectangle 11"/>
            <p:cNvSpPr/>
            <p:nvPr/>
          </p:nvSpPr>
          <p:spPr>
            <a:xfrm>
              <a:off x="4297680" y="1261872"/>
              <a:ext cx="4206240" cy="2395728"/>
            </a:xfrm>
            <a:prstGeom prst="roundRect">
              <a:avLst>
                <a:gd name="adj" fmla="val 38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3" name="Picture 12" descr="stopwatch_0A5FA8.png"/>
            <p:cNvPicPr>
              <a:picLocks noChangeAspect="1"/>
            </p:cNvPicPr>
            <p:nvPr/>
          </p:nvPicPr>
          <p:blipFill>
            <a:blip r:embed="rId3"/>
            <a:stretch>
              <a:fillRect/>
            </a:stretch>
          </p:blipFill>
          <p:spPr>
            <a:xfrm>
              <a:off x="4462272" y="1353312"/>
              <a:ext cx="237744" cy="237744"/>
            </a:xfrm>
            <a:prstGeom prst="rect">
              <a:avLst/>
            </a:prstGeom>
          </p:spPr>
        </p:pic>
        <p:sp>
          <p:nvSpPr>
            <p:cNvPr id="14" name="TextBox 13"/>
            <p:cNvSpPr txBox="1"/>
            <p:nvPr/>
          </p:nvSpPr>
          <p:spPr>
            <a:xfrm>
              <a:off x="4791456" y="1325880"/>
              <a:ext cx="360273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CÁC NGUỒN TRỄ (BẢNG 1.4)</a:t>
              </a:r>
            </a:p>
          </p:txBody>
        </p:sp>
        <p:sp>
          <p:nvSpPr>
            <p:cNvPr id="15" name="TextBox 14"/>
            <p:cNvSpPr txBox="1"/>
            <p:nvPr/>
          </p:nvSpPr>
          <p:spPr>
            <a:xfrm>
              <a:off x="5779008" y="1645920"/>
              <a:ext cx="548640" cy="201168"/>
            </a:xfrm>
            <a:prstGeom prst="rect">
              <a:avLst/>
            </a:prstGeom>
            <a:noFill/>
          </p:spPr>
          <p:txBody>
            <a:bodyPr wrap="square" lIns="0" tIns="0" rIns="0" bIns="0" anchor="t">
              <a:noAutofit/>
            </a:bodyPr>
            <a:lstStyle/>
            <a:p>
              <a:pPr algn="ctr"/>
              <a:r>
                <a:rPr sz="1100" b="0" i="0" lang="vi-VN">
                  <a:solidFill>
                    <a:srgbClr val="5B6B7B"/>
                  </a:solidFill>
                  <a:latin typeface="Arial"/>
                  <a:ea typeface="Arial"/>
                  <a:cs typeface="Arial"/>
                </a:rPr>
                <a:t>0</a:t>
              </a:r>
            </a:p>
          </p:txBody>
        </p:sp>
        <p:cxnSp>
          <p:nvCxnSpPr>
            <p:cNvPr id="16" name="Connector 15"/>
            <p:cNvCxnSpPr/>
            <p:nvPr/>
          </p:nvCxnSpPr>
          <p:spPr>
            <a:xfrm>
              <a:off x="6053328" y="1847088"/>
              <a:ext cx="0" cy="1335024"/>
            </a:xfrm>
            <a:prstGeom prst="line">
              <a:avLst/>
            </a:prstGeom>
            <a:ln w="9525">
              <a:solidFill>
                <a:srgbClr val="E3E8EE"/>
              </a:solidFill>
            </a:ln>
          </p:spPr>
        </p:cxnSp>
        <p:sp>
          <p:nvSpPr>
            <p:cNvPr id="17" name="TextBox 16"/>
            <p:cNvSpPr txBox="1"/>
            <p:nvPr/>
          </p:nvSpPr>
          <p:spPr>
            <a:xfrm>
              <a:off x="6350508" y="1645920"/>
              <a:ext cx="548640" cy="201168"/>
            </a:xfrm>
            <a:prstGeom prst="rect">
              <a:avLst/>
            </a:prstGeom>
            <a:noFill/>
          </p:spPr>
          <p:txBody>
            <a:bodyPr wrap="square" lIns="0" tIns="0" rIns="0" bIns="0" anchor="t">
              <a:noAutofit/>
            </a:bodyPr>
            <a:lstStyle/>
            <a:p>
              <a:pPr algn="ctr"/>
              <a:r>
                <a:rPr sz="1100" b="0" i="0" lang="vi-VN">
                  <a:solidFill>
                    <a:srgbClr val="5B6B7B"/>
                  </a:solidFill>
                  <a:latin typeface="Arial"/>
                  <a:ea typeface="Arial"/>
                  <a:cs typeface="Arial"/>
                </a:rPr>
                <a:t>5</a:t>
              </a:r>
            </a:p>
          </p:txBody>
        </p:sp>
        <p:cxnSp>
          <p:nvCxnSpPr>
            <p:cNvPr id="18" name="Connector 17"/>
            <p:cNvCxnSpPr/>
            <p:nvPr/>
          </p:nvCxnSpPr>
          <p:spPr>
            <a:xfrm>
              <a:off x="6624828" y="1847088"/>
              <a:ext cx="0" cy="1335024"/>
            </a:xfrm>
            <a:prstGeom prst="line">
              <a:avLst/>
            </a:prstGeom>
            <a:ln w="9525">
              <a:solidFill>
                <a:srgbClr val="E3E8EE"/>
              </a:solidFill>
            </a:ln>
          </p:spPr>
        </p:cxnSp>
        <p:sp>
          <p:nvSpPr>
            <p:cNvPr id="19" name="TextBox 18"/>
            <p:cNvSpPr txBox="1"/>
            <p:nvPr/>
          </p:nvSpPr>
          <p:spPr>
            <a:xfrm>
              <a:off x="6922008" y="1645920"/>
              <a:ext cx="548640" cy="201168"/>
            </a:xfrm>
            <a:prstGeom prst="rect">
              <a:avLst/>
            </a:prstGeom>
            <a:noFill/>
          </p:spPr>
          <p:txBody>
            <a:bodyPr wrap="square" lIns="0" tIns="0" rIns="0" bIns="0" anchor="t">
              <a:noAutofit/>
            </a:bodyPr>
            <a:lstStyle/>
            <a:p>
              <a:pPr algn="ctr"/>
              <a:r>
                <a:rPr sz="1100" b="0" i="0" lang="vi-VN">
                  <a:solidFill>
                    <a:srgbClr val="5B6B7B"/>
                  </a:solidFill>
                  <a:latin typeface="Arial"/>
                  <a:ea typeface="Arial"/>
                  <a:cs typeface="Arial"/>
                </a:rPr>
                <a:t>10</a:t>
              </a:r>
            </a:p>
          </p:txBody>
        </p:sp>
        <p:cxnSp>
          <p:nvCxnSpPr>
            <p:cNvPr id="20" name="Connector 19"/>
            <p:cNvCxnSpPr/>
            <p:nvPr/>
          </p:nvCxnSpPr>
          <p:spPr>
            <a:xfrm>
              <a:off x="7196328" y="1847088"/>
              <a:ext cx="0" cy="1335024"/>
            </a:xfrm>
            <a:prstGeom prst="line">
              <a:avLst/>
            </a:prstGeom>
            <a:ln w="9525">
              <a:solidFill>
                <a:srgbClr val="E3E8EE"/>
              </a:solidFill>
            </a:ln>
          </p:spPr>
        </p:cxnSp>
        <p:sp>
          <p:nvSpPr>
            <p:cNvPr id="21" name="TextBox 20"/>
            <p:cNvSpPr txBox="1"/>
            <p:nvPr/>
          </p:nvSpPr>
          <p:spPr>
            <a:xfrm>
              <a:off x="7493508" y="1645920"/>
              <a:ext cx="548640" cy="201168"/>
            </a:xfrm>
            <a:prstGeom prst="rect">
              <a:avLst/>
            </a:prstGeom>
            <a:noFill/>
          </p:spPr>
          <p:txBody>
            <a:bodyPr wrap="square" lIns="0" tIns="0" rIns="0" bIns="0" anchor="t">
              <a:noAutofit/>
            </a:bodyPr>
            <a:lstStyle/>
            <a:p>
              <a:pPr algn="ctr"/>
              <a:r>
                <a:rPr sz="1100" b="0" i="0" lang="vi-VN">
                  <a:solidFill>
                    <a:srgbClr val="5B6B7B"/>
                  </a:solidFill>
                  <a:latin typeface="Arial"/>
                  <a:ea typeface="Arial"/>
                  <a:cs typeface="Arial"/>
                </a:rPr>
                <a:t>15 ms</a:t>
              </a:r>
            </a:p>
          </p:txBody>
        </p:sp>
        <p:cxnSp>
          <p:nvCxnSpPr>
            <p:cNvPr id="22" name="Connector 21"/>
            <p:cNvCxnSpPr/>
            <p:nvPr/>
          </p:nvCxnSpPr>
          <p:spPr>
            <a:xfrm>
              <a:off x="7767828" y="1847088"/>
              <a:ext cx="0" cy="1335024"/>
            </a:xfrm>
            <a:prstGeom prst="line">
              <a:avLst/>
            </a:prstGeom>
            <a:ln w="9525">
              <a:solidFill>
                <a:srgbClr val="E3E8EE"/>
              </a:solidFill>
            </a:ln>
          </p:spPr>
        </p:cxnSp>
      </p:grpSp>
      <p:grpSp>
        <p:nvGrpSpPr>
          <p:cNvPr id="23" name="Group 22"/>
          <p:cNvGrpSpPr/>
          <p:nvPr/>
        </p:nvGrpSpPr>
        <p:grpSpPr>
          <a:xfrm>
            <a:off x="4462272" y="1865376"/>
            <a:ext cx="2916936" cy="310896"/>
            <a:chOff x="4462272" y="1865376"/>
            <a:chExt cx="2916936" cy="310896"/>
          </a:xfrm>
        </p:grpSpPr>
        <p:sp>
          <p:nvSpPr>
            <p:cNvPr id="24" name="TextBox 23"/>
            <p:cNvSpPr txBox="1"/>
            <p:nvPr/>
          </p:nvSpPr>
          <p:spPr>
            <a:xfrm>
              <a:off x="4462272" y="1865376"/>
              <a:ext cx="1783080" cy="310896"/>
            </a:xfrm>
            <a:prstGeom prst="rect">
              <a:avLst/>
            </a:prstGeom>
            <a:noFill/>
          </p:spPr>
          <p:txBody>
            <a:bodyPr wrap="square" lIns="0" tIns="0" rIns="0" bIns="0" anchor="ctr">
              <a:noAutofit/>
            </a:bodyPr>
            <a:lstStyle/>
            <a:p>
              <a:pPr algn="l"/>
              <a:r>
                <a:rPr sz="1250" b="0" i="1" lang="vi-VN">
                  <a:solidFill>
                    <a:srgbClr val="1E2B3A"/>
                  </a:solidFill>
                  <a:latin typeface="Cambria"/>
                  <a:ea typeface="Cambria"/>
                  <a:cs typeface="Cambria"/>
                </a:rPr>
                <a:t>τ</a:t>
              </a:r>
              <a:r>
                <a:rPr sz="1250" b="0" i="0" lang="vi-VN" baseline="-25000">
                  <a:solidFill>
                    <a:srgbClr val="1E2B3A"/>
                  </a:solidFill>
                  <a:latin typeface="Cambria"/>
                  <a:ea typeface="Cambria"/>
                  <a:cs typeface="Cambria"/>
                </a:rPr>
                <a:t>s</a:t>
              </a:r>
              <a:r>
                <a:rPr sz="1250" b="0" i="0" lang="vi-VN">
                  <a:solidFill>
                    <a:srgbClr val="1E2B3A"/>
                  </a:solidFill>
                  <a:latin typeface="Arial"/>
                  <a:ea typeface="Arial"/>
                  <a:cs typeface="Arial"/>
                </a:rPr>
                <a:t> lấy mẫu, lọc IMU</a:t>
              </a:r>
            </a:p>
          </p:txBody>
        </p:sp>
        <p:sp>
          <p:nvSpPr>
            <p:cNvPr id="25" name="Rounded Rectangle 24"/>
            <p:cNvSpPr/>
            <p:nvPr/>
          </p:nvSpPr>
          <p:spPr>
            <a:xfrm>
              <a:off x="6281928" y="1929384"/>
              <a:ext cx="228600" cy="219456"/>
            </a:xfrm>
            <a:prstGeom prst="roundRect">
              <a:avLst>
                <a:gd name="adj" fmla="val 25000"/>
              </a:avLst>
            </a:prstGeom>
            <a:solidFill>
              <a:srgbClr val="0A5FA8"/>
            </a:solidFill>
            <a:ln>
              <a:noFill/>
            </a:ln>
          </p:spPr>
          <p:txBody>
            <a:bodyPr rtlCol="0" anchor="ctr" lIns="54864" tIns="54864" rIns="54864" bIns="54864" wrap="square">
              <a:noAutofit/>
            </a:bodyPr>
            <a:lstStyle/>
            <a:p>
              <a:pPr algn="ctr"/>
            </a:p>
          </p:txBody>
        </p:sp>
        <p:sp>
          <p:nvSpPr>
            <p:cNvPr id="26" name="TextBox 25"/>
            <p:cNvSpPr txBox="1"/>
            <p:nvPr/>
          </p:nvSpPr>
          <p:spPr>
            <a:xfrm>
              <a:off x="6556248" y="1865376"/>
              <a:ext cx="822960" cy="310896"/>
            </a:xfrm>
            <a:prstGeom prst="rect">
              <a:avLst/>
            </a:prstGeom>
            <a:noFill/>
          </p:spPr>
          <p:txBody>
            <a:bodyPr wrap="square" lIns="0" tIns="0" rIns="0" bIns="0" anchor="ctr">
              <a:noAutofit/>
            </a:bodyPr>
            <a:lstStyle/>
            <a:p>
              <a:pPr algn="l"/>
              <a:r>
                <a:rPr sz="1200" b="1" i="0" lang="vi-VN">
                  <a:solidFill>
                    <a:srgbClr val="1E2B3A"/>
                  </a:solidFill>
                  <a:latin typeface="Arial"/>
                  <a:ea typeface="Arial"/>
                  <a:cs typeface="Arial"/>
                </a:rPr>
                <a:t>2–4 ms</a:t>
              </a:r>
            </a:p>
          </p:txBody>
        </p:sp>
      </p:grpSp>
      <p:grpSp>
        <p:nvGrpSpPr>
          <p:cNvPr id="27" name="Group 26"/>
          <p:cNvGrpSpPr/>
          <p:nvPr/>
        </p:nvGrpSpPr>
        <p:grpSpPr>
          <a:xfrm>
            <a:off x="4462272" y="2194560"/>
            <a:ext cx="2688336" cy="310896"/>
            <a:chOff x="4462272" y="2194560"/>
            <a:chExt cx="2688336" cy="310896"/>
          </a:xfrm>
        </p:grpSpPr>
        <p:sp>
          <p:nvSpPr>
            <p:cNvPr id="28" name="TextBox 27"/>
            <p:cNvSpPr txBox="1"/>
            <p:nvPr/>
          </p:nvSpPr>
          <p:spPr>
            <a:xfrm>
              <a:off x="4462272" y="2194560"/>
              <a:ext cx="1783080" cy="310896"/>
            </a:xfrm>
            <a:prstGeom prst="rect">
              <a:avLst/>
            </a:prstGeom>
            <a:noFill/>
          </p:spPr>
          <p:txBody>
            <a:bodyPr wrap="square" lIns="0" tIns="0" rIns="0" bIns="0" anchor="ctr">
              <a:noAutofit/>
            </a:bodyPr>
            <a:lstStyle/>
            <a:p>
              <a:pPr algn="l"/>
              <a:r>
                <a:rPr sz="1250" b="0" i="1" lang="vi-VN">
                  <a:solidFill>
                    <a:srgbClr val="1E2B3A"/>
                  </a:solidFill>
                  <a:latin typeface="Cambria"/>
                  <a:ea typeface="Cambria"/>
                  <a:cs typeface="Cambria"/>
                </a:rPr>
                <a:t>τ</a:t>
              </a:r>
              <a:r>
                <a:rPr sz="1250" b="0" i="0" lang="vi-VN" baseline="-25000">
                  <a:solidFill>
                    <a:srgbClr val="1E2B3A"/>
                  </a:solidFill>
                  <a:latin typeface="Cambria"/>
                  <a:ea typeface="Cambria"/>
                  <a:cs typeface="Cambria"/>
                </a:rPr>
                <a:t>c</a:t>
              </a:r>
              <a:r>
                <a:rPr sz="1250" b="0" i="0" lang="vi-VN">
                  <a:solidFill>
                    <a:srgbClr val="1E2B3A"/>
                  </a:solidFill>
                  <a:latin typeface="Arial"/>
                  <a:ea typeface="Arial"/>
                  <a:cs typeface="Arial"/>
                </a:rPr>
                <a:t> tính toán</a:t>
              </a:r>
            </a:p>
          </p:txBody>
        </p:sp>
        <p:sp>
          <p:nvSpPr>
            <p:cNvPr id="29" name="Rounded Rectangle 28"/>
            <p:cNvSpPr/>
            <p:nvPr/>
          </p:nvSpPr>
          <p:spPr>
            <a:xfrm>
              <a:off x="6053328" y="2258568"/>
              <a:ext cx="228600" cy="219456"/>
            </a:xfrm>
            <a:prstGeom prst="roundRect">
              <a:avLst>
                <a:gd name="adj" fmla="val 25000"/>
              </a:avLst>
            </a:prstGeom>
            <a:solidFill>
              <a:srgbClr val="0A5FA8"/>
            </a:solidFill>
            <a:ln>
              <a:noFill/>
            </a:ln>
          </p:spPr>
          <p:txBody>
            <a:bodyPr rtlCol="0" anchor="ctr" lIns="54864" tIns="54864" rIns="54864" bIns="54864" wrap="square">
              <a:noAutofit/>
            </a:bodyPr>
            <a:lstStyle/>
            <a:p>
              <a:pPr algn="ctr"/>
            </a:p>
          </p:txBody>
        </p:sp>
        <p:sp>
          <p:nvSpPr>
            <p:cNvPr id="30" name="TextBox 29"/>
            <p:cNvSpPr txBox="1"/>
            <p:nvPr/>
          </p:nvSpPr>
          <p:spPr>
            <a:xfrm>
              <a:off x="6327648" y="2194560"/>
              <a:ext cx="822960" cy="310896"/>
            </a:xfrm>
            <a:prstGeom prst="rect">
              <a:avLst/>
            </a:prstGeom>
            <a:noFill/>
          </p:spPr>
          <p:txBody>
            <a:bodyPr wrap="square" lIns="0" tIns="0" rIns="0" bIns="0" anchor="ctr">
              <a:noAutofit/>
            </a:bodyPr>
            <a:lstStyle/>
            <a:p>
              <a:pPr algn="l"/>
              <a:r>
                <a:rPr sz="1200" b="1" i="0" lang="vi-VN">
                  <a:solidFill>
                    <a:srgbClr val="1E2B3A"/>
                  </a:solidFill>
                  <a:latin typeface="Arial"/>
                  <a:ea typeface="Arial"/>
                  <a:cs typeface="Arial"/>
                </a:rPr>
                <a:t>&lt; 2 ms</a:t>
              </a:r>
            </a:p>
          </p:txBody>
        </p:sp>
      </p:grpSp>
      <p:grpSp>
        <p:nvGrpSpPr>
          <p:cNvPr id="31" name="Group 30"/>
          <p:cNvGrpSpPr/>
          <p:nvPr/>
        </p:nvGrpSpPr>
        <p:grpSpPr>
          <a:xfrm>
            <a:off x="4462272" y="2523744"/>
            <a:ext cx="3602736" cy="310896"/>
            <a:chOff x="4462272" y="2523744"/>
            <a:chExt cx="3602736" cy="310896"/>
          </a:xfrm>
        </p:grpSpPr>
        <p:sp>
          <p:nvSpPr>
            <p:cNvPr id="32" name="TextBox 31"/>
            <p:cNvSpPr txBox="1"/>
            <p:nvPr/>
          </p:nvSpPr>
          <p:spPr>
            <a:xfrm>
              <a:off x="4462272" y="2523744"/>
              <a:ext cx="1783080" cy="310896"/>
            </a:xfrm>
            <a:prstGeom prst="rect">
              <a:avLst/>
            </a:prstGeom>
            <a:noFill/>
          </p:spPr>
          <p:txBody>
            <a:bodyPr wrap="square" lIns="0" tIns="0" rIns="0" bIns="0" anchor="ctr">
              <a:noAutofit/>
            </a:bodyPr>
            <a:lstStyle/>
            <a:p>
              <a:pPr algn="l"/>
              <a:r>
                <a:rPr sz="1250" b="0" i="1" lang="vi-VN">
                  <a:solidFill>
                    <a:srgbClr val="1E2B3A"/>
                  </a:solidFill>
                  <a:latin typeface="Cambria"/>
                  <a:ea typeface="Cambria"/>
                  <a:cs typeface="Cambria"/>
                </a:rPr>
                <a:t>τ</a:t>
              </a:r>
              <a:r>
                <a:rPr sz="1250" b="0" i="0" lang="vi-VN" baseline="-25000">
                  <a:solidFill>
                    <a:srgbClr val="1E2B3A"/>
                  </a:solidFill>
                  <a:latin typeface="Cambria"/>
                  <a:ea typeface="Cambria"/>
                  <a:cs typeface="Cambria"/>
                </a:rPr>
                <a:t>b</a:t>
              </a:r>
              <a:r>
                <a:rPr sz="1250" b="0" i="0" lang="vi-VN">
                  <a:solidFill>
                    <a:srgbClr val="1E2B3A"/>
                  </a:solidFill>
                  <a:latin typeface="Arial"/>
                  <a:ea typeface="Arial"/>
                  <a:cs typeface="Arial"/>
                </a:rPr>
                <a:t> chờ khe RS485</a:t>
              </a:r>
            </a:p>
          </p:txBody>
        </p:sp>
        <p:sp>
          <p:nvSpPr>
            <p:cNvPr id="33" name="Rounded Rectangle 32"/>
            <p:cNvSpPr/>
            <p:nvPr/>
          </p:nvSpPr>
          <p:spPr>
            <a:xfrm>
              <a:off x="6624828" y="2587752"/>
              <a:ext cx="571500" cy="219456"/>
            </a:xfrm>
            <a:prstGeom prst="roundRect">
              <a:avLst>
                <a:gd name="adj" fmla="val 25000"/>
              </a:avLst>
            </a:prstGeom>
            <a:solidFill>
              <a:srgbClr val="E8710A"/>
            </a:solidFill>
            <a:ln>
              <a:noFill/>
            </a:ln>
          </p:spPr>
          <p:txBody>
            <a:bodyPr rtlCol="0" anchor="ctr" lIns="54864" tIns="54864" rIns="54864" bIns="54864" wrap="square">
              <a:noAutofit/>
            </a:bodyPr>
            <a:lstStyle/>
            <a:p>
              <a:pPr algn="ctr"/>
            </a:p>
          </p:txBody>
        </p:sp>
        <p:sp>
          <p:nvSpPr>
            <p:cNvPr id="34" name="TextBox 33"/>
            <p:cNvSpPr txBox="1"/>
            <p:nvPr/>
          </p:nvSpPr>
          <p:spPr>
            <a:xfrm>
              <a:off x="7242048" y="2523744"/>
              <a:ext cx="822960" cy="310896"/>
            </a:xfrm>
            <a:prstGeom prst="rect">
              <a:avLst/>
            </a:prstGeom>
            <a:noFill/>
          </p:spPr>
          <p:txBody>
            <a:bodyPr wrap="square" lIns="0" tIns="0" rIns="0" bIns="0" anchor="ctr">
              <a:noAutofit/>
            </a:bodyPr>
            <a:lstStyle/>
            <a:p>
              <a:pPr algn="l"/>
              <a:r>
                <a:rPr sz="1200" b="1" i="0" lang="vi-VN">
                  <a:solidFill>
                    <a:srgbClr val="1E2B3A"/>
                  </a:solidFill>
                  <a:latin typeface="Arial"/>
                  <a:ea typeface="Arial"/>
                  <a:cs typeface="Arial"/>
                </a:rPr>
                <a:t>5–10 ms</a:t>
              </a:r>
            </a:p>
          </p:txBody>
        </p:sp>
      </p:grpSp>
      <p:grpSp>
        <p:nvGrpSpPr>
          <p:cNvPr id="35" name="Group 34"/>
          <p:cNvGrpSpPr/>
          <p:nvPr/>
        </p:nvGrpSpPr>
        <p:grpSpPr>
          <a:xfrm>
            <a:off x="4462272" y="2852928"/>
            <a:ext cx="4059936" cy="310896"/>
            <a:chOff x="4462272" y="2852928"/>
            <a:chExt cx="4059936" cy="310896"/>
          </a:xfrm>
        </p:grpSpPr>
        <p:sp>
          <p:nvSpPr>
            <p:cNvPr id="36" name="TextBox 35"/>
            <p:cNvSpPr txBox="1"/>
            <p:nvPr/>
          </p:nvSpPr>
          <p:spPr>
            <a:xfrm>
              <a:off x="4462272" y="2852928"/>
              <a:ext cx="1783080" cy="310896"/>
            </a:xfrm>
            <a:prstGeom prst="rect">
              <a:avLst/>
            </a:prstGeom>
            <a:noFill/>
          </p:spPr>
          <p:txBody>
            <a:bodyPr wrap="square" lIns="0" tIns="0" rIns="0" bIns="0" anchor="ctr">
              <a:noAutofit/>
            </a:bodyPr>
            <a:lstStyle/>
            <a:p>
              <a:pPr algn="l"/>
              <a:r>
                <a:rPr sz="1250" b="0" i="1" lang="vi-VN">
                  <a:solidFill>
                    <a:srgbClr val="1E2B3A"/>
                  </a:solidFill>
                  <a:latin typeface="Cambria"/>
                  <a:ea typeface="Cambria"/>
                  <a:cs typeface="Cambria"/>
                </a:rPr>
                <a:t>τ</a:t>
              </a:r>
              <a:r>
                <a:rPr sz="1250" b="0" i="0" lang="vi-VN" baseline="-25000">
                  <a:solidFill>
                    <a:srgbClr val="1E2B3A"/>
                  </a:solidFill>
                  <a:latin typeface="Cambria"/>
                  <a:ea typeface="Cambria"/>
                  <a:cs typeface="Cambria"/>
                </a:rPr>
                <a:t>m</a:t>
              </a:r>
              <a:r>
                <a:rPr sz="1250" b="0" i="0" lang="vi-VN">
                  <a:solidFill>
                    <a:srgbClr val="1E2B3A"/>
                  </a:solidFill>
                  <a:latin typeface="Arial"/>
                  <a:ea typeface="Arial"/>
                  <a:cs typeface="Arial"/>
                </a:rPr>
                <a:t> đáp ứng động cơ</a:t>
              </a:r>
            </a:p>
          </p:txBody>
        </p:sp>
        <p:sp>
          <p:nvSpPr>
            <p:cNvPr id="37" name="Rounded Rectangle 36"/>
            <p:cNvSpPr/>
            <p:nvPr/>
          </p:nvSpPr>
          <p:spPr>
            <a:xfrm>
              <a:off x="6967728" y="2916936"/>
              <a:ext cx="685800" cy="219456"/>
            </a:xfrm>
            <a:prstGeom prst="roundRect">
              <a:avLst>
                <a:gd name="adj" fmla="val 25000"/>
              </a:avLst>
            </a:prstGeom>
            <a:solidFill>
              <a:srgbClr val="E8710A"/>
            </a:solidFill>
            <a:ln>
              <a:noFill/>
            </a:ln>
          </p:spPr>
          <p:txBody>
            <a:bodyPr rtlCol="0" anchor="ctr" lIns="54864" tIns="54864" rIns="54864" bIns="54864" wrap="square">
              <a:noAutofit/>
            </a:bodyPr>
            <a:lstStyle/>
            <a:p>
              <a:pPr algn="ctr"/>
            </a:p>
          </p:txBody>
        </p:sp>
        <p:sp>
          <p:nvSpPr>
            <p:cNvPr id="38" name="TextBox 37"/>
            <p:cNvSpPr txBox="1"/>
            <p:nvPr/>
          </p:nvSpPr>
          <p:spPr>
            <a:xfrm>
              <a:off x="7699248" y="2852928"/>
              <a:ext cx="822960" cy="310896"/>
            </a:xfrm>
            <a:prstGeom prst="rect">
              <a:avLst/>
            </a:prstGeom>
            <a:noFill/>
          </p:spPr>
          <p:txBody>
            <a:bodyPr wrap="square" lIns="0" tIns="0" rIns="0" bIns="0" anchor="ctr">
              <a:noAutofit/>
            </a:bodyPr>
            <a:lstStyle/>
            <a:p>
              <a:pPr algn="l"/>
              <a:r>
                <a:rPr sz="1200" b="1" i="0" lang="vi-VN">
                  <a:solidFill>
                    <a:srgbClr val="1E2B3A"/>
                  </a:solidFill>
                  <a:latin typeface="Arial"/>
                  <a:ea typeface="Arial"/>
                  <a:cs typeface="Arial"/>
                </a:rPr>
                <a:t>8–14 ms</a:t>
              </a:r>
            </a:p>
          </p:txBody>
        </p:sp>
      </p:grpSp>
      <p:sp>
        <p:nvSpPr>
          <p:cNvPr id="39" name="TextBox 38"/>
          <p:cNvSpPr txBox="1"/>
          <p:nvPr/>
        </p:nvSpPr>
        <p:spPr>
          <a:xfrm>
            <a:off x="4462272" y="3218688"/>
            <a:ext cx="3931920" cy="384048"/>
          </a:xfrm>
          <a:prstGeom prst="rect">
            <a:avLst/>
          </a:prstGeom>
          <a:noFill/>
        </p:spPr>
        <p:txBody>
          <a:bodyPr wrap="square" lIns="0" tIns="0" rIns="0" bIns="0" anchor="ctr">
            <a:noAutofit/>
          </a:bodyPr>
          <a:lstStyle/>
          <a:p>
            <a:pPr algn="l"/>
            <a:r>
              <a:rPr sz="1500" b="0" i="0" lang="vi-VN">
                <a:solidFill>
                  <a:srgbClr val="0B2545"/>
                </a:solidFill>
                <a:latin typeface="Arial"/>
                <a:ea typeface="Arial"/>
                <a:cs typeface="Arial"/>
              </a:rPr>
              <a:t>→ trễ hiệu dụng cần bù </a:t>
            </a:r>
            <a:r>
              <a:rPr sz="1500" b="0" i="1" lang="vi-VN">
                <a:solidFill>
                  <a:srgbClr val="0B2545"/>
                </a:solidFill>
                <a:latin typeface="Cambria"/>
                <a:ea typeface="Cambria"/>
                <a:cs typeface="Cambria"/>
              </a:rPr>
              <a:t>τ</a:t>
            </a:r>
            <a:r>
              <a:rPr sz="1500" b="0" i="0" lang="vi-VN" baseline="-25000">
                <a:solidFill>
                  <a:srgbClr val="0B2545"/>
                </a:solidFill>
                <a:latin typeface="Cambria"/>
                <a:ea typeface="Cambria"/>
                <a:cs typeface="Cambria"/>
              </a:rPr>
              <a:t>p</a:t>
            </a:r>
            <a:r>
              <a:rPr sz="1500" b="0" i="0" lang="vi-VN">
                <a:solidFill>
                  <a:srgbClr val="0B2545"/>
                </a:solidFill>
                <a:latin typeface="Arial"/>
                <a:ea typeface="Arial"/>
                <a:cs typeface="Arial"/>
              </a:rPr>
              <a:t> ≈ </a:t>
            </a:r>
            <a:r>
              <a:rPr sz="1500" b="1" i="0" lang="vi-VN">
                <a:solidFill>
                  <a:srgbClr val="0B2545"/>
                </a:solidFill>
                <a:latin typeface="Arial"/>
                <a:ea typeface="Arial"/>
                <a:cs typeface="Arial"/>
              </a:rPr>
              <a:t>12 ms</a:t>
            </a:r>
          </a:p>
        </p:txBody>
      </p:sp>
      <p:grpSp>
        <p:nvGrpSpPr>
          <p:cNvPr id="40" name="Group 39"/>
          <p:cNvGrpSpPr/>
          <p:nvPr/>
        </p:nvGrpSpPr>
        <p:grpSpPr>
          <a:xfrm>
            <a:off x="8686800" y="1261872"/>
            <a:ext cx="3017520" cy="2395728"/>
            <a:chOff x="8686800" y="1261872"/>
            <a:chExt cx="3017520" cy="2395728"/>
          </a:xfrm>
        </p:grpSpPr>
        <p:sp>
          <p:nvSpPr>
            <p:cNvPr id="41" name="Rounded Rectangle 40"/>
            <p:cNvSpPr/>
            <p:nvPr/>
          </p:nvSpPr>
          <p:spPr>
            <a:xfrm>
              <a:off x="8686800" y="1261872"/>
              <a:ext cx="3017520" cy="2395728"/>
            </a:xfrm>
            <a:prstGeom prst="roundRect">
              <a:avLst>
                <a:gd name="adj" fmla="val 38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42" name="Picture 41" descr="wave_0A5FA8.png"/>
            <p:cNvPicPr>
              <a:picLocks noChangeAspect="1"/>
            </p:cNvPicPr>
            <p:nvPr/>
          </p:nvPicPr>
          <p:blipFill>
            <a:blip r:embed="rId4"/>
            <a:stretch>
              <a:fillRect/>
            </a:stretch>
          </p:blipFill>
          <p:spPr>
            <a:xfrm>
              <a:off x="8851392" y="1353312"/>
              <a:ext cx="237744" cy="237744"/>
            </a:xfrm>
            <a:prstGeom prst="rect">
              <a:avLst/>
            </a:prstGeom>
          </p:spPr>
        </p:pic>
        <p:sp>
          <p:nvSpPr>
            <p:cNvPr id="43" name="TextBox 42"/>
            <p:cNvSpPr txBox="1"/>
            <p:nvPr/>
          </p:nvSpPr>
          <p:spPr>
            <a:xfrm>
              <a:off x="9180576" y="1325880"/>
              <a:ext cx="241401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TRỄ LÀM MẤT PHA (1.31)</a:t>
              </a:r>
            </a:p>
          </p:txBody>
        </p:sp>
        <p:sp>
          <p:nvSpPr>
            <p:cNvPr id="44" name="TextBox 43"/>
            <p:cNvSpPr txBox="1"/>
            <p:nvPr/>
          </p:nvSpPr>
          <p:spPr>
            <a:xfrm>
              <a:off x="8778240" y="1682496"/>
              <a:ext cx="2834640" cy="457200"/>
            </a:xfrm>
            <a:prstGeom prst="rect">
              <a:avLst/>
            </a:prstGeom>
            <a:noFill/>
          </p:spPr>
          <p:txBody>
            <a:bodyPr wrap="square" lIns="0" tIns="0" rIns="0" bIns="0" anchor="ctr">
              <a:noAutofit/>
            </a:bodyPr>
            <a:lstStyle/>
            <a:p>
              <a:pPr algn="ctr"/>
              <a:r>
                <a:rPr sz="1900" b="0" i="0" lang="vi-VN">
                  <a:solidFill>
                    <a:srgbClr val="0B2545"/>
                  </a:solidFill>
                  <a:latin typeface="Cambria"/>
                  <a:ea typeface="Cambria"/>
                  <a:cs typeface="Cambria"/>
                </a:rPr>
                <a:t>Δ</a:t>
              </a:r>
              <a:r>
                <a:rPr sz="1900" b="0" i="1" lang="vi-VN">
                  <a:solidFill>
                    <a:srgbClr val="0B2545"/>
                  </a:solidFill>
                  <a:latin typeface="Cambria"/>
                  <a:ea typeface="Cambria"/>
                  <a:cs typeface="Cambria"/>
                </a:rPr>
                <a:t>φ</a:t>
              </a:r>
              <a:r>
                <a:rPr sz="1900" b="0" i="0" lang="vi-VN">
                  <a:solidFill>
                    <a:srgbClr val="0B2545"/>
                  </a:solidFill>
                  <a:latin typeface="Cambria"/>
                  <a:ea typeface="Cambria"/>
                  <a:cs typeface="Cambria"/>
                </a:rPr>
                <a:t> = −360°·</a:t>
              </a:r>
              <a:r>
                <a:rPr sz="1900" b="0" i="1" lang="vi-VN">
                  <a:solidFill>
                    <a:srgbClr val="0B2545"/>
                  </a:solidFill>
                  <a:latin typeface="Cambria"/>
                  <a:ea typeface="Cambria"/>
                  <a:cs typeface="Cambria"/>
                </a:rPr>
                <a:t>f</a:t>
              </a:r>
              <a:r>
                <a:rPr sz="1900" b="0" i="0" lang="vi-VN">
                  <a:solidFill>
                    <a:srgbClr val="0B2545"/>
                  </a:solidFill>
                  <a:latin typeface="Cambria"/>
                  <a:ea typeface="Cambria"/>
                  <a:cs typeface="Cambria"/>
                </a:rPr>
                <a:t>·</a:t>
              </a:r>
              <a:r>
                <a:rPr sz="1900" b="0" i="1" lang="vi-VN">
                  <a:solidFill>
                    <a:srgbClr val="0B2545"/>
                  </a:solidFill>
                  <a:latin typeface="Cambria"/>
                  <a:ea typeface="Cambria"/>
                  <a:cs typeface="Cambria"/>
                </a:rPr>
                <a:t>τ</a:t>
              </a:r>
              <a:r>
                <a:rPr sz="1900" b="0" i="0" lang="vi-VN" baseline="-25000">
                  <a:solidFill>
                    <a:srgbClr val="0B2545"/>
                  </a:solidFill>
                  <a:latin typeface="Cambria"/>
                  <a:ea typeface="Cambria"/>
                  <a:cs typeface="Cambria"/>
                </a:rPr>
                <a:t>p</a:t>
              </a:r>
            </a:p>
          </p:txBody>
        </p:sp>
        <p:sp>
          <p:nvSpPr>
            <p:cNvPr id="45" name="TextBox 44"/>
            <p:cNvSpPr txBox="1"/>
            <p:nvPr/>
          </p:nvSpPr>
          <p:spPr>
            <a:xfrm>
              <a:off x="8823960" y="2194560"/>
              <a:ext cx="1371600" cy="457200"/>
            </a:xfrm>
            <a:prstGeom prst="rect">
              <a:avLst/>
            </a:prstGeom>
            <a:noFill/>
          </p:spPr>
          <p:txBody>
            <a:bodyPr wrap="square" lIns="0" tIns="0" rIns="0" bIns="0" anchor="ctr">
              <a:noAutofit/>
            </a:bodyPr>
            <a:lstStyle/>
            <a:p>
              <a:pPr algn="ctr"/>
              <a:r>
                <a:rPr sz="2600" b="1" i="0" lang="vi-VN">
                  <a:solidFill>
                    <a:srgbClr val="E8710A"/>
                  </a:solidFill>
                  <a:latin typeface="Arial"/>
                  <a:ea typeface="Arial"/>
                  <a:cs typeface="Arial"/>
                </a:rPr>
                <a:t>−43°</a:t>
              </a:r>
            </a:p>
          </p:txBody>
        </p:sp>
        <p:sp>
          <p:nvSpPr>
            <p:cNvPr id="46" name="TextBox 45"/>
            <p:cNvSpPr txBox="1"/>
            <p:nvPr/>
          </p:nvSpPr>
          <p:spPr>
            <a:xfrm>
              <a:off x="8823960" y="2651760"/>
              <a:ext cx="1371600" cy="274320"/>
            </a:xfrm>
            <a:prstGeom prst="rect">
              <a:avLst/>
            </a:prstGeom>
            <a:noFill/>
          </p:spPr>
          <p:txBody>
            <a:bodyPr wrap="square" lIns="0" tIns="0" rIns="0" bIns="0" anchor="t">
              <a:noAutofit/>
            </a:bodyPr>
            <a:lstStyle/>
            <a:p>
              <a:pPr algn="ctr"/>
              <a:r>
                <a:rPr sz="1250" b="0" i="0" lang="vi-VN">
                  <a:solidFill>
                    <a:srgbClr val="1E2B3A"/>
                  </a:solidFill>
                  <a:latin typeface="Arial"/>
                  <a:ea typeface="Arial"/>
                  <a:cs typeface="Arial"/>
                </a:rPr>
                <a:t>tại 10 Hz</a:t>
              </a:r>
            </a:p>
          </p:txBody>
        </p:sp>
        <p:sp>
          <p:nvSpPr>
            <p:cNvPr id="47" name="TextBox 46"/>
            <p:cNvSpPr txBox="1"/>
            <p:nvPr/>
          </p:nvSpPr>
          <p:spPr>
            <a:xfrm>
              <a:off x="10195560" y="2194560"/>
              <a:ext cx="1371600" cy="457200"/>
            </a:xfrm>
            <a:prstGeom prst="rect">
              <a:avLst/>
            </a:prstGeom>
            <a:noFill/>
          </p:spPr>
          <p:txBody>
            <a:bodyPr wrap="square" lIns="0" tIns="0" rIns="0" bIns="0" anchor="ctr">
              <a:noAutofit/>
            </a:bodyPr>
            <a:lstStyle/>
            <a:p>
              <a:pPr algn="ctr"/>
              <a:r>
                <a:rPr sz="2600" b="1" i="0" lang="vi-VN">
                  <a:solidFill>
                    <a:srgbClr val="E8710A"/>
                  </a:solidFill>
                  <a:latin typeface="Arial"/>
                  <a:ea typeface="Arial"/>
                  <a:cs typeface="Arial"/>
                </a:rPr>
                <a:t>−86°</a:t>
              </a:r>
            </a:p>
          </p:txBody>
        </p:sp>
        <p:sp>
          <p:nvSpPr>
            <p:cNvPr id="48" name="TextBox 47"/>
            <p:cNvSpPr txBox="1"/>
            <p:nvPr/>
          </p:nvSpPr>
          <p:spPr>
            <a:xfrm>
              <a:off x="10195560" y="2651760"/>
              <a:ext cx="1371600" cy="274320"/>
            </a:xfrm>
            <a:prstGeom prst="rect">
              <a:avLst/>
            </a:prstGeom>
            <a:noFill/>
          </p:spPr>
          <p:txBody>
            <a:bodyPr wrap="square" lIns="0" tIns="0" rIns="0" bIns="0" anchor="t">
              <a:noAutofit/>
            </a:bodyPr>
            <a:lstStyle/>
            <a:p>
              <a:pPr algn="ctr"/>
              <a:r>
                <a:rPr sz="1250" b="0" i="0" lang="vi-VN">
                  <a:solidFill>
                    <a:srgbClr val="1E2B3A"/>
                  </a:solidFill>
                  <a:latin typeface="Arial"/>
                  <a:ea typeface="Arial"/>
                  <a:cs typeface="Arial"/>
                </a:rPr>
                <a:t>tại 20 Hz</a:t>
              </a:r>
            </a:p>
          </p:txBody>
        </p:sp>
        <p:sp>
          <p:nvSpPr>
            <p:cNvPr id="49" name="TextBox 48"/>
            <p:cNvSpPr txBox="1"/>
            <p:nvPr/>
          </p:nvSpPr>
          <p:spPr>
            <a:xfrm>
              <a:off x="8823960" y="3035808"/>
              <a:ext cx="2743200" cy="502920"/>
            </a:xfrm>
            <a:prstGeom prst="rect">
              <a:avLst/>
            </a:prstGeom>
            <a:noFill/>
          </p:spPr>
          <p:txBody>
            <a:bodyPr wrap="square" lIns="0" tIns="0" rIns="0" bIns="0" anchor="ctr">
              <a:noAutofit/>
            </a:bodyPr>
            <a:lstStyle/>
            <a:p>
              <a:pPr algn="ctr"/>
              <a:r>
                <a:rPr sz="1400" b="1" i="0" lang="vi-VN">
                  <a:solidFill>
                    <a:srgbClr val="C62828"/>
                  </a:solidFill>
                  <a:latin typeface="Arial"/>
                  <a:ea typeface="Arial"/>
                  <a:cs typeface="Arial"/>
                </a:rPr>
                <a:t>→ không thể tăng hệ số tùy ý</a:t>
              </a:r>
            </a:p>
          </p:txBody>
        </p:sp>
      </p:grpSp>
      <p:sp>
        <p:nvSpPr>
          <p:cNvPr id="50" name="TextBox 49"/>
          <p:cNvSpPr txBox="1"/>
          <p:nvPr/>
        </p:nvSpPr>
        <p:spPr>
          <a:xfrm>
            <a:off x="502920" y="3776472"/>
            <a:ext cx="10058400" cy="292608"/>
          </a:xfrm>
          <a:prstGeom prst="rect">
            <a:avLst/>
          </a:prstGeom>
          <a:noFill/>
        </p:spPr>
        <p:txBody>
          <a:bodyPr wrap="square" lIns="0" tIns="0" rIns="0" bIns="0" anchor="t">
            <a:noAutofit/>
          </a:bodyPr>
          <a:lstStyle/>
          <a:p>
            <a:pPr algn="l"/>
            <a:r>
              <a:rPr sz="1250" b="1" i="0" lang="vi-VN" spc="40">
                <a:solidFill>
                  <a:srgbClr val="0A5FA8"/>
                </a:solidFill>
                <a:latin typeface="Arial"/>
                <a:ea typeface="Arial"/>
                <a:cs typeface="Arial"/>
              </a:rPr>
              <a:t>5 NHÓM NGUYÊN NHÂN → ẢNH HƯỞNG → HƯỚNG GIẢI PHÁP</a:t>
            </a:r>
          </a:p>
        </p:txBody>
      </p:sp>
      <p:grpSp>
        <p:nvGrpSpPr>
          <p:cNvPr id="51" name="Group 50"/>
          <p:cNvGrpSpPr/>
          <p:nvPr/>
        </p:nvGrpSpPr>
        <p:grpSpPr>
          <a:xfrm>
            <a:off x="502920" y="4114800"/>
            <a:ext cx="2130552" cy="1938528"/>
            <a:chOff x="502920" y="4114800"/>
            <a:chExt cx="2130552" cy="1938528"/>
          </a:xfrm>
        </p:grpSpPr>
        <p:sp>
          <p:nvSpPr>
            <p:cNvPr id="52" name="Rounded Rectangle 51"/>
            <p:cNvSpPr/>
            <p:nvPr/>
          </p:nvSpPr>
          <p:spPr>
            <a:xfrm>
              <a:off x="502920" y="4114800"/>
              <a:ext cx="2130552" cy="1938528"/>
            </a:xfrm>
            <a:prstGeom prst="roundRect">
              <a:avLst>
                <a:gd name="adj" fmla="val 47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53" name="Group 52"/>
            <p:cNvGrpSpPr/>
            <p:nvPr/>
          </p:nvGrpSpPr>
          <p:grpSpPr>
            <a:xfrm>
              <a:off x="612648" y="4224528"/>
              <a:ext cx="438912" cy="438912"/>
              <a:chOff x="612648" y="4224528"/>
              <a:chExt cx="438912" cy="438912"/>
            </a:xfrm>
          </p:grpSpPr>
          <p:sp>
            <p:nvSpPr>
              <p:cNvPr id="54" name="Oval 53"/>
              <p:cNvSpPr/>
              <p:nvPr/>
            </p:nvSpPr>
            <p:spPr>
              <a:xfrm>
                <a:off x="612648" y="4224528"/>
                <a:ext cx="438912" cy="438912"/>
              </a:xfrm>
              <a:prstGeom prst="ellipse">
                <a:avLst/>
              </a:prstGeom>
              <a:solidFill>
                <a:srgbClr val="C62828"/>
              </a:solidFill>
              <a:ln>
                <a:noFill/>
              </a:ln>
            </p:spPr>
            <p:txBody>
              <a:bodyPr rtlCol="0" anchor="ctr" lIns="54864" tIns="54864" rIns="54864" bIns="54864" wrap="square">
                <a:noAutofit/>
              </a:bodyPr>
              <a:lstStyle/>
              <a:p>
                <a:pPr algn="ctr"/>
              </a:p>
            </p:txBody>
          </p:sp>
          <p:pic>
            <p:nvPicPr>
              <p:cNvPr id="55" name="Picture 54" descr="wave.png"/>
              <p:cNvPicPr>
                <a:picLocks noChangeAspect="1"/>
              </p:cNvPicPr>
              <p:nvPr/>
            </p:nvPicPr>
            <p:blipFill>
              <a:blip r:embed="rId5"/>
              <a:stretch>
                <a:fillRect/>
              </a:stretch>
            </p:blipFill>
            <p:spPr>
              <a:xfrm>
                <a:off x="709209" y="4321089"/>
                <a:ext cx="245791" cy="245791"/>
              </a:xfrm>
              <a:prstGeom prst="rect">
                <a:avLst/>
              </a:prstGeom>
            </p:spPr>
          </p:pic>
        </p:grpSp>
        <p:sp>
          <p:nvSpPr>
            <p:cNvPr id="56" name="TextBox 55"/>
            <p:cNvSpPr txBox="1"/>
            <p:nvPr/>
          </p:nvSpPr>
          <p:spPr>
            <a:xfrm>
              <a:off x="1088136" y="4169664"/>
              <a:ext cx="1508760" cy="566928"/>
            </a:xfrm>
            <a:prstGeom prst="rect">
              <a:avLst/>
            </a:prstGeom>
            <a:noFill/>
          </p:spPr>
          <p:txBody>
            <a:bodyPr wrap="square" lIns="0" tIns="0" rIns="0" bIns="0" anchor="ctr">
              <a:noAutofit/>
            </a:bodyPr>
            <a:lstStyle/>
            <a:p>
              <a:pPr algn="l">
                <a:lnSpc>
                  <a:spcPct val="95000"/>
                </a:lnSpc>
              </a:pPr>
              <a:r>
                <a:rPr sz="1300" b="1" i="0" lang="vi-VN">
                  <a:solidFill>
                    <a:srgbClr val="0B2545"/>
                  </a:solidFill>
                  <a:latin typeface="Arial"/>
                  <a:ea typeface="Arial"/>
                  <a:cs typeface="Arial"/>
                </a:rPr>
                <a:t>Nhiễu đo IMU</a:t>
              </a:r>
            </a:p>
          </p:txBody>
        </p:sp>
        <p:sp>
          <p:nvSpPr>
            <p:cNvPr id="57" name="TextBox 56"/>
            <p:cNvSpPr txBox="1"/>
            <p:nvPr/>
          </p:nvSpPr>
          <p:spPr>
            <a:xfrm>
              <a:off x="640080" y="4754880"/>
              <a:ext cx="1883664" cy="640080"/>
            </a:xfrm>
            <a:prstGeom prst="rect">
              <a:avLst/>
            </a:prstGeom>
            <a:noFill/>
          </p:spPr>
          <p:txBody>
            <a:bodyPr wrap="square" lIns="0" tIns="0" rIns="0" bIns="0" anchor="t">
              <a:noAutofit/>
            </a:bodyPr>
            <a:lstStyle/>
            <a:p>
              <a:pPr algn="l">
                <a:lnSpc>
                  <a:spcPct val="98000"/>
                </a:lnSpc>
              </a:pPr>
              <a:r>
                <a:rPr sz="1300" b="0" i="0" lang="vi-VN">
                  <a:solidFill>
                    <a:srgbClr val="1E2B3A"/>
                  </a:solidFill>
                  <a:latin typeface="Arial"/>
                  <a:ea typeface="Arial"/>
                  <a:cs typeface="Arial"/>
                </a:rPr>
                <a:t>Rung lệnh; nhiễu bị khuếch đại khi tăng hệ số</a:t>
              </a:r>
            </a:p>
          </p:txBody>
        </p:sp>
      </p:grpSp>
      <p:sp>
        <p:nvSpPr>
          <p:cNvPr id="58" name="Rounded Rectangle 57"/>
          <p:cNvSpPr/>
          <p:nvPr/>
        </p:nvSpPr>
        <p:spPr>
          <a:xfrm>
            <a:off x="594360" y="5458968"/>
            <a:ext cx="1947672" cy="502920"/>
          </a:xfrm>
          <a:prstGeom prst="roundRect">
            <a:avLst>
              <a:gd name="adj" fmla="val 18181"/>
            </a:avLst>
          </a:prstGeom>
          <a:solidFill>
            <a:srgbClr val="0B2545"/>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Lọc IMU · ① vòng trong nhanh</a:t>
            </a:r>
          </a:p>
        </p:txBody>
      </p:sp>
      <p:grpSp>
        <p:nvGrpSpPr>
          <p:cNvPr id="59" name="Group 58"/>
          <p:cNvGrpSpPr/>
          <p:nvPr/>
        </p:nvGrpSpPr>
        <p:grpSpPr>
          <a:xfrm>
            <a:off x="2770632" y="4114800"/>
            <a:ext cx="2130552" cy="1938528"/>
            <a:chOff x="2770632" y="4114800"/>
            <a:chExt cx="2130552" cy="1938528"/>
          </a:xfrm>
        </p:grpSpPr>
        <p:sp>
          <p:nvSpPr>
            <p:cNvPr id="60" name="Rounded Rectangle 59"/>
            <p:cNvSpPr/>
            <p:nvPr/>
          </p:nvSpPr>
          <p:spPr>
            <a:xfrm>
              <a:off x="2770632" y="4114800"/>
              <a:ext cx="2130552" cy="1938528"/>
            </a:xfrm>
            <a:prstGeom prst="roundRect">
              <a:avLst>
                <a:gd name="adj" fmla="val 47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61" name="Group 60"/>
            <p:cNvGrpSpPr/>
            <p:nvPr/>
          </p:nvGrpSpPr>
          <p:grpSpPr>
            <a:xfrm>
              <a:off x="2880360" y="4224528"/>
              <a:ext cx="438912" cy="438912"/>
              <a:chOff x="2880360" y="4224528"/>
              <a:chExt cx="438912" cy="438912"/>
            </a:xfrm>
          </p:grpSpPr>
          <p:sp>
            <p:nvSpPr>
              <p:cNvPr id="62" name="Oval 61"/>
              <p:cNvSpPr/>
              <p:nvPr/>
            </p:nvSpPr>
            <p:spPr>
              <a:xfrm>
                <a:off x="2880360" y="4224528"/>
                <a:ext cx="438912" cy="438912"/>
              </a:xfrm>
              <a:prstGeom prst="ellipse">
                <a:avLst/>
              </a:prstGeom>
              <a:solidFill>
                <a:srgbClr val="C62828"/>
              </a:solidFill>
              <a:ln>
                <a:noFill/>
              </a:ln>
            </p:spPr>
            <p:txBody>
              <a:bodyPr rtlCol="0" anchor="ctr" lIns="54864" tIns="54864" rIns="54864" bIns="54864" wrap="square">
                <a:noAutofit/>
              </a:bodyPr>
              <a:lstStyle/>
              <a:p>
                <a:pPr algn="ctr"/>
              </a:p>
            </p:txBody>
          </p:sp>
          <p:pic>
            <p:nvPicPr>
              <p:cNvPr id="63" name="Picture 62" descr="stopwatch.png"/>
              <p:cNvPicPr>
                <a:picLocks noChangeAspect="1"/>
              </p:cNvPicPr>
              <p:nvPr/>
            </p:nvPicPr>
            <p:blipFill>
              <a:blip r:embed="rId6"/>
              <a:stretch>
                <a:fillRect/>
              </a:stretch>
            </p:blipFill>
            <p:spPr>
              <a:xfrm>
                <a:off x="2976921" y="4321089"/>
                <a:ext cx="245791" cy="245791"/>
              </a:xfrm>
              <a:prstGeom prst="rect">
                <a:avLst/>
              </a:prstGeom>
            </p:spPr>
          </p:pic>
        </p:grpSp>
        <p:sp>
          <p:nvSpPr>
            <p:cNvPr id="64" name="TextBox 63"/>
            <p:cNvSpPr txBox="1"/>
            <p:nvPr/>
          </p:nvSpPr>
          <p:spPr>
            <a:xfrm>
              <a:off x="3355848" y="4169664"/>
              <a:ext cx="1508760" cy="566928"/>
            </a:xfrm>
            <a:prstGeom prst="rect">
              <a:avLst/>
            </a:prstGeom>
            <a:noFill/>
          </p:spPr>
          <p:txBody>
            <a:bodyPr wrap="square" lIns="0" tIns="0" rIns="0" bIns="0" anchor="ctr">
              <a:noAutofit/>
            </a:bodyPr>
            <a:lstStyle/>
            <a:p>
              <a:pPr algn="l">
                <a:lnSpc>
                  <a:spcPct val="95000"/>
                </a:lnSpc>
              </a:pPr>
              <a:r>
                <a:rPr sz="1300" b="1" i="0" lang="vi-VN">
                  <a:solidFill>
                    <a:srgbClr val="0B2545"/>
                  </a:solidFill>
                  <a:latin typeface="Arial"/>
                  <a:ea typeface="Arial"/>
                  <a:cs typeface="Arial"/>
                </a:rPr>
                <a:t>Trễ và biên ổn định</a:t>
              </a:r>
            </a:p>
          </p:txBody>
        </p:sp>
        <p:sp>
          <p:nvSpPr>
            <p:cNvPr id="65" name="TextBox 64"/>
            <p:cNvSpPr txBox="1"/>
            <p:nvPr/>
          </p:nvSpPr>
          <p:spPr>
            <a:xfrm>
              <a:off x="2907792" y="4754880"/>
              <a:ext cx="1883664" cy="640080"/>
            </a:xfrm>
            <a:prstGeom prst="rect">
              <a:avLst/>
            </a:prstGeom>
            <a:noFill/>
          </p:spPr>
          <p:txBody>
            <a:bodyPr wrap="square" lIns="0" tIns="0" rIns="0" bIns="0" anchor="t">
              <a:noAutofit/>
            </a:bodyPr>
            <a:lstStyle/>
            <a:p>
              <a:pPr algn="l">
                <a:lnSpc>
                  <a:spcPct val="98000"/>
                </a:lnSpc>
              </a:pPr>
              <a:r>
                <a:rPr sz="1300" b="0" i="0" lang="vi-VN">
                  <a:solidFill>
                    <a:srgbClr val="1E2B3A"/>
                  </a:solidFill>
                  <a:latin typeface="Arial"/>
                  <a:ea typeface="Arial"/>
                  <a:cs typeface="Arial"/>
                </a:rPr>
                <a:t>Lệnh bù đến muộn, không tăng được hệ số</a:t>
              </a:r>
            </a:p>
          </p:txBody>
        </p:sp>
      </p:grpSp>
      <p:sp>
        <p:nvSpPr>
          <p:cNvPr id="66" name="Rounded Rectangle 65"/>
          <p:cNvSpPr/>
          <p:nvPr/>
        </p:nvSpPr>
        <p:spPr>
          <a:xfrm>
            <a:off x="2862072" y="5458968"/>
            <a:ext cx="1947672" cy="502920"/>
          </a:xfrm>
          <a:prstGeom prst="roundRect">
            <a:avLst>
              <a:gd name="adj" fmla="val 18181"/>
            </a:avLst>
          </a:prstGeom>
          <a:solidFill>
            <a:srgbClr val="0B2545"/>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② bù IMU2 · ③ ngoại suy</a:t>
            </a:r>
          </a:p>
        </p:txBody>
      </p:sp>
      <p:grpSp>
        <p:nvGrpSpPr>
          <p:cNvPr id="67" name="Group 66"/>
          <p:cNvGrpSpPr/>
          <p:nvPr/>
        </p:nvGrpSpPr>
        <p:grpSpPr>
          <a:xfrm>
            <a:off x="5038344" y="4114800"/>
            <a:ext cx="2130552" cy="1938528"/>
            <a:chOff x="5038344" y="4114800"/>
            <a:chExt cx="2130552" cy="1938528"/>
          </a:xfrm>
        </p:grpSpPr>
        <p:sp>
          <p:nvSpPr>
            <p:cNvPr id="68" name="Rounded Rectangle 67"/>
            <p:cNvSpPr/>
            <p:nvPr/>
          </p:nvSpPr>
          <p:spPr>
            <a:xfrm>
              <a:off x="5038344" y="4114800"/>
              <a:ext cx="2130552" cy="1938528"/>
            </a:xfrm>
            <a:prstGeom prst="roundRect">
              <a:avLst>
                <a:gd name="adj" fmla="val 47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69" name="Group 68"/>
            <p:cNvGrpSpPr/>
            <p:nvPr/>
          </p:nvGrpSpPr>
          <p:grpSpPr>
            <a:xfrm>
              <a:off x="5148072" y="4224528"/>
              <a:ext cx="438912" cy="438912"/>
              <a:chOff x="5148072" y="4224528"/>
              <a:chExt cx="438912" cy="438912"/>
            </a:xfrm>
          </p:grpSpPr>
          <p:sp>
            <p:nvSpPr>
              <p:cNvPr id="70" name="Oval 69"/>
              <p:cNvSpPr/>
              <p:nvPr/>
            </p:nvSpPr>
            <p:spPr>
              <a:xfrm>
                <a:off x="5148072" y="4224528"/>
                <a:ext cx="438912" cy="438912"/>
              </a:xfrm>
              <a:prstGeom prst="ellipse">
                <a:avLst/>
              </a:prstGeom>
              <a:solidFill>
                <a:srgbClr val="C62828"/>
              </a:solidFill>
              <a:ln>
                <a:noFill/>
              </a:ln>
            </p:spPr>
            <p:txBody>
              <a:bodyPr rtlCol="0" anchor="ctr" lIns="54864" tIns="54864" rIns="54864" bIns="54864" wrap="square">
                <a:noAutofit/>
              </a:bodyPr>
              <a:lstStyle/>
              <a:p>
                <a:pPr algn="ctr"/>
              </a:p>
            </p:txBody>
          </p:sp>
          <p:pic>
            <p:nvPicPr>
              <p:cNvPr id="71" name="Picture 70" descr="network.png"/>
              <p:cNvPicPr>
                <a:picLocks noChangeAspect="1"/>
              </p:cNvPicPr>
              <p:nvPr/>
            </p:nvPicPr>
            <p:blipFill>
              <a:blip r:embed="rId7"/>
              <a:stretch>
                <a:fillRect/>
              </a:stretch>
            </p:blipFill>
            <p:spPr>
              <a:xfrm>
                <a:off x="5244633" y="4321089"/>
                <a:ext cx="245791" cy="245791"/>
              </a:xfrm>
              <a:prstGeom prst="rect">
                <a:avLst/>
              </a:prstGeom>
            </p:spPr>
          </p:pic>
        </p:grpSp>
        <p:sp>
          <p:nvSpPr>
            <p:cNvPr id="72" name="TextBox 71"/>
            <p:cNvSpPr txBox="1"/>
            <p:nvPr/>
          </p:nvSpPr>
          <p:spPr>
            <a:xfrm>
              <a:off x="5623560" y="4169664"/>
              <a:ext cx="1508760" cy="566928"/>
            </a:xfrm>
            <a:prstGeom prst="rect">
              <a:avLst/>
            </a:prstGeom>
            <a:noFill/>
          </p:spPr>
          <p:txBody>
            <a:bodyPr wrap="square" lIns="0" tIns="0" rIns="0" bIns="0" anchor="ctr">
              <a:noAutofit/>
            </a:bodyPr>
            <a:lstStyle/>
            <a:p>
              <a:pPr algn="l">
                <a:lnSpc>
                  <a:spcPct val="95000"/>
                </a:lnSpc>
              </a:pPr>
              <a:r>
                <a:rPr sz="1300" b="1" i="0" lang="vi-VN">
                  <a:solidFill>
                    <a:srgbClr val="0B2545"/>
                  </a:solidFill>
                  <a:latin typeface="Arial"/>
                  <a:ea typeface="Arial"/>
                  <a:cs typeface="Arial"/>
                </a:rPr>
                <a:t>Truyền thông không tất định</a:t>
              </a:r>
            </a:p>
          </p:txBody>
        </p:sp>
        <p:sp>
          <p:nvSpPr>
            <p:cNvPr id="73" name="TextBox 72"/>
            <p:cNvSpPr txBox="1"/>
            <p:nvPr/>
          </p:nvSpPr>
          <p:spPr>
            <a:xfrm>
              <a:off x="5175504" y="4754880"/>
              <a:ext cx="1883664" cy="640080"/>
            </a:xfrm>
            <a:prstGeom prst="rect">
              <a:avLst/>
            </a:prstGeom>
            <a:noFill/>
          </p:spPr>
          <p:txBody>
            <a:bodyPr wrap="square" lIns="0" tIns="0" rIns="0" bIns="0" anchor="t">
              <a:noAutofit/>
            </a:bodyPr>
            <a:lstStyle/>
            <a:p>
              <a:pPr algn="l">
                <a:lnSpc>
                  <a:spcPct val="98000"/>
                </a:lnSpc>
              </a:pPr>
              <a:r>
                <a:rPr sz="1300" b="0" i="0" lang="vi-VN">
                  <a:solidFill>
                    <a:srgbClr val="1E2B3A"/>
                  </a:solidFill>
                  <a:latin typeface="Arial"/>
                  <a:ea typeface="Arial"/>
                  <a:cs typeface="Arial"/>
                </a:rPr>
                <a:t>Trễ ngẫu nhiên, cập nhật các trục không đều</a:t>
              </a:r>
            </a:p>
          </p:txBody>
        </p:sp>
      </p:grpSp>
      <p:sp>
        <p:nvSpPr>
          <p:cNvPr id="74" name="Rounded Rectangle 73"/>
          <p:cNvSpPr/>
          <p:nvPr/>
        </p:nvSpPr>
        <p:spPr>
          <a:xfrm>
            <a:off x="5129784" y="5458968"/>
            <a:ext cx="1947672" cy="502920"/>
          </a:xfrm>
          <a:prstGeom prst="roundRect">
            <a:avLst>
              <a:gd name="adj" fmla="val 18181"/>
            </a:avLst>
          </a:prstGeom>
          <a:solidFill>
            <a:srgbClr val="0B2545"/>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⑥ lịch RS485 luân phiên</a:t>
            </a:r>
          </a:p>
        </p:txBody>
      </p:sp>
      <p:grpSp>
        <p:nvGrpSpPr>
          <p:cNvPr id="75" name="Group 74"/>
          <p:cNvGrpSpPr/>
          <p:nvPr/>
        </p:nvGrpSpPr>
        <p:grpSpPr>
          <a:xfrm>
            <a:off x="7306056" y="4114800"/>
            <a:ext cx="2130552" cy="1938528"/>
            <a:chOff x="7306056" y="4114800"/>
            <a:chExt cx="2130552" cy="1938528"/>
          </a:xfrm>
        </p:grpSpPr>
        <p:sp>
          <p:nvSpPr>
            <p:cNvPr id="76" name="Rounded Rectangle 75"/>
            <p:cNvSpPr/>
            <p:nvPr/>
          </p:nvSpPr>
          <p:spPr>
            <a:xfrm>
              <a:off x="7306056" y="4114800"/>
              <a:ext cx="2130552" cy="1938528"/>
            </a:xfrm>
            <a:prstGeom prst="roundRect">
              <a:avLst>
                <a:gd name="adj" fmla="val 47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77" name="Group 76"/>
            <p:cNvGrpSpPr/>
            <p:nvPr/>
          </p:nvGrpSpPr>
          <p:grpSpPr>
            <a:xfrm>
              <a:off x="7415784" y="4224528"/>
              <a:ext cx="438912" cy="438912"/>
              <a:chOff x="7415784" y="4224528"/>
              <a:chExt cx="438912" cy="438912"/>
            </a:xfrm>
          </p:grpSpPr>
          <p:sp>
            <p:nvSpPr>
              <p:cNvPr id="78" name="Oval 77"/>
              <p:cNvSpPr/>
              <p:nvPr/>
            </p:nvSpPr>
            <p:spPr>
              <a:xfrm>
                <a:off x="7415784" y="4224528"/>
                <a:ext cx="438912" cy="438912"/>
              </a:xfrm>
              <a:prstGeom prst="ellipse">
                <a:avLst/>
              </a:prstGeom>
              <a:solidFill>
                <a:srgbClr val="C62828"/>
              </a:solidFill>
              <a:ln>
                <a:noFill/>
              </a:ln>
            </p:spPr>
            <p:txBody>
              <a:bodyPr rtlCol="0" anchor="ctr" lIns="54864" tIns="54864" rIns="54864" bIns="54864" wrap="square">
                <a:noAutofit/>
              </a:bodyPr>
              <a:lstStyle/>
              <a:p>
                <a:pPr algn="ctr"/>
              </a:p>
            </p:txBody>
          </p:sp>
          <p:pic>
            <p:nvPicPr>
              <p:cNvPr id="79" name="Picture 78" descr="route.png"/>
              <p:cNvPicPr>
                <a:picLocks noChangeAspect="1"/>
              </p:cNvPicPr>
              <p:nvPr/>
            </p:nvPicPr>
            <p:blipFill>
              <a:blip r:embed="rId8"/>
              <a:stretch>
                <a:fillRect/>
              </a:stretch>
            </p:blipFill>
            <p:spPr>
              <a:xfrm>
                <a:off x="7512345" y="4321089"/>
                <a:ext cx="245791" cy="245791"/>
              </a:xfrm>
              <a:prstGeom prst="rect">
                <a:avLst/>
              </a:prstGeom>
            </p:spPr>
          </p:pic>
        </p:grpSp>
        <p:sp>
          <p:nvSpPr>
            <p:cNvPr id="80" name="TextBox 79"/>
            <p:cNvSpPr txBox="1"/>
            <p:nvPr/>
          </p:nvSpPr>
          <p:spPr>
            <a:xfrm>
              <a:off x="7891272" y="4169664"/>
              <a:ext cx="1508760" cy="566928"/>
            </a:xfrm>
            <a:prstGeom prst="rect">
              <a:avLst/>
            </a:prstGeom>
            <a:noFill/>
          </p:spPr>
          <p:txBody>
            <a:bodyPr wrap="square" lIns="0" tIns="0" rIns="0" bIns="0" anchor="ctr">
              <a:noAutofit/>
            </a:bodyPr>
            <a:lstStyle/>
            <a:p>
              <a:pPr algn="l">
                <a:lnSpc>
                  <a:spcPct val="95000"/>
                </a:lnSpc>
              </a:pPr>
              <a:r>
                <a:rPr sz="1300" b="1" i="0" lang="vi-VN">
                  <a:solidFill>
                    <a:srgbClr val="0B2545"/>
                  </a:solidFill>
                  <a:latin typeface="Arial"/>
                  <a:ea typeface="Arial"/>
                  <a:cs typeface="Arial"/>
                </a:rPr>
                <a:t>Chuyển động nhanh, đảo chiều</a:t>
              </a:r>
            </a:p>
          </p:txBody>
        </p:sp>
        <p:sp>
          <p:nvSpPr>
            <p:cNvPr id="81" name="TextBox 80"/>
            <p:cNvSpPr txBox="1"/>
            <p:nvPr/>
          </p:nvSpPr>
          <p:spPr>
            <a:xfrm>
              <a:off x="7443216" y="4754880"/>
              <a:ext cx="1883664" cy="640080"/>
            </a:xfrm>
            <a:prstGeom prst="rect">
              <a:avLst/>
            </a:prstGeom>
            <a:noFill/>
          </p:spPr>
          <p:txBody>
            <a:bodyPr wrap="square" lIns="0" tIns="0" rIns="0" bIns="0" anchor="t">
              <a:noAutofit/>
            </a:bodyPr>
            <a:lstStyle/>
            <a:p>
              <a:pPr algn="l">
                <a:lnSpc>
                  <a:spcPct val="98000"/>
                </a:lnSpc>
              </a:pPr>
              <a:r>
                <a:rPr sz="1300" b="0" i="0" lang="vi-VN">
                  <a:solidFill>
                    <a:srgbClr val="1E2B3A"/>
                  </a:solidFill>
                  <a:latin typeface="Arial"/>
                  <a:ea typeface="Arial"/>
                  <a:cs typeface="Arial"/>
                </a:rPr>
                <a:t>Bão hòa, rung; camera vượt ngược khi dừng</a:t>
              </a:r>
            </a:p>
          </p:txBody>
        </p:sp>
      </p:grpSp>
      <p:sp>
        <p:nvSpPr>
          <p:cNvPr id="82" name="Rounded Rectangle 81"/>
          <p:cNvSpPr/>
          <p:nvPr/>
        </p:nvSpPr>
        <p:spPr>
          <a:xfrm>
            <a:off x="7397496" y="5458968"/>
            <a:ext cx="1947672" cy="502920"/>
          </a:xfrm>
          <a:prstGeom prst="roundRect">
            <a:avLst>
              <a:gd name="adj" fmla="val 18181"/>
            </a:avLst>
          </a:prstGeom>
          <a:solidFill>
            <a:srgbClr val="0B2545"/>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⑤ đảo chiều, dừng, tạo dạng</a:t>
            </a:r>
          </a:p>
        </p:txBody>
      </p:sp>
      <p:grpSp>
        <p:nvGrpSpPr>
          <p:cNvPr id="83" name="Group 82"/>
          <p:cNvGrpSpPr/>
          <p:nvPr/>
        </p:nvGrpSpPr>
        <p:grpSpPr>
          <a:xfrm>
            <a:off x="9573768" y="4114800"/>
            <a:ext cx="2130552" cy="1938528"/>
            <a:chOff x="9573768" y="4114800"/>
            <a:chExt cx="2130552" cy="1938528"/>
          </a:xfrm>
        </p:grpSpPr>
        <p:sp>
          <p:nvSpPr>
            <p:cNvPr id="84" name="Rounded Rectangle 83"/>
            <p:cNvSpPr/>
            <p:nvPr/>
          </p:nvSpPr>
          <p:spPr>
            <a:xfrm>
              <a:off x="9573768" y="4114800"/>
              <a:ext cx="2130552" cy="1938528"/>
            </a:xfrm>
            <a:prstGeom prst="roundRect">
              <a:avLst>
                <a:gd name="adj" fmla="val 47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85" name="Group 84"/>
            <p:cNvGrpSpPr/>
            <p:nvPr/>
          </p:nvGrpSpPr>
          <p:grpSpPr>
            <a:xfrm>
              <a:off x="9683496" y="4224528"/>
              <a:ext cx="438912" cy="438912"/>
              <a:chOff x="9683496" y="4224528"/>
              <a:chExt cx="438912" cy="438912"/>
            </a:xfrm>
          </p:grpSpPr>
          <p:sp>
            <p:nvSpPr>
              <p:cNvPr id="86" name="Oval 85"/>
              <p:cNvSpPr/>
              <p:nvPr/>
            </p:nvSpPr>
            <p:spPr>
              <a:xfrm>
                <a:off x="9683496" y="4224528"/>
                <a:ext cx="438912" cy="438912"/>
              </a:xfrm>
              <a:prstGeom prst="ellipse">
                <a:avLst/>
              </a:prstGeom>
              <a:solidFill>
                <a:srgbClr val="C62828"/>
              </a:solidFill>
              <a:ln>
                <a:noFill/>
              </a:ln>
            </p:spPr>
            <p:txBody>
              <a:bodyPr rtlCol="0" anchor="ctr" lIns="54864" tIns="54864" rIns="54864" bIns="54864" wrap="square">
                <a:noAutofit/>
              </a:bodyPr>
              <a:lstStyle/>
              <a:p>
                <a:pPr algn="ctr"/>
              </a:p>
            </p:txBody>
          </p:sp>
          <p:pic>
            <p:nvPicPr>
              <p:cNvPr id="87" name="Picture 86" descr="sliders.png"/>
              <p:cNvPicPr>
                <a:picLocks noChangeAspect="1"/>
              </p:cNvPicPr>
              <p:nvPr/>
            </p:nvPicPr>
            <p:blipFill>
              <a:blip r:embed="rId9"/>
              <a:stretch>
                <a:fillRect/>
              </a:stretch>
            </p:blipFill>
            <p:spPr>
              <a:xfrm>
                <a:off x="9780057" y="4321089"/>
                <a:ext cx="245791" cy="245791"/>
              </a:xfrm>
              <a:prstGeom prst="rect">
                <a:avLst/>
              </a:prstGeom>
            </p:spPr>
          </p:pic>
        </p:grpSp>
        <p:sp>
          <p:nvSpPr>
            <p:cNvPr id="88" name="TextBox 87"/>
            <p:cNvSpPr txBox="1"/>
            <p:nvPr/>
          </p:nvSpPr>
          <p:spPr>
            <a:xfrm>
              <a:off x="10158984" y="4169664"/>
              <a:ext cx="1508760" cy="566928"/>
            </a:xfrm>
            <a:prstGeom prst="rect">
              <a:avLst/>
            </a:prstGeom>
            <a:noFill/>
          </p:spPr>
          <p:txBody>
            <a:bodyPr wrap="square" lIns="0" tIns="0" rIns="0" bIns="0" anchor="ctr">
              <a:noAutofit/>
            </a:bodyPr>
            <a:lstStyle/>
            <a:p>
              <a:pPr algn="l">
                <a:lnSpc>
                  <a:spcPct val="95000"/>
                </a:lnSpc>
              </a:pPr>
              <a:r>
                <a:rPr sz="1300" b="1" i="0" lang="vi-VN">
                  <a:solidFill>
                    <a:srgbClr val="0B2545"/>
                  </a:solidFill>
                  <a:latin typeface="Arial"/>
                  <a:ea typeface="Arial"/>
                  <a:cs typeface="Arial"/>
                </a:rPr>
                <a:t>Giới hạn lệnh cố định</a:t>
              </a:r>
            </a:p>
          </p:txBody>
        </p:sp>
        <p:sp>
          <p:nvSpPr>
            <p:cNvPr id="89" name="TextBox 88"/>
            <p:cNvSpPr txBox="1"/>
            <p:nvPr/>
          </p:nvSpPr>
          <p:spPr>
            <a:xfrm>
              <a:off x="9710928" y="4754880"/>
              <a:ext cx="1883664" cy="640080"/>
            </a:xfrm>
            <a:prstGeom prst="rect">
              <a:avLst/>
            </a:prstGeom>
            <a:noFill/>
          </p:spPr>
          <p:txBody>
            <a:bodyPr wrap="square" lIns="0" tIns="0" rIns="0" bIns="0" anchor="t">
              <a:noAutofit/>
            </a:bodyPr>
            <a:lstStyle/>
            <a:p>
              <a:pPr algn="l">
                <a:lnSpc>
                  <a:spcPct val="98000"/>
                </a:lnSpc>
              </a:pPr>
              <a:r>
                <a:rPr sz="1300" b="0" i="0" lang="vi-VN">
                  <a:solidFill>
                    <a:srgbClr val="1E2B3A"/>
                  </a:solidFill>
                  <a:latin typeface="Arial"/>
                  <a:ea typeface="Arial"/>
                  <a:cs typeface="Arial"/>
                </a:rPr>
                <a:t>Thấp: bão hòa · cao: lệnh lớn khi tĩnh</a:t>
              </a:r>
            </a:p>
          </p:txBody>
        </p:sp>
      </p:grpSp>
      <p:sp>
        <p:nvSpPr>
          <p:cNvPr id="90" name="Rounded Rectangle 89"/>
          <p:cNvSpPr/>
          <p:nvPr/>
        </p:nvSpPr>
        <p:spPr>
          <a:xfrm>
            <a:off x="9665208" y="5458968"/>
            <a:ext cx="1947672" cy="502920"/>
          </a:xfrm>
          <a:prstGeom prst="roundRect">
            <a:avLst>
              <a:gd name="adj" fmla="val 18181"/>
            </a:avLst>
          </a:prstGeom>
          <a:solidFill>
            <a:srgbClr val="0B2545"/>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④ giới hạn theo trạng thái</a:t>
            </a:r>
          </a:p>
        </p:txBody>
      </p:sp>
      <p:sp>
        <p:nvSpPr>
          <p:cNvPr id="99"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00"/>
                                        <p:tgtEl>
                                          <p:spTgt spid="11"/>
                                        </p:tgtEl>
                                      </p:cBhvr>
                                    </p:animEffect>
                                  </p:childTnLst>
                                </p:cTn>
                              </p:par>
                            </p:childTnLst>
                          </p:cTn>
                        </p:par>
                        <p:par>
                          <p:cTn id="15" fill="hold">
                            <p:stCondLst>
                              <p:cond delay="400"/>
                            </p:stCondLst>
                            <p:childTnLst>
                              <p:par>
                                <p:cTn id="16" presetID="22" presetClass="entr" presetSubtype="8"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400"/>
                                        <p:tgtEl>
                                          <p:spTgt spid="23"/>
                                        </p:tgtEl>
                                      </p:cBhvr>
                                    </p:animEffect>
                                  </p:childTnLst>
                                </p:cTn>
                              </p:par>
                            </p:childTnLst>
                          </p:cTn>
                        </p:par>
                        <p:par>
                          <p:cTn id="19" fill="hold">
                            <p:stCondLst>
                              <p:cond delay="800"/>
                            </p:stCondLst>
                            <p:childTnLst>
                              <p:par>
                                <p:cTn id="20" presetID="22" presetClass="entr" presetSubtype="8"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400"/>
                                        <p:tgtEl>
                                          <p:spTgt spid="27"/>
                                        </p:tgtEl>
                                      </p:cBhvr>
                                    </p:animEffect>
                                  </p:childTnLst>
                                </p:cTn>
                              </p:par>
                            </p:childTnLst>
                          </p:cTn>
                        </p:par>
                        <p:par>
                          <p:cTn id="23" fill="hold">
                            <p:stCondLst>
                              <p:cond delay="1200"/>
                            </p:stCondLst>
                            <p:childTnLst>
                              <p:par>
                                <p:cTn id="24" presetID="22" presetClass="entr" presetSubtype="8" fill="hold" grpId="0" nodeType="after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left)">
                                      <p:cBhvr>
                                        <p:cTn id="26" dur="400"/>
                                        <p:tgtEl>
                                          <p:spTgt spid="31"/>
                                        </p:tgtEl>
                                      </p:cBhvr>
                                    </p:animEffect>
                                  </p:childTnLst>
                                </p:cTn>
                              </p:par>
                            </p:childTnLst>
                          </p:cTn>
                        </p:par>
                        <p:par>
                          <p:cTn id="27" fill="hold">
                            <p:stCondLst>
                              <p:cond delay="1600"/>
                            </p:stCondLst>
                            <p:childTnLst>
                              <p:par>
                                <p:cTn id="28" presetID="22" presetClass="entr" presetSubtype="8" fill="hold" grpId="0" nodeType="after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left)">
                                      <p:cBhvr>
                                        <p:cTn id="30" dur="400"/>
                                        <p:tgtEl>
                                          <p:spTgt spid="35"/>
                                        </p:tgtEl>
                                      </p:cBhvr>
                                    </p:animEffect>
                                  </p:childTnLst>
                                </p:cTn>
                              </p:par>
                            </p:childTnLst>
                          </p:cTn>
                        </p:par>
                        <p:par>
                          <p:cTn id="31" fill="hold">
                            <p:stCondLst>
                              <p:cond delay="2000"/>
                            </p:stCondLst>
                            <p:childTnLst>
                              <p:par>
                                <p:cTn id="32" presetID="10" presetClass="entr" presetSubtype="0" fill="hold" grpId="0"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400"/>
                                        <p:tgtEl>
                                          <p:spTgt spid="39"/>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anim calcmode="lin" valueType="num">
                                      <p:cBhvr>
                                        <p:cTn id="40" dur="500" fill="hold"/>
                                        <p:tgtEl>
                                          <p:spTgt spid="40"/>
                                        </p:tgtEl>
                                        <p:attrNameLst>
                                          <p:attrName>ppt_x</p:attrName>
                                        </p:attrNameLst>
                                      </p:cBhvr>
                                      <p:tavLst>
                                        <p:tav tm="0">
                                          <p:val>
                                            <p:strVal val="#ppt_x"/>
                                          </p:val>
                                        </p:tav>
                                        <p:tav tm="100000">
                                          <p:val>
                                            <p:strVal val="#ppt_x"/>
                                          </p:val>
                                        </p:tav>
                                      </p:tavLst>
                                    </p:anim>
                                    <p:anim calcmode="lin" valueType="num">
                                      <p:cBhvr>
                                        <p:cTn id="41" dur="500" fill="hold"/>
                                        <p:tgtEl>
                                          <p:spTgt spid="40"/>
                                        </p:tgtEl>
                                        <p:attrNameLst>
                                          <p:attrName>ppt_y</p:attrName>
                                        </p:attrNameLst>
                                      </p:cBhvr>
                                      <p:tavLst>
                                        <p:tav tm="0">
                                          <p:val>
                                            <p:strVal val="#ppt_y+.05"/>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300"/>
                                        <p:tgtEl>
                                          <p:spTgt spid="50"/>
                                        </p:tgtEl>
                                      </p:cBhvr>
                                    </p:animEffect>
                                  </p:childTnLst>
                                </p:cTn>
                              </p:par>
                              <p:par>
                                <p:cTn id="47" presetID="42" presetClass="entr" presetSubtype="0" fill="hold" grpId="0" nodeType="withEffect">
                                  <p:stCondLst>
                                    <p:cond delay="15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400"/>
                                        <p:tgtEl>
                                          <p:spTgt spid="51"/>
                                        </p:tgtEl>
                                      </p:cBhvr>
                                    </p:animEffect>
                                    <p:anim calcmode="lin" valueType="num">
                                      <p:cBhvr>
                                        <p:cTn id="50" dur="400" fill="hold"/>
                                        <p:tgtEl>
                                          <p:spTgt spid="51"/>
                                        </p:tgtEl>
                                        <p:attrNameLst>
                                          <p:attrName>ppt_x</p:attrName>
                                        </p:attrNameLst>
                                      </p:cBhvr>
                                      <p:tavLst>
                                        <p:tav tm="0">
                                          <p:val>
                                            <p:strVal val="#ppt_x"/>
                                          </p:val>
                                        </p:tav>
                                        <p:tav tm="100000">
                                          <p:val>
                                            <p:strVal val="#ppt_x"/>
                                          </p:val>
                                        </p:tav>
                                      </p:tavLst>
                                    </p:anim>
                                    <p:anim calcmode="lin" valueType="num">
                                      <p:cBhvr>
                                        <p:cTn id="51" dur="400" fill="hold"/>
                                        <p:tgtEl>
                                          <p:spTgt spid="51"/>
                                        </p:tgtEl>
                                        <p:attrNameLst>
                                          <p:attrName>ppt_y</p:attrName>
                                        </p:attrNameLst>
                                      </p:cBhvr>
                                      <p:tavLst>
                                        <p:tav tm="0">
                                          <p:val>
                                            <p:strVal val="#ppt_y+.05"/>
                                          </p:val>
                                        </p:tav>
                                        <p:tav tm="100000">
                                          <p:val>
                                            <p:strVal val="#ppt_y"/>
                                          </p:val>
                                        </p:tav>
                                      </p:tavLst>
                                    </p:anim>
                                  </p:childTnLst>
                                </p:cTn>
                              </p:par>
                              <p:par>
                                <p:cTn id="52" presetID="42" presetClass="entr" presetSubtype="0" fill="hold" grpId="0" nodeType="withEffect">
                                  <p:stCondLst>
                                    <p:cond delay="300"/>
                                  </p:stCondLst>
                                  <p:childTnLst>
                                    <p:set>
                                      <p:cBhvr>
                                        <p:cTn id="53" dur="1" fill="hold">
                                          <p:stCondLst>
                                            <p:cond delay="0"/>
                                          </p:stCondLst>
                                        </p:cTn>
                                        <p:tgtEl>
                                          <p:spTgt spid="59"/>
                                        </p:tgtEl>
                                        <p:attrNameLst>
                                          <p:attrName>style.visibility</p:attrName>
                                        </p:attrNameLst>
                                      </p:cBhvr>
                                      <p:to>
                                        <p:strVal val="visible"/>
                                      </p:to>
                                    </p:set>
                                    <p:animEffect transition="in" filter="fade">
                                      <p:cBhvr>
                                        <p:cTn id="54" dur="400"/>
                                        <p:tgtEl>
                                          <p:spTgt spid="59"/>
                                        </p:tgtEl>
                                      </p:cBhvr>
                                    </p:animEffect>
                                    <p:anim calcmode="lin" valueType="num">
                                      <p:cBhvr>
                                        <p:cTn id="55" dur="400" fill="hold"/>
                                        <p:tgtEl>
                                          <p:spTgt spid="59"/>
                                        </p:tgtEl>
                                        <p:attrNameLst>
                                          <p:attrName>ppt_x</p:attrName>
                                        </p:attrNameLst>
                                      </p:cBhvr>
                                      <p:tavLst>
                                        <p:tav tm="0">
                                          <p:val>
                                            <p:strVal val="#ppt_x"/>
                                          </p:val>
                                        </p:tav>
                                        <p:tav tm="100000">
                                          <p:val>
                                            <p:strVal val="#ppt_x"/>
                                          </p:val>
                                        </p:tav>
                                      </p:tavLst>
                                    </p:anim>
                                    <p:anim calcmode="lin" valueType="num">
                                      <p:cBhvr>
                                        <p:cTn id="56" dur="400" fill="hold"/>
                                        <p:tgtEl>
                                          <p:spTgt spid="59"/>
                                        </p:tgtEl>
                                        <p:attrNameLst>
                                          <p:attrName>ppt_y</p:attrName>
                                        </p:attrNameLst>
                                      </p:cBhvr>
                                      <p:tavLst>
                                        <p:tav tm="0">
                                          <p:val>
                                            <p:strVal val="#ppt_y+.05"/>
                                          </p:val>
                                        </p:tav>
                                        <p:tav tm="100000">
                                          <p:val>
                                            <p:strVal val="#ppt_y"/>
                                          </p:val>
                                        </p:tav>
                                      </p:tavLst>
                                    </p:anim>
                                  </p:childTnLst>
                                </p:cTn>
                              </p:par>
                              <p:par>
                                <p:cTn id="57" presetID="42" presetClass="entr" presetSubtype="0" fill="hold" grpId="0" nodeType="withEffect">
                                  <p:stCondLst>
                                    <p:cond delay="450"/>
                                  </p:stCondLst>
                                  <p:childTnLst>
                                    <p:set>
                                      <p:cBhvr>
                                        <p:cTn id="58" dur="1" fill="hold">
                                          <p:stCondLst>
                                            <p:cond delay="0"/>
                                          </p:stCondLst>
                                        </p:cTn>
                                        <p:tgtEl>
                                          <p:spTgt spid="67"/>
                                        </p:tgtEl>
                                        <p:attrNameLst>
                                          <p:attrName>style.visibility</p:attrName>
                                        </p:attrNameLst>
                                      </p:cBhvr>
                                      <p:to>
                                        <p:strVal val="visible"/>
                                      </p:to>
                                    </p:set>
                                    <p:animEffect transition="in" filter="fade">
                                      <p:cBhvr>
                                        <p:cTn id="59" dur="400"/>
                                        <p:tgtEl>
                                          <p:spTgt spid="67"/>
                                        </p:tgtEl>
                                      </p:cBhvr>
                                    </p:animEffect>
                                    <p:anim calcmode="lin" valueType="num">
                                      <p:cBhvr>
                                        <p:cTn id="60" dur="400" fill="hold"/>
                                        <p:tgtEl>
                                          <p:spTgt spid="67"/>
                                        </p:tgtEl>
                                        <p:attrNameLst>
                                          <p:attrName>ppt_x</p:attrName>
                                        </p:attrNameLst>
                                      </p:cBhvr>
                                      <p:tavLst>
                                        <p:tav tm="0">
                                          <p:val>
                                            <p:strVal val="#ppt_x"/>
                                          </p:val>
                                        </p:tav>
                                        <p:tav tm="100000">
                                          <p:val>
                                            <p:strVal val="#ppt_x"/>
                                          </p:val>
                                        </p:tav>
                                      </p:tavLst>
                                    </p:anim>
                                    <p:anim calcmode="lin" valueType="num">
                                      <p:cBhvr>
                                        <p:cTn id="61" dur="400" fill="hold"/>
                                        <p:tgtEl>
                                          <p:spTgt spid="67"/>
                                        </p:tgtEl>
                                        <p:attrNameLst>
                                          <p:attrName>ppt_y</p:attrName>
                                        </p:attrNameLst>
                                      </p:cBhvr>
                                      <p:tavLst>
                                        <p:tav tm="0">
                                          <p:val>
                                            <p:strVal val="#ppt_y+.05"/>
                                          </p:val>
                                        </p:tav>
                                        <p:tav tm="100000">
                                          <p:val>
                                            <p:strVal val="#ppt_y"/>
                                          </p:val>
                                        </p:tav>
                                      </p:tavLst>
                                    </p:anim>
                                  </p:childTnLst>
                                </p:cTn>
                              </p:par>
                              <p:par>
                                <p:cTn id="62" presetID="42" presetClass="entr" presetSubtype="0" fill="hold" grpId="0" nodeType="withEffect">
                                  <p:stCondLst>
                                    <p:cond delay="600"/>
                                  </p:stCondLst>
                                  <p:childTnLst>
                                    <p:set>
                                      <p:cBhvr>
                                        <p:cTn id="63" dur="1" fill="hold">
                                          <p:stCondLst>
                                            <p:cond delay="0"/>
                                          </p:stCondLst>
                                        </p:cTn>
                                        <p:tgtEl>
                                          <p:spTgt spid="75"/>
                                        </p:tgtEl>
                                        <p:attrNameLst>
                                          <p:attrName>style.visibility</p:attrName>
                                        </p:attrNameLst>
                                      </p:cBhvr>
                                      <p:to>
                                        <p:strVal val="visible"/>
                                      </p:to>
                                    </p:set>
                                    <p:animEffect transition="in" filter="fade">
                                      <p:cBhvr>
                                        <p:cTn id="64" dur="400"/>
                                        <p:tgtEl>
                                          <p:spTgt spid="75"/>
                                        </p:tgtEl>
                                      </p:cBhvr>
                                    </p:animEffect>
                                    <p:anim calcmode="lin" valueType="num">
                                      <p:cBhvr>
                                        <p:cTn id="65" dur="400" fill="hold"/>
                                        <p:tgtEl>
                                          <p:spTgt spid="75"/>
                                        </p:tgtEl>
                                        <p:attrNameLst>
                                          <p:attrName>ppt_x</p:attrName>
                                        </p:attrNameLst>
                                      </p:cBhvr>
                                      <p:tavLst>
                                        <p:tav tm="0">
                                          <p:val>
                                            <p:strVal val="#ppt_x"/>
                                          </p:val>
                                        </p:tav>
                                        <p:tav tm="100000">
                                          <p:val>
                                            <p:strVal val="#ppt_x"/>
                                          </p:val>
                                        </p:tav>
                                      </p:tavLst>
                                    </p:anim>
                                    <p:anim calcmode="lin" valueType="num">
                                      <p:cBhvr>
                                        <p:cTn id="66" dur="400" fill="hold"/>
                                        <p:tgtEl>
                                          <p:spTgt spid="75"/>
                                        </p:tgtEl>
                                        <p:attrNameLst>
                                          <p:attrName>ppt_y</p:attrName>
                                        </p:attrNameLst>
                                      </p:cBhvr>
                                      <p:tavLst>
                                        <p:tav tm="0">
                                          <p:val>
                                            <p:strVal val="#ppt_y+.05"/>
                                          </p:val>
                                        </p:tav>
                                        <p:tav tm="100000">
                                          <p:val>
                                            <p:strVal val="#ppt_y"/>
                                          </p:val>
                                        </p:tav>
                                      </p:tavLst>
                                    </p:anim>
                                  </p:childTnLst>
                                </p:cTn>
                              </p:par>
                              <p:par>
                                <p:cTn id="67" presetID="42" presetClass="entr" presetSubtype="0" fill="hold" grpId="0" nodeType="withEffect">
                                  <p:stCondLst>
                                    <p:cond delay="750"/>
                                  </p:stCondLst>
                                  <p:childTnLst>
                                    <p:set>
                                      <p:cBhvr>
                                        <p:cTn id="68" dur="1" fill="hold">
                                          <p:stCondLst>
                                            <p:cond delay="0"/>
                                          </p:stCondLst>
                                        </p:cTn>
                                        <p:tgtEl>
                                          <p:spTgt spid="83"/>
                                        </p:tgtEl>
                                        <p:attrNameLst>
                                          <p:attrName>style.visibility</p:attrName>
                                        </p:attrNameLst>
                                      </p:cBhvr>
                                      <p:to>
                                        <p:strVal val="visible"/>
                                      </p:to>
                                    </p:set>
                                    <p:animEffect transition="in" filter="fade">
                                      <p:cBhvr>
                                        <p:cTn id="69" dur="400"/>
                                        <p:tgtEl>
                                          <p:spTgt spid="83"/>
                                        </p:tgtEl>
                                      </p:cBhvr>
                                    </p:animEffect>
                                    <p:anim calcmode="lin" valueType="num">
                                      <p:cBhvr>
                                        <p:cTn id="70" dur="400" fill="hold"/>
                                        <p:tgtEl>
                                          <p:spTgt spid="83"/>
                                        </p:tgtEl>
                                        <p:attrNameLst>
                                          <p:attrName>ppt_x</p:attrName>
                                        </p:attrNameLst>
                                      </p:cBhvr>
                                      <p:tavLst>
                                        <p:tav tm="0">
                                          <p:val>
                                            <p:strVal val="#ppt_x"/>
                                          </p:val>
                                        </p:tav>
                                        <p:tav tm="100000">
                                          <p:val>
                                            <p:strVal val="#ppt_x"/>
                                          </p:val>
                                        </p:tav>
                                      </p:tavLst>
                                    </p:anim>
                                    <p:anim calcmode="lin" valueType="num">
                                      <p:cBhvr>
                                        <p:cTn id="71" dur="400" fill="hold"/>
                                        <p:tgtEl>
                                          <p:spTgt spid="83"/>
                                        </p:tgtEl>
                                        <p:attrNameLst>
                                          <p:attrName>ppt_y</p:attrName>
                                        </p:attrNameLst>
                                      </p:cBhvr>
                                      <p:tavLst>
                                        <p:tav tm="0">
                                          <p:val>
                                            <p:strVal val="#ppt_y+.05"/>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150"/>
                                  </p:stCondLst>
                                  <p:childTnLst>
                                    <p:set>
                                      <p:cBhvr>
                                        <p:cTn id="75" dur="1" fill="hold">
                                          <p:stCondLst>
                                            <p:cond delay="0"/>
                                          </p:stCondLst>
                                        </p:cTn>
                                        <p:tgtEl>
                                          <p:spTgt spid="58"/>
                                        </p:tgtEl>
                                        <p:attrNameLst>
                                          <p:attrName>style.visibility</p:attrName>
                                        </p:attrNameLst>
                                      </p:cBhvr>
                                      <p:to>
                                        <p:strVal val="visible"/>
                                      </p:to>
                                    </p:set>
                                    <p:animEffect transition="in" filter="fade">
                                      <p:cBhvr>
                                        <p:cTn id="76" dur="350"/>
                                        <p:tgtEl>
                                          <p:spTgt spid="58"/>
                                        </p:tgtEl>
                                      </p:cBhvr>
                                    </p:animEffect>
                                    <p:anim calcmode="lin" valueType="num">
                                      <p:cBhvr>
                                        <p:cTn id="77" dur="350" fill="hold"/>
                                        <p:tgtEl>
                                          <p:spTgt spid="58"/>
                                        </p:tgtEl>
                                        <p:attrNameLst>
                                          <p:attrName>ppt_w</p:attrName>
                                        </p:attrNameLst>
                                      </p:cBhvr>
                                      <p:tavLst>
                                        <p:tav tm="0">
                                          <p:val>
                                            <p:strVal val="0"/>
                                          </p:val>
                                        </p:tav>
                                        <p:tav tm="100000">
                                          <p:val>
                                            <p:strVal val="#ppt_w"/>
                                          </p:val>
                                        </p:tav>
                                      </p:tavLst>
                                    </p:anim>
                                    <p:anim calcmode="lin" valueType="num">
                                      <p:cBhvr>
                                        <p:cTn id="78" dur="350" fill="hold"/>
                                        <p:tgtEl>
                                          <p:spTgt spid="58"/>
                                        </p:tgtEl>
                                        <p:attrNameLst>
                                          <p:attrName>ppt_h</p:attrName>
                                        </p:attrNameLst>
                                      </p:cBhvr>
                                      <p:tavLst>
                                        <p:tav tm="0">
                                          <p:val>
                                            <p:strVal val="0"/>
                                          </p:val>
                                        </p:tav>
                                        <p:tav tm="100000">
                                          <p:val>
                                            <p:strVal val="#ppt_h"/>
                                          </p:val>
                                        </p:tav>
                                      </p:tavLst>
                                    </p:anim>
                                  </p:childTnLst>
                                </p:cTn>
                              </p:par>
                              <p:par>
                                <p:cTn id="79" presetID="53" presetClass="entr" presetSubtype="16" fill="hold" grpId="0" nodeType="withEffect">
                                  <p:stCondLst>
                                    <p:cond delay="300"/>
                                  </p:stCondLst>
                                  <p:childTnLst>
                                    <p:set>
                                      <p:cBhvr>
                                        <p:cTn id="80" dur="1" fill="hold">
                                          <p:stCondLst>
                                            <p:cond delay="0"/>
                                          </p:stCondLst>
                                        </p:cTn>
                                        <p:tgtEl>
                                          <p:spTgt spid="66"/>
                                        </p:tgtEl>
                                        <p:attrNameLst>
                                          <p:attrName>style.visibility</p:attrName>
                                        </p:attrNameLst>
                                      </p:cBhvr>
                                      <p:to>
                                        <p:strVal val="visible"/>
                                      </p:to>
                                    </p:set>
                                    <p:animEffect transition="in" filter="fade">
                                      <p:cBhvr>
                                        <p:cTn id="81" dur="350"/>
                                        <p:tgtEl>
                                          <p:spTgt spid="66"/>
                                        </p:tgtEl>
                                      </p:cBhvr>
                                    </p:animEffect>
                                    <p:anim calcmode="lin" valueType="num">
                                      <p:cBhvr>
                                        <p:cTn id="82" dur="350" fill="hold"/>
                                        <p:tgtEl>
                                          <p:spTgt spid="66"/>
                                        </p:tgtEl>
                                        <p:attrNameLst>
                                          <p:attrName>ppt_w</p:attrName>
                                        </p:attrNameLst>
                                      </p:cBhvr>
                                      <p:tavLst>
                                        <p:tav tm="0">
                                          <p:val>
                                            <p:strVal val="0"/>
                                          </p:val>
                                        </p:tav>
                                        <p:tav tm="100000">
                                          <p:val>
                                            <p:strVal val="#ppt_w"/>
                                          </p:val>
                                        </p:tav>
                                      </p:tavLst>
                                    </p:anim>
                                    <p:anim calcmode="lin" valueType="num">
                                      <p:cBhvr>
                                        <p:cTn id="83" dur="350" fill="hold"/>
                                        <p:tgtEl>
                                          <p:spTgt spid="66"/>
                                        </p:tgtEl>
                                        <p:attrNameLst>
                                          <p:attrName>ppt_h</p:attrName>
                                        </p:attrNameLst>
                                      </p:cBhvr>
                                      <p:tavLst>
                                        <p:tav tm="0">
                                          <p:val>
                                            <p:strVal val="0"/>
                                          </p:val>
                                        </p:tav>
                                        <p:tav tm="100000">
                                          <p:val>
                                            <p:strVal val="#ppt_h"/>
                                          </p:val>
                                        </p:tav>
                                      </p:tavLst>
                                    </p:anim>
                                  </p:childTnLst>
                                </p:cTn>
                              </p:par>
                              <p:par>
                                <p:cTn id="84" presetID="53" presetClass="entr" presetSubtype="16" fill="hold" grpId="0" nodeType="withEffect">
                                  <p:stCondLst>
                                    <p:cond delay="450"/>
                                  </p:stCondLst>
                                  <p:childTnLst>
                                    <p:set>
                                      <p:cBhvr>
                                        <p:cTn id="85" dur="1" fill="hold">
                                          <p:stCondLst>
                                            <p:cond delay="0"/>
                                          </p:stCondLst>
                                        </p:cTn>
                                        <p:tgtEl>
                                          <p:spTgt spid="74"/>
                                        </p:tgtEl>
                                        <p:attrNameLst>
                                          <p:attrName>style.visibility</p:attrName>
                                        </p:attrNameLst>
                                      </p:cBhvr>
                                      <p:to>
                                        <p:strVal val="visible"/>
                                      </p:to>
                                    </p:set>
                                    <p:animEffect transition="in" filter="fade">
                                      <p:cBhvr>
                                        <p:cTn id="86" dur="350"/>
                                        <p:tgtEl>
                                          <p:spTgt spid="74"/>
                                        </p:tgtEl>
                                      </p:cBhvr>
                                    </p:animEffect>
                                    <p:anim calcmode="lin" valueType="num">
                                      <p:cBhvr>
                                        <p:cTn id="87" dur="350" fill="hold"/>
                                        <p:tgtEl>
                                          <p:spTgt spid="74"/>
                                        </p:tgtEl>
                                        <p:attrNameLst>
                                          <p:attrName>ppt_w</p:attrName>
                                        </p:attrNameLst>
                                      </p:cBhvr>
                                      <p:tavLst>
                                        <p:tav tm="0">
                                          <p:val>
                                            <p:strVal val="0"/>
                                          </p:val>
                                        </p:tav>
                                        <p:tav tm="100000">
                                          <p:val>
                                            <p:strVal val="#ppt_w"/>
                                          </p:val>
                                        </p:tav>
                                      </p:tavLst>
                                    </p:anim>
                                    <p:anim calcmode="lin" valueType="num">
                                      <p:cBhvr>
                                        <p:cTn id="88" dur="350" fill="hold"/>
                                        <p:tgtEl>
                                          <p:spTgt spid="74"/>
                                        </p:tgtEl>
                                        <p:attrNameLst>
                                          <p:attrName>ppt_h</p:attrName>
                                        </p:attrNameLst>
                                      </p:cBhvr>
                                      <p:tavLst>
                                        <p:tav tm="0">
                                          <p:val>
                                            <p:strVal val="0"/>
                                          </p:val>
                                        </p:tav>
                                        <p:tav tm="100000">
                                          <p:val>
                                            <p:strVal val="#ppt_h"/>
                                          </p:val>
                                        </p:tav>
                                      </p:tavLst>
                                    </p:anim>
                                  </p:childTnLst>
                                </p:cTn>
                              </p:par>
                              <p:par>
                                <p:cTn id="89" presetID="53" presetClass="entr" presetSubtype="16" fill="hold" grpId="0" nodeType="withEffect">
                                  <p:stCondLst>
                                    <p:cond delay="600"/>
                                  </p:stCondLst>
                                  <p:childTnLst>
                                    <p:set>
                                      <p:cBhvr>
                                        <p:cTn id="90" dur="1" fill="hold">
                                          <p:stCondLst>
                                            <p:cond delay="0"/>
                                          </p:stCondLst>
                                        </p:cTn>
                                        <p:tgtEl>
                                          <p:spTgt spid="82"/>
                                        </p:tgtEl>
                                        <p:attrNameLst>
                                          <p:attrName>style.visibility</p:attrName>
                                        </p:attrNameLst>
                                      </p:cBhvr>
                                      <p:to>
                                        <p:strVal val="visible"/>
                                      </p:to>
                                    </p:set>
                                    <p:animEffect transition="in" filter="fade">
                                      <p:cBhvr>
                                        <p:cTn id="91" dur="350"/>
                                        <p:tgtEl>
                                          <p:spTgt spid="82"/>
                                        </p:tgtEl>
                                      </p:cBhvr>
                                    </p:animEffect>
                                    <p:anim calcmode="lin" valueType="num">
                                      <p:cBhvr>
                                        <p:cTn id="92" dur="350" fill="hold"/>
                                        <p:tgtEl>
                                          <p:spTgt spid="82"/>
                                        </p:tgtEl>
                                        <p:attrNameLst>
                                          <p:attrName>ppt_w</p:attrName>
                                        </p:attrNameLst>
                                      </p:cBhvr>
                                      <p:tavLst>
                                        <p:tav tm="0">
                                          <p:val>
                                            <p:strVal val="0"/>
                                          </p:val>
                                        </p:tav>
                                        <p:tav tm="100000">
                                          <p:val>
                                            <p:strVal val="#ppt_w"/>
                                          </p:val>
                                        </p:tav>
                                      </p:tavLst>
                                    </p:anim>
                                    <p:anim calcmode="lin" valueType="num">
                                      <p:cBhvr>
                                        <p:cTn id="93" dur="350" fill="hold"/>
                                        <p:tgtEl>
                                          <p:spTgt spid="82"/>
                                        </p:tgtEl>
                                        <p:attrNameLst>
                                          <p:attrName>ppt_h</p:attrName>
                                        </p:attrNameLst>
                                      </p:cBhvr>
                                      <p:tavLst>
                                        <p:tav tm="0">
                                          <p:val>
                                            <p:strVal val="0"/>
                                          </p:val>
                                        </p:tav>
                                        <p:tav tm="100000">
                                          <p:val>
                                            <p:strVal val="#ppt_h"/>
                                          </p:val>
                                        </p:tav>
                                      </p:tavLst>
                                    </p:anim>
                                  </p:childTnLst>
                                </p:cTn>
                              </p:par>
                              <p:par>
                                <p:cTn id="94" presetID="53" presetClass="entr" presetSubtype="16" fill="hold" grpId="0" nodeType="withEffect">
                                  <p:stCondLst>
                                    <p:cond delay="750"/>
                                  </p:stCondLst>
                                  <p:childTnLst>
                                    <p:set>
                                      <p:cBhvr>
                                        <p:cTn id="95" dur="1" fill="hold">
                                          <p:stCondLst>
                                            <p:cond delay="0"/>
                                          </p:stCondLst>
                                        </p:cTn>
                                        <p:tgtEl>
                                          <p:spTgt spid="90"/>
                                        </p:tgtEl>
                                        <p:attrNameLst>
                                          <p:attrName>style.visibility</p:attrName>
                                        </p:attrNameLst>
                                      </p:cBhvr>
                                      <p:to>
                                        <p:strVal val="visible"/>
                                      </p:to>
                                    </p:set>
                                    <p:animEffect transition="in" filter="fade">
                                      <p:cBhvr>
                                        <p:cTn id="96" dur="350"/>
                                        <p:tgtEl>
                                          <p:spTgt spid="90"/>
                                        </p:tgtEl>
                                      </p:cBhvr>
                                    </p:animEffect>
                                    <p:anim calcmode="lin" valueType="num">
                                      <p:cBhvr>
                                        <p:cTn id="97" dur="350" fill="hold"/>
                                        <p:tgtEl>
                                          <p:spTgt spid="90"/>
                                        </p:tgtEl>
                                        <p:attrNameLst>
                                          <p:attrName>ppt_w</p:attrName>
                                        </p:attrNameLst>
                                      </p:cBhvr>
                                      <p:tavLst>
                                        <p:tav tm="0">
                                          <p:val>
                                            <p:strVal val="0"/>
                                          </p:val>
                                        </p:tav>
                                        <p:tav tm="100000">
                                          <p:val>
                                            <p:strVal val="#ppt_w"/>
                                          </p:val>
                                        </p:tav>
                                      </p:tavLst>
                                    </p:anim>
                                    <p:anim calcmode="lin" valueType="num">
                                      <p:cBhvr>
                                        <p:cTn id="98" dur="350" fill="hold"/>
                                        <p:tgtEl>
                                          <p:spTgt spid="9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50" grpId="0" animBg="1"/>
      <p:bldP spid="58" grpId="0" animBg="1"/>
      <p:bldP spid="66" grpId="0" animBg="1"/>
      <p:bldP spid="74" grpId="0" animBg="1"/>
      <p:bldP spid="82" grpId="0" animBg="1"/>
      <p:bldP spid="9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2 · THIẾT KẾ PHẦN CỨNG</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Phần cứng: 2 IMU trên 2 bus SPI, 2 động cơ chung bus RS485</a:t>
            </a:r>
          </a:p>
        </p:txBody>
      </p:sp>
      <p:grpSp>
        <p:nvGrpSpPr>
          <p:cNvPr id="4" name="Group 3"/>
          <p:cNvGrpSpPr/>
          <p:nvPr/>
        </p:nvGrpSpPr>
        <p:grpSpPr>
          <a:xfrm>
            <a:off x="502920" y="1261872"/>
            <a:ext cx="3017520" cy="3310128"/>
            <a:chOff x="502920" y="1261872"/>
            <a:chExt cx="3017520" cy="3310128"/>
          </a:xfrm>
        </p:grpSpPr>
        <p:sp>
          <p:nvSpPr>
            <p:cNvPr id="5" name="Rounded Rectangle 4"/>
            <p:cNvSpPr/>
            <p:nvPr/>
          </p:nvSpPr>
          <p:spPr>
            <a:xfrm>
              <a:off x="502920" y="1261872"/>
              <a:ext cx="3017520" cy="3310128"/>
            </a:xfrm>
            <a:prstGeom prst="roundRect">
              <a:avLst>
                <a:gd name="adj" fmla="val 303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6" name="Picture 5" descr="compass_0A5FA8.png"/>
            <p:cNvPicPr>
              <a:picLocks noChangeAspect="1"/>
            </p:cNvPicPr>
            <p:nvPr/>
          </p:nvPicPr>
          <p:blipFill>
            <a:blip r:embed="rId2"/>
            <a:stretch>
              <a:fillRect/>
            </a:stretch>
          </p:blipFill>
          <p:spPr>
            <a:xfrm>
              <a:off x="640080" y="1353312"/>
              <a:ext cx="237744" cy="237744"/>
            </a:xfrm>
            <a:prstGeom prst="rect">
              <a:avLst/>
            </a:prstGeom>
          </p:spPr>
        </p:pic>
        <p:sp>
          <p:nvSpPr>
            <p:cNvPr id="7" name="TextBox 6"/>
            <p:cNvSpPr txBox="1"/>
            <p:nvPr/>
          </p:nvSpPr>
          <p:spPr>
            <a:xfrm>
              <a:off x="969264" y="1325880"/>
              <a:ext cx="241401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MIỀN CẢM BIẾN</a:t>
              </a:r>
            </a:p>
          </p:txBody>
        </p:sp>
        <p:pic>
          <p:nvPicPr>
            <p:cNvPr id="8" name="Picture 7" descr="icm20948.png"/>
            <p:cNvPicPr>
              <a:picLocks noChangeAspect="1"/>
            </p:cNvPicPr>
            <p:nvPr/>
          </p:nvPicPr>
          <p:blipFill>
            <a:blip r:embed="rId3"/>
            <a:stretch>
              <a:fillRect/>
            </a:stretch>
          </p:blipFill>
          <p:spPr>
            <a:xfrm>
              <a:off x="1298448" y="1664208"/>
              <a:ext cx="1417320" cy="963450"/>
            </a:xfrm>
            <a:prstGeom prst="rect">
              <a:avLst/>
            </a:prstGeom>
          </p:spPr>
        </p:pic>
        <p:sp>
          <p:nvSpPr>
            <p:cNvPr id="9" name="Rounded Rectangle 8"/>
            <p:cNvSpPr/>
            <p:nvPr/>
          </p:nvSpPr>
          <p:spPr>
            <a:xfrm>
              <a:off x="640080" y="2724912"/>
              <a:ext cx="2743200" cy="749808"/>
            </a:xfrm>
            <a:prstGeom prst="roundRect">
              <a:avLst>
                <a:gd name="adj" fmla="val 9756"/>
              </a:avLst>
            </a:prstGeom>
            <a:solidFill>
              <a:srgbClr val="EAF3FB"/>
            </a:solidFill>
            <a:ln>
              <a:noFill/>
            </a:ln>
          </p:spPr>
          <p:txBody>
            <a:bodyPr rtlCol="0" anchor="ctr" lIns="54864" tIns="54864" rIns="54864" bIns="54864" wrap="square">
              <a:noAutofit/>
            </a:bodyPr>
            <a:lstStyle/>
            <a:p>
              <a:pPr algn="ctr"/>
              <a:r>
                <a:rPr sz="1450" b="1" i="0" lang="vi-VN">
                  <a:solidFill>
                    <a:srgbClr val="1E2B3A"/>
                  </a:solidFill>
                  <a:latin typeface="Arial"/>
                  <a:ea typeface="Arial"/>
                  <a:cs typeface="Arial"/>
                </a:rPr>
                <a:t>IMU1</a:t>
              </a:r>
              <a:r>
                <a:rPr sz="1450" b="0" i="0" lang="vi-VN">
                  <a:solidFill>
                    <a:srgbClr val="1E2B3A"/>
                  </a:solidFill>
                  <a:latin typeface="Arial"/>
                  <a:ea typeface="Arial"/>
                  <a:cs typeface="Arial"/>
                </a:rPr>
                <a:t> · trên camera</a:t>
              </a:r>
            </a:p>
            <a:p>
              <a:pPr algn="ctr"/>
              <a:r>
                <a:rPr sz="1250" b="0" i="0" lang="vi-VN">
                  <a:solidFill>
                    <a:srgbClr val="5B6B7B"/>
                  </a:solidFill>
                  <a:latin typeface="Arial"/>
                  <a:ea typeface="Arial"/>
                  <a:cs typeface="Arial"/>
                </a:rPr>
                <a:t>ICM20948 · SPI1 · 500 Hz</a:t>
              </a:r>
            </a:p>
          </p:txBody>
        </p:sp>
        <p:sp>
          <p:nvSpPr>
            <p:cNvPr id="10" name="Rounded Rectangle 9"/>
            <p:cNvSpPr/>
            <p:nvPr/>
          </p:nvSpPr>
          <p:spPr>
            <a:xfrm>
              <a:off x="640080" y="3611880"/>
              <a:ext cx="2743200" cy="749808"/>
            </a:xfrm>
            <a:prstGeom prst="roundRect">
              <a:avLst>
                <a:gd name="adj" fmla="val 9756"/>
              </a:avLst>
            </a:prstGeom>
            <a:solidFill>
              <a:srgbClr val="EAF3FB"/>
            </a:solidFill>
            <a:ln>
              <a:noFill/>
            </a:ln>
          </p:spPr>
          <p:txBody>
            <a:bodyPr rtlCol="0" anchor="ctr" lIns="54864" tIns="54864" rIns="54864" bIns="54864" wrap="square">
              <a:noAutofit/>
            </a:bodyPr>
            <a:lstStyle/>
            <a:p>
              <a:pPr algn="ctr"/>
              <a:r>
                <a:rPr sz="1450" b="1" i="0" lang="vi-VN">
                  <a:solidFill>
                    <a:srgbClr val="1E2B3A"/>
                  </a:solidFill>
                  <a:latin typeface="Arial"/>
                  <a:ea typeface="Arial"/>
                  <a:cs typeface="Arial"/>
                </a:rPr>
                <a:t>IMU2</a:t>
              </a:r>
              <a:r>
                <a:rPr sz="1450" b="0" i="0" lang="vi-VN">
                  <a:solidFill>
                    <a:srgbClr val="1E2B3A"/>
                  </a:solidFill>
                  <a:latin typeface="Arial"/>
                  <a:ea typeface="Arial"/>
                  <a:cs typeface="Arial"/>
                </a:rPr>
                <a:t> · trên khung mang</a:t>
              </a:r>
            </a:p>
            <a:p>
              <a:pPr algn="ctr"/>
              <a:r>
                <a:rPr sz="1250" b="0" i="0" lang="vi-VN">
                  <a:solidFill>
                    <a:srgbClr val="5B6B7B"/>
                  </a:solidFill>
                  <a:latin typeface="Arial"/>
                  <a:ea typeface="Arial"/>
                  <a:cs typeface="Arial"/>
                </a:rPr>
                <a:t>ICM20948 · SPI2 · 500 Hz</a:t>
              </a:r>
            </a:p>
          </p:txBody>
        </p:sp>
      </p:grpSp>
      <p:grpSp>
        <p:nvGrpSpPr>
          <p:cNvPr id="11" name="Group 10"/>
          <p:cNvGrpSpPr/>
          <p:nvPr/>
        </p:nvGrpSpPr>
        <p:grpSpPr>
          <a:xfrm>
            <a:off x="4069080" y="1261872"/>
            <a:ext cx="3566160" cy="3310128"/>
            <a:chOff x="4069080" y="1261872"/>
            <a:chExt cx="3566160" cy="3310128"/>
          </a:xfrm>
        </p:grpSpPr>
        <p:sp>
          <p:nvSpPr>
            <p:cNvPr id="12" name="Rounded Rectangle 11"/>
            <p:cNvSpPr/>
            <p:nvPr/>
          </p:nvSpPr>
          <p:spPr>
            <a:xfrm>
              <a:off x="4069080" y="1261872"/>
              <a:ext cx="3566160" cy="3310128"/>
            </a:xfrm>
            <a:prstGeom prst="roundRect">
              <a:avLst>
                <a:gd name="adj" fmla="val 276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3" name="Picture 12" descr="chip_0A5FA8.png"/>
            <p:cNvPicPr>
              <a:picLocks noChangeAspect="1"/>
            </p:cNvPicPr>
            <p:nvPr/>
          </p:nvPicPr>
          <p:blipFill>
            <a:blip r:embed="rId4"/>
            <a:stretch>
              <a:fillRect/>
            </a:stretch>
          </p:blipFill>
          <p:spPr>
            <a:xfrm>
              <a:off x="4206240" y="1353312"/>
              <a:ext cx="237744" cy="237744"/>
            </a:xfrm>
            <a:prstGeom prst="rect">
              <a:avLst/>
            </a:prstGeom>
          </p:spPr>
        </p:pic>
        <p:sp>
          <p:nvSpPr>
            <p:cNvPr id="14" name="TextBox 13"/>
            <p:cNvSpPr txBox="1"/>
            <p:nvPr/>
          </p:nvSpPr>
          <p:spPr>
            <a:xfrm>
              <a:off x="4535424" y="1325880"/>
              <a:ext cx="296265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MIỀN XỬ LÝ</a:t>
              </a:r>
            </a:p>
          </p:txBody>
        </p:sp>
        <p:pic>
          <p:nvPicPr>
            <p:cNvPr id="15" name="Picture 14" descr="stm32.png"/>
            <p:cNvPicPr>
              <a:picLocks noChangeAspect="1"/>
            </p:cNvPicPr>
            <p:nvPr/>
          </p:nvPicPr>
          <p:blipFill>
            <a:blip r:embed="rId5"/>
            <a:stretch>
              <a:fillRect/>
            </a:stretch>
          </p:blipFill>
          <p:spPr>
            <a:xfrm>
              <a:off x="5349240" y="1645920"/>
              <a:ext cx="1024128" cy="974533"/>
            </a:xfrm>
            <a:prstGeom prst="rect">
              <a:avLst/>
            </a:prstGeom>
          </p:spPr>
        </p:pic>
        <p:sp>
          <p:nvSpPr>
            <p:cNvPr id="16" name="Rounded Rectangle 15"/>
            <p:cNvSpPr/>
            <p:nvPr/>
          </p:nvSpPr>
          <p:spPr>
            <a:xfrm>
              <a:off x="4206240" y="2724912"/>
              <a:ext cx="3291840" cy="749808"/>
            </a:xfrm>
            <a:prstGeom prst="roundRect">
              <a:avLst>
                <a:gd name="adj" fmla="val 9756"/>
              </a:avLst>
            </a:prstGeom>
            <a:solidFill>
              <a:srgbClr val="EAF3FB"/>
            </a:solidFill>
            <a:ln>
              <a:noFill/>
            </a:ln>
          </p:spPr>
          <p:txBody>
            <a:bodyPr rtlCol="0" anchor="ctr" lIns="54864" tIns="54864" rIns="54864" bIns="54864" wrap="square">
              <a:noAutofit/>
            </a:bodyPr>
            <a:lstStyle/>
            <a:p>
              <a:pPr algn="ctr"/>
              <a:r>
                <a:rPr sz="1500" b="1" i="0" lang="vi-VN">
                  <a:solidFill>
                    <a:srgbClr val="1E2B3A"/>
                  </a:solidFill>
                  <a:latin typeface="Arial"/>
                  <a:ea typeface="Arial"/>
                  <a:cs typeface="Arial"/>
                </a:rPr>
                <a:t>STM32F407VET6</a:t>
              </a:r>
            </a:p>
            <a:p>
              <a:pPr algn="ctr"/>
              <a:r>
                <a:rPr sz="1250" b="0" i="0" lang="vi-VN">
                  <a:solidFill>
                    <a:srgbClr val="5B6B7B"/>
                  </a:solidFill>
                  <a:latin typeface="Arial"/>
                  <a:ea typeface="Arial"/>
                  <a:cs typeface="Arial"/>
                </a:rPr>
                <a:t>Cortex-M4F · 168 MHz · FPU</a:t>
              </a:r>
            </a:p>
          </p:txBody>
        </p:sp>
        <p:sp>
          <p:nvSpPr>
            <p:cNvPr id="17" name="Rounded Rectangle 16"/>
            <p:cNvSpPr/>
            <p:nvPr/>
          </p:nvSpPr>
          <p:spPr>
            <a:xfrm>
              <a:off x="4206240" y="3611880"/>
              <a:ext cx="3291840" cy="749808"/>
            </a:xfrm>
            <a:prstGeom prst="roundRect">
              <a:avLst>
                <a:gd name="adj" fmla="val 9756"/>
              </a:avLst>
            </a:prstGeom>
            <a:solidFill>
              <a:srgbClr val="0B2545"/>
            </a:solidFill>
            <a:ln>
              <a:noFill/>
            </a:ln>
          </p:spPr>
          <p:txBody>
            <a:bodyPr rtlCol="0" anchor="ctr" lIns="54864" tIns="54864" rIns="54864" bIns="54864" wrap="square">
              <a:noAutofit/>
            </a:bodyPr>
            <a:lstStyle/>
            <a:p>
              <a:pPr algn="ctr"/>
              <a:r>
                <a:rPr sz="1500" b="1" i="0" lang="vi-VN">
                  <a:solidFill>
                    <a:srgbClr val="FFFFFF"/>
                  </a:solidFill>
                  <a:latin typeface="Arial"/>
                  <a:ea typeface="Arial"/>
                  <a:cs typeface="Arial"/>
                </a:rPr>
                <a:t>Apache NuttX</a:t>
              </a:r>
            </a:p>
            <a:p>
              <a:pPr algn="ctr"/>
              <a:r>
                <a:rPr sz="1250" b="0" i="0" lang="vi-VN">
                  <a:solidFill>
                    <a:srgbClr val="CFE3F7"/>
                  </a:solidFill>
                  <a:latin typeface="Arial"/>
                  <a:ea typeface="Arial"/>
                  <a:cs typeface="Arial"/>
                </a:rPr>
                <a:t>7 luồng thời gian thực · SCHED_FIFO</a:t>
              </a:r>
            </a:p>
          </p:txBody>
        </p:sp>
      </p:grpSp>
      <p:grpSp>
        <p:nvGrpSpPr>
          <p:cNvPr id="18" name="Group 17"/>
          <p:cNvGrpSpPr/>
          <p:nvPr/>
        </p:nvGrpSpPr>
        <p:grpSpPr>
          <a:xfrm>
            <a:off x="8183880" y="1261872"/>
            <a:ext cx="3520440" cy="3310128"/>
            <a:chOff x="8183880" y="1261872"/>
            <a:chExt cx="3520440" cy="3310128"/>
          </a:xfrm>
        </p:grpSpPr>
        <p:sp>
          <p:nvSpPr>
            <p:cNvPr id="19" name="Rounded Rectangle 18"/>
            <p:cNvSpPr/>
            <p:nvPr/>
          </p:nvSpPr>
          <p:spPr>
            <a:xfrm>
              <a:off x="8183880" y="1261872"/>
              <a:ext cx="3520440" cy="3310128"/>
            </a:xfrm>
            <a:prstGeom prst="roundRect">
              <a:avLst>
                <a:gd name="adj" fmla="val 276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0" name="Picture 19" descr="cog_0A5FA8.png"/>
            <p:cNvPicPr>
              <a:picLocks noChangeAspect="1"/>
            </p:cNvPicPr>
            <p:nvPr/>
          </p:nvPicPr>
          <p:blipFill>
            <a:blip r:embed="rId6"/>
            <a:stretch>
              <a:fillRect/>
            </a:stretch>
          </p:blipFill>
          <p:spPr>
            <a:xfrm>
              <a:off x="8321040" y="1353312"/>
              <a:ext cx="237744" cy="237744"/>
            </a:xfrm>
            <a:prstGeom prst="rect">
              <a:avLst/>
            </a:prstGeom>
          </p:spPr>
        </p:pic>
        <p:sp>
          <p:nvSpPr>
            <p:cNvPr id="21" name="TextBox 20"/>
            <p:cNvSpPr txBox="1"/>
            <p:nvPr/>
          </p:nvSpPr>
          <p:spPr>
            <a:xfrm>
              <a:off x="8650224" y="1325880"/>
              <a:ext cx="296265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MIỀN TRUYỀN ĐỘNG</a:t>
              </a:r>
            </a:p>
          </p:txBody>
        </p:sp>
        <p:pic>
          <p:nvPicPr>
            <p:cNvPr id="22" name="Picture 21" descr="ms3506.png"/>
            <p:cNvPicPr>
              <a:picLocks noChangeAspect="1"/>
            </p:cNvPicPr>
            <p:nvPr/>
          </p:nvPicPr>
          <p:blipFill>
            <a:blip r:embed="rId7"/>
            <a:stretch>
              <a:fillRect/>
            </a:stretch>
          </p:blipFill>
          <p:spPr>
            <a:xfrm>
              <a:off x="9052560" y="1645920"/>
              <a:ext cx="1783080" cy="943858"/>
            </a:xfrm>
            <a:prstGeom prst="rect">
              <a:avLst/>
            </a:prstGeom>
          </p:spPr>
        </p:pic>
        <p:sp>
          <p:nvSpPr>
            <p:cNvPr id="23" name="Rounded Rectangle 22"/>
            <p:cNvSpPr/>
            <p:nvPr/>
          </p:nvSpPr>
          <p:spPr>
            <a:xfrm>
              <a:off x="8321040" y="2724912"/>
              <a:ext cx="3246120" cy="548640"/>
            </a:xfrm>
            <a:prstGeom prst="roundRect">
              <a:avLst>
                <a:gd name="adj" fmla="val 13333"/>
              </a:avLst>
            </a:prstGeom>
            <a:solidFill>
              <a:srgbClr val="EAF3FB"/>
            </a:solidFill>
            <a:ln>
              <a:noFill/>
            </a:ln>
          </p:spPr>
          <p:txBody>
            <a:bodyPr rtlCol="0" anchor="ctr" lIns="54864" tIns="54864" rIns="54864" bIns="54864" wrap="square">
              <a:noAutofit/>
            </a:bodyPr>
            <a:lstStyle/>
            <a:p>
              <a:pPr algn="ctr"/>
              <a:r>
                <a:rPr sz="1300" b="1" i="0" lang="vi-VN">
                  <a:solidFill>
                    <a:srgbClr val="1E2B3A"/>
                  </a:solidFill>
                  <a:latin typeface="Arial"/>
                  <a:ea typeface="Arial"/>
                  <a:cs typeface="Arial"/>
                </a:rPr>
                <a:t>MAX485</a:t>
              </a:r>
              <a:r>
                <a:rPr sz="1300" b="0" i="0" lang="vi-VN">
                  <a:solidFill>
                    <a:srgbClr val="1E2B3A"/>
                  </a:solidFill>
                  <a:latin typeface="Arial"/>
                  <a:ea typeface="Arial"/>
                  <a:cs typeface="Arial"/>
                </a:rPr>
                <a:t> · RS485 bán song công</a:t>
              </a:r>
            </a:p>
          </p:txBody>
        </p:sp>
        <p:cxnSp>
          <p:nvCxnSpPr>
            <p:cNvPr id="24" name="Connector 23"/>
            <p:cNvCxnSpPr/>
            <p:nvPr/>
          </p:nvCxnSpPr>
          <p:spPr>
            <a:xfrm>
              <a:off x="8732520" y="3447288"/>
              <a:ext cx="2423160" cy="0"/>
            </a:xfrm>
            <a:prstGeom prst="line">
              <a:avLst/>
            </a:prstGeom>
            <a:ln w="38100">
              <a:solidFill>
                <a:srgbClr val="0A5FA8"/>
              </a:solidFill>
            </a:ln>
          </p:spPr>
        </p:cxnSp>
        <p:cxnSp>
          <p:nvCxnSpPr>
            <p:cNvPr id="25" name="Connector 24"/>
            <p:cNvCxnSpPr/>
            <p:nvPr/>
          </p:nvCxnSpPr>
          <p:spPr>
            <a:xfrm>
              <a:off x="9948672" y="3273552"/>
              <a:ext cx="0" cy="173736"/>
            </a:xfrm>
            <a:prstGeom prst="line">
              <a:avLst/>
            </a:prstGeom>
            <a:ln w="25400">
              <a:solidFill>
                <a:srgbClr val="0A5FA8"/>
              </a:solidFill>
            </a:ln>
          </p:spPr>
        </p:cxnSp>
        <p:cxnSp>
          <p:nvCxnSpPr>
            <p:cNvPr id="26" name="Connector 25"/>
            <p:cNvCxnSpPr/>
            <p:nvPr/>
          </p:nvCxnSpPr>
          <p:spPr>
            <a:xfrm>
              <a:off x="9098280" y="3447288"/>
              <a:ext cx="0" cy="164592"/>
            </a:xfrm>
            <a:prstGeom prst="line">
              <a:avLst/>
            </a:prstGeom>
            <a:ln w="25400">
              <a:solidFill>
                <a:srgbClr val="0A5FA8"/>
              </a:solidFill>
            </a:ln>
          </p:spPr>
        </p:cxnSp>
        <p:sp>
          <p:nvSpPr>
            <p:cNvPr id="27" name="Rounded Rectangle 26"/>
            <p:cNvSpPr/>
            <p:nvPr/>
          </p:nvSpPr>
          <p:spPr>
            <a:xfrm>
              <a:off x="8321040" y="3611880"/>
              <a:ext cx="1554480" cy="749808"/>
            </a:xfrm>
            <a:prstGeom prst="roundRect">
              <a:avLst>
                <a:gd name="adj" fmla="val 9756"/>
              </a:avLst>
            </a:prstGeom>
            <a:solidFill>
              <a:srgbClr val="1F5FAF"/>
            </a:solidFill>
            <a:ln>
              <a:noFill/>
            </a:ln>
          </p:spPr>
          <p:txBody>
            <a:bodyPr rtlCol="0" anchor="ctr" lIns="54864" tIns="54864" rIns="54864" bIns="54864" wrap="square">
              <a:noAutofit/>
            </a:bodyPr>
            <a:lstStyle/>
            <a:p>
              <a:pPr algn="ctr"/>
              <a:r>
                <a:rPr sz="1350" b="1" i="0" lang="vi-VN">
                  <a:solidFill>
                    <a:srgbClr val="FFFFFF"/>
                  </a:solidFill>
                  <a:latin typeface="Arial"/>
                  <a:ea typeface="Arial"/>
                  <a:cs typeface="Arial"/>
                </a:rPr>
                <a:t>MS3506 · Yaw</a:t>
              </a:r>
            </a:p>
            <a:p>
              <a:pPr algn="ctr"/>
              <a:r>
                <a:rPr sz="1250" b="0" i="0" lang="vi-VN">
                  <a:solidFill>
                    <a:srgbClr val="FFFFFF"/>
                  </a:solidFill>
                  <a:latin typeface="Arial"/>
                  <a:ea typeface="Arial"/>
                  <a:cs typeface="Arial"/>
                </a:rPr>
                <a:t>ID 1</a:t>
              </a:r>
            </a:p>
          </p:txBody>
        </p:sp>
        <p:cxnSp>
          <p:nvCxnSpPr>
            <p:cNvPr id="28" name="Connector 27"/>
            <p:cNvCxnSpPr/>
            <p:nvPr/>
          </p:nvCxnSpPr>
          <p:spPr>
            <a:xfrm>
              <a:off x="10789920" y="3447288"/>
              <a:ext cx="0" cy="164592"/>
            </a:xfrm>
            <a:prstGeom prst="line">
              <a:avLst/>
            </a:prstGeom>
            <a:ln w="25400">
              <a:solidFill>
                <a:srgbClr val="0A5FA8"/>
              </a:solidFill>
            </a:ln>
          </p:spPr>
        </p:cxnSp>
        <p:sp>
          <p:nvSpPr>
            <p:cNvPr id="29" name="Rounded Rectangle 28"/>
            <p:cNvSpPr/>
            <p:nvPr/>
          </p:nvSpPr>
          <p:spPr>
            <a:xfrm>
              <a:off x="10012680" y="3611880"/>
              <a:ext cx="1554480" cy="749808"/>
            </a:xfrm>
            <a:prstGeom prst="roundRect">
              <a:avLst>
                <a:gd name="adj" fmla="val 9756"/>
              </a:avLst>
            </a:prstGeom>
            <a:solidFill>
              <a:srgbClr val="2E8B57"/>
            </a:solidFill>
            <a:ln>
              <a:noFill/>
            </a:ln>
          </p:spPr>
          <p:txBody>
            <a:bodyPr rtlCol="0" anchor="ctr" lIns="54864" tIns="54864" rIns="54864" bIns="54864" wrap="square">
              <a:noAutofit/>
            </a:bodyPr>
            <a:lstStyle/>
            <a:p>
              <a:pPr algn="ctr"/>
              <a:r>
                <a:rPr sz="1350" b="1" i="0" lang="vi-VN">
                  <a:solidFill>
                    <a:srgbClr val="FFFFFF"/>
                  </a:solidFill>
                  <a:latin typeface="Arial"/>
                  <a:ea typeface="Arial"/>
                  <a:cs typeface="Arial"/>
                </a:rPr>
                <a:t>MS3506 · Pitch</a:t>
              </a:r>
            </a:p>
            <a:p>
              <a:pPr algn="ctr"/>
              <a:r>
                <a:rPr sz="1250" b="0" i="0" lang="vi-VN">
                  <a:solidFill>
                    <a:srgbClr val="FFFFFF"/>
                  </a:solidFill>
                  <a:latin typeface="Arial"/>
                  <a:ea typeface="Arial"/>
                  <a:cs typeface="Arial"/>
                </a:rPr>
                <a:t>ID 2</a:t>
              </a:r>
            </a:p>
          </p:txBody>
        </p:sp>
      </p:grpSp>
      <p:grpSp>
        <p:nvGrpSpPr>
          <p:cNvPr id="30" name="Group 29"/>
          <p:cNvGrpSpPr/>
          <p:nvPr/>
        </p:nvGrpSpPr>
        <p:grpSpPr>
          <a:xfrm>
            <a:off x="3401568" y="2798064"/>
            <a:ext cx="786384" cy="1188720"/>
            <a:chOff x="3401568" y="2798064"/>
            <a:chExt cx="786384" cy="1188720"/>
          </a:xfrm>
        </p:grpSpPr>
        <p:cxnSp>
          <p:nvCxnSpPr>
            <p:cNvPr id="31" name="Connector 30"/>
            <p:cNvCxnSpPr/>
            <p:nvPr/>
          </p:nvCxnSpPr>
          <p:spPr>
            <a:xfrm>
              <a:off x="3401568" y="3099816"/>
              <a:ext cx="786384" cy="0"/>
            </a:xfrm>
            <a:prstGeom prst="line">
              <a:avLst/>
            </a:prstGeom>
            <a:ln w="28575">
              <a:solidFill>
                <a:srgbClr val="0A5FA8"/>
              </a:solidFill>
              <a:tailEnd type="triangle" w="med" len="med"/>
            </a:ln>
          </p:spPr>
        </p:cxnSp>
        <p:sp>
          <p:nvSpPr>
            <p:cNvPr id="32" name="TextBox 31"/>
            <p:cNvSpPr txBox="1"/>
            <p:nvPr/>
          </p:nvSpPr>
          <p:spPr>
            <a:xfrm>
              <a:off x="3401568" y="2798064"/>
              <a:ext cx="786384" cy="256032"/>
            </a:xfrm>
            <a:prstGeom prst="rect">
              <a:avLst/>
            </a:prstGeom>
            <a:noFill/>
          </p:spPr>
          <p:txBody>
            <a:bodyPr wrap="square" lIns="0" tIns="0" rIns="0" bIns="0" anchor="t">
              <a:noAutofit/>
            </a:bodyPr>
            <a:lstStyle/>
            <a:p>
              <a:pPr algn="ctr"/>
              <a:r>
                <a:rPr sz="1200" b="1" i="0" lang="vi-VN">
                  <a:solidFill>
                    <a:srgbClr val="0A5FA8"/>
                  </a:solidFill>
                  <a:latin typeface="Arial"/>
                  <a:ea typeface="Arial"/>
                  <a:cs typeface="Arial"/>
                </a:rPr>
                <a:t>SPI1</a:t>
              </a:r>
            </a:p>
          </p:txBody>
        </p:sp>
        <p:cxnSp>
          <p:nvCxnSpPr>
            <p:cNvPr id="33" name="Connector 32"/>
            <p:cNvCxnSpPr/>
            <p:nvPr/>
          </p:nvCxnSpPr>
          <p:spPr>
            <a:xfrm>
              <a:off x="3401568" y="3986784"/>
              <a:ext cx="786384" cy="0"/>
            </a:xfrm>
            <a:prstGeom prst="line">
              <a:avLst/>
            </a:prstGeom>
            <a:ln w="28575">
              <a:solidFill>
                <a:srgbClr val="0A5FA8"/>
              </a:solidFill>
              <a:tailEnd type="triangle" w="med" len="med"/>
            </a:ln>
          </p:spPr>
        </p:cxnSp>
        <p:sp>
          <p:nvSpPr>
            <p:cNvPr id="34" name="TextBox 33"/>
            <p:cNvSpPr txBox="1"/>
            <p:nvPr/>
          </p:nvSpPr>
          <p:spPr>
            <a:xfrm>
              <a:off x="3401568" y="3685032"/>
              <a:ext cx="786384" cy="256032"/>
            </a:xfrm>
            <a:prstGeom prst="rect">
              <a:avLst/>
            </a:prstGeom>
            <a:noFill/>
          </p:spPr>
          <p:txBody>
            <a:bodyPr wrap="square" lIns="0" tIns="0" rIns="0" bIns="0" anchor="t">
              <a:noAutofit/>
            </a:bodyPr>
            <a:lstStyle/>
            <a:p>
              <a:pPr algn="ctr"/>
              <a:r>
                <a:rPr sz="1200" b="1" i="0" lang="vi-VN">
                  <a:solidFill>
                    <a:srgbClr val="0A5FA8"/>
                  </a:solidFill>
                  <a:latin typeface="Arial"/>
                  <a:ea typeface="Arial"/>
                  <a:cs typeface="Arial"/>
                </a:rPr>
                <a:t>SPI2</a:t>
              </a:r>
            </a:p>
          </p:txBody>
        </p:sp>
      </p:grpSp>
      <p:grpSp>
        <p:nvGrpSpPr>
          <p:cNvPr id="35" name="Group 34"/>
          <p:cNvGrpSpPr/>
          <p:nvPr/>
        </p:nvGrpSpPr>
        <p:grpSpPr>
          <a:xfrm>
            <a:off x="7479792" y="2697480"/>
            <a:ext cx="868680" cy="301752"/>
            <a:chOff x="7479792" y="2697480"/>
            <a:chExt cx="868680" cy="301752"/>
          </a:xfrm>
        </p:grpSpPr>
        <p:cxnSp>
          <p:nvCxnSpPr>
            <p:cNvPr id="36" name="Connector 35"/>
            <p:cNvCxnSpPr/>
            <p:nvPr/>
          </p:nvCxnSpPr>
          <p:spPr>
            <a:xfrm>
              <a:off x="7516368" y="2999232"/>
              <a:ext cx="786384" cy="0"/>
            </a:xfrm>
            <a:prstGeom prst="line">
              <a:avLst/>
            </a:prstGeom>
            <a:ln w="28575">
              <a:solidFill>
                <a:srgbClr val="0A5FA8"/>
              </a:solidFill>
              <a:tailEnd type="triangle" w="med" len="med"/>
            </a:ln>
          </p:spPr>
        </p:cxnSp>
        <p:sp>
          <p:nvSpPr>
            <p:cNvPr id="37" name="TextBox 36"/>
            <p:cNvSpPr txBox="1"/>
            <p:nvPr/>
          </p:nvSpPr>
          <p:spPr>
            <a:xfrm>
              <a:off x="7479792" y="2697480"/>
              <a:ext cx="868680" cy="256032"/>
            </a:xfrm>
            <a:prstGeom prst="rect">
              <a:avLst/>
            </a:prstGeom>
            <a:noFill/>
          </p:spPr>
          <p:txBody>
            <a:bodyPr wrap="square" lIns="0" tIns="0" rIns="0" bIns="0" anchor="t">
              <a:noAutofit/>
            </a:bodyPr>
            <a:lstStyle/>
            <a:p>
              <a:pPr algn="ctr"/>
              <a:r>
                <a:rPr sz="1200" b="1" i="0" lang="vi-VN">
                  <a:solidFill>
                    <a:srgbClr val="0A5FA8"/>
                  </a:solidFill>
                  <a:latin typeface="Arial"/>
                  <a:ea typeface="Arial"/>
                  <a:cs typeface="Arial"/>
                </a:rPr>
                <a:t>UART5</a:t>
              </a:r>
            </a:p>
          </p:txBody>
        </p:sp>
      </p:grpSp>
      <p:grpSp>
        <p:nvGrpSpPr>
          <p:cNvPr id="38" name="Group 37"/>
          <p:cNvGrpSpPr/>
          <p:nvPr/>
        </p:nvGrpSpPr>
        <p:grpSpPr>
          <a:xfrm>
            <a:off x="502920" y="4736592"/>
            <a:ext cx="5074920" cy="1005840"/>
            <a:chOff x="502920" y="4736592"/>
            <a:chExt cx="5074920" cy="1005840"/>
          </a:xfrm>
        </p:grpSpPr>
        <p:sp>
          <p:nvSpPr>
            <p:cNvPr id="39" name="Rounded Rectangle 38"/>
            <p:cNvSpPr/>
            <p:nvPr/>
          </p:nvSpPr>
          <p:spPr>
            <a:xfrm>
              <a:off x="502920" y="4736592"/>
              <a:ext cx="5074920" cy="1005840"/>
            </a:xfrm>
            <a:prstGeom prst="roundRect">
              <a:avLst>
                <a:gd name="adj" fmla="val 909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40" name="Picture 39" descr="bolt_E8710A.png"/>
            <p:cNvPicPr>
              <a:picLocks noChangeAspect="1"/>
            </p:cNvPicPr>
            <p:nvPr/>
          </p:nvPicPr>
          <p:blipFill>
            <a:blip r:embed="rId8"/>
            <a:stretch>
              <a:fillRect/>
            </a:stretch>
          </p:blipFill>
          <p:spPr>
            <a:xfrm>
              <a:off x="640080" y="4818888"/>
              <a:ext cx="237744" cy="237744"/>
            </a:xfrm>
            <a:prstGeom prst="rect">
              <a:avLst/>
            </a:prstGeom>
          </p:spPr>
        </p:pic>
        <p:sp>
          <p:nvSpPr>
            <p:cNvPr id="41" name="TextBox 40"/>
            <p:cNvSpPr txBox="1"/>
            <p:nvPr/>
          </p:nvSpPr>
          <p:spPr>
            <a:xfrm>
              <a:off x="969264" y="4791456"/>
              <a:ext cx="1956816" cy="292608"/>
            </a:xfrm>
            <a:prstGeom prst="rect">
              <a:avLst/>
            </a:prstGeom>
            <a:noFill/>
          </p:spPr>
          <p:txBody>
            <a:bodyPr wrap="square" lIns="0" tIns="0" rIns="0" bIns="0" anchor="ctr">
              <a:noAutofit/>
            </a:bodyPr>
            <a:lstStyle/>
            <a:p>
              <a:pPr algn="l"/>
              <a:r>
                <a:rPr sz="1250" b="1" i="0" lang="vi-VN" spc="40">
                  <a:solidFill>
                    <a:srgbClr val="E8710A"/>
                  </a:solidFill>
                  <a:latin typeface="Arial"/>
                  <a:ea typeface="Arial"/>
                  <a:cs typeface="Arial"/>
                </a:rPr>
                <a:t>NGUỒN</a:t>
              </a:r>
            </a:p>
          </p:txBody>
        </p:sp>
        <p:sp>
          <p:nvSpPr>
            <p:cNvPr id="42" name="Rounded Rectangle 41"/>
            <p:cNvSpPr/>
            <p:nvPr/>
          </p:nvSpPr>
          <p:spPr>
            <a:xfrm>
              <a:off x="658368" y="5175504"/>
              <a:ext cx="566928" cy="384048"/>
            </a:xfrm>
            <a:prstGeom prst="roundRect">
              <a:avLst>
                <a:gd name="adj" fmla="val 19047"/>
              </a:avLst>
            </a:prstGeom>
            <a:solidFill>
              <a:srgbClr val="0B2545"/>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12 V</a:t>
              </a:r>
            </a:p>
          </p:txBody>
        </p:sp>
        <p:cxnSp>
          <p:nvCxnSpPr>
            <p:cNvPr id="43" name="Connector 42"/>
            <p:cNvCxnSpPr/>
            <p:nvPr/>
          </p:nvCxnSpPr>
          <p:spPr>
            <a:xfrm>
              <a:off x="1252728" y="5367528"/>
              <a:ext cx="155448" cy="0"/>
            </a:xfrm>
            <a:prstGeom prst="line">
              <a:avLst/>
            </a:prstGeom>
            <a:ln w="22225">
              <a:solidFill>
                <a:srgbClr val="5B6B7B"/>
              </a:solidFill>
              <a:tailEnd type="triangle" w="med" len="med"/>
            </a:ln>
          </p:spPr>
        </p:cxnSp>
        <p:sp>
          <p:nvSpPr>
            <p:cNvPr id="44" name="Rounded Rectangle 43"/>
            <p:cNvSpPr/>
            <p:nvPr/>
          </p:nvSpPr>
          <p:spPr>
            <a:xfrm>
              <a:off x="1444752" y="5175504"/>
              <a:ext cx="1097280" cy="384048"/>
            </a:xfrm>
            <a:prstGeom prst="roundRect">
              <a:avLst>
                <a:gd name="adj" fmla="val 19047"/>
              </a:avLst>
            </a:prstGeom>
            <a:solidFill>
              <a:srgbClr val="FFFFFF"/>
            </a:solidFill>
            <a:ln w="12700">
              <a:solidFill>
                <a:srgbClr val="0B2545"/>
              </a:solidFill>
            </a:ln>
          </p:spPr>
          <p:txBody>
            <a:bodyPr rtlCol="0" anchor="ctr" lIns="73152" tIns="18288" rIns="73152" bIns="18288" wrap="square">
              <a:noAutofit/>
            </a:bodyPr>
            <a:lstStyle/>
            <a:p>
              <a:pPr algn="ctr"/>
              <a:r>
                <a:rPr sz="1250" b="1" i="0" lang="vi-VN">
                  <a:solidFill>
                    <a:srgbClr val="0B2545"/>
                  </a:solidFill>
                  <a:latin typeface="Arial"/>
                  <a:ea typeface="Arial"/>
                  <a:cs typeface="Arial"/>
                </a:rPr>
                <a:t>MP1584EN</a:t>
              </a:r>
            </a:p>
          </p:txBody>
        </p:sp>
        <p:cxnSp>
          <p:nvCxnSpPr>
            <p:cNvPr id="45" name="Connector 44"/>
            <p:cNvCxnSpPr/>
            <p:nvPr/>
          </p:nvCxnSpPr>
          <p:spPr>
            <a:xfrm>
              <a:off x="2569464" y="5367528"/>
              <a:ext cx="155448" cy="0"/>
            </a:xfrm>
            <a:prstGeom prst="line">
              <a:avLst/>
            </a:prstGeom>
            <a:ln w="22225">
              <a:solidFill>
                <a:srgbClr val="5B6B7B"/>
              </a:solidFill>
              <a:tailEnd type="triangle" w="med" len="med"/>
            </a:ln>
          </p:spPr>
        </p:cxnSp>
        <p:sp>
          <p:nvSpPr>
            <p:cNvPr id="46" name="Rounded Rectangle 45"/>
            <p:cNvSpPr/>
            <p:nvPr/>
          </p:nvSpPr>
          <p:spPr>
            <a:xfrm>
              <a:off x="2761488" y="5175504"/>
              <a:ext cx="502920" cy="384048"/>
            </a:xfrm>
            <a:prstGeom prst="roundRect">
              <a:avLst>
                <a:gd name="adj" fmla="val 19047"/>
              </a:avLst>
            </a:prstGeom>
            <a:solidFill>
              <a:srgbClr val="0B2545"/>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5 V</a:t>
              </a:r>
            </a:p>
          </p:txBody>
        </p:sp>
        <p:cxnSp>
          <p:nvCxnSpPr>
            <p:cNvPr id="47" name="Connector 46"/>
            <p:cNvCxnSpPr/>
            <p:nvPr/>
          </p:nvCxnSpPr>
          <p:spPr>
            <a:xfrm>
              <a:off x="3291840" y="5367528"/>
              <a:ext cx="155448" cy="0"/>
            </a:xfrm>
            <a:prstGeom prst="line">
              <a:avLst/>
            </a:prstGeom>
            <a:ln w="22225">
              <a:solidFill>
                <a:srgbClr val="5B6B7B"/>
              </a:solidFill>
              <a:tailEnd type="triangle" w="med" len="med"/>
            </a:ln>
          </p:spPr>
        </p:cxnSp>
        <p:sp>
          <p:nvSpPr>
            <p:cNvPr id="48" name="Rounded Rectangle 47"/>
            <p:cNvSpPr/>
            <p:nvPr/>
          </p:nvSpPr>
          <p:spPr>
            <a:xfrm>
              <a:off x="3483864" y="5175504"/>
              <a:ext cx="868680" cy="384048"/>
            </a:xfrm>
            <a:prstGeom prst="roundRect">
              <a:avLst>
                <a:gd name="adj" fmla="val 19047"/>
              </a:avLst>
            </a:prstGeom>
            <a:solidFill>
              <a:srgbClr val="FFFFFF"/>
            </a:solidFill>
            <a:ln w="12700">
              <a:solidFill>
                <a:srgbClr val="0B2545"/>
              </a:solidFill>
            </a:ln>
          </p:spPr>
          <p:txBody>
            <a:bodyPr rtlCol="0" anchor="ctr" lIns="73152" tIns="18288" rIns="73152" bIns="18288" wrap="square">
              <a:noAutofit/>
            </a:bodyPr>
            <a:lstStyle/>
            <a:p>
              <a:pPr algn="ctr"/>
              <a:r>
                <a:rPr sz="1250" b="1" i="0" lang="vi-VN">
                  <a:solidFill>
                    <a:srgbClr val="0B2545"/>
                  </a:solidFill>
                  <a:latin typeface="Arial"/>
                  <a:ea typeface="Arial"/>
                  <a:cs typeface="Arial"/>
                </a:rPr>
                <a:t>LM1117</a:t>
              </a:r>
            </a:p>
          </p:txBody>
        </p:sp>
        <p:cxnSp>
          <p:nvCxnSpPr>
            <p:cNvPr id="49" name="Connector 48"/>
            <p:cNvCxnSpPr/>
            <p:nvPr/>
          </p:nvCxnSpPr>
          <p:spPr>
            <a:xfrm>
              <a:off x="4379976" y="5367528"/>
              <a:ext cx="155448" cy="0"/>
            </a:xfrm>
            <a:prstGeom prst="line">
              <a:avLst/>
            </a:prstGeom>
            <a:ln w="22225">
              <a:solidFill>
                <a:srgbClr val="5B6B7B"/>
              </a:solidFill>
              <a:tailEnd type="triangle" w="med" len="med"/>
            </a:ln>
          </p:spPr>
        </p:cxnSp>
        <p:sp>
          <p:nvSpPr>
            <p:cNvPr id="50" name="Rounded Rectangle 49"/>
            <p:cNvSpPr/>
            <p:nvPr/>
          </p:nvSpPr>
          <p:spPr>
            <a:xfrm>
              <a:off x="4572000" y="5175504"/>
              <a:ext cx="621792" cy="384048"/>
            </a:xfrm>
            <a:prstGeom prst="roundRect">
              <a:avLst>
                <a:gd name="adj" fmla="val 19047"/>
              </a:avLst>
            </a:prstGeom>
            <a:solidFill>
              <a:srgbClr val="0B2545"/>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3,3 V</a:t>
              </a:r>
            </a:p>
          </p:txBody>
        </p:sp>
      </p:grpSp>
      <p:grpSp>
        <p:nvGrpSpPr>
          <p:cNvPr id="51" name="Group 50"/>
          <p:cNvGrpSpPr/>
          <p:nvPr/>
        </p:nvGrpSpPr>
        <p:grpSpPr>
          <a:xfrm>
            <a:off x="5760720" y="4736592"/>
            <a:ext cx="5943600" cy="1005840"/>
            <a:chOff x="5760720" y="4736592"/>
            <a:chExt cx="5943600" cy="1005840"/>
          </a:xfrm>
        </p:grpSpPr>
        <p:sp>
          <p:nvSpPr>
            <p:cNvPr id="52" name="Rounded Rectangle 51"/>
            <p:cNvSpPr/>
            <p:nvPr/>
          </p:nvSpPr>
          <p:spPr>
            <a:xfrm>
              <a:off x="5760720" y="4736592"/>
              <a:ext cx="5943600" cy="1005840"/>
            </a:xfrm>
            <a:prstGeom prst="roundRect">
              <a:avLst>
                <a:gd name="adj" fmla="val 909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53" name="Picture 52" descr="desktop_0A5FA8.png"/>
            <p:cNvPicPr>
              <a:picLocks noChangeAspect="1"/>
            </p:cNvPicPr>
            <p:nvPr/>
          </p:nvPicPr>
          <p:blipFill>
            <a:blip r:embed="rId9"/>
            <a:stretch>
              <a:fillRect/>
            </a:stretch>
          </p:blipFill>
          <p:spPr>
            <a:xfrm>
              <a:off x="5897880" y="4818888"/>
              <a:ext cx="237744" cy="237744"/>
            </a:xfrm>
            <a:prstGeom prst="rect">
              <a:avLst/>
            </a:prstGeom>
          </p:spPr>
        </p:pic>
        <p:sp>
          <p:nvSpPr>
            <p:cNvPr id="54" name="TextBox 53"/>
            <p:cNvSpPr txBox="1"/>
            <p:nvPr/>
          </p:nvSpPr>
          <p:spPr>
            <a:xfrm>
              <a:off x="6227064" y="4791456"/>
              <a:ext cx="241401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KÊNH GIÁM SÁT</a:t>
              </a:r>
            </a:p>
          </p:txBody>
        </p:sp>
        <p:sp>
          <p:nvSpPr>
            <p:cNvPr id="55" name="Rounded Rectangle 54"/>
            <p:cNvSpPr/>
            <p:nvPr/>
          </p:nvSpPr>
          <p:spPr>
            <a:xfrm>
              <a:off x="5925312" y="5175504"/>
              <a:ext cx="868680" cy="384048"/>
            </a:xfrm>
            <a:prstGeom prst="roundRect">
              <a:avLst>
                <a:gd name="adj" fmla="val 19047"/>
              </a:avLst>
            </a:prstGeom>
            <a:solidFill>
              <a:srgbClr val="0B2545"/>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USART</a:t>
              </a:r>
            </a:p>
          </p:txBody>
        </p:sp>
        <p:cxnSp>
          <p:nvCxnSpPr>
            <p:cNvPr id="56" name="Connector 55"/>
            <p:cNvCxnSpPr/>
            <p:nvPr/>
          </p:nvCxnSpPr>
          <p:spPr>
            <a:xfrm>
              <a:off x="6821424" y="5367528"/>
              <a:ext cx="182880" cy="0"/>
            </a:xfrm>
            <a:prstGeom prst="line">
              <a:avLst/>
            </a:prstGeom>
            <a:ln w="22225">
              <a:solidFill>
                <a:srgbClr val="5B6B7B"/>
              </a:solidFill>
              <a:tailEnd type="triangle" w="med" len="med"/>
            </a:ln>
          </p:spPr>
        </p:cxnSp>
        <p:pic>
          <p:nvPicPr>
            <p:cNvPr id="57" name="Picture 56" descr="usbttl.jpg"/>
            <p:cNvPicPr>
              <a:picLocks noChangeAspect="1"/>
            </p:cNvPicPr>
            <p:nvPr/>
          </p:nvPicPr>
          <p:blipFill>
            <a:blip r:embed="rId10"/>
            <a:stretch>
              <a:fillRect/>
            </a:stretch>
          </p:blipFill>
          <p:spPr>
            <a:xfrm>
              <a:off x="7059168" y="5120640"/>
              <a:ext cx="566928" cy="566928"/>
            </a:xfrm>
            <a:prstGeom prst="rect">
              <a:avLst/>
            </a:prstGeom>
          </p:spPr>
        </p:pic>
        <p:sp>
          <p:nvSpPr>
            <p:cNvPr id="58" name="TextBox 57"/>
            <p:cNvSpPr txBox="1"/>
            <p:nvPr/>
          </p:nvSpPr>
          <p:spPr>
            <a:xfrm>
              <a:off x="7662672" y="5175504"/>
              <a:ext cx="960120" cy="384048"/>
            </a:xfrm>
            <a:prstGeom prst="rect">
              <a:avLst/>
            </a:prstGeom>
            <a:noFill/>
          </p:spPr>
          <p:txBody>
            <a:bodyPr wrap="square" lIns="0" tIns="0" rIns="0" bIns="0" anchor="ctr">
              <a:noAutofit/>
            </a:bodyPr>
            <a:lstStyle/>
            <a:p>
              <a:pPr algn="l"/>
              <a:r>
                <a:rPr sz="1250" b="1" i="0" lang="vi-VN">
                  <a:solidFill>
                    <a:srgbClr val="0B2545"/>
                  </a:solidFill>
                  <a:latin typeface="Arial"/>
                  <a:ea typeface="Arial"/>
                  <a:cs typeface="Arial"/>
                </a:rPr>
                <a:t>USB–TTL</a:t>
              </a:r>
            </a:p>
          </p:txBody>
        </p:sp>
        <p:cxnSp>
          <p:nvCxnSpPr>
            <p:cNvPr id="59" name="Connector 58"/>
            <p:cNvCxnSpPr/>
            <p:nvPr/>
          </p:nvCxnSpPr>
          <p:spPr>
            <a:xfrm>
              <a:off x="8641080" y="5367528"/>
              <a:ext cx="182880" cy="0"/>
            </a:xfrm>
            <a:prstGeom prst="line">
              <a:avLst/>
            </a:prstGeom>
            <a:ln w="22225">
              <a:solidFill>
                <a:srgbClr val="5B6B7B"/>
              </a:solidFill>
              <a:tailEnd type="triangle" w="med" len="med"/>
            </a:ln>
          </p:spPr>
        </p:cxnSp>
        <p:sp>
          <p:nvSpPr>
            <p:cNvPr id="60" name="Rounded Rectangle 59"/>
            <p:cNvSpPr/>
            <p:nvPr/>
          </p:nvSpPr>
          <p:spPr>
            <a:xfrm>
              <a:off x="8869680" y="5175504"/>
              <a:ext cx="2697480" cy="384048"/>
            </a:xfrm>
            <a:prstGeom prst="roundRect">
              <a:avLst>
                <a:gd name="adj" fmla="val 19047"/>
              </a:avLst>
            </a:prstGeom>
            <a:solidFill>
              <a:srgbClr val="0A5FA8"/>
            </a:solidFill>
            <a:ln>
              <a:noFill/>
            </a:ln>
          </p:spPr>
          <p:txBody>
            <a:bodyPr rtlCol="0" anchor="ctr" lIns="73152" tIns="18288" rIns="73152" bIns="18288" wrap="square">
              <a:noAutofit/>
            </a:bodyPr>
            <a:lstStyle/>
            <a:p>
              <a:pPr algn="ctr"/>
              <a:r>
                <a:rPr sz="1250" b="1" i="0" lang="vi-VN">
                  <a:solidFill>
                    <a:srgbClr val="FFFFFF"/>
                  </a:solidFill>
                  <a:latin typeface="Arial"/>
                  <a:ea typeface="Arial"/>
                  <a:cs typeface="Arial"/>
                </a:rPr>
                <a:t>Máy tính · phần mềm giám sát</a:t>
              </a:r>
            </a:p>
          </p:txBody>
        </p:sp>
      </p:grpSp>
      <p:sp>
        <p:nvSpPr>
          <p:cNvPr id="61" name="TextBox 60"/>
          <p:cNvSpPr txBox="1"/>
          <p:nvPr/>
        </p:nvSpPr>
        <p:spPr>
          <a:xfrm>
            <a:off x="502920" y="5797296"/>
            <a:ext cx="11201400" cy="274320"/>
          </a:xfrm>
          <a:prstGeom prst="rect">
            <a:avLst/>
          </a:prstGeom>
          <a:noFill/>
        </p:spPr>
        <p:txBody>
          <a:bodyPr wrap="square" lIns="0" tIns="0" rIns="0" bIns="0" anchor="t">
            <a:noAutofit/>
          </a:bodyPr>
          <a:lstStyle/>
          <a:p>
            <a:pPr algn="l"/>
            <a:r>
              <a:rPr sz="1250" b="0" i="1" lang="vi-VN">
                <a:solidFill>
                  <a:srgbClr val="5B6B7B"/>
                </a:solidFill>
                <a:latin typeface="Arial"/>
                <a:ea typeface="Arial"/>
                <a:cs typeface="Arial"/>
              </a:rPr>
              <a:t>Nguyên tắc: tách hai đường cảm biến (SPI1 / SPI2) · tách kênh điều khiển và kênh giám sát · chiều truyền bus RS485 do driver điều khiển</a:t>
            </a:r>
          </a:p>
        </p:txBody>
      </p:sp>
      <p:sp>
        <p:nvSpPr>
          <p:cNvPr id="62"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7</a:t>
            </a:fl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wipe(left)">
                                      <p:cBhvr>
                                        <p:cTn id="14" dur="400"/>
                                        <p:tgtEl>
                                          <p:spTgt spid="30"/>
                                        </p:tgtEl>
                                      </p:cBhvr>
                                    </p:animEffect>
                                  </p:childTnLst>
                                </p:cTn>
                              </p:par>
                            </p:childTnLst>
                          </p:cTn>
                        </p:par>
                        <p:par>
                          <p:cTn id="15" fill="hold">
                            <p:stCondLst>
                              <p:cond delay="400"/>
                            </p:stCondLst>
                            <p:childTnLst>
                              <p:par>
                                <p:cTn id="16" presetID="42" presetClass="entr" presetSubtype="0"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05"/>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left)">
                                      <p:cBhvr>
                                        <p:cTn id="25" dur="400"/>
                                        <p:tgtEl>
                                          <p:spTgt spid="35"/>
                                        </p:tgtEl>
                                      </p:cBhvr>
                                    </p:animEffect>
                                  </p:childTnLst>
                                </p:cTn>
                              </p:par>
                            </p:childTnLst>
                          </p:cTn>
                        </p:par>
                        <p:par>
                          <p:cTn id="26" fill="hold">
                            <p:stCondLst>
                              <p:cond delay="400"/>
                            </p:stCondLst>
                            <p:childTnLst>
                              <p:par>
                                <p:cTn id="27" presetID="42"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anim calcmode="lin" valueType="num">
                                      <p:cBhvr>
                                        <p:cTn id="30" dur="500" fill="hold"/>
                                        <p:tgtEl>
                                          <p:spTgt spid="18"/>
                                        </p:tgtEl>
                                        <p:attrNameLst>
                                          <p:attrName>ppt_x</p:attrName>
                                        </p:attrNameLst>
                                      </p:cBhvr>
                                      <p:tavLst>
                                        <p:tav tm="0">
                                          <p:val>
                                            <p:strVal val="#ppt_x"/>
                                          </p:val>
                                        </p:tav>
                                        <p:tav tm="100000">
                                          <p:val>
                                            <p:strVal val="#ppt_x"/>
                                          </p:val>
                                        </p:tav>
                                      </p:tavLst>
                                    </p:anim>
                                    <p:anim calcmode="lin" valueType="num">
                                      <p:cBhvr>
                                        <p:cTn id="31" dur="500" fill="hold"/>
                                        <p:tgtEl>
                                          <p:spTgt spid="18"/>
                                        </p:tgtEl>
                                        <p:attrNameLst>
                                          <p:attrName>ppt_y</p:attrName>
                                        </p:attrNameLst>
                                      </p:cBhvr>
                                      <p:tavLst>
                                        <p:tav tm="0">
                                          <p:val>
                                            <p:strVal val="#ppt_y+.05"/>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450"/>
                                        <p:tgtEl>
                                          <p:spTgt spid="38"/>
                                        </p:tgtEl>
                                      </p:cBhvr>
                                    </p:animEffect>
                                    <p:anim calcmode="lin" valueType="num">
                                      <p:cBhvr>
                                        <p:cTn id="37" dur="450" fill="hold"/>
                                        <p:tgtEl>
                                          <p:spTgt spid="38"/>
                                        </p:tgtEl>
                                        <p:attrNameLst>
                                          <p:attrName>ppt_x</p:attrName>
                                        </p:attrNameLst>
                                      </p:cBhvr>
                                      <p:tavLst>
                                        <p:tav tm="0">
                                          <p:val>
                                            <p:strVal val="#ppt_x"/>
                                          </p:val>
                                        </p:tav>
                                        <p:tav tm="100000">
                                          <p:val>
                                            <p:strVal val="#ppt_x"/>
                                          </p:val>
                                        </p:tav>
                                      </p:tavLst>
                                    </p:anim>
                                    <p:anim calcmode="lin" valueType="num">
                                      <p:cBhvr>
                                        <p:cTn id="38" dur="450" fill="hold"/>
                                        <p:tgtEl>
                                          <p:spTgt spid="38"/>
                                        </p:tgtEl>
                                        <p:attrNameLst>
                                          <p:attrName>ppt_y</p:attrName>
                                        </p:attrNameLst>
                                      </p:cBhvr>
                                      <p:tavLst>
                                        <p:tav tm="0">
                                          <p:val>
                                            <p:strVal val="#ppt_y+.05"/>
                                          </p:val>
                                        </p:tav>
                                        <p:tav tm="100000">
                                          <p:val>
                                            <p:strVal val="#ppt_y"/>
                                          </p:val>
                                        </p:tav>
                                      </p:tavLst>
                                    </p:anim>
                                  </p:childTnLst>
                                </p:cTn>
                              </p:par>
                              <p:par>
                                <p:cTn id="39" presetID="42" presetClass="entr" presetSubtype="0" fill="hold" grpId="0" nodeType="withEffect">
                                  <p:stCondLst>
                                    <p:cond delay="20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450"/>
                                        <p:tgtEl>
                                          <p:spTgt spid="51"/>
                                        </p:tgtEl>
                                      </p:cBhvr>
                                    </p:animEffect>
                                    <p:anim calcmode="lin" valueType="num">
                                      <p:cBhvr>
                                        <p:cTn id="42" dur="450" fill="hold"/>
                                        <p:tgtEl>
                                          <p:spTgt spid="51"/>
                                        </p:tgtEl>
                                        <p:attrNameLst>
                                          <p:attrName>ppt_x</p:attrName>
                                        </p:attrNameLst>
                                      </p:cBhvr>
                                      <p:tavLst>
                                        <p:tav tm="0">
                                          <p:val>
                                            <p:strVal val="#ppt_x"/>
                                          </p:val>
                                        </p:tav>
                                        <p:tav tm="100000">
                                          <p:val>
                                            <p:strVal val="#ppt_x"/>
                                          </p:val>
                                        </p:tav>
                                      </p:tavLst>
                                    </p:anim>
                                    <p:anim calcmode="lin" valueType="num">
                                      <p:cBhvr>
                                        <p:cTn id="43" dur="450" fill="hold"/>
                                        <p:tgtEl>
                                          <p:spTgt spid="51"/>
                                        </p:tgtEl>
                                        <p:attrNameLst>
                                          <p:attrName>ppt_y</p:attrName>
                                        </p:attrNameLst>
                                      </p:cBhvr>
                                      <p:tavLst>
                                        <p:tav tm="0">
                                          <p:val>
                                            <p:strVal val="#ppt_y+.05"/>
                                          </p:val>
                                        </p:tav>
                                        <p:tav tm="100000">
                                          <p:val>
                                            <p:strVal val="#ppt_y"/>
                                          </p:val>
                                        </p:tav>
                                      </p:tavLst>
                                    </p:anim>
                                  </p:childTnLst>
                                </p:cTn>
                              </p:par>
                            </p:childTnLst>
                          </p:cTn>
                        </p:par>
                        <p:par>
                          <p:cTn id="44" fill="hold">
                            <p:stCondLst>
                              <p:cond delay="650"/>
                            </p:stCondLst>
                            <p:childTnLst>
                              <p:par>
                                <p:cTn id="45" presetID="10" presetClass="entr" presetSubtype="0" fill="hold" grpId="0" nodeType="after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fade">
                                      <p:cBhvr>
                                        <p:cTn id="47"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2 · THIẾT KẾ PHẦN CỨNG</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Thiết kế mạch điều khiển 5 khối và khung cơ khí hai trục</a:t>
            </a:r>
          </a:p>
        </p:txBody>
      </p:sp>
      <p:grpSp>
        <p:nvGrpSpPr>
          <p:cNvPr id="4" name="Group 3"/>
          <p:cNvGrpSpPr/>
          <p:nvPr/>
        </p:nvGrpSpPr>
        <p:grpSpPr>
          <a:xfrm>
            <a:off x="502920" y="1463040"/>
            <a:ext cx="1463040" cy="1490472"/>
            <a:chOff x="502920" y="1463040"/>
            <a:chExt cx="1463040" cy="1490472"/>
          </a:xfrm>
        </p:grpSpPr>
        <p:grpSp>
          <p:nvGrpSpPr>
            <p:cNvPr id="5" name="Group 4"/>
            <p:cNvGrpSpPr/>
            <p:nvPr/>
          </p:nvGrpSpPr>
          <p:grpSpPr>
            <a:xfrm>
              <a:off x="886968" y="1463040"/>
              <a:ext cx="603504" cy="603504"/>
              <a:chOff x="886968" y="1463040"/>
              <a:chExt cx="603504" cy="603504"/>
            </a:xfrm>
          </p:grpSpPr>
          <p:sp>
            <p:nvSpPr>
              <p:cNvPr id="6" name="Oval 5"/>
              <p:cNvSpPr/>
              <p:nvPr/>
            </p:nvSpPr>
            <p:spPr>
              <a:xfrm>
                <a:off x="886968" y="1463040"/>
                <a:ext cx="603504" cy="603504"/>
              </a:xfrm>
              <a:prstGeom prst="ellipse">
                <a:avLst/>
              </a:prstGeom>
              <a:solidFill>
                <a:srgbClr val="0A5FA8"/>
              </a:solidFill>
              <a:ln>
                <a:noFill/>
              </a:ln>
            </p:spPr>
            <p:txBody>
              <a:bodyPr rtlCol="0" anchor="ctr" lIns="54864" tIns="54864" rIns="54864" bIns="54864" wrap="square">
                <a:noAutofit/>
              </a:bodyPr>
              <a:lstStyle/>
              <a:p>
                <a:pPr algn="ctr"/>
              </a:p>
            </p:txBody>
          </p:sp>
          <p:pic>
            <p:nvPicPr>
              <p:cNvPr id="7" name="Picture 6" descr="chip.png"/>
              <p:cNvPicPr>
                <a:picLocks noChangeAspect="1"/>
              </p:cNvPicPr>
              <p:nvPr/>
            </p:nvPicPr>
            <p:blipFill>
              <a:blip r:embed="rId2"/>
              <a:stretch>
                <a:fillRect/>
              </a:stretch>
            </p:blipFill>
            <p:spPr>
              <a:xfrm>
                <a:off x="1019739" y="1595811"/>
                <a:ext cx="337962" cy="337962"/>
              </a:xfrm>
              <a:prstGeom prst="rect">
                <a:avLst/>
              </a:prstGeom>
            </p:spPr>
          </p:pic>
        </p:grpSp>
        <p:sp>
          <p:nvSpPr>
            <p:cNvPr id="8" name="TextBox 7"/>
            <p:cNvSpPr txBox="1"/>
            <p:nvPr/>
          </p:nvSpPr>
          <p:spPr>
            <a:xfrm>
              <a:off x="502920" y="2130552"/>
              <a:ext cx="1463040" cy="566928"/>
            </a:xfrm>
            <a:prstGeom prst="rect">
              <a:avLst/>
            </a:prstGeom>
            <a:noFill/>
          </p:spPr>
          <p:txBody>
            <a:bodyPr wrap="square" lIns="0" tIns="0" rIns="0" bIns="0" anchor="t">
              <a:noAutofit/>
            </a:bodyPr>
            <a:lstStyle/>
            <a:p>
              <a:pPr algn="ctr">
                <a:lnSpc>
                  <a:spcPct val="95000"/>
                </a:lnSpc>
              </a:pPr>
              <a:r>
                <a:rPr sz="1600" b="1" i="0" lang="vi-VN">
                  <a:solidFill>
                    <a:srgbClr val="0B2545"/>
                  </a:solidFill>
                  <a:latin typeface="Arial"/>
                  <a:ea typeface="Arial"/>
                  <a:cs typeface="Arial"/>
                </a:rPr>
                <a:t>Mạch điều khiển</a:t>
              </a:r>
            </a:p>
          </p:txBody>
        </p:sp>
        <p:sp>
          <p:nvSpPr>
            <p:cNvPr id="9" name="TextBox 8"/>
            <p:cNvSpPr txBox="1"/>
            <p:nvPr/>
          </p:nvSpPr>
          <p:spPr>
            <a:xfrm>
              <a:off x="502920" y="2679192"/>
              <a:ext cx="1463040" cy="274320"/>
            </a:xfrm>
            <a:prstGeom prst="rect">
              <a:avLst/>
            </a:prstGeom>
            <a:noFill/>
          </p:spPr>
          <p:txBody>
            <a:bodyPr wrap="square" lIns="0" tIns="0" rIns="0" bIns="0" anchor="t">
              <a:noAutofit/>
            </a:bodyPr>
            <a:lstStyle/>
            <a:p>
              <a:pPr algn="ctr"/>
              <a:r>
                <a:rPr sz="1300" b="0" i="0" lang="vi-VN">
                  <a:solidFill>
                    <a:srgbClr val="5B6B7B"/>
                  </a:solidFill>
                  <a:latin typeface="Arial"/>
                  <a:ea typeface="Arial"/>
                  <a:cs typeface="Arial"/>
                </a:rPr>
                <a:t>Altium · 2 lớp</a:t>
              </a:r>
            </a:p>
          </p:txBody>
        </p:sp>
      </p:grpSp>
      <p:grpSp>
        <p:nvGrpSpPr>
          <p:cNvPr id="10" name="Group 9"/>
          <p:cNvGrpSpPr/>
          <p:nvPr/>
        </p:nvGrpSpPr>
        <p:grpSpPr>
          <a:xfrm>
            <a:off x="2103120" y="1261872"/>
            <a:ext cx="2194560" cy="2121408"/>
            <a:chOff x="2103120" y="1261872"/>
            <a:chExt cx="2194560" cy="2121408"/>
          </a:xfrm>
        </p:grpSpPr>
        <p:sp>
          <p:nvSpPr>
            <p:cNvPr id="11" name="Rounded Rectangle 10"/>
            <p:cNvSpPr/>
            <p:nvPr/>
          </p:nvSpPr>
          <p:spPr>
            <a:xfrm>
              <a:off x="2103120" y="1261872"/>
              <a:ext cx="2194560" cy="2121408"/>
            </a:xfrm>
            <a:prstGeom prst="roundRect">
              <a:avLst>
                <a:gd name="adj" fmla="val 431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2" name="Picture 11" descr="sch_mcu.png"/>
            <p:cNvPicPr>
              <a:picLocks noChangeAspect="1"/>
            </p:cNvPicPr>
            <p:nvPr/>
          </p:nvPicPr>
          <p:blipFill>
            <a:blip r:embed="rId3"/>
            <a:stretch>
              <a:fillRect/>
            </a:stretch>
          </p:blipFill>
          <p:spPr>
            <a:xfrm>
              <a:off x="2194560" y="1403239"/>
              <a:ext cx="2011680" cy="1509490"/>
            </a:xfrm>
            <a:prstGeom prst="rect">
              <a:avLst/>
            </a:prstGeom>
          </p:spPr>
        </p:pic>
        <p:sp>
          <p:nvSpPr>
            <p:cNvPr id="13" name="TextBox 12"/>
            <p:cNvSpPr txBox="1"/>
            <p:nvPr/>
          </p:nvSpPr>
          <p:spPr>
            <a:xfrm>
              <a:off x="2148840" y="3017520"/>
              <a:ext cx="2103120" cy="310896"/>
            </a:xfrm>
            <a:prstGeom prst="rect">
              <a:avLst/>
            </a:prstGeom>
            <a:noFill/>
          </p:spPr>
          <p:txBody>
            <a:bodyPr wrap="square" lIns="0" tIns="0" rIns="0" bIns="0" anchor="ctr">
              <a:noAutofit/>
            </a:bodyPr>
            <a:lstStyle/>
            <a:p>
              <a:pPr algn="ctr"/>
              <a:r>
                <a:rPr sz="1250" b="0" i="0" lang="vi-VN">
                  <a:solidFill>
                    <a:srgbClr val="1E2B3A"/>
                  </a:solidFill>
                  <a:latin typeface="Arial"/>
                  <a:ea typeface="Arial"/>
                  <a:cs typeface="Arial"/>
                </a:rPr>
                <a:t>Sơ đồ nguyên lý</a:t>
              </a:r>
            </a:p>
          </p:txBody>
        </p:sp>
      </p:grpSp>
      <p:cxnSp>
        <p:nvCxnSpPr>
          <p:cNvPr id="14" name="Connector 13"/>
          <p:cNvCxnSpPr/>
          <p:nvPr/>
        </p:nvCxnSpPr>
        <p:spPr>
          <a:xfrm>
            <a:off x="4325112" y="2322576"/>
            <a:ext cx="219456" cy="0"/>
          </a:xfrm>
          <a:prstGeom prst="line">
            <a:avLst/>
          </a:prstGeom>
          <a:ln w="28575">
            <a:solidFill>
              <a:srgbClr val="E8710A"/>
            </a:solidFill>
            <a:tailEnd type="triangle" w="med" len="med"/>
          </a:ln>
        </p:spPr>
      </p:cxnSp>
      <p:grpSp>
        <p:nvGrpSpPr>
          <p:cNvPr id="15" name="Group 14"/>
          <p:cNvGrpSpPr/>
          <p:nvPr/>
        </p:nvGrpSpPr>
        <p:grpSpPr>
          <a:xfrm>
            <a:off x="4572000" y="1261872"/>
            <a:ext cx="2194560" cy="2121408"/>
            <a:chOff x="4572000" y="1261872"/>
            <a:chExt cx="2194560" cy="2121408"/>
          </a:xfrm>
        </p:grpSpPr>
        <p:sp>
          <p:nvSpPr>
            <p:cNvPr id="16" name="Rounded Rectangle 15"/>
            <p:cNvSpPr/>
            <p:nvPr/>
          </p:nvSpPr>
          <p:spPr>
            <a:xfrm>
              <a:off x="4572000" y="1261872"/>
              <a:ext cx="2194560" cy="2121408"/>
            </a:xfrm>
            <a:prstGeom prst="roundRect">
              <a:avLst>
                <a:gd name="adj" fmla="val 431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7" name="Picture 16" descr="pcb_layout.png"/>
            <p:cNvPicPr>
              <a:picLocks noChangeAspect="1"/>
            </p:cNvPicPr>
            <p:nvPr/>
          </p:nvPicPr>
          <p:blipFill>
            <a:blip r:embed="rId4"/>
            <a:stretch>
              <a:fillRect/>
            </a:stretch>
          </p:blipFill>
          <p:spPr>
            <a:xfrm>
              <a:off x="4928354" y="1353312"/>
              <a:ext cx="1481853" cy="1609344"/>
            </a:xfrm>
            <a:prstGeom prst="rect">
              <a:avLst/>
            </a:prstGeom>
          </p:spPr>
        </p:pic>
        <p:sp>
          <p:nvSpPr>
            <p:cNvPr id="18" name="TextBox 17"/>
            <p:cNvSpPr txBox="1"/>
            <p:nvPr/>
          </p:nvSpPr>
          <p:spPr>
            <a:xfrm>
              <a:off x="4617720" y="3017520"/>
              <a:ext cx="2103120" cy="310896"/>
            </a:xfrm>
            <a:prstGeom prst="rect">
              <a:avLst/>
            </a:prstGeom>
            <a:noFill/>
          </p:spPr>
          <p:txBody>
            <a:bodyPr wrap="square" lIns="0" tIns="0" rIns="0" bIns="0" anchor="ctr">
              <a:noAutofit/>
            </a:bodyPr>
            <a:lstStyle/>
            <a:p>
              <a:pPr algn="ctr"/>
              <a:r>
                <a:rPr sz="1250" b="0" i="0" lang="vi-VN">
                  <a:solidFill>
                    <a:srgbClr val="1E2B3A"/>
                  </a:solidFill>
                  <a:latin typeface="Arial"/>
                  <a:ea typeface="Arial"/>
                  <a:cs typeface="Arial"/>
                </a:rPr>
                <a:t>Mạch in 2 lớp</a:t>
              </a:r>
            </a:p>
          </p:txBody>
        </p:sp>
      </p:grpSp>
      <p:cxnSp>
        <p:nvCxnSpPr>
          <p:cNvPr id="19" name="Connector 18"/>
          <p:cNvCxnSpPr/>
          <p:nvPr/>
        </p:nvCxnSpPr>
        <p:spPr>
          <a:xfrm>
            <a:off x="6793992" y="2322576"/>
            <a:ext cx="219456" cy="0"/>
          </a:xfrm>
          <a:prstGeom prst="line">
            <a:avLst/>
          </a:prstGeom>
          <a:ln w="28575">
            <a:solidFill>
              <a:srgbClr val="E8710A"/>
            </a:solidFill>
            <a:tailEnd type="triangle" w="med" len="med"/>
          </a:ln>
        </p:spPr>
      </p:cxnSp>
      <p:grpSp>
        <p:nvGrpSpPr>
          <p:cNvPr id="20" name="Group 19"/>
          <p:cNvGrpSpPr/>
          <p:nvPr/>
        </p:nvGrpSpPr>
        <p:grpSpPr>
          <a:xfrm>
            <a:off x="7040880" y="1261872"/>
            <a:ext cx="2194560" cy="2121408"/>
            <a:chOff x="7040880" y="1261872"/>
            <a:chExt cx="2194560" cy="2121408"/>
          </a:xfrm>
        </p:grpSpPr>
        <p:sp>
          <p:nvSpPr>
            <p:cNvPr id="21" name="Rounded Rectangle 20"/>
            <p:cNvSpPr/>
            <p:nvPr/>
          </p:nvSpPr>
          <p:spPr>
            <a:xfrm>
              <a:off x="7040880" y="1261872"/>
              <a:ext cx="2194560" cy="2121408"/>
            </a:xfrm>
            <a:prstGeom prst="roundRect">
              <a:avLst>
                <a:gd name="adj" fmla="val 431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2" name="Picture 21" descr="pcb_3d.png"/>
            <p:cNvPicPr>
              <a:picLocks noChangeAspect="1"/>
            </p:cNvPicPr>
            <p:nvPr/>
          </p:nvPicPr>
          <p:blipFill>
            <a:blip r:embed="rId5"/>
            <a:stretch>
              <a:fillRect/>
            </a:stretch>
          </p:blipFill>
          <p:spPr>
            <a:xfrm>
              <a:off x="7378470" y="1353312"/>
              <a:ext cx="1519381" cy="1609344"/>
            </a:xfrm>
            <a:prstGeom prst="rect">
              <a:avLst/>
            </a:prstGeom>
          </p:spPr>
        </p:pic>
        <p:sp>
          <p:nvSpPr>
            <p:cNvPr id="23" name="TextBox 22"/>
            <p:cNvSpPr txBox="1"/>
            <p:nvPr/>
          </p:nvSpPr>
          <p:spPr>
            <a:xfrm>
              <a:off x="7086600" y="3017520"/>
              <a:ext cx="2103120" cy="310896"/>
            </a:xfrm>
            <a:prstGeom prst="rect">
              <a:avLst/>
            </a:prstGeom>
            <a:noFill/>
          </p:spPr>
          <p:txBody>
            <a:bodyPr wrap="square" lIns="0" tIns="0" rIns="0" bIns="0" anchor="ctr">
              <a:noAutofit/>
            </a:bodyPr>
            <a:lstStyle/>
            <a:p>
              <a:pPr algn="ctr"/>
              <a:r>
                <a:rPr sz="1250" b="0" i="0" lang="vi-VN">
                  <a:solidFill>
                    <a:srgbClr val="1E2B3A"/>
                  </a:solidFill>
                  <a:latin typeface="Arial"/>
                  <a:ea typeface="Arial"/>
                  <a:cs typeface="Arial"/>
                </a:rPr>
                <a:t>Mô hình 3D</a:t>
              </a:r>
            </a:p>
          </p:txBody>
        </p:sp>
      </p:grpSp>
      <p:cxnSp>
        <p:nvCxnSpPr>
          <p:cNvPr id="24" name="Connector 23"/>
          <p:cNvCxnSpPr/>
          <p:nvPr/>
        </p:nvCxnSpPr>
        <p:spPr>
          <a:xfrm>
            <a:off x="9262872" y="2322576"/>
            <a:ext cx="219456" cy="0"/>
          </a:xfrm>
          <a:prstGeom prst="line">
            <a:avLst/>
          </a:prstGeom>
          <a:ln w="28575">
            <a:solidFill>
              <a:srgbClr val="E8710A"/>
            </a:solidFill>
            <a:tailEnd type="triangle" w="med" len="med"/>
          </a:ln>
        </p:spPr>
      </p:cxnSp>
      <p:grpSp>
        <p:nvGrpSpPr>
          <p:cNvPr id="25" name="Group 24"/>
          <p:cNvGrpSpPr/>
          <p:nvPr/>
        </p:nvGrpSpPr>
        <p:grpSpPr>
          <a:xfrm>
            <a:off x="9509760" y="1261872"/>
            <a:ext cx="2194560" cy="2121408"/>
            <a:chOff x="9509760" y="1261872"/>
            <a:chExt cx="2194560" cy="2121408"/>
          </a:xfrm>
        </p:grpSpPr>
        <p:sp>
          <p:nvSpPr>
            <p:cNvPr id="26" name="Rounded Rectangle 25"/>
            <p:cNvSpPr/>
            <p:nvPr/>
          </p:nvSpPr>
          <p:spPr>
            <a:xfrm>
              <a:off x="9509760" y="1261872"/>
              <a:ext cx="2194560" cy="2121408"/>
            </a:xfrm>
            <a:prstGeom prst="roundRect">
              <a:avLst>
                <a:gd name="adj" fmla="val 431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7" name="Picture 26" descr="pcb_real.jpg"/>
            <p:cNvPicPr>
              <a:picLocks noChangeAspect="1"/>
            </p:cNvPicPr>
            <p:nvPr/>
          </p:nvPicPr>
          <p:blipFill>
            <a:blip r:embed="rId6"/>
            <a:stretch>
              <a:fillRect/>
            </a:stretch>
          </p:blipFill>
          <p:spPr>
            <a:xfrm>
              <a:off x="9871992" y="1353312"/>
              <a:ext cx="1470096" cy="1609344"/>
            </a:xfrm>
            <a:prstGeom prst="rect">
              <a:avLst/>
            </a:prstGeom>
          </p:spPr>
        </p:pic>
        <p:sp>
          <p:nvSpPr>
            <p:cNvPr id="28" name="TextBox 27"/>
            <p:cNvSpPr txBox="1"/>
            <p:nvPr/>
          </p:nvSpPr>
          <p:spPr>
            <a:xfrm>
              <a:off x="9555480" y="3017520"/>
              <a:ext cx="2103120" cy="310896"/>
            </a:xfrm>
            <a:prstGeom prst="rect">
              <a:avLst/>
            </a:prstGeom>
            <a:noFill/>
          </p:spPr>
          <p:txBody>
            <a:bodyPr wrap="square" lIns="0" tIns="0" rIns="0" bIns="0" anchor="ctr">
              <a:noAutofit/>
            </a:bodyPr>
            <a:lstStyle/>
            <a:p>
              <a:pPr algn="ctr"/>
              <a:r>
                <a:rPr sz="1250" b="0" i="0" lang="vi-VN">
                  <a:solidFill>
                    <a:srgbClr val="1E2B3A"/>
                  </a:solidFill>
                  <a:latin typeface="Arial"/>
                  <a:ea typeface="Arial"/>
                  <a:cs typeface="Arial"/>
                </a:rPr>
                <a:t>Mạch đã chế tạo</a:t>
              </a:r>
            </a:p>
          </p:txBody>
        </p:sp>
      </p:grpSp>
      <p:grpSp>
        <p:nvGrpSpPr>
          <p:cNvPr id="29" name="Group 28"/>
          <p:cNvGrpSpPr/>
          <p:nvPr/>
        </p:nvGrpSpPr>
        <p:grpSpPr>
          <a:xfrm>
            <a:off x="502920" y="4151376"/>
            <a:ext cx="1463040" cy="1490472"/>
            <a:chOff x="502920" y="4151376"/>
            <a:chExt cx="1463040" cy="1490472"/>
          </a:xfrm>
        </p:grpSpPr>
        <p:grpSp>
          <p:nvGrpSpPr>
            <p:cNvPr id="30" name="Group 29"/>
            <p:cNvGrpSpPr/>
            <p:nvPr/>
          </p:nvGrpSpPr>
          <p:grpSpPr>
            <a:xfrm>
              <a:off x="886968" y="4151376"/>
              <a:ext cx="603504" cy="603504"/>
              <a:chOff x="886968" y="4151376"/>
              <a:chExt cx="603504" cy="603504"/>
            </a:xfrm>
          </p:grpSpPr>
          <p:sp>
            <p:nvSpPr>
              <p:cNvPr id="31" name="Oval 30"/>
              <p:cNvSpPr/>
              <p:nvPr/>
            </p:nvSpPr>
            <p:spPr>
              <a:xfrm>
                <a:off x="886968" y="4151376"/>
                <a:ext cx="603504" cy="603504"/>
              </a:xfrm>
              <a:prstGeom prst="ellipse">
                <a:avLst/>
              </a:prstGeom>
              <a:solidFill>
                <a:srgbClr val="0B2545"/>
              </a:solidFill>
              <a:ln>
                <a:noFill/>
              </a:ln>
            </p:spPr>
            <p:txBody>
              <a:bodyPr rtlCol="0" anchor="ctr" lIns="54864" tIns="54864" rIns="54864" bIns="54864" wrap="square">
                <a:noAutofit/>
              </a:bodyPr>
              <a:lstStyle/>
              <a:p>
                <a:pPr algn="ctr"/>
              </a:p>
            </p:txBody>
          </p:sp>
          <p:pic>
            <p:nvPicPr>
              <p:cNvPr id="32" name="Picture 31" descr="cube.png"/>
              <p:cNvPicPr>
                <a:picLocks noChangeAspect="1"/>
              </p:cNvPicPr>
              <p:nvPr/>
            </p:nvPicPr>
            <p:blipFill>
              <a:blip r:embed="rId7"/>
              <a:stretch>
                <a:fillRect/>
              </a:stretch>
            </p:blipFill>
            <p:spPr>
              <a:xfrm>
                <a:off x="1019739" y="4284147"/>
                <a:ext cx="337962" cy="337962"/>
              </a:xfrm>
              <a:prstGeom prst="rect">
                <a:avLst/>
              </a:prstGeom>
            </p:spPr>
          </p:pic>
        </p:grpSp>
        <p:sp>
          <p:nvSpPr>
            <p:cNvPr id="33" name="TextBox 32"/>
            <p:cNvSpPr txBox="1"/>
            <p:nvPr/>
          </p:nvSpPr>
          <p:spPr>
            <a:xfrm>
              <a:off x="502920" y="4818888"/>
              <a:ext cx="1463040" cy="566928"/>
            </a:xfrm>
            <a:prstGeom prst="rect">
              <a:avLst/>
            </a:prstGeom>
            <a:noFill/>
          </p:spPr>
          <p:txBody>
            <a:bodyPr wrap="square" lIns="0" tIns="0" rIns="0" bIns="0" anchor="t">
              <a:noAutofit/>
            </a:bodyPr>
            <a:lstStyle/>
            <a:p>
              <a:pPr algn="ctr">
                <a:lnSpc>
                  <a:spcPct val="95000"/>
                </a:lnSpc>
              </a:pPr>
              <a:r>
                <a:rPr sz="1600" b="1" i="0" lang="vi-VN">
                  <a:solidFill>
                    <a:srgbClr val="0B2545"/>
                  </a:solidFill>
                  <a:latin typeface="Arial"/>
                  <a:ea typeface="Arial"/>
                  <a:cs typeface="Arial"/>
                </a:rPr>
                <a:t>Khung cơ khí</a:t>
              </a:r>
            </a:p>
          </p:txBody>
        </p:sp>
        <p:sp>
          <p:nvSpPr>
            <p:cNvPr id="34" name="TextBox 33"/>
            <p:cNvSpPr txBox="1"/>
            <p:nvPr/>
          </p:nvSpPr>
          <p:spPr>
            <a:xfrm>
              <a:off x="502920" y="5367528"/>
              <a:ext cx="1463040" cy="274320"/>
            </a:xfrm>
            <a:prstGeom prst="rect">
              <a:avLst/>
            </a:prstGeom>
            <a:noFill/>
          </p:spPr>
          <p:txBody>
            <a:bodyPr wrap="square" lIns="0" tIns="0" rIns="0" bIns="0" anchor="t">
              <a:noAutofit/>
            </a:bodyPr>
            <a:lstStyle/>
            <a:p>
              <a:pPr algn="ctr"/>
              <a:r>
                <a:rPr sz="1300" b="0" i="0" lang="vi-VN">
                  <a:solidFill>
                    <a:srgbClr val="5B6B7B"/>
                  </a:solidFill>
                  <a:latin typeface="Arial"/>
                  <a:ea typeface="Arial"/>
                  <a:cs typeface="Arial"/>
                </a:rPr>
                <a:t>12 chi tiết</a:t>
              </a:r>
            </a:p>
          </p:txBody>
        </p:sp>
      </p:grpSp>
      <p:grpSp>
        <p:nvGrpSpPr>
          <p:cNvPr id="35" name="Group 34"/>
          <p:cNvGrpSpPr/>
          <p:nvPr/>
        </p:nvGrpSpPr>
        <p:grpSpPr>
          <a:xfrm>
            <a:off x="2103120" y="3950208"/>
            <a:ext cx="2194560" cy="2103120"/>
            <a:chOff x="2103120" y="3950208"/>
            <a:chExt cx="2194560" cy="2103120"/>
          </a:xfrm>
        </p:grpSpPr>
        <p:sp>
          <p:nvSpPr>
            <p:cNvPr id="36" name="Rounded Rectangle 35"/>
            <p:cNvSpPr/>
            <p:nvPr/>
          </p:nvSpPr>
          <p:spPr>
            <a:xfrm>
              <a:off x="2103120" y="3950208"/>
              <a:ext cx="2194560" cy="2103120"/>
            </a:xfrm>
            <a:prstGeom prst="roundRect">
              <a:avLst>
                <a:gd name="adj" fmla="val 4347"/>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37" name="Picture 36" descr="cad_2d.png"/>
            <p:cNvPicPr>
              <a:picLocks noChangeAspect="1"/>
            </p:cNvPicPr>
            <p:nvPr/>
          </p:nvPicPr>
          <p:blipFill>
            <a:blip r:embed="rId8"/>
            <a:stretch>
              <a:fillRect/>
            </a:stretch>
          </p:blipFill>
          <p:spPr>
            <a:xfrm>
              <a:off x="2194560" y="4259705"/>
              <a:ext cx="2011680" cy="1154943"/>
            </a:xfrm>
            <a:prstGeom prst="rect">
              <a:avLst/>
            </a:prstGeom>
          </p:spPr>
        </p:pic>
        <p:sp>
          <p:nvSpPr>
            <p:cNvPr id="38" name="TextBox 37"/>
            <p:cNvSpPr txBox="1"/>
            <p:nvPr/>
          </p:nvSpPr>
          <p:spPr>
            <a:xfrm>
              <a:off x="2148840" y="5687568"/>
              <a:ext cx="2103120" cy="310896"/>
            </a:xfrm>
            <a:prstGeom prst="rect">
              <a:avLst/>
            </a:prstGeom>
            <a:noFill/>
          </p:spPr>
          <p:txBody>
            <a:bodyPr wrap="square" lIns="0" tIns="0" rIns="0" bIns="0" anchor="ctr">
              <a:noAutofit/>
            </a:bodyPr>
            <a:lstStyle/>
            <a:p>
              <a:pPr algn="ctr"/>
              <a:r>
                <a:rPr sz="1250" b="0" i="0" lang="vi-VN">
                  <a:solidFill>
                    <a:srgbClr val="1E2B3A"/>
                  </a:solidFill>
                  <a:latin typeface="Arial"/>
                  <a:ea typeface="Arial"/>
                  <a:cs typeface="Arial"/>
                </a:rPr>
                <a:t>Bản vẽ hai hình chiếu</a:t>
              </a:r>
            </a:p>
          </p:txBody>
        </p:sp>
      </p:grpSp>
      <p:cxnSp>
        <p:nvCxnSpPr>
          <p:cNvPr id="39" name="Connector 38"/>
          <p:cNvCxnSpPr/>
          <p:nvPr/>
        </p:nvCxnSpPr>
        <p:spPr>
          <a:xfrm>
            <a:off x="4325112" y="5001768"/>
            <a:ext cx="219456" cy="0"/>
          </a:xfrm>
          <a:prstGeom prst="line">
            <a:avLst/>
          </a:prstGeom>
          <a:ln w="28575">
            <a:solidFill>
              <a:srgbClr val="E8710A"/>
            </a:solidFill>
            <a:tailEnd type="triangle" w="med" len="med"/>
          </a:ln>
        </p:spPr>
      </p:cxnSp>
      <p:grpSp>
        <p:nvGrpSpPr>
          <p:cNvPr id="40" name="Group 39"/>
          <p:cNvGrpSpPr/>
          <p:nvPr/>
        </p:nvGrpSpPr>
        <p:grpSpPr>
          <a:xfrm>
            <a:off x="4572000" y="3950208"/>
            <a:ext cx="2194560" cy="2103120"/>
            <a:chOff x="4572000" y="3950208"/>
            <a:chExt cx="2194560" cy="2103120"/>
          </a:xfrm>
        </p:grpSpPr>
        <p:sp>
          <p:nvSpPr>
            <p:cNvPr id="41" name="Rounded Rectangle 40"/>
            <p:cNvSpPr/>
            <p:nvPr/>
          </p:nvSpPr>
          <p:spPr>
            <a:xfrm>
              <a:off x="4572000" y="3950208"/>
              <a:ext cx="2194560" cy="2103120"/>
            </a:xfrm>
            <a:prstGeom prst="roundRect">
              <a:avLst>
                <a:gd name="adj" fmla="val 4347"/>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42" name="Picture 41" descr="cad_exploded.png"/>
            <p:cNvPicPr>
              <a:picLocks noChangeAspect="1"/>
            </p:cNvPicPr>
            <p:nvPr/>
          </p:nvPicPr>
          <p:blipFill>
            <a:blip r:embed="rId9"/>
            <a:stretch>
              <a:fillRect/>
            </a:stretch>
          </p:blipFill>
          <p:spPr>
            <a:xfrm>
              <a:off x="4823369" y="4041648"/>
              <a:ext cx="1691823" cy="1591056"/>
            </a:xfrm>
            <a:prstGeom prst="rect">
              <a:avLst/>
            </a:prstGeom>
          </p:spPr>
        </p:pic>
        <p:sp>
          <p:nvSpPr>
            <p:cNvPr id="43" name="TextBox 42"/>
            <p:cNvSpPr txBox="1"/>
            <p:nvPr/>
          </p:nvSpPr>
          <p:spPr>
            <a:xfrm>
              <a:off x="4617720" y="5687568"/>
              <a:ext cx="2103120" cy="310896"/>
            </a:xfrm>
            <a:prstGeom prst="rect">
              <a:avLst/>
            </a:prstGeom>
            <a:noFill/>
          </p:spPr>
          <p:txBody>
            <a:bodyPr wrap="square" lIns="0" tIns="0" rIns="0" bIns="0" anchor="ctr">
              <a:noAutofit/>
            </a:bodyPr>
            <a:lstStyle/>
            <a:p>
              <a:pPr algn="ctr"/>
              <a:r>
                <a:rPr sz="1250" b="0" i="0" lang="vi-VN">
                  <a:solidFill>
                    <a:srgbClr val="1E2B3A"/>
                  </a:solidFill>
                  <a:latin typeface="Arial"/>
                  <a:ea typeface="Arial"/>
                  <a:cs typeface="Arial"/>
                </a:rPr>
                <a:t>Kết cấu tách rời</a:t>
              </a:r>
            </a:p>
          </p:txBody>
        </p:sp>
      </p:grpSp>
      <p:cxnSp>
        <p:nvCxnSpPr>
          <p:cNvPr id="44" name="Connector 43"/>
          <p:cNvCxnSpPr/>
          <p:nvPr/>
        </p:nvCxnSpPr>
        <p:spPr>
          <a:xfrm>
            <a:off x="6793992" y="5001768"/>
            <a:ext cx="219456" cy="0"/>
          </a:xfrm>
          <a:prstGeom prst="line">
            <a:avLst/>
          </a:prstGeom>
          <a:ln w="28575">
            <a:solidFill>
              <a:srgbClr val="E8710A"/>
            </a:solidFill>
            <a:tailEnd type="triangle" w="med" len="med"/>
          </a:ln>
        </p:spPr>
      </p:cxnSp>
      <p:grpSp>
        <p:nvGrpSpPr>
          <p:cNvPr id="45" name="Group 44"/>
          <p:cNvGrpSpPr/>
          <p:nvPr/>
        </p:nvGrpSpPr>
        <p:grpSpPr>
          <a:xfrm>
            <a:off x="7040880" y="3950208"/>
            <a:ext cx="2194560" cy="2103120"/>
            <a:chOff x="7040880" y="3950208"/>
            <a:chExt cx="2194560" cy="2103120"/>
          </a:xfrm>
        </p:grpSpPr>
        <p:sp>
          <p:nvSpPr>
            <p:cNvPr id="46" name="Rounded Rectangle 45"/>
            <p:cNvSpPr/>
            <p:nvPr/>
          </p:nvSpPr>
          <p:spPr>
            <a:xfrm>
              <a:off x="7040880" y="3950208"/>
              <a:ext cx="2194560" cy="2103120"/>
            </a:xfrm>
            <a:prstGeom prst="roundRect">
              <a:avLst>
                <a:gd name="adj" fmla="val 4347"/>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47" name="Picture 46" descr="cad_render.png"/>
            <p:cNvPicPr>
              <a:picLocks noChangeAspect="1"/>
            </p:cNvPicPr>
            <p:nvPr/>
          </p:nvPicPr>
          <p:blipFill>
            <a:blip r:embed="rId10"/>
            <a:stretch>
              <a:fillRect/>
            </a:stretch>
          </p:blipFill>
          <p:spPr>
            <a:xfrm>
              <a:off x="7280728" y="4041648"/>
              <a:ext cx="1714863" cy="1591056"/>
            </a:xfrm>
            <a:prstGeom prst="rect">
              <a:avLst/>
            </a:prstGeom>
          </p:spPr>
        </p:pic>
        <p:sp>
          <p:nvSpPr>
            <p:cNvPr id="48" name="TextBox 47"/>
            <p:cNvSpPr txBox="1"/>
            <p:nvPr/>
          </p:nvSpPr>
          <p:spPr>
            <a:xfrm>
              <a:off x="7086600" y="5687568"/>
              <a:ext cx="2103120" cy="310896"/>
            </a:xfrm>
            <a:prstGeom prst="rect">
              <a:avLst/>
            </a:prstGeom>
            <a:noFill/>
          </p:spPr>
          <p:txBody>
            <a:bodyPr wrap="square" lIns="0" tIns="0" rIns="0" bIns="0" anchor="ctr">
              <a:noAutofit/>
            </a:bodyPr>
            <a:lstStyle/>
            <a:p>
              <a:pPr algn="ctr"/>
              <a:r>
                <a:rPr sz="1250" b="0" i="0" lang="vi-VN">
                  <a:solidFill>
                    <a:srgbClr val="1E2B3A"/>
                  </a:solidFill>
                  <a:latin typeface="Arial"/>
                  <a:ea typeface="Arial"/>
                  <a:cs typeface="Arial"/>
                </a:rPr>
                <a:t>Mô hình lắp ráp</a:t>
              </a:r>
            </a:p>
          </p:txBody>
        </p:sp>
      </p:grpSp>
      <p:cxnSp>
        <p:nvCxnSpPr>
          <p:cNvPr id="49" name="Connector 48"/>
          <p:cNvCxnSpPr/>
          <p:nvPr/>
        </p:nvCxnSpPr>
        <p:spPr>
          <a:xfrm>
            <a:off x="9262872" y="5001768"/>
            <a:ext cx="219456" cy="0"/>
          </a:xfrm>
          <a:prstGeom prst="line">
            <a:avLst/>
          </a:prstGeom>
          <a:ln w="28575">
            <a:solidFill>
              <a:srgbClr val="E8710A"/>
            </a:solidFill>
            <a:tailEnd type="triangle" w="med" len="med"/>
          </a:ln>
        </p:spPr>
      </p:cxnSp>
      <p:grpSp>
        <p:nvGrpSpPr>
          <p:cNvPr id="50" name="Group 49"/>
          <p:cNvGrpSpPr/>
          <p:nvPr/>
        </p:nvGrpSpPr>
        <p:grpSpPr>
          <a:xfrm>
            <a:off x="9509760" y="3950208"/>
            <a:ext cx="2194560" cy="2103120"/>
            <a:chOff x="9509760" y="3950208"/>
            <a:chExt cx="2194560" cy="2103120"/>
          </a:xfrm>
        </p:grpSpPr>
        <p:sp>
          <p:nvSpPr>
            <p:cNvPr id="51" name="Rounded Rectangle 50"/>
            <p:cNvSpPr/>
            <p:nvPr/>
          </p:nvSpPr>
          <p:spPr>
            <a:xfrm>
              <a:off x="9509760" y="3950208"/>
              <a:ext cx="2194560" cy="2103120"/>
            </a:xfrm>
            <a:prstGeom prst="roundRect">
              <a:avLst>
                <a:gd name="adj" fmla="val 4347"/>
              </a:avLst>
            </a:prstGeom>
            <a:solidFill>
              <a:srgbClr val="EAF3FB"/>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2" name="TextBox 51"/>
            <p:cNvSpPr txBox="1"/>
            <p:nvPr/>
          </p:nvSpPr>
          <p:spPr>
            <a:xfrm>
              <a:off x="9619488" y="4041648"/>
              <a:ext cx="2011680" cy="1920240"/>
            </a:xfrm>
            <a:prstGeom prst="rect">
              <a:avLst/>
            </a:prstGeom>
            <a:noFill/>
          </p:spPr>
          <p:txBody>
            <a:bodyPr wrap="square" lIns="0" tIns="0" rIns="0" bIns="0" anchor="ctr">
              <a:noAutofit/>
            </a:bodyPr>
            <a:lstStyle/>
            <a:p>
              <a:pPr algn="l">
                <a:lnSpc>
                  <a:spcPct val="95000"/>
                </a:lnSpc>
                <a:spcAft>
                  <a:spcPts val="200"/>
                </a:spcAft>
              </a:pPr>
              <a:r>
                <a:rPr sz="1350" b="1" i="0" lang="vi-VN">
                  <a:solidFill>
                    <a:srgbClr val="0B2545"/>
                  </a:solidFill>
                  <a:latin typeface="Arial"/>
                  <a:ea typeface="Arial"/>
                  <a:cs typeface="Arial"/>
                </a:rPr>
                <a:t>Kết cấu chính</a:t>
              </a:r>
            </a:p>
            <a:p>
              <a:pPr algn="l" marL="201168" indent="-201168">
                <a:lnSpc>
                  <a:spcPct val="95000"/>
                </a:lnSpc>
                <a:spcAft>
                  <a:spcPts val="200"/>
                </a:spcAft>
                <a:buClr>
                  <a:srgbClr val="0A5FA8"/>
                </a:buClr>
                <a:buSzPct val="100000"/>
                <a:buFont typeface="Arial"/>
                <a:buChar char="•"/>
              </a:pPr>
              <a:r>
                <a:rPr sz="1250" b="0" i="0" lang="vi-VN">
                  <a:solidFill>
                    <a:srgbClr val="1E2B3A"/>
                  </a:solidFill>
                  <a:latin typeface="Arial"/>
                  <a:ea typeface="Arial"/>
                  <a:cs typeface="Arial"/>
                </a:rPr>
                <a:t>Đế carbon, 4 đệm cao su; IMU2 trên đế</a:t>
              </a:r>
            </a:p>
            <a:p>
              <a:pPr algn="l" marL="201168" indent="-201168">
                <a:lnSpc>
                  <a:spcPct val="95000"/>
                </a:lnSpc>
                <a:spcAft>
                  <a:spcPts val="200"/>
                </a:spcAft>
                <a:buClr>
                  <a:srgbClr val="0A5FA8"/>
                </a:buClr>
                <a:buSzPct val="100000"/>
                <a:buFont typeface="Arial"/>
                <a:buChar char="•"/>
              </a:pPr>
              <a:r>
                <a:rPr sz="1250" b="0" i="0" lang="vi-VN">
                  <a:solidFill>
                    <a:srgbClr val="1E2B3A"/>
                  </a:solidFill>
                  <a:latin typeface="Arial"/>
                  <a:ea typeface="Arial"/>
                  <a:cs typeface="Arial"/>
                </a:rPr>
                <a:t>Trục Yaw: MS3506 + tấm quay</a:t>
              </a:r>
            </a:p>
            <a:p>
              <a:pPr algn="l" marL="201168" indent="-201168">
                <a:lnSpc>
                  <a:spcPct val="95000"/>
                </a:lnSpc>
                <a:spcAft>
                  <a:spcPts val="200"/>
                </a:spcAft>
                <a:buClr>
                  <a:srgbClr val="0A5FA8"/>
                </a:buClr>
                <a:buSzPct val="100000"/>
                <a:buFont typeface="Arial"/>
                <a:buChar char="•"/>
              </a:pPr>
              <a:r>
                <a:rPr sz="1250" b="0" i="0" lang="vi-VN">
                  <a:solidFill>
                    <a:srgbClr val="1E2B3A"/>
                  </a:solidFill>
                  <a:latin typeface="Arial"/>
                  <a:ea typeface="Arial"/>
                  <a:cs typeface="Arial"/>
                </a:rPr>
                <a:t>Trục Pitch: MS3506 + mặt bích, giá chữ L mang camera, IMU1</a:t>
              </a:r>
            </a:p>
          </p:txBody>
        </p:sp>
      </p:grpSp>
      <p:grpSp>
        <p:nvGrpSpPr>
          <p:cNvPr id="53" name="Group 52"/>
          <p:cNvGrpSpPr/>
          <p:nvPr/>
        </p:nvGrpSpPr>
        <p:grpSpPr>
          <a:xfrm>
            <a:off x="2103120" y="3474720"/>
            <a:ext cx="9601200" cy="347472"/>
            <a:chOff x="2103120" y="3474720"/>
            <a:chExt cx="9601200" cy="347472"/>
          </a:xfrm>
        </p:grpSpPr>
        <p:sp>
          <p:nvSpPr>
            <p:cNvPr id="54" name="Rounded Rectangle 53"/>
            <p:cNvSpPr/>
            <p:nvPr/>
          </p:nvSpPr>
          <p:spPr>
            <a:xfrm>
              <a:off x="2103120" y="3474720"/>
              <a:ext cx="1691640" cy="347472"/>
            </a:xfrm>
            <a:prstGeom prst="roundRect">
              <a:avLst>
                <a:gd name="adj" fmla="val 50000"/>
              </a:avLst>
            </a:prstGeom>
            <a:solidFill>
              <a:srgbClr val="FFFFFF"/>
            </a:solidFill>
            <a:ln w="12700">
              <a:solidFill>
                <a:srgbClr val="0A5FA8"/>
              </a:solidFill>
            </a:ln>
          </p:spPr>
          <p:txBody>
            <a:bodyPr rtlCol="0" anchor="ctr" lIns="73152" tIns="18288" rIns="73152" bIns="18288" wrap="square">
              <a:noAutofit/>
            </a:bodyPr>
            <a:lstStyle/>
            <a:p>
              <a:pPr algn="ctr"/>
              <a:r>
                <a:rPr sz="1200" b="1" i="0" lang="vi-VN">
                  <a:solidFill>
                    <a:srgbClr val="0B2545"/>
                  </a:solidFill>
                  <a:latin typeface="Arial"/>
                  <a:ea typeface="Arial"/>
                  <a:cs typeface="Arial"/>
                </a:rPr>
                <a:t>STM32F407VET6</a:t>
              </a:r>
            </a:p>
          </p:txBody>
        </p:sp>
        <p:sp>
          <p:nvSpPr>
            <p:cNvPr id="55" name="Rounded Rectangle 54"/>
            <p:cNvSpPr/>
            <p:nvPr/>
          </p:nvSpPr>
          <p:spPr>
            <a:xfrm>
              <a:off x="3909060" y="3474720"/>
              <a:ext cx="1920240" cy="347472"/>
            </a:xfrm>
            <a:prstGeom prst="roundRect">
              <a:avLst>
                <a:gd name="adj" fmla="val 50000"/>
              </a:avLst>
            </a:prstGeom>
            <a:solidFill>
              <a:srgbClr val="FFFFFF"/>
            </a:solidFill>
            <a:ln w="12700">
              <a:solidFill>
                <a:srgbClr val="0A5FA8"/>
              </a:solidFill>
            </a:ln>
          </p:spPr>
          <p:txBody>
            <a:bodyPr rtlCol="0" anchor="ctr" lIns="73152" tIns="18288" rIns="73152" bIns="18288" wrap="square">
              <a:noAutofit/>
            </a:bodyPr>
            <a:lstStyle/>
            <a:p>
              <a:pPr algn="ctr"/>
              <a:r>
                <a:rPr sz="1200" b="1" i="0" lang="vi-VN">
                  <a:solidFill>
                    <a:srgbClr val="0B2545"/>
                  </a:solidFill>
                  <a:latin typeface="Arial"/>
                  <a:ea typeface="Arial"/>
                  <a:cs typeface="Arial"/>
                </a:rPr>
                <a:t>2 cổng SPI cảm biến</a:t>
              </a:r>
            </a:p>
          </p:txBody>
        </p:sp>
        <p:sp>
          <p:nvSpPr>
            <p:cNvPr id="56" name="Rounded Rectangle 55"/>
            <p:cNvSpPr/>
            <p:nvPr/>
          </p:nvSpPr>
          <p:spPr>
            <a:xfrm>
              <a:off x="5943600" y="3474720"/>
              <a:ext cx="1508760" cy="347472"/>
            </a:xfrm>
            <a:prstGeom prst="roundRect">
              <a:avLst>
                <a:gd name="adj" fmla="val 50000"/>
              </a:avLst>
            </a:prstGeom>
            <a:solidFill>
              <a:srgbClr val="FFFFFF"/>
            </a:solidFill>
            <a:ln w="12700">
              <a:solidFill>
                <a:srgbClr val="0A5FA8"/>
              </a:solidFill>
            </a:ln>
          </p:spPr>
          <p:txBody>
            <a:bodyPr rtlCol="0" anchor="ctr" lIns="73152" tIns="18288" rIns="73152" bIns="18288" wrap="square">
              <a:noAutofit/>
            </a:bodyPr>
            <a:lstStyle/>
            <a:p>
              <a:pPr algn="ctr"/>
              <a:r>
                <a:rPr sz="1200" b="1" i="0" lang="vi-VN">
                  <a:solidFill>
                    <a:srgbClr val="0B2545"/>
                  </a:solidFill>
                  <a:latin typeface="Arial"/>
                  <a:ea typeface="Arial"/>
                  <a:cs typeface="Arial"/>
                </a:rPr>
                <a:t>RS485 · MAX485</a:t>
              </a:r>
            </a:p>
          </p:txBody>
        </p:sp>
        <p:sp>
          <p:nvSpPr>
            <p:cNvPr id="57" name="Rounded Rectangle 56"/>
            <p:cNvSpPr/>
            <p:nvPr/>
          </p:nvSpPr>
          <p:spPr>
            <a:xfrm>
              <a:off x="7566660" y="3474720"/>
              <a:ext cx="2103120" cy="347472"/>
            </a:xfrm>
            <a:prstGeom prst="roundRect">
              <a:avLst>
                <a:gd name="adj" fmla="val 50000"/>
              </a:avLst>
            </a:prstGeom>
            <a:solidFill>
              <a:srgbClr val="FFFFFF"/>
            </a:solidFill>
            <a:ln w="12700">
              <a:solidFill>
                <a:srgbClr val="0A5FA8"/>
              </a:solidFill>
            </a:ln>
          </p:spPr>
          <p:txBody>
            <a:bodyPr rtlCol="0" anchor="ctr" lIns="73152" tIns="18288" rIns="73152" bIns="18288" wrap="square">
              <a:noAutofit/>
            </a:bodyPr>
            <a:lstStyle/>
            <a:p>
              <a:pPr algn="ctr"/>
              <a:r>
                <a:rPr sz="1200" b="1" i="0" lang="vi-VN">
                  <a:solidFill>
                    <a:srgbClr val="0B2545"/>
                  </a:solidFill>
                  <a:latin typeface="Arial"/>
                  <a:ea typeface="Arial"/>
                  <a:cs typeface="Arial"/>
                </a:rPr>
                <a:t>Chuyển mức 4×TXS0102</a:t>
              </a:r>
            </a:p>
          </p:txBody>
        </p:sp>
        <p:sp>
          <p:nvSpPr>
            <p:cNvPr id="58" name="Rounded Rectangle 57"/>
            <p:cNvSpPr/>
            <p:nvPr/>
          </p:nvSpPr>
          <p:spPr>
            <a:xfrm>
              <a:off x="9784080" y="3474720"/>
              <a:ext cx="1920240" cy="347472"/>
            </a:xfrm>
            <a:prstGeom prst="roundRect">
              <a:avLst>
                <a:gd name="adj" fmla="val 50000"/>
              </a:avLst>
            </a:prstGeom>
            <a:solidFill>
              <a:srgbClr val="FFFFFF"/>
            </a:solidFill>
            <a:ln w="12700">
              <a:solidFill>
                <a:srgbClr val="0A5FA8"/>
              </a:solidFill>
            </a:ln>
          </p:spPr>
          <p:txBody>
            <a:bodyPr rtlCol="0" anchor="ctr" lIns="73152" tIns="18288" rIns="73152" bIns="18288" wrap="square">
              <a:noAutofit/>
            </a:bodyPr>
            <a:lstStyle/>
            <a:p>
              <a:pPr algn="ctr"/>
              <a:r>
                <a:rPr sz="1200" b="1" i="0" lang="vi-VN">
                  <a:solidFill>
                    <a:srgbClr val="0B2545"/>
                  </a:solidFill>
                  <a:latin typeface="Arial"/>
                  <a:ea typeface="Arial"/>
                  <a:cs typeface="Arial"/>
                </a:rPr>
                <a:t>Nguồn 12 → 5 → 3,3 V</a:t>
              </a:r>
            </a:p>
          </p:txBody>
        </p:sp>
      </p:grpSp>
      <p:sp>
        <p:nvSpPr>
          <p:cNvPr id="59"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childTnLst>
                          </p:cTn>
                        </p:par>
                        <p:par>
                          <p:cTn id="8" fill="hold">
                            <p:stCondLst>
                              <p:cond delay="45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450"/>
                                        <p:tgtEl>
                                          <p:spTgt spid="10"/>
                                        </p:tgtEl>
                                      </p:cBhvr>
                                    </p:animEffect>
                                  </p:childTnLst>
                                </p:cTn>
                              </p:par>
                            </p:childTnLst>
                          </p:cTn>
                        </p:par>
                        <p:par>
                          <p:cTn id="12" fill="hold">
                            <p:stCondLst>
                              <p:cond delay="900"/>
                            </p:stCondLst>
                            <p:childTnLst>
                              <p:par>
                                <p:cTn id="13" presetID="22" presetClass="entr" presetSubtype="8"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450"/>
                                        <p:tgtEl>
                                          <p:spTgt spid="15"/>
                                        </p:tgtEl>
                                      </p:cBhvr>
                                    </p:animEffect>
                                  </p:childTnLst>
                                </p:cTn>
                              </p:par>
                            </p:childTnLst>
                          </p:cTn>
                        </p:par>
                        <p:par>
                          <p:cTn id="16" fill="hold">
                            <p:stCondLst>
                              <p:cond delay="1350"/>
                            </p:stCondLst>
                            <p:childTnLst>
                              <p:par>
                                <p:cTn id="17" presetID="22" presetClass="entr" presetSubtype="8"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left)">
                                      <p:cBhvr>
                                        <p:cTn id="19" dur="450"/>
                                        <p:tgtEl>
                                          <p:spTgt spid="20"/>
                                        </p:tgtEl>
                                      </p:cBhvr>
                                    </p:animEffect>
                                  </p:childTnLst>
                                </p:cTn>
                              </p:par>
                            </p:childTnLst>
                          </p:cTn>
                        </p:par>
                        <p:par>
                          <p:cTn id="20" fill="hold">
                            <p:stCondLst>
                              <p:cond delay="1800"/>
                            </p:stCondLst>
                            <p:childTnLst>
                              <p:par>
                                <p:cTn id="21" presetID="22" presetClass="entr" presetSubtype="8"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450"/>
                                        <p:tgtEl>
                                          <p:spTgt spid="25"/>
                                        </p:tgtEl>
                                      </p:cBhvr>
                                    </p:animEffect>
                                  </p:childTnLst>
                                </p:cTn>
                              </p:par>
                            </p:childTnLst>
                          </p:cTn>
                        </p:par>
                        <p:par>
                          <p:cTn id="24" fill="hold">
                            <p:stCondLst>
                              <p:cond delay="2250"/>
                            </p:stCondLst>
                            <p:childTnLst>
                              <p:par>
                                <p:cTn id="25" presetID="10" presetClass="entr" presetSubtype="0" fill="hold" grpId="0"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400"/>
                                        <p:tgtEl>
                                          <p:spTgt spid="5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50"/>
                                        <p:tgtEl>
                                          <p:spTgt spid="29"/>
                                        </p:tgtEl>
                                      </p:cBhvr>
                                    </p:animEffect>
                                  </p:childTnLst>
                                </p:cTn>
                              </p:par>
                            </p:childTnLst>
                          </p:cTn>
                        </p:par>
                        <p:par>
                          <p:cTn id="33" fill="hold">
                            <p:stCondLst>
                              <p:cond delay="450"/>
                            </p:stCondLst>
                            <p:childTnLst>
                              <p:par>
                                <p:cTn id="34" presetID="22" presetClass="entr" presetSubtype="8" fill="hold" grpId="0" nodeType="after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wipe(left)">
                                      <p:cBhvr>
                                        <p:cTn id="36" dur="450"/>
                                        <p:tgtEl>
                                          <p:spTgt spid="35"/>
                                        </p:tgtEl>
                                      </p:cBhvr>
                                    </p:animEffect>
                                  </p:childTnLst>
                                </p:cTn>
                              </p:par>
                            </p:childTnLst>
                          </p:cTn>
                        </p:par>
                        <p:par>
                          <p:cTn id="37" fill="hold">
                            <p:stCondLst>
                              <p:cond delay="900"/>
                            </p:stCondLst>
                            <p:childTnLst>
                              <p:par>
                                <p:cTn id="38" presetID="22" presetClass="entr" presetSubtype="8" fill="hold" grpId="0" nodeType="after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left)">
                                      <p:cBhvr>
                                        <p:cTn id="40" dur="450"/>
                                        <p:tgtEl>
                                          <p:spTgt spid="40"/>
                                        </p:tgtEl>
                                      </p:cBhvr>
                                    </p:animEffect>
                                  </p:childTnLst>
                                </p:cTn>
                              </p:par>
                            </p:childTnLst>
                          </p:cTn>
                        </p:par>
                        <p:par>
                          <p:cTn id="41" fill="hold">
                            <p:stCondLst>
                              <p:cond delay="1350"/>
                            </p:stCondLst>
                            <p:childTnLst>
                              <p:par>
                                <p:cTn id="42" presetID="22" presetClass="entr" presetSubtype="8" fill="hold" grpId="0" nodeType="after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wipe(left)">
                                      <p:cBhvr>
                                        <p:cTn id="44" dur="450"/>
                                        <p:tgtEl>
                                          <p:spTgt spid="45"/>
                                        </p:tgtEl>
                                      </p:cBhvr>
                                    </p:animEffect>
                                  </p:childTnLst>
                                </p:cTn>
                              </p:par>
                            </p:childTnLst>
                          </p:cTn>
                        </p:par>
                        <p:par>
                          <p:cTn id="45" fill="hold">
                            <p:stCondLst>
                              <p:cond delay="1800"/>
                            </p:stCondLst>
                            <p:childTnLst>
                              <p:par>
                                <p:cTn id="46" presetID="22" presetClass="entr" presetSubtype="8" fill="hold" grpId="0" nodeType="after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wipe(left)">
                                      <p:cBhvr>
                                        <p:cTn id="48" dur="4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2 · SẢN PHẨM ĐÃ CHẾ TẠO</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Sản phẩm: Gimbal, mạch điều khiển, 2 × MS3506, 2 × ICM20948</a:t>
            </a:r>
          </a:p>
        </p:txBody>
      </p:sp>
      <p:grpSp>
        <p:nvGrpSpPr>
          <p:cNvPr id="4" name="Group 3"/>
          <p:cNvGrpSpPr/>
          <p:nvPr/>
        </p:nvGrpSpPr>
        <p:grpSpPr>
          <a:xfrm>
            <a:off x="502920" y="1261872"/>
            <a:ext cx="5257800" cy="4791456"/>
            <a:chOff x="502920" y="1261872"/>
            <a:chExt cx="5257800" cy="4791456"/>
          </a:xfrm>
        </p:grpSpPr>
        <p:sp>
          <p:nvSpPr>
            <p:cNvPr id="5" name="Rounded Rectangle 4"/>
            <p:cNvSpPr/>
            <p:nvPr/>
          </p:nvSpPr>
          <p:spPr>
            <a:xfrm>
              <a:off x="502920" y="1261872"/>
              <a:ext cx="5257800" cy="4791456"/>
            </a:xfrm>
            <a:prstGeom prst="roundRect">
              <a:avLst>
                <a:gd name="adj" fmla="val 19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6" name="Picture 5" descr="gimbal_photo.jpg"/>
            <p:cNvPicPr>
              <a:picLocks noChangeAspect="1"/>
            </p:cNvPicPr>
            <p:nvPr/>
          </p:nvPicPr>
          <p:blipFill>
            <a:blip r:embed="rId2"/>
            <a:stretch>
              <a:fillRect/>
            </a:stretch>
          </p:blipFill>
          <p:spPr>
            <a:xfrm>
              <a:off x="1156300" y="1371600"/>
              <a:ext cx="3951041" cy="4315968"/>
            </a:xfrm>
            <a:prstGeom prst="rect">
              <a:avLst/>
            </a:prstGeom>
          </p:spPr>
        </p:pic>
        <p:sp>
          <p:nvSpPr>
            <p:cNvPr id="7" name="TextBox 6"/>
            <p:cNvSpPr txBox="1"/>
            <p:nvPr/>
          </p:nvSpPr>
          <p:spPr>
            <a:xfrm>
              <a:off x="594360" y="5724144"/>
              <a:ext cx="5074920" cy="292608"/>
            </a:xfrm>
            <a:prstGeom prst="rect">
              <a:avLst/>
            </a:prstGeom>
            <a:noFill/>
          </p:spPr>
          <p:txBody>
            <a:bodyPr wrap="square" lIns="0" tIns="0" rIns="0" bIns="0" anchor="t">
              <a:noAutofit/>
            </a:bodyPr>
            <a:lstStyle/>
            <a:p>
              <a:pPr algn="ctr"/>
              <a:r>
                <a:rPr sz="1250" b="0" i="1" lang="vi-VN">
                  <a:solidFill>
                    <a:srgbClr val="5B6B7B"/>
                  </a:solidFill>
                  <a:latin typeface="Arial"/>
                  <a:ea typeface="Arial"/>
                  <a:cs typeface="Arial"/>
                </a:rPr>
                <a:t>Cơ cấu Gimbal hai trục hoàn chỉnh (Hình 3.1)</a:t>
              </a:r>
            </a:p>
          </p:txBody>
        </p:sp>
      </p:grpSp>
      <p:grpSp>
        <p:nvGrpSpPr>
          <p:cNvPr id="8" name="Group 7"/>
          <p:cNvGrpSpPr/>
          <p:nvPr/>
        </p:nvGrpSpPr>
        <p:grpSpPr>
          <a:xfrm>
            <a:off x="3337560" y="1463040"/>
            <a:ext cx="2103120" cy="855968"/>
            <a:chOff x="3337560" y="1463040"/>
            <a:chExt cx="2103120" cy="855968"/>
          </a:xfrm>
        </p:grpSpPr>
        <p:cxnSp>
          <p:nvCxnSpPr>
            <p:cNvPr id="9" name="Connector 8"/>
            <p:cNvCxnSpPr/>
            <p:nvPr/>
          </p:nvCxnSpPr>
          <p:spPr>
            <a:xfrm flipH="1">
              <a:off x="4328361" y="1618488"/>
              <a:ext cx="60759" cy="700520"/>
            </a:xfrm>
            <a:prstGeom prst="line">
              <a:avLst/>
            </a:prstGeom>
            <a:ln w="22225">
              <a:solidFill>
                <a:srgbClr val="E8710A"/>
              </a:solidFill>
              <a:tailEnd type="oval" w="sm" len="sm"/>
            </a:ln>
          </p:spPr>
        </p:cxnSp>
        <p:sp>
          <p:nvSpPr>
            <p:cNvPr id="10" name="Rounded Rectangle 9"/>
            <p:cNvSpPr/>
            <p:nvPr/>
          </p:nvSpPr>
          <p:spPr>
            <a:xfrm>
              <a:off x="3337560" y="1463040"/>
              <a:ext cx="2103120" cy="329184"/>
            </a:xfrm>
            <a:prstGeom prst="roundRect">
              <a:avLst>
                <a:gd name="adj" fmla="val 22222"/>
              </a:avLst>
            </a:prstGeom>
            <a:solidFill>
              <a:srgbClr val="0B2545"/>
            </a:solidFill>
            <a:ln>
              <a:noFill/>
            </a:ln>
          </p:spPr>
          <p:txBody>
            <a:bodyPr rtlCol="0" anchor="ctr" lIns="73152" tIns="18288" rIns="73152" bIns="18288" wrap="square">
              <a:noAutofit/>
            </a:bodyPr>
            <a:lstStyle/>
            <a:p>
              <a:pPr algn="ctr"/>
              <a:r>
                <a:rPr sz="1200" b="1" i="0" lang="vi-VN">
                  <a:solidFill>
                    <a:srgbClr val="FFFFFF"/>
                  </a:solidFill>
                  <a:latin typeface="Arial"/>
                  <a:ea typeface="Arial"/>
                  <a:cs typeface="Arial"/>
                </a:rPr>
                <a:t>Động cơ Pitch · MS3506</a:t>
              </a:r>
            </a:p>
          </p:txBody>
        </p:sp>
      </p:grpSp>
      <p:grpSp>
        <p:nvGrpSpPr>
          <p:cNvPr id="11" name="Group 10"/>
          <p:cNvGrpSpPr/>
          <p:nvPr/>
        </p:nvGrpSpPr>
        <p:grpSpPr>
          <a:xfrm>
            <a:off x="658368" y="2103120"/>
            <a:ext cx="1747106" cy="938725"/>
            <a:chOff x="658368" y="2103120"/>
            <a:chExt cx="1747106" cy="938725"/>
          </a:xfrm>
        </p:grpSpPr>
        <p:cxnSp>
          <p:nvCxnSpPr>
            <p:cNvPr id="12" name="Connector 11"/>
            <p:cNvCxnSpPr/>
            <p:nvPr/>
          </p:nvCxnSpPr>
          <p:spPr>
            <a:xfrm>
              <a:off x="1527048" y="2258568"/>
              <a:ext cx="878426" cy="783277"/>
            </a:xfrm>
            <a:prstGeom prst="line">
              <a:avLst/>
            </a:prstGeom>
            <a:ln w="22225">
              <a:solidFill>
                <a:srgbClr val="E8710A"/>
              </a:solidFill>
              <a:tailEnd type="oval" w="sm" len="sm"/>
            </a:ln>
          </p:spPr>
        </p:cxnSp>
        <p:sp>
          <p:nvSpPr>
            <p:cNvPr id="13" name="Rounded Rectangle 12"/>
            <p:cNvSpPr/>
            <p:nvPr/>
          </p:nvSpPr>
          <p:spPr>
            <a:xfrm>
              <a:off x="658368" y="2103120"/>
              <a:ext cx="1737360" cy="329184"/>
            </a:xfrm>
            <a:prstGeom prst="roundRect">
              <a:avLst>
                <a:gd name="adj" fmla="val 22222"/>
              </a:avLst>
            </a:prstGeom>
            <a:solidFill>
              <a:srgbClr val="0B2545"/>
            </a:solidFill>
            <a:ln>
              <a:noFill/>
            </a:ln>
          </p:spPr>
          <p:txBody>
            <a:bodyPr rtlCol="0" anchor="ctr" lIns="73152" tIns="18288" rIns="73152" bIns="18288" wrap="square">
              <a:noAutofit/>
            </a:bodyPr>
            <a:lstStyle/>
            <a:p>
              <a:pPr algn="ctr"/>
              <a:r>
                <a:rPr sz="1200" b="1" i="0" lang="vi-VN">
                  <a:solidFill>
                    <a:srgbClr val="FFFFFF"/>
                  </a:solidFill>
                  <a:latin typeface="Arial"/>
                  <a:ea typeface="Arial"/>
                  <a:cs typeface="Arial"/>
                </a:rPr>
                <a:t>Giá camera + IMU1</a:t>
              </a:r>
            </a:p>
          </p:txBody>
        </p:sp>
      </p:grpSp>
      <p:grpSp>
        <p:nvGrpSpPr>
          <p:cNvPr id="14" name="Group 13"/>
          <p:cNvGrpSpPr/>
          <p:nvPr/>
        </p:nvGrpSpPr>
        <p:grpSpPr>
          <a:xfrm>
            <a:off x="2994972" y="3822192"/>
            <a:ext cx="2674308" cy="329184"/>
            <a:chOff x="2994972" y="3822192"/>
            <a:chExt cx="2674308" cy="329184"/>
          </a:xfrm>
        </p:grpSpPr>
        <p:cxnSp>
          <p:nvCxnSpPr>
            <p:cNvPr id="15" name="Connector 14"/>
            <p:cNvCxnSpPr/>
            <p:nvPr/>
          </p:nvCxnSpPr>
          <p:spPr>
            <a:xfrm flipH="1" flipV="1">
              <a:off x="2994972" y="3827842"/>
              <a:ext cx="662628" cy="149798"/>
            </a:xfrm>
            <a:prstGeom prst="line">
              <a:avLst/>
            </a:prstGeom>
            <a:ln w="22225">
              <a:solidFill>
                <a:srgbClr val="E8710A"/>
              </a:solidFill>
              <a:tailEnd type="oval" w="sm" len="sm"/>
            </a:ln>
          </p:spPr>
        </p:cxnSp>
        <p:sp>
          <p:nvSpPr>
            <p:cNvPr id="16" name="Rounded Rectangle 15"/>
            <p:cNvSpPr/>
            <p:nvPr/>
          </p:nvSpPr>
          <p:spPr>
            <a:xfrm>
              <a:off x="3657600" y="3822192"/>
              <a:ext cx="2011680" cy="329184"/>
            </a:xfrm>
            <a:prstGeom prst="roundRect">
              <a:avLst>
                <a:gd name="adj" fmla="val 22222"/>
              </a:avLst>
            </a:prstGeom>
            <a:solidFill>
              <a:srgbClr val="0B2545"/>
            </a:solidFill>
            <a:ln>
              <a:noFill/>
            </a:ln>
          </p:spPr>
          <p:txBody>
            <a:bodyPr rtlCol="0" anchor="ctr" lIns="73152" tIns="18288" rIns="73152" bIns="18288" wrap="square">
              <a:noAutofit/>
            </a:bodyPr>
            <a:lstStyle/>
            <a:p>
              <a:pPr algn="ctr"/>
              <a:r>
                <a:rPr sz="1200" b="1" i="0" lang="vi-VN">
                  <a:solidFill>
                    <a:srgbClr val="FFFFFF"/>
                  </a:solidFill>
                  <a:latin typeface="Arial"/>
                  <a:ea typeface="Arial"/>
                  <a:cs typeface="Arial"/>
                </a:rPr>
                <a:t>Động cơ Yaw · MS3506</a:t>
              </a:r>
            </a:p>
          </p:txBody>
        </p:sp>
      </p:grpSp>
      <p:grpSp>
        <p:nvGrpSpPr>
          <p:cNvPr id="17" name="Group 16"/>
          <p:cNvGrpSpPr/>
          <p:nvPr/>
        </p:nvGrpSpPr>
        <p:grpSpPr>
          <a:xfrm>
            <a:off x="2784437" y="4726125"/>
            <a:ext cx="2720251" cy="778563"/>
            <a:chOff x="2784437" y="4726125"/>
            <a:chExt cx="2720251" cy="778563"/>
          </a:xfrm>
        </p:grpSpPr>
        <p:cxnSp>
          <p:nvCxnSpPr>
            <p:cNvPr id="18" name="Connector 17"/>
            <p:cNvCxnSpPr/>
            <p:nvPr/>
          </p:nvCxnSpPr>
          <p:spPr>
            <a:xfrm flipH="1" flipV="1">
              <a:off x="2784437" y="4726125"/>
              <a:ext cx="525691" cy="604827"/>
            </a:xfrm>
            <a:prstGeom prst="line">
              <a:avLst/>
            </a:prstGeom>
            <a:ln w="22225">
              <a:solidFill>
                <a:srgbClr val="E8710A"/>
              </a:solidFill>
              <a:tailEnd type="oval" w="sm" len="sm"/>
            </a:ln>
          </p:spPr>
        </p:cxnSp>
        <p:sp>
          <p:nvSpPr>
            <p:cNvPr id="19" name="Rounded Rectangle 18"/>
            <p:cNvSpPr/>
            <p:nvPr/>
          </p:nvSpPr>
          <p:spPr>
            <a:xfrm>
              <a:off x="3310128" y="5175504"/>
              <a:ext cx="2194560" cy="329184"/>
            </a:xfrm>
            <a:prstGeom prst="roundRect">
              <a:avLst>
                <a:gd name="adj" fmla="val 22222"/>
              </a:avLst>
            </a:prstGeom>
            <a:solidFill>
              <a:srgbClr val="0B2545"/>
            </a:solidFill>
            <a:ln>
              <a:noFill/>
            </a:ln>
          </p:spPr>
          <p:txBody>
            <a:bodyPr rtlCol="0" anchor="ctr" lIns="73152" tIns="18288" rIns="73152" bIns="18288" wrap="square">
              <a:noAutofit/>
            </a:bodyPr>
            <a:lstStyle/>
            <a:p>
              <a:pPr algn="ctr"/>
              <a:r>
                <a:rPr sz="1200" b="1" i="0" lang="vi-VN">
                  <a:solidFill>
                    <a:srgbClr val="FFFFFF"/>
                  </a:solidFill>
                  <a:latin typeface="Arial"/>
                  <a:ea typeface="Arial"/>
                  <a:cs typeface="Arial"/>
                </a:rPr>
                <a:t>IMU2 · ICM20948 trên đế</a:t>
              </a:r>
            </a:p>
          </p:txBody>
        </p:sp>
      </p:grpSp>
      <p:grpSp>
        <p:nvGrpSpPr>
          <p:cNvPr id="20" name="Group 19"/>
          <p:cNvGrpSpPr/>
          <p:nvPr/>
        </p:nvGrpSpPr>
        <p:grpSpPr>
          <a:xfrm>
            <a:off x="621792" y="4543661"/>
            <a:ext cx="1965960" cy="961027"/>
            <a:chOff x="621792" y="4543661"/>
            <a:chExt cx="1965960" cy="961027"/>
          </a:xfrm>
        </p:grpSpPr>
        <p:cxnSp>
          <p:nvCxnSpPr>
            <p:cNvPr id="21" name="Connector 20"/>
            <p:cNvCxnSpPr/>
            <p:nvPr/>
          </p:nvCxnSpPr>
          <p:spPr>
            <a:xfrm flipV="1">
              <a:off x="1604772" y="4543661"/>
              <a:ext cx="337525" cy="787291"/>
            </a:xfrm>
            <a:prstGeom prst="line">
              <a:avLst/>
            </a:prstGeom>
            <a:ln w="22225">
              <a:solidFill>
                <a:srgbClr val="E8710A"/>
              </a:solidFill>
              <a:tailEnd type="oval" w="sm" len="sm"/>
            </a:ln>
          </p:spPr>
        </p:cxnSp>
        <p:sp>
          <p:nvSpPr>
            <p:cNvPr id="22" name="Rounded Rectangle 21"/>
            <p:cNvSpPr/>
            <p:nvPr/>
          </p:nvSpPr>
          <p:spPr>
            <a:xfrm>
              <a:off x="621792" y="5175504"/>
              <a:ext cx="1965960" cy="329184"/>
            </a:xfrm>
            <a:prstGeom prst="roundRect">
              <a:avLst>
                <a:gd name="adj" fmla="val 22222"/>
              </a:avLst>
            </a:prstGeom>
            <a:solidFill>
              <a:srgbClr val="0B2545"/>
            </a:solidFill>
            <a:ln>
              <a:noFill/>
            </a:ln>
          </p:spPr>
          <p:txBody>
            <a:bodyPr rtlCol="0" anchor="ctr" lIns="73152" tIns="18288" rIns="73152" bIns="18288" wrap="square">
              <a:noAutofit/>
            </a:bodyPr>
            <a:lstStyle/>
            <a:p>
              <a:pPr algn="ctr"/>
              <a:r>
                <a:rPr sz="1200" b="1" i="0" lang="vi-VN">
                  <a:solidFill>
                    <a:srgbClr val="FFFFFF"/>
                  </a:solidFill>
                  <a:latin typeface="Arial"/>
                  <a:ea typeface="Arial"/>
                  <a:cs typeface="Arial"/>
                </a:rPr>
                <a:t>Đế carbon, đệm cao su</a:t>
              </a:r>
            </a:p>
          </p:txBody>
        </p:sp>
      </p:grpSp>
      <p:grpSp>
        <p:nvGrpSpPr>
          <p:cNvPr id="23" name="Group 22"/>
          <p:cNvGrpSpPr/>
          <p:nvPr/>
        </p:nvGrpSpPr>
        <p:grpSpPr>
          <a:xfrm>
            <a:off x="5943600" y="1261872"/>
            <a:ext cx="5760720" cy="1481328"/>
            <a:chOff x="5943600" y="1261872"/>
            <a:chExt cx="5760720" cy="1481328"/>
          </a:xfrm>
        </p:grpSpPr>
        <p:sp>
          <p:nvSpPr>
            <p:cNvPr id="24" name="Rounded Rectangle 23"/>
            <p:cNvSpPr/>
            <p:nvPr/>
          </p:nvSpPr>
          <p:spPr>
            <a:xfrm>
              <a:off x="5943600" y="1261872"/>
              <a:ext cx="5760720" cy="1481328"/>
            </a:xfrm>
            <a:prstGeom prst="roundRect">
              <a:avLst>
                <a:gd name="adj" fmla="val 617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5" name="Picture 24" descr="pcb_real.jpg"/>
            <p:cNvPicPr>
              <a:picLocks noChangeAspect="1"/>
            </p:cNvPicPr>
            <p:nvPr/>
          </p:nvPicPr>
          <p:blipFill>
            <a:blip r:embed="rId3"/>
            <a:stretch>
              <a:fillRect/>
            </a:stretch>
          </p:blipFill>
          <p:spPr>
            <a:xfrm>
              <a:off x="6402110" y="1353312"/>
              <a:ext cx="1186100" cy="1298448"/>
            </a:xfrm>
            <a:prstGeom prst="rect">
              <a:avLst/>
            </a:prstGeom>
          </p:spPr>
        </p:pic>
        <p:sp>
          <p:nvSpPr>
            <p:cNvPr id="26" name="TextBox 25"/>
            <p:cNvSpPr txBox="1"/>
            <p:nvPr/>
          </p:nvSpPr>
          <p:spPr>
            <a:xfrm>
              <a:off x="8092440" y="1371600"/>
              <a:ext cx="3474720" cy="411480"/>
            </a:xfrm>
            <a:prstGeom prst="rect">
              <a:avLst/>
            </a:prstGeom>
            <a:noFill/>
          </p:spPr>
          <p:txBody>
            <a:bodyPr wrap="square" lIns="0" tIns="0" rIns="0" bIns="0" anchor="ctr">
              <a:noAutofit/>
            </a:bodyPr>
            <a:lstStyle/>
            <a:p>
              <a:pPr algn="l"/>
              <a:r>
                <a:rPr sz="1700" b="1" i="0" lang="vi-VN">
                  <a:solidFill>
                    <a:srgbClr val="0B2545"/>
                  </a:solidFill>
                  <a:latin typeface="Arial"/>
                  <a:ea typeface="Arial"/>
                  <a:cs typeface="Arial"/>
                </a:rPr>
                <a:t>Mạch điều khiển</a:t>
              </a:r>
            </a:p>
          </p:txBody>
        </p:sp>
        <p:sp>
          <p:nvSpPr>
            <p:cNvPr id="27" name="TextBox 26"/>
            <p:cNvSpPr txBox="1"/>
            <p:nvPr/>
          </p:nvSpPr>
          <p:spPr>
            <a:xfrm>
              <a:off x="8092440" y="1810512"/>
              <a:ext cx="3474720" cy="868680"/>
            </a:xfrm>
            <a:prstGeom prst="rect">
              <a:avLst/>
            </a:prstGeom>
            <a:noFill/>
          </p:spPr>
          <p:txBody>
            <a:bodyPr wrap="square" lIns="0" tIns="0" rIns="0" bIns="0" anchor="t">
              <a:noAutofit/>
            </a:bodyPr>
            <a:lstStyle/>
            <a:p>
              <a:pPr algn="l" marL="201168" indent="-201168">
                <a:lnSpc>
                  <a:spcPct val="100000"/>
                </a:lnSpc>
                <a:spcAft>
                  <a:spcPts val="200"/>
                </a:spcAft>
                <a:buClr>
                  <a:srgbClr val="0A5FA8"/>
                </a:buClr>
                <a:buSzPct val="100000"/>
                <a:buFont typeface="Arial"/>
                <a:buChar char="•"/>
              </a:pPr>
              <a:r>
                <a:rPr sz="1350" b="0" i="0" lang="vi-VN">
                  <a:solidFill>
                    <a:srgbClr val="1E2B3A"/>
                  </a:solidFill>
                  <a:latin typeface="Arial"/>
                  <a:ea typeface="Arial"/>
                  <a:cs typeface="Arial"/>
                </a:rPr>
                <a:t>STM32F407VET6 · 2 cổng SPI · RS485 · nguồn 12 V</a:t>
              </a:r>
            </a:p>
            <a:p>
              <a:pPr algn="l" marL="201168" indent="-201168">
                <a:lnSpc>
                  <a:spcPct val="100000"/>
                </a:lnSpc>
                <a:spcAft>
                  <a:spcPts val="200"/>
                </a:spcAft>
                <a:buClr>
                  <a:srgbClr val="0A5FA8"/>
                </a:buClr>
                <a:buSzPct val="100000"/>
                <a:buFont typeface="Arial"/>
                <a:buChar char="•"/>
              </a:pPr>
              <a:r>
                <a:rPr sz="1350" b="0" i="0" lang="vi-VN">
                  <a:solidFill>
                    <a:srgbClr val="1E2B3A"/>
                  </a:solidFill>
                  <a:latin typeface="Arial"/>
                  <a:ea typeface="Arial"/>
                  <a:cs typeface="Arial"/>
                </a:rPr>
                <a:t>Thiết kế trên Altium, mạch in 2 lớp</a:t>
              </a:r>
            </a:p>
          </p:txBody>
        </p:sp>
      </p:grpSp>
      <p:grpSp>
        <p:nvGrpSpPr>
          <p:cNvPr id="28" name="Group 27"/>
          <p:cNvGrpSpPr/>
          <p:nvPr/>
        </p:nvGrpSpPr>
        <p:grpSpPr>
          <a:xfrm>
            <a:off x="5943600" y="2880360"/>
            <a:ext cx="5760720" cy="1481328"/>
            <a:chOff x="5943600" y="2880360"/>
            <a:chExt cx="5760720" cy="1481328"/>
          </a:xfrm>
        </p:grpSpPr>
        <p:sp>
          <p:nvSpPr>
            <p:cNvPr id="29" name="Rounded Rectangle 28"/>
            <p:cNvSpPr/>
            <p:nvPr/>
          </p:nvSpPr>
          <p:spPr>
            <a:xfrm>
              <a:off x="5943600" y="2880360"/>
              <a:ext cx="5760720" cy="1481328"/>
            </a:xfrm>
            <a:prstGeom prst="roundRect">
              <a:avLst>
                <a:gd name="adj" fmla="val 617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30" name="Picture 29" descr="ms3506.png"/>
            <p:cNvPicPr>
              <a:picLocks noChangeAspect="1"/>
            </p:cNvPicPr>
            <p:nvPr/>
          </p:nvPicPr>
          <p:blipFill>
            <a:blip r:embed="rId4"/>
            <a:stretch>
              <a:fillRect/>
            </a:stretch>
          </p:blipFill>
          <p:spPr>
            <a:xfrm>
              <a:off x="6080760" y="3136994"/>
              <a:ext cx="1828800" cy="968059"/>
            </a:xfrm>
            <a:prstGeom prst="rect">
              <a:avLst/>
            </a:prstGeom>
          </p:spPr>
        </p:pic>
        <p:sp>
          <p:nvSpPr>
            <p:cNvPr id="31" name="TextBox 30"/>
            <p:cNvSpPr txBox="1"/>
            <p:nvPr/>
          </p:nvSpPr>
          <p:spPr>
            <a:xfrm>
              <a:off x="8092440" y="2990088"/>
              <a:ext cx="3474720" cy="411480"/>
            </a:xfrm>
            <a:prstGeom prst="rect">
              <a:avLst/>
            </a:prstGeom>
            <a:noFill/>
          </p:spPr>
          <p:txBody>
            <a:bodyPr wrap="square" lIns="0" tIns="0" rIns="0" bIns="0" anchor="ctr">
              <a:noAutofit/>
            </a:bodyPr>
            <a:lstStyle/>
            <a:p>
              <a:pPr algn="l"/>
              <a:r>
                <a:rPr sz="1700" b="1" i="0" lang="vi-VN">
                  <a:solidFill>
                    <a:srgbClr val="0B2545"/>
                  </a:solidFill>
                  <a:latin typeface="Arial"/>
                  <a:ea typeface="Arial"/>
                  <a:cs typeface="Arial"/>
                </a:rPr>
                <a:t>2 × động cơ MS3506</a:t>
              </a:r>
            </a:p>
          </p:txBody>
        </p:sp>
        <p:sp>
          <p:nvSpPr>
            <p:cNvPr id="32" name="TextBox 31"/>
            <p:cNvSpPr txBox="1"/>
            <p:nvPr/>
          </p:nvSpPr>
          <p:spPr>
            <a:xfrm>
              <a:off x="8092440" y="3429000"/>
              <a:ext cx="3474720" cy="868680"/>
            </a:xfrm>
            <a:prstGeom prst="rect">
              <a:avLst/>
            </a:prstGeom>
            <a:noFill/>
          </p:spPr>
          <p:txBody>
            <a:bodyPr wrap="square" lIns="0" tIns="0" rIns="0" bIns="0" anchor="t">
              <a:noAutofit/>
            </a:bodyPr>
            <a:lstStyle/>
            <a:p>
              <a:pPr algn="l" marL="201168" indent="-201168">
                <a:lnSpc>
                  <a:spcPct val="100000"/>
                </a:lnSpc>
                <a:spcAft>
                  <a:spcPts val="200"/>
                </a:spcAft>
                <a:buClr>
                  <a:srgbClr val="0A5FA8"/>
                </a:buClr>
                <a:buSzPct val="100000"/>
                <a:buFont typeface="Arial"/>
                <a:buChar char="•"/>
              </a:pPr>
              <a:r>
                <a:rPr sz="1350" b="0" i="0" lang="vi-VN">
                  <a:solidFill>
                    <a:srgbClr val="1E2B3A"/>
                  </a:solidFill>
                  <a:latin typeface="Arial"/>
                  <a:ea typeface="Arial"/>
                  <a:cs typeface="Arial"/>
                </a:rPr>
                <a:t>BLDC tích hợp driver, giao tiếp RS485</a:t>
              </a:r>
            </a:p>
            <a:p>
              <a:pPr algn="l" marL="201168" indent="-201168">
                <a:lnSpc>
                  <a:spcPct val="100000"/>
                </a:lnSpc>
                <a:spcAft>
                  <a:spcPts val="200"/>
                </a:spcAft>
                <a:buClr>
                  <a:srgbClr val="0A5FA8"/>
                </a:buClr>
                <a:buSzPct val="100000"/>
                <a:buFont typeface="Arial"/>
                <a:buChar char="•"/>
              </a:pPr>
              <a:r>
                <a:rPr sz="1350" b="0" i="0" lang="vi-VN">
                  <a:solidFill>
                    <a:srgbClr val="1E2B3A"/>
                  </a:solidFill>
                  <a:latin typeface="Arial"/>
                  <a:ea typeface="Arial"/>
                  <a:cs typeface="Arial"/>
                </a:rPr>
                <a:t>ID 1: trục Yaw · ID 2: trục Pitch</a:t>
              </a:r>
            </a:p>
          </p:txBody>
        </p:sp>
      </p:grpSp>
      <p:grpSp>
        <p:nvGrpSpPr>
          <p:cNvPr id="33" name="Group 32"/>
          <p:cNvGrpSpPr/>
          <p:nvPr/>
        </p:nvGrpSpPr>
        <p:grpSpPr>
          <a:xfrm>
            <a:off x="5943600" y="4498848"/>
            <a:ext cx="5760720" cy="1481328"/>
            <a:chOff x="5943600" y="4498848"/>
            <a:chExt cx="5760720" cy="1481328"/>
          </a:xfrm>
        </p:grpSpPr>
        <p:sp>
          <p:nvSpPr>
            <p:cNvPr id="34" name="Rounded Rectangle 33"/>
            <p:cNvSpPr/>
            <p:nvPr/>
          </p:nvSpPr>
          <p:spPr>
            <a:xfrm>
              <a:off x="5943600" y="4498848"/>
              <a:ext cx="5760720" cy="1481328"/>
            </a:xfrm>
            <a:prstGeom prst="roundRect">
              <a:avLst>
                <a:gd name="adj" fmla="val 617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35" name="Picture 34" descr="icm20948.png"/>
            <p:cNvPicPr>
              <a:picLocks noChangeAspect="1"/>
            </p:cNvPicPr>
            <p:nvPr/>
          </p:nvPicPr>
          <p:blipFill>
            <a:blip r:embed="rId5"/>
            <a:stretch>
              <a:fillRect/>
            </a:stretch>
          </p:blipFill>
          <p:spPr>
            <a:xfrm>
              <a:off x="6149340" y="4664550"/>
              <a:ext cx="1691640" cy="1149924"/>
            </a:xfrm>
            <a:prstGeom prst="rect">
              <a:avLst/>
            </a:prstGeom>
          </p:spPr>
        </p:pic>
        <p:sp>
          <p:nvSpPr>
            <p:cNvPr id="36" name="TextBox 35"/>
            <p:cNvSpPr txBox="1"/>
            <p:nvPr/>
          </p:nvSpPr>
          <p:spPr>
            <a:xfrm>
              <a:off x="8092440" y="4608576"/>
              <a:ext cx="3474720" cy="411480"/>
            </a:xfrm>
            <a:prstGeom prst="rect">
              <a:avLst/>
            </a:prstGeom>
            <a:noFill/>
          </p:spPr>
          <p:txBody>
            <a:bodyPr wrap="square" lIns="0" tIns="0" rIns="0" bIns="0" anchor="ctr">
              <a:noAutofit/>
            </a:bodyPr>
            <a:lstStyle/>
            <a:p>
              <a:pPr algn="l"/>
              <a:r>
                <a:rPr sz="1700" b="1" i="0" lang="vi-VN">
                  <a:solidFill>
                    <a:srgbClr val="0B2545"/>
                  </a:solidFill>
                  <a:latin typeface="Arial"/>
                  <a:ea typeface="Arial"/>
                  <a:cs typeface="Arial"/>
                </a:rPr>
                <a:t>2 × cảm biến ICM20948</a:t>
              </a:r>
            </a:p>
          </p:txBody>
        </p:sp>
        <p:sp>
          <p:nvSpPr>
            <p:cNvPr id="37" name="TextBox 36"/>
            <p:cNvSpPr txBox="1"/>
            <p:nvPr/>
          </p:nvSpPr>
          <p:spPr>
            <a:xfrm>
              <a:off x="8092440" y="5047488"/>
              <a:ext cx="3474720" cy="868680"/>
            </a:xfrm>
            <a:prstGeom prst="rect">
              <a:avLst/>
            </a:prstGeom>
            <a:noFill/>
          </p:spPr>
          <p:txBody>
            <a:bodyPr wrap="square" lIns="0" tIns="0" rIns="0" bIns="0" anchor="t">
              <a:noAutofit/>
            </a:bodyPr>
            <a:lstStyle/>
            <a:p>
              <a:pPr algn="l" marL="201168" indent="-201168">
                <a:lnSpc>
                  <a:spcPct val="100000"/>
                </a:lnSpc>
                <a:spcAft>
                  <a:spcPts val="200"/>
                </a:spcAft>
                <a:buClr>
                  <a:srgbClr val="0A5FA8"/>
                </a:buClr>
                <a:buSzPct val="100000"/>
                <a:buFont typeface="Arial"/>
                <a:buChar char="•"/>
              </a:pPr>
              <a:r>
                <a:rPr sz="1350" b="0" i="0" lang="vi-VN">
                  <a:solidFill>
                    <a:srgbClr val="1E2B3A"/>
                  </a:solidFill>
                  <a:latin typeface="Arial"/>
                  <a:ea typeface="Arial"/>
                  <a:cs typeface="Arial"/>
                </a:rPr>
                <a:t>IMU 9 trục, đọc qua SPI, tần số 500 Hz</a:t>
              </a:r>
            </a:p>
            <a:p>
              <a:pPr algn="l" marL="201168" indent="-201168">
                <a:lnSpc>
                  <a:spcPct val="100000"/>
                </a:lnSpc>
                <a:spcAft>
                  <a:spcPts val="200"/>
                </a:spcAft>
                <a:buClr>
                  <a:srgbClr val="0A5FA8"/>
                </a:buClr>
                <a:buSzPct val="100000"/>
                <a:buFont typeface="Arial"/>
                <a:buChar char="•"/>
              </a:pPr>
              <a:r>
                <a:rPr sz="1350" b="0" i="0" lang="vi-VN">
                  <a:solidFill>
                    <a:srgbClr val="1E2B3A"/>
                  </a:solidFill>
                  <a:latin typeface="Arial"/>
                  <a:ea typeface="Arial"/>
                  <a:cs typeface="Arial"/>
                </a:rPr>
                <a:t>IMU1: giá camera · IMU2: đế khung mang</a:t>
              </a:r>
            </a:p>
          </p:txBody>
        </p:sp>
      </p:grpSp>
      <p:sp>
        <p:nvSpPr>
          <p:cNvPr id="47"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9</a:t>
            </a:fld>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ppt_w</p:attrName>
                                        </p:attrNameLst>
                                      </p:cBhvr>
                                      <p:tavLst>
                                        <p:tav tm="0">
                                          <p:val>
                                            <p:strVal val="0"/>
                                          </p:val>
                                        </p:tav>
                                        <p:tav tm="100000">
                                          <p:val>
                                            <p:strVal val="#ppt_w"/>
                                          </p:val>
                                        </p:tav>
                                      </p:tavLst>
                                    </p:anim>
                                    <p:anim calcmode="lin" valueType="num">
                                      <p:cBhvr>
                                        <p:cTn id="9" dur="600" fill="hold"/>
                                        <p:tgtEl>
                                          <p:spTgt spid="4"/>
                                        </p:tgtEl>
                                        <p:attrNameLst>
                                          <p:attrName>ppt_h</p:attrName>
                                        </p:attrNameLst>
                                      </p:cBhvr>
                                      <p:tavLst>
                                        <p:tav tm="0">
                                          <p:val>
                                            <p:strVal val="0"/>
                                          </p:val>
                                        </p:tav>
                                        <p:tav tm="100000">
                                          <p:val>
                                            <p:strVal val="#ppt_h"/>
                                          </p:val>
                                        </p:tav>
                                      </p:tavLst>
                                    </p:anim>
                                  </p:childTnLst>
                                </p:cTn>
                              </p:par>
                            </p:childTnLst>
                          </p:cTn>
                        </p:par>
                        <p:par>
                          <p:cTn id="10" fill="hold">
                            <p:stCondLst>
                              <p:cond delay="600"/>
                            </p:stCondLst>
                            <p:childTnLst>
                              <p:par>
                                <p:cTn id="11" presetID="10"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childTnLst>
                          </p:cTn>
                        </p:par>
                        <p:par>
                          <p:cTn id="14" fill="hold">
                            <p:stCondLst>
                              <p:cond delay="9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350"/>
                                        <p:tgtEl>
                                          <p:spTgt spid="11"/>
                                        </p:tgtEl>
                                      </p:cBhvr>
                                    </p:animEffect>
                                  </p:childTnLst>
                                </p:cTn>
                              </p:par>
                            </p:childTnLst>
                          </p:cTn>
                        </p:par>
                        <p:par>
                          <p:cTn id="18" fill="hold">
                            <p:stCondLst>
                              <p:cond delay="1300"/>
                            </p:stCondLst>
                            <p:childTnLst>
                              <p:par>
                                <p:cTn id="19" presetID="10"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350"/>
                                        <p:tgtEl>
                                          <p:spTgt spid="14"/>
                                        </p:tgtEl>
                                      </p:cBhvr>
                                    </p:animEffect>
                                  </p:childTnLst>
                                </p:cTn>
                              </p:par>
                            </p:childTnLst>
                          </p:cTn>
                        </p:par>
                        <p:par>
                          <p:cTn id="22" fill="hold">
                            <p:stCondLst>
                              <p:cond delay="1650"/>
                            </p:stCondLst>
                            <p:childTnLst>
                              <p:par>
                                <p:cTn id="23" presetID="10" presetClass="entr" presetSubtype="0"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50"/>
                                        <p:tgtEl>
                                          <p:spTgt spid="17"/>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35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50"/>
                                        <p:tgtEl>
                                          <p:spTgt spid="23"/>
                                        </p:tgtEl>
                                      </p:cBhvr>
                                    </p:animEffect>
                                    <p:anim calcmode="lin" valueType="num">
                                      <p:cBhvr>
                                        <p:cTn id="35" dur="450" fill="hold"/>
                                        <p:tgtEl>
                                          <p:spTgt spid="23"/>
                                        </p:tgtEl>
                                        <p:attrNameLst>
                                          <p:attrName>ppt_x</p:attrName>
                                        </p:attrNameLst>
                                      </p:cBhvr>
                                      <p:tavLst>
                                        <p:tav tm="0">
                                          <p:val>
                                            <p:strVal val="#ppt_x"/>
                                          </p:val>
                                        </p:tav>
                                        <p:tav tm="100000">
                                          <p:val>
                                            <p:strVal val="#ppt_x"/>
                                          </p:val>
                                        </p:tav>
                                      </p:tavLst>
                                    </p:anim>
                                    <p:anim calcmode="lin" valueType="num">
                                      <p:cBhvr>
                                        <p:cTn id="36" dur="450" fill="hold"/>
                                        <p:tgtEl>
                                          <p:spTgt spid="23"/>
                                        </p:tgtEl>
                                        <p:attrNameLst>
                                          <p:attrName>ppt_y</p:attrName>
                                        </p:attrNameLst>
                                      </p:cBhvr>
                                      <p:tavLst>
                                        <p:tav tm="0">
                                          <p:val>
                                            <p:strVal val="#ppt_y+.05"/>
                                          </p:val>
                                        </p:tav>
                                        <p:tav tm="100000">
                                          <p:val>
                                            <p:strVal val="#ppt_y"/>
                                          </p:val>
                                        </p:tav>
                                      </p:tavLst>
                                    </p:anim>
                                  </p:childTnLst>
                                </p:cTn>
                              </p:par>
                              <p:par>
                                <p:cTn id="37" presetID="42" presetClass="entr" presetSubtype="0" fill="hold" grpId="0" nodeType="withEffect">
                                  <p:stCondLst>
                                    <p:cond delay="20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50"/>
                                        <p:tgtEl>
                                          <p:spTgt spid="28"/>
                                        </p:tgtEl>
                                      </p:cBhvr>
                                    </p:animEffect>
                                    <p:anim calcmode="lin" valueType="num">
                                      <p:cBhvr>
                                        <p:cTn id="40" dur="450" fill="hold"/>
                                        <p:tgtEl>
                                          <p:spTgt spid="28"/>
                                        </p:tgtEl>
                                        <p:attrNameLst>
                                          <p:attrName>ppt_x</p:attrName>
                                        </p:attrNameLst>
                                      </p:cBhvr>
                                      <p:tavLst>
                                        <p:tav tm="0">
                                          <p:val>
                                            <p:strVal val="#ppt_x"/>
                                          </p:val>
                                        </p:tav>
                                        <p:tav tm="100000">
                                          <p:val>
                                            <p:strVal val="#ppt_x"/>
                                          </p:val>
                                        </p:tav>
                                      </p:tavLst>
                                    </p:anim>
                                    <p:anim calcmode="lin" valueType="num">
                                      <p:cBhvr>
                                        <p:cTn id="41" dur="450" fill="hold"/>
                                        <p:tgtEl>
                                          <p:spTgt spid="28"/>
                                        </p:tgtEl>
                                        <p:attrNameLst>
                                          <p:attrName>ppt_y</p:attrName>
                                        </p:attrNameLst>
                                      </p:cBhvr>
                                      <p:tavLst>
                                        <p:tav tm="0">
                                          <p:val>
                                            <p:strVal val="#ppt_y+.05"/>
                                          </p:val>
                                        </p:tav>
                                        <p:tav tm="100000">
                                          <p:val>
                                            <p:strVal val="#ppt_y"/>
                                          </p:val>
                                        </p:tav>
                                      </p:tavLst>
                                    </p:anim>
                                  </p:childTnLst>
                                </p:cTn>
                              </p:par>
                              <p:par>
                                <p:cTn id="42" presetID="42" presetClass="entr" presetSubtype="0" fill="hold" grpId="0" nodeType="withEffect">
                                  <p:stCondLst>
                                    <p:cond delay="40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50"/>
                                        <p:tgtEl>
                                          <p:spTgt spid="33"/>
                                        </p:tgtEl>
                                      </p:cBhvr>
                                    </p:animEffect>
                                    <p:anim calcmode="lin" valueType="num">
                                      <p:cBhvr>
                                        <p:cTn id="45" dur="450" fill="hold"/>
                                        <p:tgtEl>
                                          <p:spTgt spid="33"/>
                                        </p:tgtEl>
                                        <p:attrNameLst>
                                          <p:attrName>ppt_x</p:attrName>
                                        </p:attrNameLst>
                                      </p:cBhvr>
                                      <p:tavLst>
                                        <p:tav tm="0">
                                          <p:val>
                                            <p:strVal val="#ppt_x"/>
                                          </p:val>
                                        </p:tav>
                                        <p:tav tm="100000">
                                          <p:val>
                                            <p:strVal val="#ppt_x"/>
                                          </p:val>
                                        </p:tav>
                                      </p:tavLst>
                                    </p:anim>
                                    <p:anim calcmode="lin" valueType="num">
                                      <p:cBhvr>
                                        <p:cTn id="46" dur="450" fill="hold"/>
                                        <p:tgtEl>
                                          <p:spTgt spid="33"/>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2 · TỔ CHỨC PHẦN MỀM TRÊN APACHE NUTTX</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Apache NuttX: 7 luồng ưu tiên chiếm quyền giữ nhịp 2 ms</a:t>
            </a:r>
          </a:p>
        </p:txBody>
      </p:sp>
      <p:sp>
        <p:nvSpPr>
          <p:cNvPr id="4" name="TextBox 3"/>
          <p:cNvSpPr txBox="1"/>
          <p:nvPr/>
        </p:nvSpPr>
        <p:spPr>
          <a:xfrm>
            <a:off x="502920" y="1261872"/>
            <a:ext cx="3840480" cy="292608"/>
          </a:xfrm>
          <a:prstGeom prst="rect">
            <a:avLst/>
          </a:prstGeom>
          <a:noFill/>
        </p:spPr>
        <p:txBody>
          <a:bodyPr wrap="square" lIns="0" tIns="0" rIns="0" bIns="0" anchor="t">
            <a:noAutofit/>
          </a:bodyPr>
          <a:lstStyle/>
          <a:p>
            <a:pPr algn="l"/>
            <a:r>
              <a:rPr sz="1250" b="1" i="0" lang="vi-VN" spc="40">
                <a:solidFill>
                  <a:srgbClr val="0A5FA8"/>
                </a:solidFill>
                <a:latin typeface="Arial"/>
                <a:ea typeface="Arial"/>
                <a:cs typeface="Arial"/>
              </a:rPr>
              <a:t>TỔ CHỨC 5 TẦNG</a:t>
            </a:r>
          </a:p>
        </p:txBody>
      </p:sp>
      <p:grpSp>
        <p:nvGrpSpPr>
          <p:cNvPr id="5" name="Group 4"/>
          <p:cNvGrpSpPr/>
          <p:nvPr/>
        </p:nvGrpSpPr>
        <p:grpSpPr>
          <a:xfrm>
            <a:off x="502920" y="1609344"/>
            <a:ext cx="3822192" cy="804672"/>
            <a:chOff x="502920" y="1609344"/>
            <a:chExt cx="3822192" cy="804672"/>
          </a:xfrm>
        </p:grpSpPr>
        <p:sp>
          <p:nvSpPr>
            <p:cNvPr id="6" name="Rounded Rectangle 5"/>
            <p:cNvSpPr/>
            <p:nvPr/>
          </p:nvSpPr>
          <p:spPr>
            <a:xfrm>
              <a:off x="502920" y="1609344"/>
              <a:ext cx="1188720" cy="804672"/>
            </a:xfrm>
            <a:prstGeom prst="roundRect">
              <a:avLst>
                <a:gd name="adj" fmla="val 9090"/>
              </a:avLst>
            </a:prstGeom>
            <a:solidFill>
              <a:srgbClr val="E8710A"/>
            </a:solidFill>
            <a:ln>
              <a:noFill/>
            </a:ln>
          </p:spPr>
          <p:txBody>
            <a:bodyPr rtlCol="0" anchor="ctr" lIns="54864" tIns="54864" rIns="54864" bIns="54864" wrap="square">
              <a:noAutofit/>
            </a:bodyPr>
            <a:lstStyle/>
            <a:p>
              <a:pPr algn="ctr"/>
              <a:r>
                <a:rPr sz="1350" b="1" i="0" lang="vi-VN">
                  <a:solidFill>
                    <a:srgbClr val="FFFFFF"/>
                  </a:solidFill>
                  <a:latin typeface="Arial"/>
                  <a:ea typeface="Arial"/>
                  <a:cs typeface="Arial"/>
                </a:rPr>
                <a:t>Ứng dụng</a:t>
              </a:r>
            </a:p>
          </p:txBody>
        </p:sp>
        <p:sp>
          <p:nvSpPr>
            <p:cNvPr id="7" name="Rounded Rectangle 6"/>
            <p:cNvSpPr/>
            <p:nvPr/>
          </p:nvSpPr>
          <p:spPr>
            <a:xfrm>
              <a:off x="1764792" y="1609344"/>
              <a:ext cx="2560320" cy="804672"/>
            </a:xfrm>
            <a:prstGeom prst="roundRect">
              <a:avLst>
                <a:gd name="adj" fmla="val 11363"/>
              </a:avLst>
            </a:prstGeom>
            <a:solidFill>
              <a:srgbClr val="FFFFFF"/>
            </a:solidFill>
            <a:ln w="12700">
              <a:solidFill>
                <a:srgbClr val="D5DEE8"/>
              </a:solidFill>
            </a:ln>
          </p:spPr>
          <p:txBody>
            <a:bodyPr rtlCol="0" anchor="ctr" lIns="54864" tIns="54864" rIns="54864" bIns="54864" wrap="square">
              <a:noAutofit/>
            </a:bodyPr>
            <a:lstStyle/>
            <a:p>
              <a:pPr algn="ctr"/>
            </a:p>
          </p:txBody>
        </p:sp>
        <p:sp>
          <p:nvSpPr>
            <p:cNvPr id="8" name="TextBox 7"/>
            <p:cNvSpPr txBox="1"/>
            <p:nvPr/>
          </p:nvSpPr>
          <p:spPr>
            <a:xfrm>
              <a:off x="1856232" y="1609344"/>
              <a:ext cx="2395728" cy="804672"/>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7 pthread của gimbal + luồng console</a:t>
              </a:r>
            </a:p>
          </p:txBody>
        </p:sp>
      </p:grpSp>
      <p:grpSp>
        <p:nvGrpSpPr>
          <p:cNvPr id="9" name="Group 8"/>
          <p:cNvGrpSpPr/>
          <p:nvPr/>
        </p:nvGrpSpPr>
        <p:grpSpPr>
          <a:xfrm>
            <a:off x="502920" y="2496312"/>
            <a:ext cx="3822192" cy="804672"/>
            <a:chOff x="502920" y="2496312"/>
            <a:chExt cx="3822192" cy="804672"/>
          </a:xfrm>
        </p:grpSpPr>
        <p:sp>
          <p:nvSpPr>
            <p:cNvPr id="10" name="Rounded Rectangle 9"/>
            <p:cNvSpPr/>
            <p:nvPr/>
          </p:nvSpPr>
          <p:spPr>
            <a:xfrm>
              <a:off x="502920" y="2496312"/>
              <a:ext cx="1188720" cy="804672"/>
            </a:xfrm>
            <a:prstGeom prst="roundRect">
              <a:avLst>
                <a:gd name="adj" fmla="val 9090"/>
              </a:avLst>
            </a:prstGeom>
            <a:solidFill>
              <a:srgbClr val="3D7CC4"/>
            </a:solidFill>
            <a:ln>
              <a:noFill/>
            </a:ln>
          </p:spPr>
          <p:txBody>
            <a:bodyPr rtlCol="0" anchor="ctr" lIns="54864" tIns="54864" rIns="54864" bIns="54864" wrap="square">
              <a:noAutofit/>
            </a:bodyPr>
            <a:lstStyle/>
            <a:p>
              <a:pPr algn="ctr"/>
              <a:r>
                <a:rPr sz="1350" b="1" i="0" lang="vi-VN">
                  <a:solidFill>
                    <a:srgbClr val="FFFFFF"/>
                  </a:solidFill>
                  <a:latin typeface="Arial"/>
                  <a:ea typeface="Arial"/>
                  <a:cs typeface="Arial"/>
                </a:rPr>
                <a:t>Đồng bộ</a:t>
              </a:r>
            </a:p>
          </p:txBody>
        </p:sp>
        <p:sp>
          <p:nvSpPr>
            <p:cNvPr id="11" name="Rounded Rectangle 10"/>
            <p:cNvSpPr/>
            <p:nvPr/>
          </p:nvSpPr>
          <p:spPr>
            <a:xfrm>
              <a:off x="1764792" y="2496312"/>
              <a:ext cx="2560320" cy="804672"/>
            </a:xfrm>
            <a:prstGeom prst="roundRect">
              <a:avLst>
                <a:gd name="adj" fmla="val 11363"/>
              </a:avLst>
            </a:prstGeom>
            <a:solidFill>
              <a:srgbClr val="FFFFFF"/>
            </a:solidFill>
            <a:ln w="12700">
              <a:solidFill>
                <a:srgbClr val="D5DEE8"/>
              </a:solidFill>
            </a:ln>
          </p:spPr>
          <p:txBody>
            <a:bodyPr rtlCol="0" anchor="ctr" lIns="54864" tIns="54864" rIns="54864" bIns="54864" wrap="square">
              <a:noAutofit/>
            </a:bodyPr>
            <a:lstStyle/>
            <a:p>
              <a:pPr algn="ctr"/>
            </a:p>
          </p:txBody>
        </p:sp>
        <p:sp>
          <p:nvSpPr>
            <p:cNvPr id="12" name="TextBox 11"/>
            <p:cNvSpPr txBox="1"/>
            <p:nvPr/>
          </p:nvSpPr>
          <p:spPr>
            <a:xfrm>
              <a:off x="1856232" y="2496312"/>
              <a:ext cx="2395728" cy="804672"/>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semaphore imu_ready, safety · mutex mẫu IMU, hộp thư lệnh, bus RS485</a:t>
              </a:r>
            </a:p>
          </p:txBody>
        </p:sp>
      </p:grpSp>
      <p:grpSp>
        <p:nvGrpSpPr>
          <p:cNvPr id="13" name="Group 12"/>
          <p:cNvGrpSpPr/>
          <p:nvPr/>
        </p:nvGrpSpPr>
        <p:grpSpPr>
          <a:xfrm>
            <a:off x="502920" y="3383280"/>
            <a:ext cx="3822192" cy="804672"/>
            <a:chOff x="502920" y="3383280"/>
            <a:chExt cx="3822192" cy="804672"/>
          </a:xfrm>
        </p:grpSpPr>
        <p:sp>
          <p:nvSpPr>
            <p:cNvPr id="14" name="Rounded Rectangle 13"/>
            <p:cNvSpPr/>
            <p:nvPr/>
          </p:nvSpPr>
          <p:spPr>
            <a:xfrm>
              <a:off x="502920" y="3383280"/>
              <a:ext cx="1188720" cy="804672"/>
            </a:xfrm>
            <a:prstGeom prst="roundRect">
              <a:avLst>
                <a:gd name="adj" fmla="val 9090"/>
              </a:avLst>
            </a:prstGeom>
            <a:solidFill>
              <a:srgbClr val="0A5FA8"/>
            </a:solidFill>
            <a:ln>
              <a:noFill/>
            </a:ln>
          </p:spPr>
          <p:txBody>
            <a:bodyPr rtlCol="0" anchor="ctr" lIns="54864" tIns="54864" rIns="54864" bIns="54864" wrap="square">
              <a:noAutofit/>
            </a:bodyPr>
            <a:lstStyle/>
            <a:p>
              <a:pPr algn="ctr"/>
              <a:r>
                <a:rPr sz="1350" b="1" i="0" lang="vi-VN">
                  <a:solidFill>
                    <a:srgbClr val="FFFFFF"/>
                  </a:solidFill>
                  <a:latin typeface="Arial"/>
                  <a:ea typeface="Arial"/>
                  <a:cs typeface="Arial"/>
                </a:rPr>
                <a:t>Nhân NuttX</a:t>
              </a:r>
            </a:p>
          </p:txBody>
        </p:sp>
        <p:sp>
          <p:nvSpPr>
            <p:cNvPr id="15" name="Rounded Rectangle 14"/>
            <p:cNvSpPr/>
            <p:nvPr/>
          </p:nvSpPr>
          <p:spPr>
            <a:xfrm>
              <a:off x="1764792" y="3383280"/>
              <a:ext cx="2560320" cy="804672"/>
            </a:xfrm>
            <a:prstGeom prst="roundRect">
              <a:avLst>
                <a:gd name="adj" fmla="val 11363"/>
              </a:avLst>
            </a:prstGeom>
            <a:solidFill>
              <a:srgbClr val="FFFFFF"/>
            </a:solidFill>
            <a:ln w="12700">
              <a:solidFill>
                <a:srgbClr val="D5DEE8"/>
              </a:solidFill>
            </a:ln>
          </p:spPr>
          <p:txBody>
            <a:bodyPr rtlCol="0" anchor="ctr" lIns="54864" tIns="54864" rIns="54864" bIns="54864" wrap="square">
              <a:noAutofit/>
            </a:bodyPr>
            <a:lstStyle/>
            <a:p>
              <a:pPr algn="ctr"/>
            </a:p>
          </p:txBody>
        </p:sp>
        <p:sp>
          <p:nvSpPr>
            <p:cNvPr id="16" name="TextBox 15"/>
            <p:cNvSpPr txBox="1"/>
            <p:nvPr/>
          </p:nvSpPr>
          <p:spPr>
            <a:xfrm>
              <a:off x="1856232" y="3383280"/>
              <a:ext cx="2395728" cy="804672"/>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FLAT build · SCHED_FIFO 1–255 · mutex thừa kế ưu tiên</a:t>
              </a:r>
            </a:p>
          </p:txBody>
        </p:sp>
      </p:grpSp>
      <p:grpSp>
        <p:nvGrpSpPr>
          <p:cNvPr id="17" name="Group 16"/>
          <p:cNvGrpSpPr/>
          <p:nvPr/>
        </p:nvGrpSpPr>
        <p:grpSpPr>
          <a:xfrm>
            <a:off x="502920" y="4270248"/>
            <a:ext cx="3822192" cy="804672"/>
            <a:chOff x="502920" y="4270248"/>
            <a:chExt cx="3822192" cy="804672"/>
          </a:xfrm>
        </p:grpSpPr>
        <p:sp>
          <p:nvSpPr>
            <p:cNvPr id="18" name="Rounded Rectangle 17"/>
            <p:cNvSpPr/>
            <p:nvPr/>
          </p:nvSpPr>
          <p:spPr>
            <a:xfrm>
              <a:off x="502920" y="4270248"/>
              <a:ext cx="1188720" cy="804672"/>
            </a:xfrm>
            <a:prstGeom prst="roundRect">
              <a:avLst>
                <a:gd name="adj" fmla="val 9090"/>
              </a:avLst>
            </a:prstGeom>
            <a:solidFill>
              <a:srgbClr val="123A6B"/>
            </a:solidFill>
            <a:ln>
              <a:noFill/>
            </a:ln>
          </p:spPr>
          <p:txBody>
            <a:bodyPr rtlCol="0" anchor="ctr" lIns="54864" tIns="54864" rIns="54864" bIns="54864" wrap="square">
              <a:noAutofit/>
            </a:bodyPr>
            <a:lstStyle/>
            <a:p>
              <a:pPr algn="ctr"/>
              <a:r>
                <a:rPr sz="1350" b="1" i="0" lang="vi-VN">
                  <a:solidFill>
                    <a:srgbClr val="FFFFFF"/>
                  </a:solidFill>
                  <a:latin typeface="Arial"/>
                  <a:ea typeface="Arial"/>
                  <a:cs typeface="Arial"/>
                </a:rPr>
                <a:t>Driver /dev</a:t>
              </a:r>
            </a:p>
          </p:txBody>
        </p:sp>
        <p:sp>
          <p:nvSpPr>
            <p:cNvPr id="19" name="Rounded Rectangle 18"/>
            <p:cNvSpPr/>
            <p:nvPr/>
          </p:nvSpPr>
          <p:spPr>
            <a:xfrm>
              <a:off x="1764792" y="4270248"/>
              <a:ext cx="2560320" cy="804672"/>
            </a:xfrm>
            <a:prstGeom prst="roundRect">
              <a:avLst>
                <a:gd name="adj" fmla="val 11363"/>
              </a:avLst>
            </a:prstGeom>
            <a:solidFill>
              <a:srgbClr val="FFFFFF"/>
            </a:solidFill>
            <a:ln w="12700">
              <a:solidFill>
                <a:srgbClr val="D5DEE8"/>
              </a:solidFill>
            </a:ln>
          </p:spPr>
          <p:txBody>
            <a:bodyPr rtlCol="0" anchor="ctr" lIns="54864" tIns="54864" rIns="54864" bIns="54864" wrap="square">
              <a:noAutofit/>
            </a:bodyPr>
            <a:lstStyle/>
            <a:p>
              <a:pPr algn="ctr"/>
            </a:p>
          </p:txBody>
        </p:sp>
        <p:sp>
          <p:nvSpPr>
            <p:cNvPr id="20" name="TextBox 19"/>
            <p:cNvSpPr txBox="1"/>
            <p:nvPr/>
          </p:nvSpPr>
          <p:spPr>
            <a:xfrm>
              <a:off x="1856232" y="4270248"/>
              <a:ext cx="2395728" cy="804672"/>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/dev/spi1, spi2, ttyS1, gpio0–2, console</a:t>
              </a:r>
            </a:p>
          </p:txBody>
        </p:sp>
      </p:grpSp>
      <p:grpSp>
        <p:nvGrpSpPr>
          <p:cNvPr id="21" name="Group 20"/>
          <p:cNvGrpSpPr/>
          <p:nvPr/>
        </p:nvGrpSpPr>
        <p:grpSpPr>
          <a:xfrm>
            <a:off x="502920" y="5157216"/>
            <a:ext cx="3822192" cy="804672"/>
            <a:chOff x="502920" y="5157216"/>
            <a:chExt cx="3822192" cy="804672"/>
          </a:xfrm>
        </p:grpSpPr>
        <p:sp>
          <p:nvSpPr>
            <p:cNvPr id="22" name="Rounded Rectangle 21"/>
            <p:cNvSpPr/>
            <p:nvPr/>
          </p:nvSpPr>
          <p:spPr>
            <a:xfrm>
              <a:off x="502920" y="5157216"/>
              <a:ext cx="1188720" cy="804672"/>
            </a:xfrm>
            <a:prstGeom prst="roundRect">
              <a:avLst>
                <a:gd name="adj" fmla="val 9090"/>
              </a:avLst>
            </a:prstGeom>
            <a:solidFill>
              <a:srgbClr val="0B2545"/>
            </a:solidFill>
            <a:ln>
              <a:noFill/>
            </a:ln>
          </p:spPr>
          <p:txBody>
            <a:bodyPr rtlCol="0" anchor="ctr" lIns="54864" tIns="54864" rIns="54864" bIns="54864" wrap="square">
              <a:noAutofit/>
            </a:bodyPr>
            <a:lstStyle/>
            <a:p>
              <a:pPr algn="ctr"/>
              <a:r>
                <a:rPr sz="1350" b="1" i="0" lang="vi-VN">
                  <a:solidFill>
                    <a:srgbClr val="FFFFFF"/>
                  </a:solidFill>
                  <a:latin typeface="Arial"/>
                  <a:ea typeface="Arial"/>
                  <a:cs typeface="Arial"/>
                </a:rPr>
                <a:t>Phần cứng</a:t>
              </a:r>
            </a:p>
          </p:txBody>
        </p:sp>
        <p:sp>
          <p:nvSpPr>
            <p:cNvPr id="23" name="Rounded Rectangle 22"/>
            <p:cNvSpPr/>
            <p:nvPr/>
          </p:nvSpPr>
          <p:spPr>
            <a:xfrm>
              <a:off x="1764792" y="5157216"/>
              <a:ext cx="2560320" cy="804672"/>
            </a:xfrm>
            <a:prstGeom prst="roundRect">
              <a:avLst>
                <a:gd name="adj" fmla="val 11363"/>
              </a:avLst>
            </a:prstGeom>
            <a:solidFill>
              <a:srgbClr val="FFFFFF"/>
            </a:solidFill>
            <a:ln w="12700">
              <a:solidFill>
                <a:srgbClr val="D5DEE8"/>
              </a:solidFill>
            </a:ln>
          </p:spPr>
          <p:txBody>
            <a:bodyPr rtlCol="0" anchor="ctr" lIns="54864" tIns="54864" rIns="54864" bIns="54864" wrap="square">
              <a:noAutofit/>
            </a:bodyPr>
            <a:lstStyle/>
            <a:p>
              <a:pPr algn="ctr"/>
            </a:p>
          </p:txBody>
        </p:sp>
        <p:sp>
          <p:nvSpPr>
            <p:cNvPr id="24" name="TextBox 23"/>
            <p:cNvSpPr txBox="1"/>
            <p:nvPr/>
          </p:nvSpPr>
          <p:spPr>
            <a:xfrm>
              <a:off x="1856232" y="5157216"/>
              <a:ext cx="2395728" cy="804672"/>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STM32F407: SPI1, SPI2, UART5, GPIO, USART</a:t>
              </a:r>
            </a:p>
          </p:txBody>
        </p:sp>
      </p:grpSp>
      <p:sp>
        <p:nvSpPr>
          <p:cNvPr id="25" name="Rounded Rectangle 24"/>
          <p:cNvSpPr/>
          <p:nvPr/>
        </p:nvSpPr>
        <p:spPr>
          <a:xfrm>
            <a:off x="4526280" y="1261872"/>
            <a:ext cx="7178040" cy="3840480"/>
          </a:xfrm>
          <a:prstGeom prst="roundRect">
            <a:avLst>
              <a:gd name="adj" fmla="val 238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26" name="TextBox 25"/>
          <p:cNvSpPr txBox="1"/>
          <p:nvPr/>
        </p:nvSpPr>
        <p:spPr>
          <a:xfrm>
            <a:off x="4690872" y="1316736"/>
            <a:ext cx="6903720" cy="292608"/>
          </a:xfrm>
          <a:prstGeom prst="rect">
            <a:avLst/>
          </a:prstGeom>
          <a:noFill/>
        </p:spPr>
        <p:txBody>
          <a:bodyPr wrap="square" lIns="0" tIns="0" rIns="0" bIns="0" anchor="t">
            <a:noAutofit/>
          </a:bodyPr>
          <a:lstStyle/>
          <a:p>
            <a:pPr algn="l"/>
            <a:r>
              <a:rPr sz="1250" b="1" i="0" lang="vi-VN" spc="30">
                <a:solidFill>
                  <a:srgbClr val="0A5FA8"/>
                </a:solidFill>
                <a:latin typeface="Arial"/>
                <a:ea typeface="Arial"/>
                <a:cs typeface="Arial"/>
              </a:rPr>
              <a:t>GIẢN ĐỒ THỜI GIAN 0 – 10 ms · LẬP LỊCH ƯU TIÊN CHIẾM QUYỀN</a:t>
            </a:r>
          </a:p>
        </p:txBody>
      </p:sp>
      <p:grpSp>
        <p:nvGrpSpPr>
          <p:cNvPr id="27" name="Group 26"/>
          <p:cNvGrpSpPr/>
          <p:nvPr/>
        </p:nvGrpSpPr>
        <p:grpSpPr>
          <a:xfrm>
            <a:off x="4690872" y="1645920"/>
            <a:ext cx="7059168" cy="3255264"/>
            <a:chOff x="4690872" y="1645920"/>
            <a:chExt cx="7059168" cy="3255264"/>
          </a:xfrm>
        </p:grpSpPr>
        <p:sp>
          <p:nvSpPr>
            <p:cNvPr id="28" name="TextBox 27"/>
            <p:cNvSpPr txBox="1"/>
            <p:nvPr/>
          </p:nvSpPr>
          <p:spPr>
            <a:xfrm>
              <a:off x="6446520" y="1645920"/>
              <a:ext cx="548640" cy="228600"/>
            </a:xfrm>
            <a:prstGeom prst="rect">
              <a:avLst/>
            </a:prstGeom>
            <a:noFill/>
          </p:spPr>
          <p:txBody>
            <a:bodyPr wrap="square" lIns="0" tIns="0" rIns="0" bIns="0" anchor="t">
              <a:noAutofit/>
            </a:bodyPr>
            <a:lstStyle/>
            <a:p>
              <a:pPr algn="ctr"/>
              <a:r>
                <a:rPr sz="1150" b="0" i="0" lang="vi-VN">
                  <a:solidFill>
                    <a:srgbClr val="5B6B7B"/>
                  </a:solidFill>
                  <a:latin typeface="Arial"/>
                  <a:ea typeface="Arial"/>
                  <a:cs typeface="Arial"/>
                </a:rPr>
                <a:t>0 ms</a:t>
              </a:r>
            </a:p>
          </p:txBody>
        </p:sp>
        <p:cxnSp>
          <p:nvCxnSpPr>
            <p:cNvPr id="29" name="Connector 28"/>
            <p:cNvCxnSpPr/>
            <p:nvPr/>
          </p:nvCxnSpPr>
          <p:spPr>
            <a:xfrm>
              <a:off x="6720840" y="1892808"/>
              <a:ext cx="0" cy="3008376"/>
            </a:xfrm>
            <a:prstGeom prst="line">
              <a:avLst/>
            </a:prstGeom>
            <a:ln w="9525">
              <a:solidFill>
                <a:srgbClr val="E3E8EE"/>
              </a:solidFill>
            </a:ln>
          </p:spPr>
        </p:cxnSp>
        <p:sp>
          <p:nvSpPr>
            <p:cNvPr id="30" name="TextBox 29"/>
            <p:cNvSpPr txBox="1"/>
            <p:nvPr/>
          </p:nvSpPr>
          <p:spPr>
            <a:xfrm>
              <a:off x="7397496" y="1645920"/>
              <a:ext cx="548640" cy="228600"/>
            </a:xfrm>
            <a:prstGeom prst="rect">
              <a:avLst/>
            </a:prstGeom>
            <a:noFill/>
          </p:spPr>
          <p:txBody>
            <a:bodyPr wrap="square" lIns="0" tIns="0" rIns="0" bIns="0" anchor="t">
              <a:noAutofit/>
            </a:bodyPr>
            <a:lstStyle/>
            <a:p>
              <a:pPr algn="ctr"/>
              <a:r>
                <a:rPr sz="1150" b="0" i="0" lang="vi-VN">
                  <a:solidFill>
                    <a:srgbClr val="5B6B7B"/>
                  </a:solidFill>
                  <a:latin typeface="Arial"/>
                  <a:ea typeface="Arial"/>
                  <a:cs typeface="Arial"/>
                </a:rPr>
                <a:t>2</a:t>
              </a:r>
            </a:p>
          </p:txBody>
        </p:sp>
        <p:cxnSp>
          <p:nvCxnSpPr>
            <p:cNvPr id="31" name="Connector 30"/>
            <p:cNvCxnSpPr/>
            <p:nvPr/>
          </p:nvCxnSpPr>
          <p:spPr>
            <a:xfrm>
              <a:off x="7671816" y="1892808"/>
              <a:ext cx="0" cy="3008376"/>
            </a:xfrm>
            <a:prstGeom prst="line">
              <a:avLst/>
            </a:prstGeom>
            <a:ln w="9525">
              <a:solidFill>
                <a:srgbClr val="E3E8EE"/>
              </a:solidFill>
            </a:ln>
          </p:spPr>
        </p:cxnSp>
        <p:sp>
          <p:nvSpPr>
            <p:cNvPr id="32" name="TextBox 31"/>
            <p:cNvSpPr txBox="1"/>
            <p:nvPr/>
          </p:nvSpPr>
          <p:spPr>
            <a:xfrm>
              <a:off x="8348472" y="1645920"/>
              <a:ext cx="548640" cy="228600"/>
            </a:xfrm>
            <a:prstGeom prst="rect">
              <a:avLst/>
            </a:prstGeom>
            <a:noFill/>
          </p:spPr>
          <p:txBody>
            <a:bodyPr wrap="square" lIns="0" tIns="0" rIns="0" bIns="0" anchor="t">
              <a:noAutofit/>
            </a:bodyPr>
            <a:lstStyle/>
            <a:p>
              <a:pPr algn="ctr"/>
              <a:r>
                <a:rPr sz="1150" b="0" i="0" lang="vi-VN">
                  <a:solidFill>
                    <a:srgbClr val="5B6B7B"/>
                  </a:solidFill>
                  <a:latin typeface="Arial"/>
                  <a:ea typeface="Arial"/>
                  <a:cs typeface="Arial"/>
                </a:rPr>
                <a:t>4</a:t>
              </a:r>
            </a:p>
          </p:txBody>
        </p:sp>
        <p:cxnSp>
          <p:nvCxnSpPr>
            <p:cNvPr id="33" name="Connector 32"/>
            <p:cNvCxnSpPr/>
            <p:nvPr/>
          </p:nvCxnSpPr>
          <p:spPr>
            <a:xfrm>
              <a:off x="8622792" y="1892808"/>
              <a:ext cx="0" cy="3008376"/>
            </a:xfrm>
            <a:prstGeom prst="line">
              <a:avLst/>
            </a:prstGeom>
            <a:ln w="9525">
              <a:solidFill>
                <a:srgbClr val="E3E8EE"/>
              </a:solidFill>
            </a:ln>
          </p:spPr>
        </p:cxnSp>
        <p:sp>
          <p:nvSpPr>
            <p:cNvPr id="34" name="TextBox 33"/>
            <p:cNvSpPr txBox="1"/>
            <p:nvPr/>
          </p:nvSpPr>
          <p:spPr>
            <a:xfrm>
              <a:off x="9299448" y="1645920"/>
              <a:ext cx="548640" cy="228600"/>
            </a:xfrm>
            <a:prstGeom prst="rect">
              <a:avLst/>
            </a:prstGeom>
            <a:noFill/>
          </p:spPr>
          <p:txBody>
            <a:bodyPr wrap="square" lIns="0" tIns="0" rIns="0" bIns="0" anchor="t">
              <a:noAutofit/>
            </a:bodyPr>
            <a:lstStyle/>
            <a:p>
              <a:pPr algn="ctr"/>
              <a:r>
                <a:rPr sz="1150" b="0" i="0" lang="vi-VN">
                  <a:solidFill>
                    <a:srgbClr val="5B6B7B"/>
                  </a:solidFill>
                  <a:latin typeface="Arial"/>
                  <a:ea typeface="Arial"/>
                  <a:cs typeface="Arial"/>
                </a:rPr>
                <a:t>6</a:t>
              </a:r>
            </a:p>
          </p:txBody>
        </p:sp>
        <p:cxnSp>
          <p:nvCxnSpPr>
            <p:cNvPr id="35" name="Connector 34"/>
            <p:cNvCxnSpPr/>
            <p:nvPr/>
          </p:nvCxnSpPr>
          <p:spPr>
            <a:xfrm>
              <a:off x="9573768" y="1892808"/>
              <a:ext cx="0" cy="3008376"/>
            </a:xfrm>
            <a:prstGeom prst="line">
              <a:avLst/>
            </a:prstGeom>
            <a:ln w="9525">
              <a:solidFill>
                <a:srgbClr val="E3E8EE"/>
              </a:solidFill>
            </a:ln>
          </p:spPr>
        </p:cxnSp>
        <p:sp>
          <p:nvSpPr>
            <p:cNvPr id="36" name="TextBox 35"/>
            <p:cNvSpPr txBox="1"/>
            <p:nvPr/>
          </p:nvSpPr>
          <p:spPr>
            <a:xfrm>
              <a:off x="10250424" y="1645920"/>
              <a:ext cx="548640" cy="228600"/>
            </a:xfrm>
            <a:prstGeom prst="rect">
              <a:avLst/>
            </a:prstGeom>
            <a:noFill/>
          </p:spPr>
          <p:txBody>
            <a:bodyPr wrap="square" lIns="0" tIns="0" rIns="0" bIns="0" anchor="t">
              <a:noAutofit/>
            </a:bodyPr>
            <a:lstStyle/>
            <a:p>
              <a:pPr algn="ctr"/>
              <a:r>
                <a:rPr sz="1150" b="0" i="0" lang="vi-VN">
                  <a:solidFill>
                    <a:srgbClr val="5B6B7B"/>
                  </a:solidFill>
                  <a:latin typeface="Arial"/>
                  <a:ea typeface="Arial"/>
                  <a:cs typeface="Arial"/>
                </a:rPr>
                <a:t>8</a:t>
              </a:r>
            </a:p>
          </p:txBody>
        </p:sp>
        <p:cxnSp>
          <p:nvCxnSpPr>
            <p:cNvPr id="37" name="Connector 36"/>
            <p:cNvCxnSpPr/>
            <p:nvPr/>
          </p:nvCxnSpPr>
          <p:spPr>
            <a:xfrm>
              <a:off x="10524744" y="1892808"/>
              <a:ext cx="0" cy="3008376"/>
            </a:xfrm>
            <a:prstGeom prst="line">
              <a:avLst/>
            </a:prstGeom>
            <a:ln w="9525">
              <a:solidFill>
                <a:srgbClr val="E3E8EE"/>
              </a:solidFill>
            </a:ln>
          </p:spPr>
        </p:cxnSp>
        <p:sp>
          <p:nvSpPr>
            <p:cNvPr id="38" name="TextBox 37"/>
            <p:cNvSpPr txBox="1"/>
            <p:nvPr/>
          </p:nvSpPr>
          <p:spPr>
            <a:xfrm>
              <a:off x="11201400" y="1645920"/>
              <a:ext cx="548640" cy="228600"/>
            </a:xfrm>
            <a:prstGeom prst="rect">
              <a:avLst/>
            </a:prstGeom>
            <a:noFill/>
          </p:spPr>
          <p:txBody>
            <a:bodyPr wrap="square" lIns="0" tIns="0" rIns="0" bIns="0" anchor="t">
              <a:noAutofit/>
            </a:bodyPr>
            <a:lstStyle/>
            <a:p>
              <a:pPr algn="ctr"/>
              <a:r>
                <a:rPr sz="1150" b="0" i="0" lang="vi-VN">
                  <a:solidFill>
                    <a:srgbClr val="5B6B7B"/>
                  </a:solidFill>
                  <a:latin typeface="Arial"/>
                  <a:ea typeface="Arial"/>
                  <a:cs typeface="Arial"/>
                </a:rPr>
                <a:t>10 ms</a:t>
              </a:r>
            </a:p>
          </p:txBody>
        </p:sp>
        <p:cxnSp>
          <p:nvCxnSpPr>
            <p:cNvPr id="39" name="Connector 38"/>
            <p:cNvCxnSpPr/>
            <p:nvPr/>
          </p:nvCxnSpPr>
          <p:spPr>
            <a:xfrm>
              <a:off x="11475720" y="1892808"/>
              <a:ext cx="0" cy="3008376"/>
            </a:xfrm>
            <a:prstGeom prst="line">
              <a:avLst/>
            </a:prstGeom>
            <a:ln w="9525">
              <a:solidFill>
                <a:srgbClr val="E3E8EE"/>
              </a:solidFill>
            </a:ln>
          </p:spPr>
        </p:cxnSp>
        <p:sp>
          <p:nvSpPr>
            <p:cNvPr id="40" name="TextBox 39"/>
            <p:cNvSpPr txBox="1"/>
            <p:nvPr/>
          </p:nvSpPr>
          <p:spPr>
            <a:xfrm>
              <a:off x="4690872" y="1920240"/>
              <a:ext cx="2057400" cy="384048"/>
            </a:xfrm>
            <a:prstGeom prst="rect">
              <a:avLst/>
            </a:prstGeom>
            <a:noFill/>
          </p:spPr>
          <p:txBody>
            <a:bodyPr wrap="square" lIns="0" tIns="0" rIns="0" bIns="0" anchor="ctr">
              <a:noAutofit/>
            </a:bodyPr>
            <a:lstStyle/>
            <a:p>
              <a:pPr algn="l"/>
              <a:r>
                <a:rPr sz="1250" b="1" i="0" lang="vi-VN">
                  <a:solidFill>
                    <a:srgbClr val="1E2B3A"/>
                  </a:solidFill>
                  <a:latin typeface="Arial"/>
                  <a:ea typeface="Arial"/>
                  <a:cs typeface="Arial"/>
                </a:rPr>
                <a:t>IMU · 120</a:t>
              </a:r>
            </a:p>
          </p:txBody>
        </p:sp>
        <p:sp>
          <p:nvSpPr>
            <p:cNvPr id="41" name="TextBox 40"/>
            <p:cNvSpPr txBox="1"/>
            <p:nvPr/>
          </p:nvSpPr>
          <p:spPr>
            <a:xfrm>
              <a:off x="4690872" y="2345436"/>
              <a:ext cx="2057400" cy="384048"/>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Giám sát an toàn · 118</a:t>
              </a:r>
            </a:p>
          </p:txBody>
        </p:sp>
        <p:sp>
          <p:nvSpPr>
            <p:cNvPr id="42" name="TextBox 41"/>
            <p:cNvSpPr txBox="1"/>
            <p:nvPr/>
          </p:nvSpPr>
          <p:spPr>
            <a:xfrm>
              <a:off x="4690872" y="2770632"/>
              <a:ext cx="2057400" cy="384048"/>
            </a:xfrm>
            <a:prstGeom prst="rect">
              <a:avLst/>
            </a:prstGeom>
            <a:noFill/>
          </p:spPr>
          <p:txBody>
            <a:bodyPr wrap="square" lIns="0" tIns="0" rIns="0" bIns="0" anchor="ctr">
              <a:noAutofit/>
            </a:bodyPr>
            <a:lstStyle/>
            <a:p>
              <a:pPr algn="l"/>
              <a:r>
                <a:rPr sz="1250" b="1" i="0" lang="vi-VN">
                  <a:solidFill>
                    <a:srgbClr val="1E2B3A"/>
                  </a:solidFill>
                  <a:latin typeface="Arial"/>
                  <a:ea typeface="Arial"/>
                  <a:cs typeface="Arial"/>
                </a:rPr>
                <a:t>Điều khiển · 115</a:t>
              </a:r>
            </a:p>
          </p:txBody>
        </p:sp>
        <p:sp>
          <p:nvSpPr>
            <p:cNvPr id="43" name="TextBox 42"/>
            <p:cNvSpPr txBox="1"/>
            <p:nvPr/>
          </p:nvSpPr>
          <p:spPr>
            <a:xfrm>
              <a:off x="4690872" y="3195828"/>
              <a:ext cx="2057400" cy="384048"/>
            </a:xfrm>
            <a:prstGeom prst="rect">
              <a:avLst/>
            </a:prstGeom>
            <a:noFill/>
          </p:spPr>
          <p:txBody>
            <a:bodyPr wrap="square" lIns="0" tIns="0" rIns="0" bIns="0" anchor="ctr">
              <a:noAutofit/>
            </a:bodyPr>
            <a:lstStyle/>
            <a:p>
              <a:pPr algn="l"/>
              <a:r>
                <a:rPr sz="1250" b="1" i="0" lang="vi-VN">
                  <a:solidFill>
                    <a:srgbClr val="1E2B3A"/>
                  </a:solidFill>
                  <a:latin typeface="Arial"/>
                  <a:ea typeface="Arial"/>
                  <a:cs typeface="Arial"/>
                </a:rPr>
                <a:t>RS485 · 110→116→114</a:t>
              </a:r>
            </a:p>
          </p:txBody>
        </p:sp>
        <p:sp>
          <p:nvSpPr>
            <p:cNvPr id="44" name="TextBox 43"/>
            <p:cNvSpPr txBox="1"/>
            <p:nvPr/>
          </p:nvSpPr>
          <p:spPr>
            <a:xfrm>
              <a:off x="4690872" y="3621024"/>
              <a:ext cx="2057400" cy="384048"/>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Khôi phục IMU2 · 108</a:t>
              </a:r>
            </a:p>
          </p:txBody>
        </p:sp>
        <p:sp>
          <p:nvSpPr>
            <p:cNvPr id="45" name="TextBox 44"/>
            <p:cNvSpPr txBox="1"/>
            <p:nvPr/>
          </p:nvSpPr>
          <p:spPr>
            <a:xfrm>
              <a:off x="4690872" y="4046220"/>
              <a:ext cx="2057400" cy="384048"/>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Báo cáo · 90</a:t>
              </a:r>
            </a:p>
          </p:txBody>
        </p:sp>
        <p:sp>
          <p:nvSpPr>
            <p:cNvPr id="46" name="TextBox 45"/>
            <p:cNvSpPr txBox="1"/>
            <p:nvPr/>
          </p:nvSpPr>
          <p:spPr>
            <a:xfrm>
              <a:off x="4690872" y="4471416"/>
              <a:ext cx="2057400" cy="384048"/>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LED · 50</a:t>
              </a:r>
            </a:p>
          </p:txBody>
        </p:sp>
      </p:grpSp>
      <p:grpSp>
        <p:nvGrpSpPr>
          <p:cNvPr id="47" name="Group 46"/>
          <p:cNvGrpSpPr/>
          <p:nvPr/>
        </p:nvGrpSpPr>
        <p:grpSpPr>
          <a:xfrm>
            <a:off x="6720840" y="2002536"/>
            <a:ext cx="3970325" cy="237744"/>
            <a:chOff x="6720840" y="2002536"/>
            <a:chExt cx="3970325" cy="237744"/>
          </a:xfrm>
        </p:grpSpPr>
        <p:sp>
          <p:nvSpPr>
            <p:cNvPr id="49" name="Rounded Rectangle 48"/>
            <p:cNvSpPr/>
            <p:nvPr/>
          </p:nvSpPr>
          <p:spPr>
            <a:xfrm>
              <a:off x="6720840" y="2002536"/>
              <a:ext cx="166421" cy="237744"/>
            </a:xfrm>
            <a:prstGeom prst="roundRect">
              <a:avLst>
                <a:gd name="adj" fmla="val 21978"/>
              </a:avLst>
            </a:prstGeom>
            <a:solidFill>
              <a:srgbClr val="0A5FA8"/>
            </a:solidFill>
            <a:ln>
              <a:noFill/>
            </a:ln>
          </p:spPr>
          <p:txBody>
            <a:bodyPr rtlCol="0" anchor="ctr" lIns="54864" tIns="54864" rIns="54864" bIns="54864" wrap="square">
              <a:noAutofit/>
            </a:bodyPr>
            <a:lstStyle/>
            <a:p>
              <a:pPr algn="ctr"/>
            </a:p>
          </p:txBody>
        </p:sp>
        <p:sp>
          <p:nvSpPr>
            <p:cNvPr id="51" name="Rounded Rectangle 50"/>
            <p:cNvSpPr/>
            <p:nvPr/>
          </p:nvSpPr>
          <p:spPr>
            <a:xfrm>
              <a:off x="7671816" y="2002536"/>
              <a:ext cx="166421" cy="237744"/>
            </a:xfrm>
            <a:prstGeom prst="roundRect">
              <a:avLst>
                <a:gd name="adj" fmla="val 21978"/>
              </a:avLst>
            </a:prstGeom>
            <a:solidFill>
              <a:srgbClr val="0A5FA8"/>
            </a:solidFill>
            <a:ln>
              <a:noFill/>
            </a:ln>
          </p:spPr>
          <p:txBody>
            <a:bodyPr rtlCol="0" anchor="ctr" lIns="54864" tIns="54864" rIns="54864" bIns="54864" wrap="square">
              <a:noAutofit/>
            </a:bodyPr>
            <a:lstStyle/>
            <a:p>
              <a:pPr algn="ctr"/>
            </a:p>
          </p:txBody>
        </p:sp>
        <p:sp>
          <p:nvSpPr>
            <p:cNvPr id="53" name="Rounded Rectangle 52"/>
            <p:cNvSpPr/>
            <p:nvPr/>
          </p:nvSpPr>
          <p:spPr>
            <a:xfrm>
              <a:off x="8622792" y="2002536"/>
              <a:ext cx="166421" cy="237744"/>
            </a:xfrm>
            <a:prstGeom prst="roundRect">
              <a:avLst>
                <a:gd name="adj" fmla="val 21978"/>
              </a:avLst>
            </a:prstGeom>
            <a:solidFill>
              <a:srgbClr val="0A5FA8"/>
            </a:solidFill>
            <a:ln>
              <a:noFill/>
            </a:ln>
          </p:spPr>
          <p:txBody>
            <a:bodyPr rtlCol="0" anchor="ctr" lIns="54864" tIns="54864" rIns="54864" bIns="54864" wrap="square">
              <a:noAutofit/>
            </a:bodyPr>
            <a:lstStyle/>
            <a:p>
              <a:pPr algn="ctr"/>
            </a:p>
          </p:txBody>
        </p:sp>
        <p:sp>
          <p:nvSpPr>
            <p:cNvPr id="55" name="Rounded Rectangle 54"/>
            <p:cNvSpPr/>
            <p:nvPr/>
          </p:nvSpPr>
          <p:spPr>
            <a:xfrm>
              <a:off x="9573768" y="2002536"/>
              <a:ext cx="166421" cy="237744"/>
            </a:xfrm>
            <a:prstGeom prst="roundRect">
              <a:avLst>
                <a:gd name="adj" fmla="val 21978"/>
              </a:avLst>
            </a:prstGeom>
            <a:solidFill>
              <a:srgbClr val="0A5FA8"/>
            </a:solidFill>
            <a:ln>
              <a:noFill/>
            </a:ln>
          </p:spPr>
          <p:txBody>
            <a:bodyPr rtlCol="0" anchor="ctr" lIns="54864" tIns="54864" rIns="54864" bIns="54864" wrap="square">
              <a:noAutofit/>
            </a:bodyPr>
            <a:lstStyle/>
            <a:p>
              <a:pPr algn="ctr"/>
            </a:p>
          </p:txBody>
        </p:sp>
        <p:sp>
          <p:nvSpPr>
            <p:cNvPr id="57" name="Rounded Rectangle 56"/>
            <p:cNvSpPr/>
            <p:nvPr/>
          </p:nvSpPr>
          <p:spPr>
            <a:xfrm>
              <a:off x="10524744" y="2002536"/>
              <a:ext cx="166421" cy="237744"/>
            </a:xfrm>
            <a:prstGeom prst="roundRect">
              <a:avLst>
                <a:gd name="adj" fmla="val 21978"/>
              </a:avLst>
            </a:prstGeom>
            <a:solidFill>
              <a:srgbClr val="0A5FA8"/>
            </a:solidFill>
            <a:ln>
              <a:noFill/>
            </a:ln>
          </p:spPr>
          <p:txBody>
            <a:bodyPr rtlCol="0" anchor="ctr" lIns="54864" tIns="54864" rIns="54864" bIns="54864" wrap="square">
              <a:noAutofit/>
            </a:bodyPr>
            <a:lstStyle/>
            <a:p>
              <a:pPr algn="ctr"/>
            </a:p>
          </p:txBody>
        </p:sp>
      </p:grpSp>
      <p:grpSp>
        <p:nvGrpSpPr>
          <p:cNvPr id="48" name="Group 47"/>
          <p:cNvGrpSpPr/>
          <p:nvPr/>
        </p:nvGrpSpPr>
        <p:grpSpPr>
          <a:xfrm>
            <a:off x="6887261" y="2788920"/>
            <a:ext cx="4112971" cy="365760"/>
            <a:chOff x="6887261" y="2788920"/>
            <a:chExt cx="4112971" cy="365760"/>
          </a:xfrm>
        </p:grpSpPr>
        <p:sp>
          <p:nvSpPr>
            <p:cNvPr id="50" name="Rounded Rectangle 49"/>
            <p:cNvSpPr/>
            <p:nvPr/>
          </p:nvSpPr>
          <p:spPr>
            <a:xfrm>
              <a:off x="6887261" y="2852928"/>
              <a:ext cx="309067" cy="237744"/>
            </a:xfrm>
            <a:prstGeom prst="roundRect">
              <a:avLst>
                <a:gd name="adj" fmla="val 15384"/>
              </a:avLst>
            </a:prstGeom>
            <a:solidFill>
              <a:srgbClr val="E8710A"/>
            </a:solidFill>
            <a:ln>
              <a:noFill/>
            </a:ln>
          </p:spPr>
          <p:txBody>
            <a:bodyPr rtlCol="0" anchor="ctr" lIns="54864" tIns="54864" rIns="54864" bIns="54864" wrap="square">
              <a:noAutofit/>
            </a:bodyPr>
            <a:lstStyle/>
            <a:p>
              <a:pPr algn="ctr"/>
            </a:p>
          </p:txBody>
        </p:sp>
        <p:sp>
          <p:nvSpPr>
            <p:cNvPr id="52" name="Rounded Rectangle 51"/>
            <p:cNvSpPr/>
            <p:nvPr/>
          </p:nvSpPr>
          <p:spPr>
            <a:xfrm>
              <a:off x="7838237" y="2852928"/>
              <a:ext cx="309067" cy="237744"/>
            </a:xfrm>
            <a:prstGeom prst="roundRect">
              <a:avLst>
                <a:gd name="adj" fmla="val 15384"/>
              </a:avLst>
            </a:prstGeom>
            <a:solidFill>
              <a:srgbClr val="E8710A"/>
            </a:solidFill>
            <a:ln>
              <a:noFill/>
            </a:ln>
          </p:spPr>
          <p:txBody>
            <a:bodyPr rtlCol="0" anchor="ctr" lIns="54864" tIns="54864" rIns="54864" bIns="54864" wrap="square">
              <a:noAutofit/>
            </a:bodyPr>
            <a:lstStyle/>
            <a:p>
              <a:pPr algn="ctr"/>
            </a:p>
          </p:txBody>
        </p:sp>
        <p:sp>
          <p:nvSpPr>
            <p:cNvPr id="54" name="Rounded Rectangle 53"/>
            <p:cNvSpPr/>
            <p:nvPr/>
          </p:nvSpPr>
          <p:spPr>
            <a:xfrm>
              <a:off x="8789213" y="2852928"/>
              <a:ext cx="309067" cy="237744"/>
            </a:xfrm>
            <a:prstGeom prst="roundRect">
              <a:avLst>
                <a:gd name="adj" fmla="val 15384"/>
              </a:avLst>
            </a:prstGeom>
            <a:solidFill>
              <a:srgbClr val="E8710A"/>
            </a:solidFill>
            <a:ln>
              <a:noFill/>
            </a:ln>
          </p:spPr>
          <p:txBody>
            <a:bodyPr rtlCol="0" anchor="ctr" lIns="54864" tIns="54864" rIns="54864" bIns="54864" wrap="square">
              <a:noAutofit/>
            </a:bodyPr>
            <a:lstStyle/>
            <a:p>
              <a:pPr algn="ctr"/>
            </a:p>
          </p:txBody>
        </p:sp>
        <p:sp>
          <p:nvSpPr>
            <p:cNvPr id="56" name="Rounded Rectangle 55"/>
            <p:cNvSpPr/>
            <p:nvPr/>
          </p:nvSpPr>
          <p:spPr>
            <a:xfrm>
              <a:off x="9740189" y="2852928"/>
              <a:ext cx="309067" cy="237744"/>
            </a:xfrm>
            <a:prstGeom prst="roundRect">
              <a:avLst>
                <a:gd name="adj" fmla="val 15384"/>
              </a:avLst>
            </a:prstGeom>
            <a:solidFill>
              <a:srgbClr val="E8710A"/>
            </a:solidFill>
            <a:ln>
              <a:noFill/>
            </a:ln>
          </p:spPr>
          <p:txBody>
            <a:bodyPr rtlCol="0" anchor="ctr" lIns="54864" tIns="54864" rIns="54864" bIns="54864" wrap="square">
              <a:noAutofit/>
            </a:bodyPr>
            <a:lstStyle/>
            <a:p>
              <a:pPr algn="ctr"/>
            </a:p>
          </p:txBody>
        </p:sp>
        <p:sp>
          <p:nvSpPr>
            <p:cNvPr id="58" name="Rounded Rectangle 57"/>
            <p:cNvSpPr/>
            <p:nvPr/>
          </p:nvSpPr>
          <p:spPr>
            <a:xfrm>
              <a:off x="10691165" y="2852928"/>
              <a:ext cx="309067" cy="237744"/>
            </a:xfrm>
            <a:prstGeom prst="roundRect">
              <a:avLst>
                <a:gd name="adj" fmla="val 15384"/>
              </a:avLst>
            </a:prstGeom>
            <a:solidFill>
              <a:srgbClr val="E8710A"/>
            </a:solidFill>
            <a:ln>
              <a:noFill/>
            </a:ln>
          </p:spPr>
          <p:txBody>
            <a:bodyPr rtlCol="0" anchor="ctr" lIns="54864" tIns="54864" rIns="54864" bIns="54864" wrap="square">
              <a:noAutofit/>
            </a:bodyPr>
            <a:lstStyle/>
            <a:p>
              <a:pPr algn="ctr"/>
            </a:p>
          </p:txBody>
        </p:sp>
        <p:sp>
          <p:nvSpPr>
            <p:cNvPr id="59" name="TextBox 58"/>
            <p:cNvSpPr txBox="1"/>
            <p:nvPr/>
          </p:nvSpPr>
          <p:spPr>
            <a:xfrm>
              <a:off x="7220102" y="2788920"/>
              <a:ext cx="451714" cy="365760"/>
            </a:xfrm>
            <a:prstGeom prst="rect">
              <a:avLst/>
            </a:prstGeom>
            <a:noFill/>
          </p:spPr>
          <p:txBody>
            <a:bodyPr wrap="square" lIns="0" tIns="0" rIns="0" bIns="0" anchor="ctr">
              <a:noAutofit/>
            </a:bodyPr>
            <a:lstStyle/>
            <a:p>
              <a:pPr algn="l"/>
              <a:r>
                <a:rPr sz="1100" b="0" i="0" lang="vi-VN">
                  <a:solidFill>
                    <a:srgbClr val="1E2B3A"/>
                  </a:solidFill>
                  <a:latin typeface="Arial"/>
                  <a:ea typeface="Arial"/>
                  <a:cs typeface="Arial"/>
                </a:rPr>
                <a:t>θ+ω</a:t>
              </a:r>
            </a:p>
          </p:txBody>
        </p:sp>
      </p:grpSp>
      <p:grpSp>
        <p:nvGrpSpPr>
          <p:cNvPr id="60" name="Group 59"/>
          <p:cNvGrpSpPr/>
          <p:nvPr/>
        </p:nvGrpSpPr>
        <p:grpSpPr>
          <a:xfrm>
            <a:off x="6801673" y="2249424"/>
            <a:ext cx="2375245" cy="594360"/>
            <a:chOff x="6801673" y="2249424"/>
            <a:chExt cx="2375245" cy="594360"/>
          </a:xfrm>
        </p:grpSpPr>
        <p:cxnSp>
          <p:nvCxnSpPr>
            <p:cNvPr id="61" name="Connector 60"/>
            <p:cNvCxnSpPr/>
            <p:nvPr/>
          </p:nvCxnSpPr>
          <p:spPr>
            <a:xfrm>
              <a:off x="6801673" y="2249424"/>
              <a:ext cx="133137" cy="594360"/>
            </a:xfrm>
            <a:prstGeom prst="line">
              <a:avLst/>
            </a:prstGeom>
            <a:ln w="19050">
              <a:solidFill>
                <a:srgbClr val="0B2545"/>
              </a:solidFill>
              <a:tailEnd type="triangle" w="med" len="med"/>
            </a:ln>
          </p:spPr>
        </p:cxnSp>
        <p:sp>
          <p:nvSpPr>
            <p:cNvPr id="62" name="TextBox 61"/>
            <p:cNvSpPr txBox="1"/>
            <p:nvPr/>
          </p:nvSpPr>
          <p:spPr>
            <a:xfrm>
              <a:off x="6982358" y="2363724"/>
              <a:ext cx="2194560" cy="365760"/>
            </a:xfrm>
            <a:prstGeom prst="rect">
              <a:avLst/>
            </a:prstGeom>
            <a:noFill/>
          </p:spPr>
          <p:txBody>
            <a:bodyPr wrap="square" lIns="0" tIns="0" rIns="0" bIns="0" anchor="ctr">
              <a:noAutofit/>
            </a:bodyPr>
            <a:lstStyle/>
            <a:p>
              <a:pPr algn="l"/>
              <a:r>
                <a:rPr sz="1150" b="0" i="1" lang="vi-VN">
                  <a:solidFill>
                    <a:srgbClr val="0B2545"/>
                  </a:solidFill>
                  <a:latin typeface="Arial"/>
                  <a:ea typeface="Arial"/>
                  <a:cs typeface="Arial"/>
                </a:rPr>
                <a:t>semaphore · hạn chờ 6 ms</a:t>
              </a:r>
            </a:p>
          </p:txBody>
        </p:sp>
      </p:grpSp>
      <p:grpSp>
        <p:nvGrpSpPr>
          <p:cNvPr id="63" name="Group 62"/>
          <p:cNvGrpSpPr/>
          <p:nvPr/>
        </p:nvGrpSpPr>
        <p:grpSpPr>
          <a:xfrm>
            <a:off x="6739128" y="3223260"/>
            <a:ext cx="4718304" cy="347472"/>
            <a:chOff x="6739128" y="3223260"/>
            <a:chExt cx="4718304" cy="347472"/>
          </a:xfrm>
        </p:grpSpPr>
        <p:sp>
          <p:nvSpPr>
            <p:cNvPr id="64" name="Rounded Rectangle 63"/>
            <p:cNvSpPr/>
            <p:nvPr/>
          </p:nvSpPr>
          <p:spPr>
            <a:xfrm>
              <a:off x="6739128" y="3250692"/>
              <a:ext cx="2340864" cy="292608"/>
            </a:xfrm>
            <a:prstGeom prst="roundRect">
              <a:avLst>
                <a:gd name="adj" fmla="val 15625"/>
              </a:avLst>
            </a:prstGeom>
            <a:solidFill>
              <a:srgbClr val="FFFFFF"/>
            </a:solidFill>
            <a:ln w="15875">
              <a:solidFill>
                <a:srgbClr val="1F5FAF"/>
              </a:solidFill>
            </a:ln>
          </p:spPr>
          <p:txBody>
            <a:bodyPr rtlCol="0" anchor="ctr" lIns="54864" tIns="54864" rIns="54864" bIns="54864" wrap="square">
              <a:noAutofit/>
            </a:bodyPr>
            <a:lstStyle/>
            <a:p>
              <a:pPr algn="ctr"/>
            </a:p>
          </p:txBody>
        </p:sp>
        <p:sp>
          <p:nvSpPr>
            <p:cNvPr id="65" name="Rounded Rectangle 64"/>
            <p:cNvSpPr/>
            <p:nvPr/>
          </p:nvSpPr>
          <p:spPr>
            <a:xfrm>
              <a:off x="6739128" y="3250692"/>
              <a:ext cx="1069848" cy="292608"/>
            </a:xfrm>
            <a:prstGeom prst="roundRect">
              <a:avLst>
                <a:gd name="adj" fmla="val 15625"/>
              </a:avLst>
            </a:prstGeom>
            <a:solidFill>
              <a:srgbClr val="1F5FAF"/>
            </a:solidFill>
            <a:ln>
              <a:noFill/>
            </a:ln>
          </p:spPr>
          <p:txBody>
            <a:bodyPr rtlCol="0" anchor="ctr" lIns="54864" tIns="54864" rIns="54864" bIns="54864" wrap="square">
              <a:noAutofit/>
            </a:bodyPr>
            <a:lstStyle/>
            <a:p>
              <a:pPr algn="ctr"/>
              <a:r>
                <a:rPr sz="1150" b="1" i="0" lang="vi-VN">
                  <a:solidFill>
                    <a:srgbClr val="FFFFFF"/>
                  </a:solidFill>
                  <a:latin typeface="Arial"/>
                  <a:ea typeface="Arial"/>
                  <a:cs typeface="Arial"/>
                </a:rPr>
                <a:t>Yaw</a:t>
              </a:r>
            </a:p>
          </p:txBody>
        </p:sp>
        <p:sp>
          <p:nvSpPr>
            <p:cNvPr id="66" name="TextBox 65"/>
            <p:cNvSpPr txBox="1"/>
            <p:nvPr/>
          </p:nvSpPr>
          <p:spPr>
            <a:xfrm>
              <a:off x="7814462" y="3223260"/>
              <a:ext cx="1236269" cy="347472"/>
            </a:xfrm>
            <a:prstGeom prst="rect">
              <a:avLst/>
            </a:prstGeom>
            <a:noFill/>
          </p:spPr>
          <p:txBody>
            <a:bodyPr wrap="square" lIns="0" tIns="0" rIns="0" bIns="0" anchor="ctr">
              <a:noAutofit/>
            </a:bodyPr>
            <a:lstStyle/>
            <a:p>
              <a:pPr algn="l"/>
              <a:r>
                <a:rPr sz="1100" b="0" i="0" lang="vi-VN">
                  <a:solidFill>
                    <a:srgbClr val="5B6B7B"/>
                  </a:solidFill>
                  <a:latin typeface="Arial"/>
                  <a:ea typeface="Arial"/>
                  <a:cs typeface="Arial"/>
                </a:rPr>
                <a:t>khe 5 ms</a:t>
              </a:r>
            </a:p>
          </p:txBody>
        </p:sp>
        <p:sp>
          <p:nvSpPr>
            <p:cNvPr id="67" name="Rounded Rectangle 66"/>
            <p:cNvSpPr/>
            <p:nvPr/>
          </p:nvSpPr>
          <p:spPr>
            <a:xfrm>
              <a:off x="9116568" y="3250692"/>
              <a:ext cx="2340864" cy="292608"/>
            </a:xfrm>
            <a:prstGeom prst="roundRect">
              <a:avLst>
                <a:gd name="adj" fmla="val 15625"/>
              </a:avLst>
            </a:prstGeom>
            <a:solidFill>
              <a:srgbClr val="FFFFFF"/>
            </a:solidFill>
            <a:ln w="15875">
              <a:solidFill>
                <a:srgbClr val="2E8B57"/>
              </a:solidFill>
            </a:ln>
          </p:spPr>
          <p:txBody>
            <a:bodyPr rtlCol="0" anchor="ctr" lIns="54864" tIns="54864" rIns="54864" bIns="54864" wrap="square">
              <a:noAutofit/>
            </a:bodyPr>
            <a:lstStyle/>
            <a:p>
              <a:pPr algn="ctr"/>
            </a:p>
          </p:txBody>
        </p:sp>
        <p:sp>
          <p:nvSpPr>
            <p:cNvPr id="68" name="Rounded Rectangle 67"/>
            <p:cNvSpPr/>
            <p:nvPr/>
          </p:nvSpPr>
          <p:spPr>
            <a:xfrm>
              <a:off x="9116568" y="3250692"/>
              <a:ext cx="1069848" cy="292608"/>
            </a:xfrm>
            <a:prstGeom prst="roundRect">
              <a:avLst>
                <a:gd name="adj" fmla="val 15625"/>
              </a:avLst>
            </a:prstGeom>
            <a:solidFill>
              <a:srgbClr val="2E8B57"/>
            </a:solidFill>
            <a:ln>
              <a:noFill/>
            </a:ln>
          </p:spPr>
          <p:txBody>
            <a:bodyPr rtlCol="0" anchor="ctr" lIns="54864" tIns="54864" rIns="54864" bIns="54864" wrap="square">
              <a:noAutofit/>
            </a:bodyPr>
            <a:lstStyle/>
            <a:p>
              <a:pPr algn="ctr"/>
              <a:r>
                <a:rPr sz="1150" b="1" i="0" lang="vi-VN">
                  <a:solidFill>
                    <a:srgbClr val="FFFFFF"/>
                  </a:solidFill>
                  <a:latin typeface="Arial"/>
                  <a:ea typeface="Arial"/>
                  <a:cs typeface="Arial"/>
                </a:rPr>
                <a:t>Pitch</a:t>
              </a:r>
            </a:p>
          </p:txBody>
        </p:sp>
        <p:sp>
          <p:nvSpPr>
            <p:cNvPr id="69" name="TextBox 68"/>
            <p:cNvSpPr txBox="1"/>
            <p:nvPr/>
          </p:nvSpPr>
          <p:spPr>
            <a:xfrm>
              <a:off x="10191902" y="3223260"/>
              <a:ext cx="1236269" cy="347472"/>
            </a:xfrm>
            <a:prstGeom prst="rect">
              <a:avLst/>
            </a:prstGeom>
            <a:noFill/>
          </p:spPr>
          <p:txBody>
            <a:bodyPr wrap="square" lIns="0" tIns="0" rIns="0" bIns="0" anchor="ctr">
              <a:noAutofit/>
            </a:bodyPr>
            <a:lstStyle/>
            <a:p>
              <a:pPr algn="l"/>
              <a:r>
                <a:rPr sz="1100" b="0" i="0" lang="vi-VN">
                  <a:solidFill>
                    <a:srgbClr val="5B6B7B"/>
                  </a:solidFill>
                  <a:latin typeface="Arial"/>
                  <a:ea typeface="Arial"/>
                  <a:cs typeface="Arial"/>
                </a:rPr>
                <a:t>khe 5 ms</a:t>
              </a:r>
            </a:p>
          </p:txBody>
        </p:sp>
      </p:grpSp>
      <p:grpSp>
        <p:nvGrpSpPr>
          <p:cNvPr id="70" name="Group 69"/>
          <p:cNvGrpSpPr/>
          <p:nvPr/>
        </p:nvGrpSpPr>
        <p:grpSpPr>
          <a:xfrm>
            <a:off x="6812280" y="2345436"/>
            <a:ext cx="4663440" cy="2510028"/>
            <a:chOff x="6812280" y="2345436"/>
            <a:chExt cx="4663440" cy="2510028"/>
          </a:xfrm>
        </p:grpSpPr>
        <p:sp>
          <p:nvSpPr>
            <p:cNvPr id="71" name="TextBox 70"/>
            <p:cNvSpPr txBox="1"/>
            <p:nvPr/>
          </p:nvSpPr>
          <p:spPr>
            <a:xfrm>
              <a:off x="6812280" y="3621024"/>
              <a:ext cx="4480560" cy="384048"/>
            </a:xfrm>
            <a:prstGeom prst="rect">
              <a:avLst/>
            </a:prstGeom>
            <a:noFill/>
          </p:spPr>
          <p:txBody>
            <a:bodyPr wrap="square" lIns="0" tIns="0" rIns="0" bIns="0" anchor="ctr">
              <a:noAutofit/>
            </a:bodyPr>
            <a:lstStyle/>
            <a:p>
              <a:pPr algn="l"/>
              <a:r>
                <a:rPr sz="1150" b="0" i="1" lang="vi-VN">
                  <a:solidFill>
                    <a:srgbClr val="5B6B7B"/>
                  </a:solidFill>
                  <a:latin typeface="Arial"/>
                  <a:ea typeface="Arial"/>
                  <a:cs typeface="Arial"/>
                </a:rPr>
                <a:t>chu kỳ 50 ms (nền)</a:t>
              </a:r>
            </a:p>
          </p:txBody>
        </p:sp>
        <p:sp>
          <p:nvSpPr>
            <p:cNvPr id="72" name="Rounded Rectangle 71"/>
            <p:cNvSpPr/>
            <p:nvPr/>
          </p:nvSpPr>
          <p:spPr>
            <a:xfrm>
              <a:off x="7196328" y="4128516"/>
              <a:ext cx="190195" cy="237744"/>
            </a:xfrm>
            <a:prstGeom prst="roundRect">
              <a:avLst>
                <a:gd name="adj" fmla="val 19230"/>
              </a:avLst>
            </a:prstGeom>
            <a:solidFill>
              <a:srgbClr val="9AA7B4"/>
            </a:solidFill>
            <a:ln>
              <a:noFill/>
            </a:ln>
          </p:spPr>
          <p:txBody>
            <a:bodyPr rtlCol="0" anchor="ctr" lIns="54864" tIns="54864" rIns="54864" bIns="54864" wrap="square">
              <a:noAutofit/>
            </a:bodyPr>
            <a:lstStyle/>
            <a:p>
              <a:pPr algn="ctr"/>
            </a:p>
          </p:txBody>
        </p:sp>
        <p:sp>
          <p:nvSpPr>
            <p:cNvPr id="73" name="TextBox 72"/>
            <p:cNvSpPr txBox="1"/>
            <p:nvPr/>
          </p:nvSpPr>
          <p:spPr>
            <a:xfrm>
              <a:off x="7434072" y="4046220"/>
              <a:ext cx="2743200" cy="384048"/>
            </a:xfrm>
            <a:prstGeom prst="rect">
              <a:avLst/>
            </a:prstGeom>
            <a:noFill/>
          </p:spPr>
          <p:txBody>
            <a:bodyPr wrap="square" lIns="0" tIns="0" rIns="0" bIns="0" anchor="ctr">
              <a:noAutofit/>
            </a:bodyPr>
            <a:lstStyle/>
            <a:p>
              <a:pPr algn="l"/>
              <a:r>
                <a:rPr sz="1150" b="0" i="1" lang="vi-VN">
                  <a:solidFill>
                    <a:srgbClr val="5B6B7B"/>
                  </a:solidFill>
                  <a:latin typeface="Arial"/>
                  <a:ea typeface="Arial"/>
                  <a:cs typeface="Arial"/>
                </a:rPr>
                <a:t>chu kỳ 10 ms</a:t>
              </a:r>
            </a:p>
          </p:txBody>
        </p:sp>
        <p:sp>
          <p:nvSpPr>
            <p:cNvPr id="74" name="TextBox 73"/>
            <p:cNvSpPr txBox="1"/>
            <p:nvPr/>
          </p:nvSpPr>
          <p:spPr>
            <a:xfrm>
              <a:off x="6812280" y="4471416"/>
              <a:ext cx="4480560" cy="384048"/>
            </a:xfrm>
            <a:prstGeom prst="rect">
              <a:avLst/>
            </a:prstGeom>
            <a:noFill/>
          </p:spPr>
          <p:txBody>
            <a:bodyPr wrap="square" lIns="0" tIns="0" rIns="0" bIns="0" anchor="ctr">
              <a:noAutofit/>
            </a:bodyPr>
            <a:lstStyle/>
            <a:p>
              <a:pPr algn="l"/>
              <a:r>
                <a:rPr sz="1150" b="0" i="1" lang="vi-VN">
                  <a:solidFill>
                    <a:srgbClr val="5B6B7B"/>
                  </a:solidFill>
                  <a:latin typeface="Arial"/>
                  <a:ea typeface="Arial"/>
                  <a:cs typeface="Arial"/>
                </a:rPr>
                <a:t>chu kỳ 50 ms</a:t>
              </a:r>
            </a:p>
          </p:txBody>
        </p:sp>
        <p:sp>
          <p:nvSpPr>
            <p:cNvPr id="75" name="TextBox 74"/>
            <p:cNvSpPr txBox="1"/>
            <p:nvPr/>
          </p:nvSpPr>
          <p:spPr>
            <a:xfrm>
              <a:off x="9418320" y="2345436"/>
              <a:ext cx="2057400" cy="384048"/>
            </a:xfrm>
            <a:prstGeom prst="rect">
              <a:avLst/>
            </a:prstGeom>
            <a:noFill/>
          </p:spPr>
          <p:txBody>
            <a:bodyPr wrap="square" lIns="0" tIns="0" rIns="0" bIns="0" anchor="ctr">
              <a:noAutofit/>
            </a:bodyPr>
            <a:lstStyle/>
            <a:p>
              <a:pPr algn="l"/>
              <a:r>
                <a:rPr sz="1150" b="0" i="1" lang="vi-VN">
                  <a:solidFill>
                    <a:srgbClr val="5B6B7B"/>
                  </a:solidFill>
                  <a:latin typeface="Arial"/>
                  <a:ea typeface="Arial"/>
                  <a:cs typeface="Arial"/>
                </a:rPr>
                <a:t>theo sự kiện (lỗi, mất mẫu)</a:t>
              </a:r>
            </a:p>
          </p:txBody>
        </p:sp>
      </p:grpSp>
      <p:cxnSp>
        <p:nvCxnSpPr>
          <p:cNvPr id="76" name="Connector 75"/>
          <p:cNvCxnSpPr/>
          <p:nvPr/>
        </p:nvCxnSpPr>
        <p:spPr>
          <a:xfrm>
            <a:off x="6720840" y="1847088"/>
            <a:ext cx="0" cy="3072384"/>
          </a:xfrm>
          <a:prstGeom prst="line">
            <a:avLst/>
          </a:prstGeom>
          <a:ln w="28575">
            <a:solidFill>
              <a:srgbClr val="C62828"/>
            </a:solidFill>
          </a:ln>
        </p:spPr>
      </p:cxnSp>
      <p:grpSp>
        <p:nvGrpSpPr>
          <p:cNvPr id="77" name="Group 76"/>
          <p:cNvGrpSpPr/>
          <p:nvPr/>
        </p:nvGrpSpPr>
        <p:grpSpPr>
          <a:xfrm>
            <a:off x="4526280" y="5230368"/>
            <a:ext cx="2301240" cy="822960"/>
            <a:chOff x="4526280" y="5230368"/>
            <a:chExt cx="2301240" cy="822960"/>
          </a:xfrm>
        </p:grpSpPr>
        <p:sp>
          <p:nvSpPr>
            <p:cNvPr id="78" name="Rounded Rectangle 77"/>
            <p:cNvSpPr/>
            <p:nvPr/>
          </p:nvSpPr>
          <p:spPr>
            <a:xfrm>
              <a:off x="4526280" y="5230368"/>
              <a:ext cx="2301240" cy="822960"/>
            </a:xfrm>
            <a:prstGeom prst="roundRect">
              <a:avLst>
                <a:gd name="adj" fmla="val 11111"/>
              </a:avLst>
            </a:prstGeom>
            <a:solidFill>
              <a:srgbClr val="FFF1E6"/>
            </a:solidFill>
            <a:ln>
              <a:noFill/>
            </a:ln>
          </p:spPr>
          <p:txBody>
            <a:bodyPr rtlCol="0" anchor="ctr" lIns="54864" tIns="54864" rIns="54864" bIns="54864" wrap="square">
              <a:noAutofit/>
            </a:bodyPr>
            <a:lstStyle/>
            <a:p>
              <a:pPr algn="ctr"/>
            </a:p>
          </p:txBody>
        </p:sp>
        <p:pic>
          <p:nvPicPr>
            <p:cNvPr id="79" name="Picture 78" descr="check_E8710A.png"/>
            <p:cNvPicPr>
              <a:picLocks noChangeAspect="1"/>
            </p:cNvPicPr>
            <p:nvPr/>
          </p:nvPicPr>
          <p:blipFill>
            <a:blip r:embed="rId2"/>
            <a:stretch>
              <a:fillRect/>
            </a:stretch>
          </p:blipFill>
          <p:spPr>
            <a:xfrm>
              <a:off x="4636008" y="5468112"/>
              <a:ext cx="329184" cy="329184"/>
            </a:xfrm>
            <a:prstGeom prst="rect">
              <a:avLst/>
            </a:prstGeom>
          </p:spPr>
        </p:pic>
        <p:sp>
          <p:nvSpPr>
            <p:cNvPr id="80" name="TextBox 79"/>
            <p:cNvSpPr txBox="1"/>
            <p:nvPr/>
          </p:nvSpPr>
          <p:spPr>
            <a:xfrm>
              <a:off x="5029200" y="5230368"/>
              <a:ext cx="1734312" cy="822960"/>
            </a:xfrm>
            <a:prstGeom prst="rect">
              <a:avLst/>
            </a:prstGeom>
            <a:noFill/>
          </p:spPr>
          <p:txBody>
            <a:bodyPr wrap="square" lIns="0" tIns="0" rIns="0" bIns="0" anchor="ctr">
              <a:noAutofit/>
            </a:bodyPr>
            <a:lstStyle/>
            <a:p>
              <a:pPr algn="l">
                <a:lnSpc>
                  <a:spcPct val="98000"/>
                </a:lnSpc>
              </a:pPr>
              <a:r>
                <a:rPr sz="1300" b="0" i="0" lang="vi-VN">
                  <a:solidFill>
                    <a:srgbClr val="1E2B3A"/>
                  </a:solidFill>
                  <a:latin typeface="Arial"/>
                  <a:ea typeface="Arial"/>
                  <a:cs typeface="Arial"/>
                </a:rPr>
                <a:t>Chờ semaphore có hạn 6 ms → quá hạn thì kiểm tra tuổi mẫu</a:t>
              </a:r>
            </a:p>
          </p:txBody>
        </p:sp>
      </p:grpSp>
      <p:grpSp>
        <p:nvGrpSpPr>
          <p:cNvPr id="81" name="Group 80"/>
          <p:cNvGrpSpPr/>
          <p:nvPr/>
        </p:nvGrpSpPr>
        <p:grpSpPr>
          <a:xfrm>
            <a:off x="6964680" y="5230368"/>
            <a:ext cx="2301240" cy="822960"/>
            <a:chOff x="6964680" y="5230368"/>
            <a:chExt cx="2301240" cy="822960"/>
          </a:xfrm>
        </p:grpSpPr>
        <p:sp>
          <p:nvSpPr>
            <p:cNvPr id="82" name="Rounded Rectangle 81"/>
            <p:cNvSpPr/>
            <p:nvPr/>
          </p:nvSpPr>
          <p:spPr>
            <a:xfrm>
              <a:off x="6964680" y="5230368"/>
              <a:ext cx="2301240" cy="822960"/>
            </a:xfrm>
            <a:prstGeom prst="roundRect">
              <a:avLst>
                <a:gd name="adj" fmla="val 11111"/>
              </a:avLst>
            </a:prstGeom>
            <a:solidFill>
              <a:srgbClr val="FFF1E6"/>
            </a:solidFill>
            <a:ln>
              <a:noFill/>
            </a:ln>
          </p:spPr>
          <p:txBody>
            <a:bodyPr rtlCol="0" anchor="ctr" lIns="54864" tIns="54864" rIns="54864" bIns="54864" wrap="square">
              <a:noAutofit/>
            </a:bodyPr>
            <a:lstStyle/>
            <a:p>
              <a:pPr algn="ctr"/>
            </a:p>
          </p:txBody>
        </p:sp>
        <p:pic>
          <p:nvPicPr>
            <p:cNvPr id="83" name="Picture 82" descr="check_E8710A.png"/>
            <p:cNvPicPr>
              <a:picLocks noChangeAspect="1"/>
            </p:cNvPicPr>
            <p:nvPr/>
          </p:nvPicPr>
          <p:blipFill>
            <a:blip r:embed="rId2"/>
            <a:stretch>
              <a:fillRect/>
            </a:stretch>
          </p:blipFill>
          <p:spPr>
            <a:xfrm>
              <a:off x="7074408" y="5468112"/>
              <a:ext cx="329184" cy="329184"/>
            </a:xfrm>
            <a:prstGeom prst="rect">
              <a:avLst/>
            </a:prstGeom>
          </p:spPr>
        </p:pic>
        <p:sp>
          <p:nvSpPr>
            <p:cNvPr id="84" name="TextBox 83"/>
            <p:cNvSpPr txBox="1"/>
            <p:nvPr/>
          </p:nvSpPr>
          <p:spPr>
            <a:xfrm>
              <a:off x="7467600" y="5230368"/>
              <a:ext cx="1734312" cy="822960"/>
            </a:xfrm>
            <a:prstGeom prst="rect">
              <a:avLst/>
            </a:prstGeom>
            <a:noFill/>
          </p:spPr>
          <p:txBody>
            <a:bodyPr wrap="square" lIns="0" tIns="0" rIns="0" bIns="0" anchor="ctr">
              <a:noAutofit/>
            </a:bodyPr>
            <a:lstStyle/>
            <a:p>
              <a:pPr algn="l">
                <a:lnSpc>
                  <a:spcPct val="98000"/>
                </a:lnSpc>
              </a:pPr>
              <a:r>
                <a:rPr sz="1300" b="0" i="0" lang="vi-VN">
                  <a:solidFill>
                    <a:srgbClr val="1E2B3A"/>
                  </a:solidFill>
                  <a:latin typeface="Arial"/>
                  <a:ea typeface="Arial"/>
                  <a:cs typeface="Arial"/>
                </a:rPr>
                <a:t>Chỉ dùng mẫu mới nhất → trễ không tích lũy</a:t>
              </a:r>
            </a:p>
          </p:txBody>
        </p:sp>
      </p:grpSp>
      <p:grpSp>
        <p:nvGrpSpPr>
          <p:cNvPr id="85" name="Group 84"/>
          <p:cNvGrpSpPr/>
          <p:nvPr/>
        </p:nvGrpSpPr>
        <p:grpSpPr>
          <a:xfrm>
            <a:off x="9403080" y="5230368"/>
            <a:ext cx="2301240" cy="822960"/>
            <a:chOff x="9403080" y="5230368"/>
            <a:chExt cx="2301240" cy="822960"/>
          </a:xfrm>
        </p:grpSpPr>
        <p:sp>
          <p:nvSpPr>
            <p:cNvPr id="86" name="Rounded Rectangle 85"/>
            <p:cNvSpPr/>
            <p:nvPr/>
          </p:nvSpPr>
          <p:spPr>
            <a:xfrm>
              <a:off x="9403080" y="5230368"/>
              <a:ext cx="2301240" cy="822960"/>
            </a:xfrm>
            <a:prstGeom prst="roundRect">
              <a:avLst>
                <a:gd name="adj" fmla="val 11111"/>
              </a:avLst>
            </a:prstGeom>
            <a:solidFill>
              <a:srgbClr val="FFF1E6"/>
            </a:solidFill>
            <a:ln>
              <a:noFill/>
            </a:ln>
          </p:spPr>
          <p:txBody>
            <a:bodyPr rtlCol="0" anchor="ctr" lIns="54864" tIns="54864" rIns="54864" bIns="54864" wrap="square">
              <a:noAutofit/>
            </a:bodyPr>
            <a:lstStyle/>
            <a:p>
              <a:pPr algn="ctr"/>
            </a:p>
          </p:txBody>
        </p:sp>
        <p:pic>
          <p:nvPicPr>
            <p:cNvPr id="87" name="Picture 86" descr="check_E8710A.png"/>
            <p:cNvPicPr>
              <a:picLocks noChangeAspect="1"/>
            </p:cNvPicPr>
            <p:nvPr/>
          </p:nvPicPr>
          <p:blipFill>
            <a:blip r:embed="rId2"/>
            <a:stretch>
              <a:fillRect/>
            </a:stretch>
          </p:blipFill>
          <p:spPr>
            <a:xfrm>
              <a:off x="9512808" y="5468112"/>
              <a:ext cx="329184" cy="329184"/>
            </a:xfrm>
            <a:prstGeom prst="rect">
              <a:avLst/>
            </a:prstGeom>
          </p:spPr>
        </p:pic>
        <p:sp>
          <p:nvSpPr>
            <p:cNvPr id="88" name="TextBox 87"/>
            <p:cNvSpPr txBox="1"/>
            <p:nvPr/>
          </p:nvSpPr>
          <p:spPr>
            <a:xfrm>
              <a:off x="9906000" y="5230368"/>
              <a:ext cx="1734312" cy="822960"/>
            </a:xfrm>
            <a:prstGeom prst="rect">
              <a:avLst/>
            </a:prstGeom>
            <a:noFill/>
          </p:spPr>
          <p:txBody>
            <a:bodyPr wrap="square" lIns="0" tIns="0" rIns="0" bIns="0" anchor="ctr">
              <a:noAutofit/>
            </a:bodyPr>
            <a:lstStyle/>
            <a:p>
              <a:pPr algn="l">
                <a:lnSpc>
                  <a:spcPct val="98000"/>
                </a:lnSpc>
              </a:pPr>
              <a:r>
                <a:rPr sz="1300" b="0" i="0" lang="vi-VN">
                  <a:solidFill>
                    <a:srgbClr val="1E2B3A"/>
                  </a:solidFill>
                  <a:latin typeface="Arial"/>
                  <a:ea typeface="Arial"/>
                  <a:cs typeface="Arial"/>
                </a:rPr>
                <a:t>RS485 nâng ưu tiên lên 116 khi phát khung</a:t>
              </a:r>
            </a:p>
          </p:txBody>
        </p:sp>
      </p:grpSp>
      <p:sp>
        <p:nvSpPr>
          <p:cNvPr id="89"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anim calcmode="lin" valueType="num">
                                      <p:cBhvr>
                                        <p:cTn id="8" dur="350" fill="hold"/>
                                        <p:tgtEl>
                                          <p:spTgt spid="21"/>
                                        </p:tgtEl>
                                        <p:attrNameLst>
                                          <p:attrName>ppt_x</p:attrName>
                                        </p:attrNameLst>
                                      </p:cBhvr>
                                      <p:tavLst>
                                        <p:tav tm="0">
                                          <p:val>
                                            <p:strVal val="#ppt_x"/>
                                          </p:val>
                                        </p:tav>
                                        <p:tav tm="100000">
                                          <p:val>
                                            <p:strVal val="#ppt_x"/>
                                          </p:val>
                                        </p:tav>
                                      </p:tavLst>
                                    </p:anim>
                                    <p:anim calcmode="lin" valueType="num">
                                      <p:cBhvr>
                                        <p:cTn id="9" dur="350" fill="hold"/>
                                        <p:tgtEl>
                                          <p:spTgt spid="21"/>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13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350"/>
                                        <p:tgtEl>
                                          <p:spTgt spid="17"/>
                                        </p:tgtEl>
                                      </p:cBhvr>
                                    </p:animEffect>
                                    <p:anim calcmode="lin" valueType="num">
                                      <p:cBhvr>
                                        <p:cTn id="13" dur="350" fill="hold"/>
                                        <p:tgtEl>
                                          <p:spTgt spid="17"/>
                                        </p:tgtEl>
                                        <p:attrNameLst>
                                          <p:attrName>ppt_x</p:attrName>
                                        </p:attrNameLst>
                                      </p:cBhvr>
                                      <p:tavLst>
                                        <p:tav tm="0">
                                          <p:val>
                                            <p:strVal val="#ppt_x"/>
                                          </p:val>
                                        </p:tav>
                                        <p:tav tm="100000">
                                          <p:val>
                                            <p:strVal val="#ppt_x"/>
                                          </p:val>
                                        </p:tav>
                                      </p:tavLst>
                                    </p:anim>
                                    <p:anim calcmode="lin" valueType="num">
                                      <p:cBhvr>
                                        <p:cTn id="14" dur="350" fill="hold"/>
                                        <p:tgtEl>
                                          <p:spTgt spid="17"/>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26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50"/>
                                        <p:tgtEl>
                                          <p:spTgt spid="13"/>
                                        </p:tgtEl>
                                      </p:cBhvr>
                                    </p:animEffect>
                                    <p:anim calcmode="lin" valueType="num">
                                      <p:cBhvr>
                                        <p:cTn id="18" dur="350" fill="hold"/>
                                        <p:tgtEl>
                                          <p:spTgt spid="13"/>
                                        </p:tgtEl>
                                        <p:attrNameLst>
                                          <p:attrName>ppt_x</p:attrName>
                                        </p:attrNameLst>
                                      </p:cBhvr>
                                      <p:tavLst>
                                        <p:tav tm="0">
                                          <p:val>
                                            <p:strVal val="#ppt_x"/>
                                          </p:val>
                                        </p:tav>
                                        <p:tav tm="100000">
                                          <p:val>
                                            <p:strVal val="#ppt_x"/>
                                          </p:val>
                                        </p:tav>
                                      </p:tavLst>
                                    </p:anim>
                                    <p:anim calcmode="lin" valueType="num">
                                      <p:cBhvr>
                                        <p:cTn id="19" dur="350" fill="hold"/>
                                        <p:tgtEl>
                                          <p:spTgt spid="13"/>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39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anim calcmode="lin" valueType="num">
                                      <p:cBhvr>
                                        <p:cTn id="23" dur="350" fill="hold"/>
                                        <p:tgtEl>
                                          <p:spTgt spid="9"/>
                                        </p:tgtEl>
                                        <p:attrNameLst>
                                          <p:attrName>ppt_x</p:attrName>
                                        </p:attrNameLst>
                                      </p:cBhvr>
                                      <p:tavLst>
                                        <p:tav tm="0">
                                          <p:val>
                                            <p:strVal val="#ppt_x"/>
                                          </p:val>
                                        </p:tav>
                                        <p:tav tm="100000">
                                          <p:val>
                                            <p:strVal val="#ppt_x"/>
                                          </p:val>
                                        </p:tav>
                                      </p:tavLst>
                                    </p:anim>
                                    <p:anim calcmode="lin" valueType="num">
                                      <p:cBhvr>
                                        <p:cTn id="24" dur="350" fill="hold"/>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52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350"/>
                                        <p:tgtEl>
                                          <p:spTgt spid="5"/>
                                        </p:tgtEl>
                                      </p:cBhvr>
                                    </p:animEffect>
                                    <p:anim calcmode="lin" valueType="num">
                                      <p:cBhvr>
                                        <p:cTn id="28" dur="350" fill="hold"/>
                                        <p:tgtEl>
                                          <p:spTgt spid="5"/>
                                        </p:tgtEl>
                                        <p:attrNameLst>
                                          <p:attrName>ppt_x</p:attrName>
                                        </p:attrNameLst>
                                      </p:cBhvr>
                                      <p:tavLst>
                                        <p:tav tm="0">
                                          <p:val>
                                            <p:strVal val="#ppt_x"/>
                                          </p:val>
                                        </p:tav>
                                        <p:tav tm="100000">
                                          <p:val>
                                            <p:strVal val="#ppt_x"/>
                                          </p:val>
                                        </p:tav>
                                      </p:tavLst>
                                    </p:anim>
                                    <p:anim calcmode="lin" valueType="num">
                                      <p:cBhvr>
                                        <p:cTn id="29" dur="350" fill="hold"/>
                                        <p:tgtEl>
                                          <p:spTgt spid="5"/>
                                        </p:tgtEl>
                                        <p:attrNameLst>
                                          <p:attrName>ppt_y</p:attrName>
                                        </p:attrNameLst>
                                      </p:cBhvr>
                                      <p:tavLst>
                                        <p:tav tm="0">
                                          <p:val>
                                            <p:strVal val="#ppt_y+.05"/>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wipe(left)">
                                      <p:cBhvr>
                                        <p:cTn id="34" dur="700"/>
                                        <p:tgtEl>
                                          <p:spTgt spid="47"/>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400"/>
                                        <p:tgtEl>
                                          <p:spTgt spid="60"/>
                                        </p:tgtEl>
                                      </p:cBhvr>
                                    </p:animEffect>
                                  </p:childTnLst>
                                </p:cTn>
                              </p:par>
                              <p:par>
                                <p:cTn id="38" presetID="22" presetClass="entr" presetSubtype="8" fill="hold" grpId="0" nodeType="withEffect">
                                  <p:stCondLst>
                                    <p:cond delay="400"/>
                                  </p:stCondLst>
                                  <p:childTnLst>
                                    <p:set>
                                      <p:cBhvr>
                                        <p:cTn id="39" dur="1" fill="hold">
                                          <p:stCondLst>
                                            <p:cond delay="0"/>
                                          </p:stCondLst>
                                        </p:cTn>
                                        <p:tgtEl>
                                          <p:spTgt spid="48"/>
                                        </p:tgtEl>
                                        <p:attrNameLst>
                                          <p:attrName>style.visibility</p:attrName>
                                        </p:attrNameLst>
                                      </p:cBhvr>
                                      <p:to>
                                        <p:strVal val="visible"/>
                                      </p:to>
                                    </p:set>
                                    <p:animEffect transition="in" filter="wipe(left)">
                                      <p:cBhvr>
                                        <p:cTn id="40" dur="700"/>
                                        <p:tgtEl>
                                          <p:spTgt spid="48"/>
                                        </p:tgtEl>
                                      </p:cBhvr>
                                    </p:animEffect>
                                  </p:childTnLst>
                                </p:cTn>
                              </p:par>
                            </p:childTnLst>
                          </p:cTn>
                        </p:par>
                        <p:par>
                          <p:cTn id="41" fill="hold">
                            <p:stCondLst>
                              <p:cond delay="1100"/>
                            </p:stCondLst>
                            <p:childTnLst>
                              <p:par>
                                <p:cTn id="42" presetID="1" presetClass="entr" presetSubtype="0" fill="hold" grpId="0" nodeType="afterEffect">
                                  <p:stCondLst>
                                    <p:cond delay="0"/>
                                  </p:stCondLst>
                                  <p:childTnLst>
                                    <p:set>
                                      <p:cBhvr>
                                        <p:cTn id="43" dur="1" fill="hold">
                                          <p:stCondLst>
                                            <p:cond delay="0"/>
                                          </p:stCondLst>
                                        </p:cTn>
                                        <p:tgtEl>
                                          <p:spTgt spid="76"/>
                                        </p:tgtEl>
                                        <p:attrNameLst>
                                          <p:attrName>style.visibility</p:attrName>
                                        </p:attrNameLst>
                                      </p:cBhvr>
                                      <p:to>
                                        <p:strVal val="visible"/>
                                      </p:to>
                                    </p:set>
                                  </p:childTnLst>
                                </p:cTn>
                              </p:par>
                              <p:par>
                                <p:cTn id="44" presetID="0" presetClass="path" presetSubtype="0" fill="hold" grpId="1" nodeType="withEffect">
                                  <p:stCondLst>
                                    <p:cond delay="0"/>
                                  </p:stCondLst>
                                  <p:childTnLst>
                                    <p:animMotion origin="layout" path="M 0 0 L 0.3900 0 E" pathEditMode="relative" rAng="0" ptsTypes="AA">
                                      <p:cBhvr>
                                        <p:cTn id="45" dur="4000" fill="hold"/>
                                        <p:tgtEl>
                                          <p:spTgt spid="76"/>
                                        </p:tgtEl>
                                        <p:attrNameLst>
                                          <p:attrName>ppt_x</p:attrName>
                                          <p:attrName>ppt_y</p:attrName>
                                        </p:attrNameLst>
                                      </p:cBhvr>
                                      <p:rCtr x="0" y="0"/>
                                    </p:animMotion>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wipe(left)">
                                      <p:cBhvr>
                                        <p:cTn id="50" dur="700"/>
                                        <p:tgtEl>
                                          <p:spTgt spid="63"/>
                                        </p:tgtEl>
                                      </p:cBhvr>
                                    </p:animEffect>
                                  </p:childTnLst>
                                </p:cTn>
                              </p:par>
                              <p:par>
                                <p:cTn id="51" presetID="10" presetClass="entr" presetSubtype="0" fill="hold" grpId="0" nodeType="withEffect">
                                  <p:stCondLst>
                                    <p:cond delay="200"/>
                                  </p:stCondLst>
                                  <p:childTnLst>
                                    <p:set>
                                      <p:cBhvr>
                                        <p:cTn id="52" dur="1" fill="hold">
                                          <p:stCondLst>
                                            <p:cond delay="0"/>
                                          </p:stCondLst>
                                        </p:cTn>
                                        <p:tgtEl>
                                          <p:spTgt spid="70"/>
                                        </p:tgtEl>
                                        <p:attrNameLst>
                                          <p:attrName>style.visibility</p:attrName>
                                        </p:attrNameLst>
                                      </p:cBhvr>
                                      <p:to>
                                        <p:strVal val="visible"/>
                                      </p:to>
                                    </p:set>
                                    <p:animEffect transition="in" filter="fade">
                                      <p:cBhvr>
                                        <p:cTn id="53" dur="500"/>
                                        <p:tgtEl>
                                          <p:spTgt spid="70"/>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fade">
                                      <p:cBhvr>
                                        <p:cTn id="58" dur="400"/>
                                        <p:tgtEl>
                                          <p:spTgt spid="77"/>
                                        </p:tgtEl>
                                      </p:cBhvr>
                                    </p:animEffect>
                                    <p:anim calcmode="lin" valueType="num">
                                      <p:cBhvr>
                                        <p:cTn id="59" dur="400" fill="hold"/>
                                        <p:tgtEl>
                                          <p:spTgt spid="77"/>
                                        </p:tgtEl>
                                        <p:attrNameLst>
                                          <p:attrName>ppt_x</p:attrName>
                                        </p:attrNameLst>
                                      </p:cBhvr>
                                      <p:tavLst>
                                        <p:tav tm="0">
                                          <p:val>
                                            <p:strVal val="#ppt_x"/>
                                          </p:val>
                                        </p:tav>
                                        <p:tav tm="100000">
                                          <p:val>
                                            <p:strVal val="#ppt_x"/>
                                          </p:val>
                                        </p:tav>
                                      </p:tavLst>
                                    </p:anim>
                                    <p:anim calcmode="lin" valueType="num">
                                      <p:cBhvr>
                                        <p:cTn id="60" dur="400" fill="hold"/>
                                        <p:tgtEl>
                                          <p:spTgt spid="77"/>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150"/>
                                  </p:stCondLst>
                                  <p:childTnLst>
                                    <p:set>
                                      <p:cBhvr>
                                        <p:cTn id="62" dur="1" fill="hold">
                                          <p:stCondLst>
                                            <p:cond delay="0"/>
                                          </p:stCondLst>
                                        </p:cTn>
                                        <p:tgtEl>
                                          <p:spTgt spid="81"/>
                                        </p:tgtEl>
                                        <p:attrNameLst>
                                          <p:attrName>style.visibility</p:attrName>
                                        </p:attrNameLst>
                                      </p:cBhvr>
                                      <p:to>
                                        <p:strVal val="visible"/>
                                      </p:to>
                                    </p:set>
                                    <p:animEffect transition="in" filter="fade">
                                      <p:cBhvr>
                                        <p:cTn id="63" dur="400"/>
                                        <p:tgtEl>
                                          <p:spTgt spid="81"/>
                                        </p:tgtEl>
                                      </p:cBhvr>
                                    </p:animEffect>
                                    <p:anim calcmode="lin" valueType="num">
                                      <p:cBhvr>
                                        <p:cTn id="64" dur="400" fill="hold"/>
                                        <p:tgtEl>
                                          <p:spTgt spid="81"/>
                                        </p:tgtEl>
                                        <p:attrNameLst>
                                          <p:attrName>ppt_x</p:attrName>
                                        </p:attrNameLst>
                                      </p:cBhvr>
                                      <p:tavLst>
                                        <p:tav tm="0">
                                          <p:val>
                                            <p:strVal val="#ppt_x"/>
                                          </p:val>
                                        </p:tav>
                                        <p:tav tm="100000">
                                          <p:val>
                                            <p:strVal val="#ppt_x"/>
                                          </p:val>
                                        </p:tav>
                                      </p:tavLst>
                                    </p:anim>
                                    <p:anim calcmode="lin" valueType="num">
                                      <p:cBhvr>
                                        <p:cTn id="65" dur="400" fill="hold"/>
                                        <p:tgtEl>
                                          <p:spTgt spid="81"/>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300"/>
                                  </p:stCondLst>
                                  <p:childTnLst>
                                    <p:set>
                                      <p:cBhvr>
                                        <p:cTn id="67" dur="1" fill="hold">
                                          <p:stCondLst>
                                            <p:cond delay="0"/>
                                          </p:stCondLst>
                                        </p:cTn>
                                        <p:tgtEl>
                                          <p:spTgt spid="85"/>
                                        </p:tgtEl>
                                        <p:attrNameLst>
                                          <p:attrName>style.visibility</p:attrName>
                                        </p:attrNameLst>
                                      </p:cBhvr>
                                      <p:to>
                                        <p:strVal val="visible"/>
                                      </p:to>
                                    </p:set>
                                    <p:animEffect transition="in" filter="fade">
                                      <p:cBhvr>
                                        <p:cTn id="68" dur="400"/>
                                        <p:tgtEl>
                                          <p:spTgt spid="85"/>
                                        </p:tgtEl>
                                      </p:cBhvr>
                                    </p:animEffect>
                                    <p:anim calcmode="lin" valueType="num">
                                      <p:cBhvr>
                                        <p:cTn id="69" dur="400" fill="hold"/>
                                        <p:tgtEl>
                                          <p:spTgt spid="85"/>
                                        </p:tgtEl>
                                        <p:attrNameLst>
                                          <p:attrName>ppt_x</p:attrName>
                                        </p:attrNameLst>
                                      </p:cBhvr>
                                      <p:tavLst>
                                        <p:tav tm="0">
                                          <p:val>
                                            <p:strVal val="#ppt_x"/>
                                          </p:val>
                                        </p:tav>
                                        <p:tav tm="100000">
                                          <p:val>
                                            <p:strVal val="#ppt_x"/>
                                          </p:val>
                                        </p:tav>
                                      </p:tavLst>
                                    </p:anim>
                                    <p:anim calcmode="lin" valueType="num">
                                      <p:cBhvr>
                                        <p:cTn id="70" dur="400" fill="hold"/>
                                        <p:tgtEl>
                                          <p:spTgt spid="85"/>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2 · HỆ THỐNG HAI CẢM BIẾN IMU</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Hai IMU: IMU1 cho phản hồi, IMU2 đo khung mang để bù trước</a:t>
            </a:r>
          </a:p>
        </p:txBody>
      </p:sp>
      <p:sp>
        <p:nvSpPr>
          <p:cNvPr id="4" name="TextBox 3"/>
          <p:cNvSpPr txBox="1"/>
          <p:nvPr/>
        </p:nvSpPr>
        <p:spPr>
          <a:xfrm>
            <a:off x="502920" y="1243584"/>
            <a:ext cx="5486400" cy="274320"/>
          </a:xfrm>
          <a:prstGeom prst="rect">
            <a:avLst/>
          </a:prstGeom>
          <a:noFill/>
        </p:spPr>
        <p:txBody>
          <a:bodyPr wrap="square" lIns="0" tIns="0" rIns="0" bIns="0" anchor="t">
            <a:noAutofit/>
          </a:bodyPr>
          <a:lstStyle/>
          <a:p>
            <a:pPr algn="l"/>
            <a:r>
              <a:rPr sz="1250" b="1" i="0" lang="vi-VN" spc="40">
                <a:solidFill>
                  <a:srgbClr val="0A5FA8"/>
                </a:solidFill>
                <a:latin typeface="Arial"/>
                <a:ea typeface="Arial"/>
                <a:cs typeface="Arial"/>
              </a:rPr>
              <a:t>CHUỖI XỬ LÝ TRONG MỖI CHU KỲ 2 ms</a:t>
            </a:r>
          </a:p>
        </p:txBody>
      </p:sp>
      <p:grpSp>
        <p:nvGrpSpPr>
          <p:cNvPr id="5" name="Group 4"/>
          <p:cNvGrpSpPr/>
          <p:nvPr/>
        </p:nvGrpSpPr>
        <p:grpSpPr>
          <a:xfrm>
            <a:off x="502920" y="1572768"/>
            <a:ext cx="1887322" cy="987552"/>
            <a:chOff x="502920" y="1572768"/>
            <a:chExt cx="1887322" cy="987552"/>
          </a:xfrm>
        </p:grpSpPr>
        <p:sp>
          <p:nvSpPr>
            <p:cNvPr id="6" name="Rounded Rectangle 5"/>
            <p:cNvSpPr/>
            <p:nvPr/>
          </p:nvSpPr>
          <p:spPr>
            <a:xfrm>
              <a:off x="502920" y="1572768"/>
              <a:ext cx="1719072" cy="987552"/>
            </a:xfrm>
            <a:prstGeom prst="roundRect">
              <a:avLst>
                <a:gd name="adj" fmla="val 9259"/>
              </a:avLst>
            </a:prstGeom>
            <a:solidFill>
              <a:srgbClr val="123A6B"/>
            </a:solidFill>
            <a:ln>
              <a:noFill/>
            </a:ln>
          </p:spPr>
          <p:txBody>
            <a:bodyPr rtlCol="0" anchor="ctr" lIns="64008" tIns="64008" rIns="64008" bIns="64008" wrap="square">
              <a:noAutofit/>
            </a:bodyPr>
            <a:lstStyle/>
            <a:p>
              <a:pPr algn="ctr">
                <a:lnSpc>
                  <a:spcPct val="95000"/>
                </a:lnSpc>
              </a:pPr>
              <a:r>
                <a:rPr sz="1400" b="1" i="0" lang="vi-VN">
                  <a:solidFill>
                    <a:srgbClr val="FFFFFF"/>
                  </a:solidFill>
                  <a:latin typeface="Arial"/>
                  <a:ea typeface="Arial"/>
                  <a:cs typeface="Arial"/>
                </a:rPr>
                <a:t>Đọc 2 IMU</a:t>
              </a:r>
            </a:p>
            <a:p>
              <a:pPr algn="ctr">
                <a:lnSpc>
                  <a:spcPct val="95000"/>
                </a:lnSpc>
              </a:pPr>
              <a:r>
                <a:rPr sz="1200" b="0" i="0" lang="vi-VN">
                  <a:solidFill>
                    <a:srgbClr val="FFFFFF"/>
                  </a:solidFill>
                  <a:latin typeface="Arial"/>
                  <a:ea typeface="Arial"/>
                  <a:cs typeface="Arial"/>
                </a:rPr>
                <a:t>SPI1, SPI2 · 500 Hz</a:t>
              </a:r>
            </a:p>
          </p:txBody>
        </p:sp>
        <p:cxnSp>
          <p:nvCxnSpPr>
            <p:cNvPr id="7" name="Connector 6"/>
            <p:cNvCxnSpPr/>
            <p:nvPr/>
          </p:nvCxnSpPr>
          <p:spPr>
            <a:xfrm>
              <a:off x="2231136" y="2066544"/>
              <a:ext cx="159106" cy="0"/>
            </a:xfrm>
            <a:prstGeom prst="line">
              <a:avLst/>
            </a:prstGeom>
            <a:ln w="28575">
              <a:solidFill>
                <a:srgbClr val="E8710A"/>
              </a:solidFill>
              <a:tailEnd type="triangle" w="sm" len="sm"/>
            </a:ln>
          </p:spPr>
        </p:cxnSp>
      </p:grpSp>
      <p:grpSp>
        <p:nvGrpSpPr>
          <p:cNvPr id="8" name="Group 7"/>
          <p:cNvGrpSpPr/>
          <p:nvPr/>
        </p:nvGrpSpPr>
        <p:grpSpPr>
          <a:xfrm>
            <a:off x="2399386" y="1572768"/>
            <a:ext cx="1887321" cy="987552"/>
            <a:chOff x="2399386" y="1572768"/>
            <a:chExt cx="1887321" cy="987552"/>
          </a:xfrm>
        </p:grpSpPr>
        <p:sp>
          <p:nvSpPr>
            <p:cNvPr id="9" name="Rounded Rectangle 8"/>
            <p:cNvSpPr/>
            <p:nvPr/>
          </p:nvSpPr>
          <p:spPr>
            <a:xfrm>
              <a:off x="2399386" y="1572768"/>
              <a:ext cx="1719072" cy="987552"/>
            </a:xfrm>
            <a:prstGeom prst="roundRect">
              <a:avLst>
                <a:gd name="adj" fmla="val 9259"/>
              </a:avLst>
            </a:prstGeom>
            <a:solidFill>
              <a:srgbClr val="1A4F8B"/>
            </a:solidFill>
            <a:ln>
              <a:noFill/>
            </a:ln>
          </p:spPr>
          <p:txBody>
            <a:bodyPr rtlCol="0" anchor="ctr" lIns="64008" tIns="64008" rIns="64008" bIns="64008" wrap="square">
              <a:noAutofit/>
            </a:bodyPr>
            <a:lstStyle/>
            <a:p>
              <a:pPr algn="ctr">
                <a:lnSpc>
                  <a:spcPct val="95000"/>
                </a:lnSpc>
              </a:pPr>
              <a:r>
                <a:rPr sz="1400" b="1" i="0" lang="vi-VN">
                  <a:solidFill>
                    <a:srgbClr val="FFFFFF"/>
                  </a:solidFill>
                  <a:latin typeface="Arial"/>
                  <a:ea typeface="Arial"/>
                  <a:cs typeface="Arial"/>
                </a:rPr>
                <a:t>Kiểm tra hợp lệ</a:t>
              </a:r>
            </a:p>
            <a:p>
              <a:pPr algn="ctr">
                <a:lnSpc>
                  <a:spcPct val="95000"/>
                </a:lnSpc>
              </a:pPr>
              <a:r>
                <a:rPr sz="1200" b="0" i="0" lang="vi-VN">
                  <a:solidFill>
                    <a:srgbClr val="FFFFFF"/>
                  </a:solidFill>
                  <a:latin typeface="Arial"/>
                  <a:ea typeface="Arial"/>
                  <a:cs typeface="Arial"/>
                </a:rPr>
                <a:t>tuổi mẫu ≤ 6 ms</a:t>
              </a:r>
            </a:p>
          </p:txBody>
        </p:sp>
        <p:cxnSp>
          <p:nvCxnSpPr>
            <p:cNvPr id="10" name="Connector 9"/>
            <p:cNvCxnSpPr/>
            <p:nvPr/>
          </p:nvCxnSpPr>
          <p:spPr>
            <a:xfrm>
              <a:off x="4127602" y="2066544"/>
              <a:ext cx="159105" cy="0"/>
            </a:xfrm>
            <a:prstGeom prst="line">
              <a:avLst/>
            </a:prstGeom>
            <a:ln w="28575">
              <a:solidFill>
                <a:srgbClr val="E8710A"/>
              </a:solidFill>
              <a:tailEnd type="triangle" w="sm" len="sm"/>
            </a:ln>
          </p:spPr>
        </p:cxnSp>
      </p:grpSp>
      <p:grpSp>
        <p:nvGrpSpPr>
          <p:cNvPr id="11" name="Group 10"/>
          <p:cNvGrpSpPr/>
          <p:nvPr/>
        </p:nvGrpSpPr>
        <p:grpSpPr>
          <a:xfrm>
            <a:off x="4295851" y="1572768"/>
            <a:ext cx="1887322" cy="987552"/>
            <a:chOff x="4295851" y="1572768"/>
            <a:chExt cx="1887322" cy="987552"/>
          </a:xfrm>
        </p:grpSpPr>
        <p:sp>
          <p:nvSpPr>
            <p:cNvPr id="12" name="Rounded Rectangle 11"/>
            <p:cNvSpPr/>
            <p:nvPr/>
          </p:nvSpPr>
          <p:spPr>
            <a:xfrm>
              <a:off x="4295851" y="1572768"/>
              <a:ext cx="1719072" cy="987552"/>
            </a:xfrm>
            <a:prstGeom prst="roundRect">
              <a:avLst>
                <a:gd name="adj" fmla="val 9259"/>
              </a:avLst>
            </a:prstGeom>
            <a:solidFill>
              <a:srgbClr val="0A5FA8"/>
            </a:solidFill>
            <a:ln>
              <a:noFill/>
            </a:ln>
          </p:spPr>
          <p:txBody>
            <a:bodyPr rtlCol="0" anchor="ctr" lIns="64008" tIns="64008" rIns="64008" bIns="64008" wrap="square">
              <a:noAutofit/>
            </a:bodyPr>
            <a:lstStyle/>
            <a:p>
              <a:pPr algn="ctr">
                <a:lnSpc>
                  <a:spcPct val="95000"/>
                </a:lnSpc>
              </a:pPr>
              <a:r>
                <a:rPr sz="1400" b="1" i="0" lang="vi-VN">
                  <a:solidFill>
                    <a:srgbClr val="FFFFFF"/>
                  </a:solidFill>
                  <a:latin typeface="Arial"/>
                  <a:ea typeface="Arial"/>
                  <a:cs typeface="Arial"/>
                </a:rPr>
                <a:t>Đồng bộ 2 mẫu</a:t>
              </a:r>
            </a:p>
            <a:p>
              <a:pPr algn="ctr">
                <a:lnSpc>
                  <a:spcPct val="95000"/>
                </a:lnSpc>
              </a:pPr>
              <a:r>
                <a:rPr sz="1200" b="0" i="0" lang="vi-VN">
                  <a:solidFill>
                    <a:srgbClr val="FFFFFF"/>
                  </a:solidFill>
                  <a:latin typeface="Arial"/>
                  <a:ea typeface="Arial"/>
                  <a:cs typeface="Arial"/>
                </a:rPr>
                <a:t>lệch ≤ 1,5 ms</a:t>
              </a:r>
            </a:p>
          </p:txBody>
        </p:sp>
        <p:cxnSp>
          <p:nvCxnSpPr>
            <p:cNvPr id="13" name="Connector 12"/>
            <p:cNvCxnSpPr/>
            <p:nvPr/>
          </p:nvCxnSpPr>
          <p:spPr>
            <a:xfrm>
              <a:off x="6024067" y="2066544"/>
              <a:ext cx="159106" cy="0"/>
            </a:xfrm>
            <a:prstGeom prst="line">
              <a:avLst/>
            </a:prstGeom>
            <a:ln w="28575">
              <a:solidFill>
                <a:srgbClr val="E8710A"/>
              </a:solidFill>
              <a:tailEnd type="triangle" w="sm" len="sm"/>
            </a:ln>
          </p:spPr>
        </p:cxnSp>
      </p:grpSp>
      <p:grpSp>
        <p:nvGrpSpPr>
          <p:cNvPr id="14" name="Group 13"/>
          <p:cNvGrpSpPr/>
          <p:nvPr/>
        </p:nvGrpSpPr>
        <p:grpSpPr>
          <a:xfrm>
            <a:off x="6192317" y="1572768"/>
            <a:ext cx="1887321" cy="987552"/>
            <a:chOff x="6192317" y="1572768"/>
            <a:chExt cx="1887321" cy="987552"/>
          </a:xfrm>
        </p:grpSpPr>
        <p:sp>
          <p:nvSpPr>
            <p:cNvPr id="15" name="Rounded Rectangle 14"/>
            <p:cNvSpPr/>
            <p:nvPr/>
          </p:nvSpPr>
          <p:spPr>
            <a:xfrm>
              <a:off x="6192317" y="1572768"/>
              <a:ext cx="1719072" cy="987552"/>
            </a:xfrm>
            <a:prstGeom prst="roundRect">
              <a:avLst>
                <a:gd name="adj" fmla="val 9259"/>
              </a:avLst>
            </a:prstGeom>
            <a:solidFill>
              <a:srgbClr val="2F78C0"/>
            </a:solidFill>
            <a:ln>
              <a:noFill/>
            </a:ln>
          </p:spPr>
          <p:txBody>
            <a:bodyPr rtlCol="0" anchor="ctr" lIns="64008" tIns="64008" rIns="64008" bIns="64008" wrap="square">
              <a:noAutofit/>
            </a:bodyPr>
            <a:lstStyle/>
            <a:p>
              <a:pPr algn="ctr">
                <a:lnSpc>
                  <a:spcPct val="95000"/>
                </a:lnSpc>
              </a:pPr>
              <a:r>
                <a:rPr sz="1400" b="1" i="0" lang="vi-VN">
                  <a:solidFill>
                    <a:srgbClr val="FFFFFF"/>
                  </a:solidFill>
                  <a:latin typeface="Arial"/>
                  <a:ea typeface="Arial"/>
                  <a:cs typeface="Arial"/>
                </a:rPr>
                <a:t>Hiệu chuẩn</a:t>
              </a:r>
            </a:p>
            <a:p>
              <a:pPr algn="ctr">
                <a:lnSpc>
                  <a:spcPct val="95000"/>
                </a:lnSpc>
              </a:pPr>
              <a:r>
                <a:rPr sz="1200" b="0" i="0" lang="vi-VN">
                  <a:solidFill>
                    <a:srgbClr val="FFFFFF"/>
                  </a:solidFill>
                  <a:latin typeface="Arial"/>
                  <a:ea typeface="Arial"/>
                  <a:cs typeface="Arial"/>
                </a:rPr>
                <a:t>tỉ lệ, lệch trục, điểm 0</a:t>
              </a:r>
            </a:p>
          </p:txBody>
        </p:sp>
        <p:cxnSp>
          <p:nvCxnSpPr>
            <p:cNvPr id="16" name="Connector 15"/>
            <p:cNvCxnSpPr/>
            <p:nvPr/>
          </p:nvCxnSpPr>
          <p:spPr>
            <a:xfrm>
              <a:off x="7920533" y="2066544"/>
              <a:ext cx="159105" cy="0"/>
            </a:xfrm>
            <a:prstGeom prst="line">
              <a:avLst/>
            </a:prstGeom>
            <a:ln w="28575">
              <a:solidFill>
                <a:srgbClr val="E8710A"/>
              </a:solidFill>
              <a:tailEnd type="triangle" w="sm" len="sm"/>
            </a:ln>
          </p:spPr>
        </p:cxnSp>
      </p:grpSp>
      <p:grpSp>
        <p:nvGrpSpPr>
          <p:cNvPr id="17" name="Group 16"/>
          <p:cNvGrpSpPr/>
          <p:nvPr/>
        </p:nvGrpSpPr>
        <p:grpSpPr>
          <a:xfrm>
            <a:off x="8088782" y="1572768"/>
            <a:ext cx="1887322" cy="987552"/>
            <a:chOff x="8088782" y="1572768"/>
            <a:chExt cx="1887322" cy="987552"/>
          </a:xfrm>
        </p:grpSpPr>
        <p:sp>
          <p:nvSpPr>
            <p:cNvPr id="18" name="Rounded Rectangle 17"/>
            <p:cNvSpPr/>
            <p:nvPr/>
          </p:nvSpPr>
          <p:spPr>
            <a:xfrm>
              <a:off x="8088782" y="1572768"/>
              <a:ext cx="1719072" cy="987552"/>
            </a:xfrm>
            <a:prstGeom prst="roundRect">
              <a:avLst>
                <a:gd name="adj" fmla="val 9259"/>
              </a:avLst>
            </a:prstGeom>
            <a:solidFill>
              <a:srgbClr val="3D7CC4"/>
            </a:solidFill>
            <a:ln>
              <a:noFill/>
            </a:ln>
          </p:spPr>
          <p:txBody>
            <a:bodyPr rtlCol="0" anchor="ctr" lIns="64008" tIns="64008" rIns="64008" bIns="64008" wrap="square">
              <a:noAutofit/>
            </a:bodyPr>
            <a:lstStyle/>
            <a:p>
              <a:pPr algn="ctr">
                <a:lnSpc>
                  <a:spcPct val="95000"/>
                </a:lnSpc>
              </a:pPr>
              <a:r>
                <a:rPr sz="1400" b="1" i="0" lang="vi-VN">
                  <a:solidFill>
                    <a:srgbClr val="FFFFFF"/>
                  </a:solidFill>
                  <a:latin typeface="Arial"/>
                  <a:ea typeface="Arial"/>
                  <a:cs typeface="Arial"/>
                </a:rPr>
                <a:t>Lọc</a:t>
              </a:r>
            </a:p>
            <a:p>
              <a:pPr algn="ctr">
                <a:lnSpc>
                  <a:spcPct val="95000"/>
                </a:lnSpc>
              </a:pPr>
              <a:r>
                <a:rPr sz="1200" b="0" i="0" lang="vi-VN">
                  <a:solidFill>
                    <a:srgbClr val="FFFFFF"/>
                  </a:solidFill>
                  <a:latin typeface="Arial"/>
                  <a:ea typeface="Arial"/>
                  <a:cs typeface="Arial"/>
                </a:rPr>
                <a:t>con quay 80 Hz · </a:t>
              </a:r>
              <a:r>
                <a:rPr sz="1200" b="0" i="1" lang="vi-VN">
                  <a:solidFill>
                    <a:srgbClr val="FFFFFF"/>
                  </a:solidFill>
                  <a:latin typeface="Cambria"/>
                  <a:ea typeface="Cambria"/>
                  <a:cs typeface="Cambria"/>
                </a:rPr>
                <a:t>α</a:t>
              </a:r>
              <a:r>
                <a:rPr sz="1200" b="0" i="0" lang="vi-VN" baseline="-25000">
                  <a:solidFill>
                    <a:srgbClr val="FFFFFF"/>
                  </a:solidFill>
                  <a:latin typeface="Cambria"/>
                  <a:ea typeface="Cambria"/>
                  <a:cs typeface="Cambria"/>
                </a:rPr>
                <a:t>b</a:t>
              </a:r>
              <a:r>
                <a:rPr sz="1200" b="0" i="0" lang="vi-VN">
                  <a:solidFill>
                    <a:srgbClr val="FFFFFF"/>
                  </a:solidFill>
                  <a:latin typeface="Arial"/>
                  <a:ea typeface="Arial"/>
                  <a:cs typeface="Arial"/>
                </a:rPr>
                <a:t> 18 Hz</a:t>
              </a:r>
            </a:p>
          </p:txBody>
        </p:sp>
        <p:cxnSp>
          <p:nvCxnSpPr>
            <p:cNvPr id="19" name="Connector 18"/>
            <p:cNvCxnSpPr/>
            <p:nvPr/>
          </p:nvCxnSpPr>
          <p:spPr>
            <a:xfrm>
              <a:off x="9816998" y="2066544"/>
              <a:ext cx="159106" cy="0"/>
            </a:xfrm>
            <a:prstGeom prst="line">
              <a:avLst/>
            </a:prstGeom>
            <a:ln w="28575">
              <a:solidFill>
                <a:srgbClr val="E8710A"/>
              </a:solidFill>
              <a:tailEnd type="triangle" w="sm" len="sm"/>
            </a:ln>
          </p:spPr>
        </p:cxnSp>
      </p:grpSp>
      <p:grpSp>
        <p:nvGrpSpPr>
          <p:cNvPr id="20" name="Group 19"/>
          <p:cNvGrpSpPr/>
          <p:nvPr/>
        </p:nvGrpSpPr>
        <p:grpSpPr>
          <a:xfrm>
            <a:off x="9985248" y="1572768"/>
            <a:ext cx="1719072" cy="987552"/>
            <a:chOff x="9985248" y="1572768"/>
            <a:chExt cx="1719072" cy="987552"/>
          </a:xfrm>
        </p:grpSpPr>
        <p:sp>
          <p:nvSpPr>
            <p:cNvPr id="21" name="Rounded Rectangle 20"/>
            <p:cNvSpPr/>
            <p:nvPr/>
          </p:nvSpPr>
          <p:spPr>
            <a:xfrm>
              <a:off x="9985248" y="1572768"/>
              <a:ext cx="1719072" cy="987552"/>
            </a:xfrm>
            <a:prstGeom prst="roundRect">
              <a:avLst>
                <a:gd name="adj" fmla="val 9259"/>
              </a:avLst>
            </a:prstGeom>
            <a:solidFill>
              <a:srgbClr val="0B2545"/>
            </a:solidFill>
            <a:ln>
              <a:noFill/>
            </a:ln>
          </p:spPr>
          <p:txBody>
            <a:bodyPr rtlCol="0" anchor="ctr" lIns="64008" tIns="64008" rIns="64008" bIns="64008" wrap="square">
              <a:noAutofit/>
            </a:bodyPr>
            <a:lstStyle/>
            <a:p>
              <a:pPr algn="ctr">
                <a:lnSpc>
                  <a:spcPct val="95000"/>
                </a:lnSpc>
              </a:pPr>
              <a:r>
                <a:rPr sz="1400" b="1" i="0" lang="vi-VN">
                  <a:solidFill>
                    <a:srgbClr val="FFFFFF"/>
                  </a:solidFill>
                  <a:latin typeface="Arial"/>
                  <a:ea typeface="Arial"/>
                  <a:cs typeface="Arial"/>
                </a:rPr>
                <a:t>Mahony + Kalman</a:t>
              </a:r>
            </a:p>
            <a:p>
              <a:pPr algn="ctr">
                <a:lnSpc>
                  <a:spcPct val="95000"/>
                </a:lnSpc>
              </a:pPr>
              <a:r>
                <a:rPr sz="1200" b="0" i="0" lang="vi-VN">
                  <a:solidFill>
                    <a:srgbClr val="FFFFFF"/>
                  </a:solidFill>
                  <a:latin typeface="Arial"/>
                  <a:ea typeface="Arial"/>
                  <a:cs typeface="Arial"/>
                </a:rPr>
                <a:t>→ </a:t>
              </a:r>
              <a:r>
                <a:rPr sz="1200" b="0" i="1" lang="vi-VN">
                  <a:solidFill>
                    <a:srgbClr val="FFFFFF"/>
                  </a:solidFill>
                  <a:latin typeface="Cambria"/>
                  <a:ea typeface="Cambria"/>
                  <a:cs typeface="Cambria"/>
                </a:rPr>
                <a:t>θ</a:t>
              </a:r>
              <a:r>
                <a:rPr sz="1200" b="0" i="0" lang="vi-VN">
                  <a:solidFill>
                    <a:srgbClr val="FFFFFF"/>
                  </a:solidFill>
                  <a:latin typeface="Arial"/>
                  <a:ea typeface="Arial"/>
                  <a:cs typeface="Arial"/>
                </a:rPr>
                <a:t>, </a:t>
              </a:r>
              <a:r>
                <a:rPr sz="1200" b="0" i="1" lang="vi-VN">
                  <a:solidFill>
                    <a:srgbClr val="FFFFFF"/>
                  </a:solidFill>
                  <a:latin typeface="Cambria"/>
                  <a:ea typeface="Cambria"/>
                  <a:cs typeface="Cambria"/>
                </a:rPr>
                <a:t>ω</a:t>
              </a:r>
              <a:r>
                <a:rPr sz="1200" b="0" i="0" lang="vi-VN">
                  <a:solidFill>
                    <a:srgbClr val="FFFFFF"/>
                  </a:solidFill>
                  <a:latin typeface="Arial"/>
                  <a:ea typeface="Arial"/>
                  <a:cs typeface="Arial"/>
                </a:rPr>
                <a:t> · phát semaphore</a:t>
              </a:r>
            </a:p>
          </p:txBody>
        </p:sp>
      </p:grpSp>
      <p:grpSp>
        <p:nvGrpSpPr>
          <p:cNvPr id="22" name="Group 21"/>
          <p:cNvGrpSpPr/>
          <p:nvPr/>
        </p:nvGrpSpPr>
        <p:grpSpPr>
          <a:xfrm>
            <a:off x="502920" y="2743200"/>
            <a:ext cx="4800600" cy="2395728"/>
            <a:chOff x="502920" y="2743200"/>
            <a:chExt cx="4800600" cy="2395728"/>
          </a:xfrm>
        </p:grpSpPr>
        <p:sp>
          <p:nvSpPr>
            <p:cNvPr id="23" name="Rounded Rectangle 22"/>
            <p:cNvSpPr/>
            <p:nvPr/>
          </p:nvSpPr>
          <p:spPr>
            <a:xfrm>
              <a:off x="502920" y="2743200"/>
              <a:ext cx="4800600" cy="2395728"/>
            </a:xfrm>
            <a:prstGeom prst="roundRect">
              <a:avLst>
                <a:gd name="adj" fmla="val 38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24" name="Group 23"/>
            <p:cNvGrpSpPr/>
            <p:nvPr/>
          </p:nvGrpSpPr>
          <p:grpSpPr>
            <a:xfrm>
              <a:off x="640080" y="2852928"/>
              <a:ext cx="548640" cy="548640"/>
              <a:chOff x="640080" y="2852928"/>
              <a:chExt cx="548640" cy="548640"/>
            </a:xfrm>
          </p:grpSpPr>
          <p:sp>
            <p:nvSpPr>
              <p:cNvPr id="25" name="Oval 24"/>
              <p:cNvSpPr/>
              <p:nvPr/>
            </p:nvSpPr>
            <p:spPr>
              <a:xfrm>
                <a:off x="640080" y="2852928"/>
                <a:ext cx="548640" cy="548640"/>
              </a:xfrm>
              <a:prstGeom prst="ellipse">
                <a:avLst/>
              </a:prstGeom>
              <a:solidFill>
                <a:srgbClr val="0A5FA8"/>
              </a:solidFill>
              <a:ln>
                <a:noFill/>
              </a:ln>
            </p:spPr>
            <p:txBody>
              <a:bodyPr rtlCol="0" anchor="ctr" lIns="54864" tIns="54864" rIns="54864" bIns="54864" wrap="square">
                <a:noAutofit/>
              </a:bodyPr>
              <a:lstStyle/>
              <a:p>
                <a:pPr algn="ctr"/>
              </a:p>
            </p:txBody>
          </p:sp>
          <p:pic>
            <p:nvPicPr>
              <p:cNvPr id="26" name="Picture 25" descr="video.png"/>
              <p:cNvPicPr>
                <a:picLocks noChangeAspect="1"/>
              </p:cNvPicPr>
              <p:nvPr/>
            </p:nvPicPr>
            <p:blipFill>
              <a:blip r:embed="rId2"/>
              <a:stretch>
                <a:fillRect/>
              </a:stretch>
            </p:blipFill>
            <p:spPr>
              <a:xfrm>
                <a:off x="760781" y="2973629"/>
                <a:ext cx="307238" cy="307238"/>
              </a:xfrm>
              <a:prstGeom prst="rect">
                <a:avLst/>
              </a:prstGeom>
            </p:spPr>
          </p:pic>
        </p:grpSp>
        <p:sp>
          <p:nvSpPr>
            <p:cNvPr id="27" name="TextBox 26"/>
            <p:cNvSpPr txBox="1"/>
            <p:nvPr/>
          </p:nvSpPr>
          <p:spPr>
            <a:xfrm>
              <a:off x="1280160" y="2834640"/>
              <a:ext cx="3886200" cy="566928"/>
            </a:xfrm>
            <a:prstGeom prst="rect">
              <a:avLst/>
            </a:prstGeom>
            <a:noFill/>
          </p:spPr>
          <p:txBody>
            <a:bodyPr wrap="square" lIns="0" tIns="0" rIns="0" bIns="0" anchor="ctr">
              <a:noAutofit/>
            </a:bodyPr>
            <a:lstStyle/>
            <a:p>
              <a:pPr algn="l"/>
              <a:r>
                <a:rPr sz="1700" b="1" i="0" lang="vi-VN">
                  <a:solidFill>
                    <a:srgbClr val="0B2545"/>
                  </a:solidFill>
                  <a:latin typeface="Arial"/>
                  <a:ea typeface="Arial"/>
                  <a:cs typeface="Arial"/>
                </a:rPr>
                <a:t>IMU1 · trên giá camera</a:t>
              </a:r>
            </a:p>
          </p:txBody>
        </p:sp>
        <p:sp>
          <p:nvSpPr>
            <p:cNvPr id="28" name="TextBox 27"/>
            <p:cNvSpPr txBox="1"/>
            <p:nvPr/>
          </p:nvSpPr>
          <p:spPr>
            <a:xfrm>
              <a:off x="731520" y="3456432"/>
              <a:ext cx="4389120" cy="1097280"/>
            </a:xfrm>
            <a:prstGeom prst="rect">
              <a:avLst/>
            </a:prstGeom>
            <a:noFill/>
          </p:spPr>
          <p:txBody>
            <a:bodyPr wrap="square" lIns="0" tIns="0" rIns="0" bIns="0" anchor="t">
              <a:noAutofit/>
            </a:bodyPr>
            <a:lstStyle/>
            <a:p>
              <a:pPr algn="l" marL="201168" indent="-201168">
                <a:lnSpc>
                  <a:spcPct val="100000"/>
                </a:lnSpc>
                <a:spcAft>
                  <a:spcPts val="200"/>
                </a:spcAft>
                <a:buClr>
                  <a:srgbClr val="0A5FA8"/>
                </a:buClr>
                <a:buSzPct val="100000"/>
                <a:buFont typeface="Arial"/>
                <a:buChar char="•"/>
              </a:pPr>
              <a:r>
                <a:rPr sz="1400" b="0" i="0" lang="vi-VN">
                  <a:solidFill>
                    <a:srgbClr val="1E2B3A"/>
                  </a:solidFill>
                  <a:latin typeface="Arial"/>
                  <a:ea typeface="Arial"/>
                  <a:cs typeface="Arial"/>
                </a:rPr>
                <a:t>Mahony + Kalman → góc </a:t>
              </a:r>
              <a:r>
                <a:rPr sz="1400" b="0" i="1" lang="vi-VN">
                  <a:solidFill>
                    <a:srgbClr val="1E2B3A"/>
                  </a:solidFill>
                  <a:latin typeface="Cambria"/>
                  <a:ea typeface="Cambria"/>
                  <a:cs typeface="Cambria"/>
                </a:rPr>
                <a:t>θ</a:t>
              </a:r>
              <a:r>
                <a:rPr sz="1400" b="0" i="0" lang="vi-VN">
                  <a:solidFill>
                    <a:srgbClr val="1E2B3A"/>
                  </a:solidFill>
                  <a:latin typeface="Arial"/>
                  <a:ea typeface="Arial"/>
                  <a:cs typeface="Arial"/>
                </a:rPr>
                <a:t>, tốc độ góc </a:t>
              </a:r>
              <a:r>
                <a:rPr sz="1400" b="0" i="1" lang="vi-VN">
                  <a:solidFill>
                    <a:srgbClr val="1E2B3A"/>
                  </a:solidFill>
                  <a:latin typeface="Cambria"/>
                  <a:ea typeface="Cambria"/>
                  <a:cs typeface="Cambria"/>
                </a:rPr>
                <a:t>ω</a:t>
              </a:r>
              <a:r>
                <a:rPr sz="1400" b="0" i="0" lang="vi-VN">
                  <a:solidFill>
                    <a:srgbClr val="1E2B3A"/>
                  </a:solidFill>
                  <a:latin typeface="Arial"/>
                  <a:ea typeface="Arial"/>
                  <a:cs typeface="Arial"/>
                </a:rPr>
                <a:t> của đường ngắm</a:t>
              </a:r>
            </a:p>
            <a:p>
              <a:pPr algn="l" marL="201168" indent="-201168">
                <a:lnSpc>
                  <a:spcPct val="100000"/>
                </a:lnSpc>
                <a:spcAft>
                  <a:spcPts val="200"/>
                </a:spcAft>
                <a:buClr>
                  <a:srgbClr val="0A5FA8"/>
                </a:buClr>
                <a:buSzPct val="100000"/>
                <a:buFont typeface="Arial"/>
                <a:buChar char="•"/>
              </a:pPr>
              <a:r>
                <a:rPr sz="1400" b="0" i="0" lang="vi-VN">
                  <a:solidFill>
                    <a:srgbClr val="1E2B3A"/>
                  </a:solidFill>
                  <a:latin typeface="Arial"/>
                  <a:ea typeface="Arial"/>
                  <a:cs typeface="Arial"/>
                </a:rPr>
                <a:t>Hằng số thời gian tư thế từ gia tốc kế 0,45 s</a:t>
              </a:r>
            </a:p>
            <a:p>
              <a:pPr algn="l" marL="201168" indent="-201168">
                <a:lnSpc>
                  <a:spcPct val="100000"/>
                </a:lnSpc>
                <a:spcAft>
                  <a:spcPts val="200"/>
                </a:spcAft>
                <a:buClr>
                  <a:srgbClr val="0A5FA8"/>
                </a:buClr>
                <a:buSzPct val="100000"/>
                <a:buFont typeface="Arial"/>
                <a:buChar char="•"/>
              </a:pPr>
              <a:r>
                <a:rPr sz="1400" b="0" i="0" lang="vi-VN">
                  <a:solidFill>
                    <a:srgbClr val="1E2B3A"/>
                  </a:solidFill>
                  <a:latin typeface="Arial"/>
                  <a:ea typeface="Arial"/>
                  <a:cs typeface="Arial"/>
                </a:rPr>
                <a:t>Tín hiệu phản hồi cho cả hai vòng</a:t>
              </a:r>
            </a:p>
          </p:txBody>
        </p:sp>
        <p:sp>
          <p:nvSpPr>
            <p:cNvPr id="29" name="Rounded Rectangle 28"/>
            <p:cNvSpPr/>
            <p:nvPr/>
          </p:nvSpPr>
          <p:spPr>
            <a:xfrm>
              <a:off x="685800" y="4700016"/>
              <a:ext cx="4434840" cy="365760"/>
            </a:xfrm>
            <a:prstGeom prst="roundRect">
              <a:avLst>
                <a:gd name="adj" fmla="val 20000"/>
              </a:avLst>
            </a:prstGeom>
            <a:solidFill>
              <a:srgbClr val="FDECEC"/>
            </a:solidFill>
            <a:ln>
              <a:noFill/>
            </a:ln>
          </p:spPr>
          <p:txBody>
            <a:bodyPr rtlCol="0" anchor="ctr" lIns="54864" tIns="54864" rIns="54864" bIns="54864" wrap="square">
              <a:noAutofit/>
            </a:bodyPr>
            <a:lstStyle/>
            <a:p>
              <a:pPr algn="ctr"/>
              <a:r>
                <a:rPr sz="1300" b="1" i="0" lang="vi-VN">
                  <a:solidFill>
                    <a:srgbClr val="C62828"/>
                  </a:solidFill>
                  <a:latin typeface="Arial"/>
                  <a:ea typeface="Arial"/>
                  <a:cs typeface="Arial"/>
                </a:rPr>
                <a:t>Mất IMU1 → vòng kín mất phản hồi → dừng an toàn</a:t>
              </a:r>
            </a:p>
          </p:txBody>
        </p:sp>
      </p:grpSp>
      <p:grpSp>
        <p:nvGrpSpPr>
          <p:cNvPr id="30" name="Group 29"/>
          <p:cNvGrpSpPr/>
          <p:nvPr/>
        </p:nvGrpSpPr>
        <p:grpSpPr>
          <a:xfrm>
            <a:off x="5486400" y="2743200"/>
            <a:ext cx="6217920" cy="2395728"/>
            <a:chOff x="5486400" y="2743200"/>
            <a:chExt cx="6217920" cy="2395728"/>
          </a:xfrm>
        </p:grpSpPr>
        <p:sp>
          <p:nvSpPr>
            <p:cNvPr id="31" name="Rounded Rectangle 30"/>
            <p:cNvSpPr/>
            <p:nvPr/>
          </p:nvSpPr>
          <p:spPr>
            <a:xfrm>
              <a:off x="5486400" y="2743200"/>
              <a:ext cx="6217920" cy="2395728"/>
            </a:xfrm>
            <a:prstGeom prst="roundRect">
              <a:avLst>
                <a:gd name="adj" fmla="val 381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32" name="Group 31"/>
            <p:cNvGrpSpPr/>
            <p:nvPr/>
          </p:nvGrpSpPr>
          <p:grpSpPr>
            <a:xfrm>
              <a:off x="5623560" y="2852928"/>
              <a:ext cx="548640" cy="548640"/>
              <a:chOff x="5623560" y="2852928"/>
              <a:chExt cx="548640" cy="548640"/>
            </a:xfrm>
          </p:grpSpPr>
          <p:sp>
            <p:nvSpPr>
              <p:cNvPr id="33" name="Oval 32"/>
              <p:cNvSpPr/>
              <p:nvPr/>
            </p:nvSpPr>
            <p:spPr>
              <a:xfrm>
                <a:off x="5623560" y="2852928"/>
                <a:ext cx="548640" cy="548640"/>
              </a:xfrm>
              <a:prstGeom prst="ellipse">
                <a:avLst/>
              </a:prstGeom>
              <a:solidFill>
                <a:srgbClr val="0B2545"/>
              </a:solidFill>
              <a:ln>
                <a:noFill/>
              </a:ln>
            </p:spPr>
            <p:txBody>
              <a:bodyPr rtlCol="0" anchor="ctr" lIns="54864" tIns="54864" rIns="54864" bIns="54864" wrap="square">
                <a:noAutofit/>
              </a:bodyPr>
              <a:lstStyle/>
              <a:p>
                <a:pPr algn="ctr"/>
              </a:p>
            </p:txBody>
          </p:sp>
          <p:pic>
            <p:nvPicPr>
              <p:cNvPr id="34" name="Picture 33" descr="compass.png"/>
              <p:cNvPicPr>
                <a:picLocks noChangeAspect="1"/>
              </p:cNvPicPr>
              <p:nvPr/>
            </p:nvPicPr>
            <p:blipFill>
              <a:blip r:embed="rId3"/>
              <a:stretch>
                <a:fillRect/>
              </a:stretch>
            </p:blipFill>
            <p:spPr>
              <a:xfrm>
                <a:off x="5744261" y="2973629"/>
                <a:ext cx="307238" cy="307238"/>
              </a:xfrm>
              <a:prstGeom prst="rect">
                <a:avLst/>
              </a:prstGeom>
            </p:spPr>
          </p:pic>
        </p:grpSp>
        <p:sp>
          <p:nvSpPr>
            <p:cNvPr id="35" name="TextBox 34"/>
            <p:cNvSpPr txBox="1"/>
            <p:nvPr/>
          </p:nvSpPr>
          <p:spPr>
            <a:xfrm>
              <a:off x="6263640" y="2834640"/>
              <a:ext cx="5303520" cy="566928"/>
            </a:xfrm>
            <a:prstGeom prst="rect">
              <a:avLst/>
            </a:prstGeom>
            <a:noFill/>
          </p:spPr>
          <p:txBody>
            <a:bodyPr wrap="square" lIns="0" tIns="0" rIns="0" bIns="0" anchor="ctr">
              <a:noAutofit/>
            </a:bodyPr>
            <a:lstStyle/>
            <a:p>
              <a:pPr algn="l"/>
              <a:r>
                <a:rPr sz="1700" b="1" i="0" lang="vi-VN">
                  <a:solidFill>
                    <a:srgbClr val="0B2545"/>
                  </a:solidFill>
                  <a:latin typeface="Arial"/>
                  <a:ea typeface="Arial"/>
                  <a:cs typeface="Arial"/>
                </a:rPr>
                <a:t>IMU2 · trên đế (khung mang)</a:t>
              </a:r>
            </a:p>
          </p:txBody>
        </p:sp>
        <p:sp>
          <p:nvSpPr>
            <p:cNvPr id="36" name="TextBox 35"/>
            <p:cNvSpPr txBox="1"/>
            <p:nvPr/>
          </p:nvSpPr>
          <p:spPr>
            <a:xfrm>
              <a:off x="5715000" y="3456432"/>
              <a:ext cx="5806440" cy="1097280"/>
            </a:xfrm>
            <a:prstGeom prst="rect">
              <a:avLst/>
            </a:prstGeom>
            <a:noFill/>
          </p:spPr>
          <p:txBody>
            <a:bodyPr wrap="square" lIns="0" tIns="0" rIns="0" bIns="0" anchor="t">
              <a:noAutofit/>
            </a:bodyPr>
            <a:lstStyle/>
            <a:p>
              <a:pPr algn="l" marL="201168" indent="-201168">
                <a:lnSpc>
                  <a:spcPct val="100000"/>
                </a:lnSpc>
                <a:spcAft>
                  <a:spcPts val="200"/>
                </a:spcAft>
                <a:buClr>
                  <a:srgbClr val="0A5FA8"/>
                </a:buClr>
                <a:buSzPct val="100000"/>
                <a:buFont typeface="Arial"/>
                <a:buChar char="•"/>
              </a:pPr>
              <a:r>
                <a:rPr sz="1400" b="0" i="0" lang="vi-VN">
                  <a:solidFill>
                    <a:srgbClr val="1E2B3A"/>
                  </a:solidFill>
                  <a:latin typeface="Arial"/>
                  <a:ea typeface="Arial"/>
                  <a:cs typeface="Arial"/>
                </a:rPr>
                <a:t>Tốc độ góc khung </a:t>
              </a:r>
              <a:r>
                <a:rPr sz="1400" b="0" i="1" lang="vi-VN">
                  <a:solidFill>
                    <a:srgbClr val="1E2B3A"/>
                  </a:solidFill>
                  <a:latin typeface="Cambria"/>
                  <a:ea typeface="Cambria"/>
                  <a:cs typeface="Cambria"/>
                </a:rPr>
                <a:t>ω</a:t>
              </a:r>
              <a:r>
                <a:rPr sz="1400" b="0" i="0" lang="vi-VN" baseline="-25000">
                  <a:solidFill>
                    <a:srgbClr val="1E2B3A"/>
                  </a:solidFill>
                  <a:latin typeface="Cambria"/>
                  <a:ea typeface="Cambria"/>
                  <a:cs typeface="Cambria"/>
                </a:rPr>
                <a:t>b</a:t>
              </a:r>
              <a:r>
                <a:rPr sz="1400" b="0" i="0" lang="vi-VN">
                  <a:solidFill>
                    <a:srgbClr val="1E2B3A"/>
                  </a:solidFill>
                  <a:latin typeface="Arial"/>
                  <a:ea typeface="Arial"/>
                  <a:cs typeface="Arial"/>
                </a:rPr>
                <a:t> lọc 60 Hz (Yaw), 55 Hz (Pitch)</a:t>
              </a:r>
            </a:p>
            <a:p>
              <a:pPr algn="l" marL="201168" indent="-201168">
                <a:lnSpc>
                  <a:spcPct val="100000"/>
                </a:lnSpc>
                <a:spcAft>
                  <a:spcPts val="200"/>
                </a:spcAft>
                <a:buClr>
                  <a:srgbClr val="0A5FA8"/>
                </a:buClr>
                <a:buSzPct val="100000"/>
                <a:buFont typeface="Arial"/>
                <a:buChar char="•"/>
              </a:pPr>
              <a:r>
                <a:rPr sz="1400" b="0" i="0" lang="vi-VN">
                  <a:solidFill>
                    <a:srgbClr val="1E2B3A"/>
                  </a:solidFill>
                  <a:latin typeface="Arial"/>
                  <a:ea typeface="Arial"/>
                  <a:cs typeface="Arial"/>
                </a:rPr>
                <a:t>Gia tốc góc </a:t>
              </a:r>
              <a:r>
                <a:rPr sz="1400" b="0" i="1" lang="vi-VN">
                  <a:solidFill>
                    <a:srgbClr val="1E2B3A"/>
                  </a:solidFill>
                  <a:latin typeface="Cambria"/>
                  <a:ea typeface="Cambria"/>
                  <a:cs typeface="Cambria"/>
                </a:rPr>
                <a:t>α</a:t>
              </a:r>
              <a:r>
                <a:rPr sz="1400" b="0" i="0" lang="vi-VN" baseline="-25000">
                  <a:solidFill>
                    <a:srgbClr val="1E2B3A"/>
                  </a:solidFill>
                  <a:latin typeface="Cambria"/>
                  <a:ea typeface="Cambria"/>
                  <a:cs typeface="Cambria"/>
                </a:rPr>
                <a:t>b</a:t>
              </a:r>
              <a:r>
                <a:rPr sz="1400" b="0" i="0" lang="vi-VN">
                  <a:solidFill>
                    <a:srgbClr val="1E2B3A"/>
                  </a:solidFill>
                  <a:latin typeface="Arial"/>
                  <a:ea typeface="Arial"/>
                  <a:cs typeface="Arial"/>
                </a:rPr>
                <a:t> từ vi phân, lọc 18 Hz</a:t>
              </a:r>
            </a:p>
            <a:p>
              <a:pPr algn="l" marL="201168" indent="-201168">
                <a:lnSpc>
                  <a:spcPct val="100000"/>
                </a:lnSpc>
                <a:spcAft>
                  <a:spcPts val="200"/>
                </a:spcAft>
                <a:buClr>
                  <a:srgbClr val="0A5FA8"/>
                </a:buClr>
                <a:buSzPct val="100000"/>
                <a:buFont typeface="Arial"/>
                <a:buChar char="•"/>
              </a:pPr>
              <a:r>
                <a:rPr sz="1400" b="0" i="0" lang="vi-VN">
                  <a:solidFill>
                    <a:srgbClr val="1E2B3A"/>
                  </a:solidFill>
                  <a:latin typeface="Arial"/>
                  <a:ea typeface="Arial"/>
                  <a:cs typeface="Arial"/>
                </a:rPr>
                <a:t>Chiếu lên trục Pitch theo góc Yaw (2.9):</a:t>
              </a:r>
            </a:p>
          </p:txBody>
        </p:sp>
        <p:sp>
          <p:nvSpPr>
            <p:cNvPr id="37" name="TextBox 36"/>
            <p:cNvSpPr txBox="1"/>
            <p:nvPr/>
          </p:nvSpPr>
          <p:spPr>
            <a:xfrm>
              <a:off x="5989320" y="4315968"/>
              <a:ext cx="5486400" cy="384048"/>
            </a:xfrm>
            <a:prstGeom prst="rect">
              <a:avLst/>
            </a:prstGeom>
            <a:noFill/>
          </p:spPr>
          <p:txBody>
            <a:bodyPr wrap="square" lIns="0" tIns="0" rIns="0" bIns="0" anchor="ctr">
              <a:noAutofit/>
            </a:bodyPr>
            <a:lstStyle/>
            <a:p>
              <a:pPr algn="l"/>
              <a:r>
                <a:rPr sz="1800" b="0" i="1" lang="vi-VN">
                  <a:solidFill>
                    <a:srgbClr val="0B2545"/>
                  </a:solidFill>
                  <a:latin typeface="Cambria"/>
                  <a:ea typeface="Cambria"/>
                  <a:cs typeface="Cambria"/>
                </a:rPr>
                <a:t>ω</a:t>
              </a:r>
              <a:r>
                <a:rPr sz="1800" b="0" i="0" lang="vi-VN" baseline="-25000">
                  <a:solidFill>
                    <a:srgbClr val="0B2545"/>
                  </a:solidFill>
                  <a:latin typeface="Cambria"/>
                  <a:ea typeface="Cambria"/>
                  <a:cs typeface="Cambria"/>
                </a:rPr>
                <a:t>b,p</a:t>
              </a:r>
              <a:r>
                <a:rPr sz="1800" b="0" i="0" lang="vi-VN">
                  <a:solidFill>
                    <a:srgbClr val="0B2545"/>
                  </a:solidFill>
                  <a:latin typeface="Cambria"/>
                  <a:ea typeface="Cambria"/>
                  <a:cs typeface="Cambria"/>
                </a:rPr>
                <a:t> = −</a:t>
              </a:r>
              <a:r>
                <a:rPr sz="1800" b="0" i="1" lang="vi-VN">
                  <a:solidFill>
                    <a:srgbClr val="0B2545"/>
                  </a:solidFill>
                  <a:latin typeface="Cambria"/>
                  <a:ea typeface="Cambria"/>
                  <a:cs typeface="Cambria"/>
                </a:rPr>
                <a:t>ω</a:t>
              </a:r>
              <a:r>
                <a:rPr sz="1800" b="0" i="0" lang="vi-VN" baseline="-25000">
                  <a:solidFill>
                    <a:srgbClr val="0B2545"/>
                  </a:solidFill>
                  <a:latin typeface="Cambria"/>
                  <a:ea typeface="Cambria"/>
                  <a:cs typeface="Cambria"/>
                </a:rPr>
                <a:t>b,x</a:t>
              </a:r>
              <a:r>
                <a:rPr sz="1800" b="0" i="0" lang="vi-VN">
                  <a:solidFill>
                    <a:srgbClr val="0B2545"/>
                  </a:solidFill>
                  <a:latin typeface="Cambria"/>
                  <a:ea typeface="Cambria"/>
                  <a:cs typeface="Cambria"/>
                </a:rPr>
                <a:t>·sin </a:t>
              </a:r>
              <a:r>
                <a:rPr sz="1800" b="0" i="1" lang="vi-VN">
                  <a:solidFill>
                    <a:srgbClr val="0B2545"/>
                  </a:solidFill>
                  <a:latin typeface="Cambria"/>
                  <a:ea typeface="Cambria"/>
                  <a:cs typeface="Cambria"/>
                </a:rPr>
                <a:t>q</a:t>
              </a:r>
              <a:r>
                <a:rPr sz="1800" b="0" i="0" lang="vi-VN" baseline="-25000">
                  <a:solidFill>
                    <a:srgbClr val="0B2545"/>
                  </a:solidFill>
                  <a:latin typeface="Cambria"/>
                  <a:ea typeface="Cambria"/>
                  <a:cs typeface="Cambria"/>
                </a:rPr>
                <a:t>y</a:t>
              </a:r>
              <a:r>
                <a:rPr sz="1800" b="0" i="0" lang="vi-VN">
                  <a:solidFill>
                    <a:srgbClr val="0B2545"/>
                  </a:solidFill>
                  <a:latin typeface="Cambria"/>
                  <a:ea typeface="Cambria"/>
                  <a:cs typeface="Cambria"/>
                </a:rPr>
                <a:t> + </a:t>
              </a:r>
              <a:r>
                <a:rPr sz="1800" b="0" i="1" lang="vi-VN">
                  <a:solidFill>
                    <a:srgbClr val="0B2545"/>
                  </a:solidFill>
                  <a:latin typeface="Cambria"/>
                  <a:ea typeface="Cambria"/>
                  <a:cs typeface="Cambria"/>
                </a:rPr>
                <a:t>ω</a:t>
              </a:r>
              <a:r>
                <a:rPr sz="1800" b="0" i="0" lang="vi-VN" baseline="-25000">
                  <a:solidFill>
                    <a:srgbClr val="0B2545"/>
                  </a:solidFill>
                  <a:latin typeface="Cambria"/>
                  <a:ea typeface="Cambria"/>
                  <a:cs typeface="Cambria"/>
                </a:rPr>
                <a:t>b,y</a:t>
              </a:r>
              <a:r>
                <a:rPr sz="1800" b="0" i="0" lang="vi-VN">
                  <a:solidFill>
                    <a:srgbClr val="0B2545"/>
                  </a:solidFill>
                  <a:latin typeface="Cambria"/>
                  <a:ea typeface="Cambria"/>
                  <a:cs typeface="Cambria"/>
                </a:rPr>
                <a:t>·cos </a:t>
              </a:r>
              <a:r>
                <a:rPr sz="1800" b="0" i="1" lang="vi-VN">
                  <a:solidFill>
                    <a:srgbClr val="0B2545"/>
                  </a:solidFill>
                  <a:latin typeface="Cambria"/>
                  <a:ea typeface="Cambria"/>
                  <a:cs typeface="Cambria"/>
                </a:rPr>
                <a:t>q</a:t>
              </a:r>
              <a:r>
                <a:rPr sz="1800" b="0" i="0" lang="vi-VN" baseline="-25000">
                  <a:solidFill>
                    <a:srgbClr val="0B2545"/>
                  </a:solidFill>
                  <a:latin typeface="Cambria"/>
                  <a:ea typeface="Cambria"/>
                  <a:cs typeface="Cambria"/>
                </a:rPr>
                <a:t>y</a:t>
              </a:r>
            </a:p>
          </p:txBody>
        </p:sp>
        <p:sp>
          <p:nvSpPr>
            <p:cNvPr id="38" name="Rounded Rectangle 37"/>
            <p:cNvSpPr/>
            <p:nvPr/>
          </p:nvSpPr>
          <p:spPr>
            <a:xfrm>
              <a:off x="5669280" y="4700016"/>
              <a:ext cx="5852160" cy="365760"/>
            </a:xfrm>
            <a:prstGeom prst="roundRect">
              <a:avLst>
                <a:gd name="adj" fmla="val 20000"/>
              </a:avLst>
            </a:prstGeom>
            <a:solidFill>
              <a:srgbClr val="EAF3FB"/>
            </a:solidFill>
            <a:ln>
              <a:noFill/>
            </a:ln>
          </p:spPr>
          <p:txBody>
            <a:bodyPr rtlCol="0" anchor="ctr" lIns="54864" tIns="54864" rIns="54864" bIns="54864" wrap="square">
              <a:noAutofit/>
            </a:bodyPr>
            <a:lstStyle/>
            <a:p>
              <a:pPr algn="ctr"/>
              <a:r>
                <a:rPr sz="1300" b="1" i="0" lang="vi-VN">
                  <a:solidFill>
                    <a:srgbClr val="0B2545"/>
                  </a:solidFill>
                  <a:latin typeface="Arial"/>
                  <a:ea typeface="Arial"/>
                  <a:cs typeface="Arial"/>
                </a:rPr>
                <a:t>Mất IMU2 → chỉ mất khâu bù, vòng kín vẫn làm việc</a:t>
              </a:r>
            </a:p>
          </p:txBody>
        </p:sp>
      </p:grpSp>
      <p:sp>
        <p:nvSpPr>
          <p:cNvPr id="39" name="Rounded Rectangle 38"/>
          <p:cNvSpPr/>
          <p:nvPr/>
        </p:nvSpPr>
        <p:spPr>
          <a:xfrm>
            <a:off x="502920" y="5349240"/>
            <a:ext cx="5486400" cy="566928"/>
          </a:xfrm>
          <a:prstGeom prst="roundRect">
            <a:avLst>
              <a:gd name="adj" fmla="val 50000"/>
            </a:avLst>
          </a:prstGeom>
          <a:solidFill>
            <a:srgbClr val="FFFFFF"/>
          </a:solidFill>
          <a:ln w="12700">
            <a:solidFill>
              <a:srgbClr val="0A5FA8"/>
            </a:solidFill>
          </a:ln>
        </p:spPr>
        <p:txBody>
          <a:bodyPr rtlCol="0" anchor="ctr" lIns="73152" tIns="18288" rIns="73152" bIns="18288" wrap="square">
            <a:noAutofit/>
          </a:bodyPr>
          <a:lstStyle/>
          <a:p>
            <a:pPr algn="ctr"/>
            <a:r>
              <a:rPr sz="1400" b="1" i="0" lang="vi-VN">
                <a:solidFill>
                  <a:srgbClr val="0B2545"/>
                </a:solidFill>
                <a:latin typeface="Arial"/>
                <a:ea typeface="Arial"/>
                <a:cs typeface="Arial"/>
              </a:rPr>
              <a:t>Điểm kỳ dị </a:t>
            </a:r>
            <a:r>
              <a:rPr sz="1400" b="1" i="1" lang="vi-VN">
                <a:solidFill>
                  <a:srgbClr val="0B2545"/>
                </a:solidFill>
                <a:latin typeface="Cambria"/>
                <a:ea typeface="Cambria"/>
                <a:cs typeface="Cambria"/>
              </a:rPr>
              <a:t>q</a:t>
            </a:r>
            <a:r>
              <a:rPr sz="1400" b="1" i="0" lang="vi-VN" baseline="-25000">
                <a:solidFill>
                  <a:srgbClr val="0B2545"/>
                </a:solidFill>
                <a:latin typeface="Cambria"/>
                <a:ea typeface="Cambria"/>
                <a:cs typeface="Cambria"/>
              </a:rPr>
              <a:t>p</a:t>
            </a:r>
            <a:r>
              <a:rPr sz="1400" b="1" i="0" lang="vi-VN">
                <a:solidFill>
                  <a:srgbClr val="0B2545"/>
                </a:solidFill>
                <a:latin typeface="Arial"/>
                <a:ea typeface="Arial"/>
                <a:cs typeface="Arial"/>
              </a:rPr>
              <a:t> = ±90°: chặn |cos </a:t>
            </a:r>
            <a:r>
              <a:rPr sz="1400" b="1" i="1" lang="vi-VN">
                <a:solidFill>
                  <a:srgbClr val="0B2545"/>
                </a:solidFill>
                <a:latin typeface="Cambria"/>
                <a:ea typeface="Cambria"/>
                <a:cs typeface="Cambria"/>
              </a:rPr>
              <a:t>q</a:t>
            </a:r>
            <a:r>
              <a:rPr sz="1400" b="1" i="0" lang="vi-VN" baseline="-25000">
                <a:solidFill>
                  <a:srgbClr val="0B2545"/>
                </a:solidFill>
                <a:latin typeface="Cambria"/>
                <a:ea typeface="Cambria"/>
                <a:cs typeface="Cambria"/>
              </a:rPr>
              <a:t>p</a:t>
            </a:r>
            <a:r>
              <a:rPr sz="1400" b="1" i="0" lang="vi-VN">
                <a:solidFill>
                  <a:srgbClr val="0B2545"/>
                </a:solidFill>
                <a:latin typeface="Arial"/>
                <a:ea typeface="Arial"/>
                <a:cs typeface="Arial"/>
              </a:rPr>
              <a:t>| ≥ cos 80°</a:t>
            </a:r>
          </a:p>
        </p:txBody>
      </p:sp>
      <p:sp>
        <p:nvSpPr>
          <p:cNvPr id="40" name="Rounded Rectangle 39"/>
          <p:cNvSpPr/>
          <p:nvPr/>
        </p:nvSpPr>
        <p:spPr>
          <a:xfrm>
            <a:off x="6217920" y="5349240"/>
            <a:ext cx="5486400" cy="566928"/>
          </a:xfrm>
          <a:prstGeom prst="roundRect">
            <a:avLst>
              <a:gd name="adj" fmla="val 50000"/>
            </a:avLst>
          </a:prstGeom>
          <a:solidFill>
            <a:srgbClr val="FFFFFF"/>
          </a:solidFill>
          <a:ln w="12700">
            <a:solidFill>
              <a:srgbClr val="0A5FA8"/>
            </a:solidFill>
          </a:ln>
        </p:spPr>
        <p:txBody>
          <a:bodyPr rtlCol="0" anchor="ctr" lIns="73152" tIns="18288" rIns="73152" bIns="18288" wrap="square">
            <a:noAutofit/>
          </a:bodyPr>
          <a:lstStyle/>
          <a:p>
            <a:pPr algn="ctr"/>
            <a:r>
              <a:rPr sz="1400" b="1" i="0" lang="vi-VN">
                <a:solidFill>
                  <a:srgbClr val="0B2545"/>
                </a:solidFill>
                <a:latin typeface="Arial"/>
                <a:ea typeface="Arial"/>
                <a:cs typeface="Arial"/>
              </a:rPr>
              <a:t>IMU2 chỉ dùng sau: chờ yên → hiệu chuẩn → kiểm chứng</a:t>
            </a:r>
          </a:p>
        </p:txBody>
      </p:sp>
      <p:sp>
        <p:nvSpPr>
          <p:cNvPr id="50"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300"/>
                                        <p:tgtEl>
                                          <p:spTgt spid="8"/>
                                        </p:tgtEl>
                                      </p:cBhvr>
                                    </p:animEffect>
                                  </p:childTnLst>
                                </p:cTn>
                              </p:par>
                            </p:childTnLst>
                          </p:cTn>
                        </p:par>
                        <p:par>
                          <p:cTn id="12" fill="hold">
                            <p:stCondLst>
                              <p:cond delay="600"/>
                            </p:stCondLst>
                            <p:childTnLst>
                              <p:par>
                                <p:cTn id="13" presetID="22" presetClass="entr" presetSubtype="8"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300"/>
                                        <p:tgtEl>
                                          <p:spTgt spid="11"/>
                                        </p:tgtEl>
                                      </p:cBhvr>
                                    </p:animEffect>
                                  </p:childTnLst>
                                </p:cTn>
                              </p:par>
                            </p:childTnLst>
                          </p:cTn>
                        </p:par>
                        <p:par>
                          <p:cTn id="16" fill="hold">
                            <p:stCondLst>
                              <p:cond delay="9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300"/>
                                        <p:tgtEl>
                                          <p:spTgt spid="14"/>
                                        </p:tgtEl>
                                      </p:cBhvr>
                                    </p:animEffect>
                                  </p:childTnLst>
                                </p:cTn>
                              </p:par>
                            </p:childTnLst>
                          </p:cTn>
                        </p:par>
                        <p:par>
                          <p:cTn id="20" fill="hold">
                            <p:stCondLst>
                              <p:cond delay="1200"/>
                            </p:stCondLst>
                            <p:childTnLst>
                              <p:par>
                                <p:cTn id="21" presetID="22" presetClass="entr" presetSubtype="8"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300"/>
                                        <p:tgtEl>
                                          <p:spTgt spid="17"/>
                                        </p:tgtEl>
                                      </p:cBhvr>
                                    </p:animEffect>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3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anim calcmode="lin" valueType="num">
                                      <p:cBhvr>
                                        <p:cTn id="33" dur="500" fill="hold"/>
                                        <p:tgtEl>
                                          <p:spTgt spid="22"/>
                                        </p:tgtEl>
                                        <p:attrNameLst>
                                          <p:attrName>ppt_x</p:attrName>
                                        </p:attrNameLst>
                                      </p:cBhvr>
                                      <p:tavLst>
                                        <p:tav tm="0">
                                          <p:val>
                                            <p:strVal val="#ppt_x"/>
                                          </p:val>
                                        </p:tav>
                                        <p:tav tm="100000">
                                          <p:val>
                                            <p:strVal val="#ppt_x"/>
                                          </p:val>
                                        </p:tav>
                                      </p:tavLst>
                                    </p:anim>
                                    <p:anim calcmode="lin" valueType="num">
                                      <p:cBhvr>
                                        <p:cTn id="34" dur="500" fill="hold"/>
                                        <p:tgtEl>
                                          <p:spTgt spid="22"/>
                                        </p:tgtEl>
                                        <p:attrNameLst>
                                          <p:attrName>ppt_y</p:attrName>
                                        </p:attrNameLst>
                                      </p:cBhvr>
                                      <p:tavLst>
                                        <p:tav tm="0">
                                          <p:val>
                                            <p:strVal val="#ppt_y+.05"/>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anim calcmode="lin" valueType="num">
                                      <p:cBhvr>
                                        <p:cTn id="40" dur="500" fill="hold"/>
                                        <p:tgtEl>
                                          <p:spTgt spid="30"/>
                                        </p:tgtEl>
                                        <p:attrNameLst>
                                          <p:attrName>ppt_x</p:attrName>
                                        </p:attrNameLst>
                                      </p:cBhvr>
                                      <p:tavLst>
                                        <p:tav tm="0">
                                          <p:val>
                                            <p:strVal val="#ppt_x"/>
                                          </p:val>
                                        </p:tav>
                                        <p:tav tm="100000">
                                          <p:val>
                                            <p:strVal val="#ppt_x"/>
                                          </p:val>
                                        </p:tav>
                                      </p:tavLst>
                                    </p:anim>
                                    <p:anim calcmode="lin" valueType="num">
                                      <p:cBhvr>
                                        <p:cTn id="41" dur="500" fill="hold"/>
                                        <p:tgtEl>
                                          <p:spTgt spid="30"/>
                                        </p:tgtEl>
                                        <p:attrNameLst>
                                          <p:attrName>ppt_y</p:attrName>
                                        </p:attrNameLst>
                                      </p:cBhvr>
                                      <p:tavLst>
                                        <p:tav tm="0">
                                          <p:val>
                                            <p:strVal val="#ppt_y+.05"/>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400"/>
                                        <p:tgtEl>
                                          <p:spTgt spid="39"/>
                                        </p:tgtEl>
                                      </p:cBhvr>
                                    </p:animEffect>
                                  </p:childTnLst>
                                </p:cTn>
                              </p:par>
                              <p:par>
                                <p:cTn id="47" presetID="10" presetClass="entr" presetSubtype="0" fill="hold" grpId="0" nodeType="withEffect">
                                  <p:stCondLst>
                                    <p:cond delay="20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3 · THUẬT TOÁN ĐIỀU KHIỂN</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Bộ điều khiển nối tầng góc – tốc độ góc và vị trí các khâu bù</a:t>
            </a:r>
          </a:p>
        </p:txBody>
      </p:sp>
      <p:grpSp>
        <p:nvGrpSpPr>
          <p:cNvPr id="4" name="Group 3"/>
          <p:cNvGrpSpPr/>
          <p:nvPr/>
        </p:nvGrpSpPr>
        <p:grpSpPr>
          <a:xfrm>
            <a:off x="502920" y="1947672"/>
            <a:ext cx="3200400" cy="978408"/>
            <a:chOff x="502920" y="1947672"/>
            <a:chExt cx="3200400" cy="978408"/>
          </a:xfrm>
        </p:grpSpPr>
        <p:sp>
          <p:nvSpPr>
            <p:cNvPr id="5" name="TextBox 4"/>
            <p:cNvSpPr txBox="1"/>
            <p:nvPr/>
          </p:nvSpPr>
          <p:spPr>
            <a:xfrm>
              <a:off x="502920" y="2240280"/>
              <a:ext cx="548640" cy="548640"/>
            </a:xfrm>
            <a:prstGeom prst="rect">
              <a:avLst/>
            </a:prstGeom>
            <a:noFill/>
          </p:spPr>
          <p:txBody>
            <a:bodyPr wrap="square" lIns="0" tIns="0" rIns="0" bIns="0" anchor="ctr">
              <a:noAutofit/>
            </a:bodyPr>
            <a:lstStyle/>
            <a:p>
              <a:pPr algn="l"/>
              <a:r>
                <a:rPr sz="1800" b="0" i="1" lang="vi-VN">
                  <a:solidFill>
                    <a:srgbClr val="0B2545"/>
                  </a:solidFill>
                  <a:latin typeface="Cambria"/>
                  <a:ea typeface="Cambria"/>
                  <a:cs typeface="Cambria"/>
                </a:rPr>
                <a:t>θ</a:t>
              </a:r>
              <a:r>
                <a:rPr sz="1800" b="0" i="0" lang="vi-VN" baseline="-25000">
                  <a:solidFill>
                    <a:srgbClr val="0B2545"/>
                  </a:solidFill>
                  <a:latin typeface="Cambria"/>
                  <a:ea typeface="Cambria"/>
                  <a:cs typeface="Cambria"/>
                </a:rPr>
                <a:t>ref</a:t>
              </a:r>
            </a:p>
          </p:txBody>
        </p:sp>
        <p:cxnSp>
          <p:nvCxnSpPr>
            <p:cNvPr id="6" name="Connector 5"/>
            <p:cNvCxnSpPr/>
            <p:nvPr/>
          </p:nvCxnSpPr>
          <p:spPr>
            <a:xfrm>
              <a:off x="932688" y="2514600"/>
              <a:ext cx="91440" cy="0"/>
            </a:xfrm>
            <a:prstGeom prst="line">
              <a:avLst/>
            </a:prstGeom>
            <a:ln w="22225">
              <a:solidFill>
                <a:srgbClr val="0B2545"/>
              </a:solidFill>
              <a:tailEnd type="triangle" w="med" len="med"/>
            </a:ln>
          </p:spPr>
        </p:cxnSp>
        <p:sp>
          <p:nvSpPr>
            <p:cNvPr id="7" name="Oval 6"/>
            <p:cNvSpPr/>
            <p:nvPr/>
          </p:nvSpPr>
          <p:spPr>
            <a:xfrm>
              <a:off x="1024128" y="2350008"/>
              <a:ext cx="329184" cy="329184"/>
            </a:xfrm>
            <a:prstGeom prst="ellipse">
              <a:avLst/>
            </a:prstGeom>
            <a:solidFill>
              <a:srgbClr val="FFFFFF"/>
            </a:solidFill>
            <a:ln w="22225">
              <a:solidFill>
                <a:srgbClr val="0B2545"/>
              </a:solidFill>
            </a:ln>
          </p:spPr>
          <p:txBody>
            <a:bodyPr rtlCol="0" anchor="ctr" lIns="0" tIns="0" rIns="0" bIns="0" wrap="square">
              <a:noAutofit/>
            </a:bodyPr>
            <a:lstStyle/>
            <a:p>
              <a:pPr algn="ctr"/>
              <a:r>
                <a:rPr sz="1300" b="1" i="0" lang="vi-VN">
                  <a:solidFill>
                    <a:srgbClr val="0B2545"/>
                  </a:solidFill>
                  <a:latin typeface="Arial"/>
                  <a:ea typeface="Arial"/>
                  <a:cs typeface="Arial"/>
                </a:rPr>
                <a:t>Σ</a:t>
              </a:r>
            </a:p>
          </p:txBody>
        </p:sp>
        <p:cxnSp>
          <p:nvCxnSpPr>
            <p:cNvPr id="8" name="Connector 7"/>
            <p:cNvCxnSpPr/>
            <p:nvPr/>
          </p:nvCxnSpPr>
          <p:spPr>
            <a:xfrm>
              <a:off x="1353312" y="2514600"/>
              <a:ext cx="201168" cy="0"/>
            </a:xfrm>
            <a:prstGeom prst="line">
              <a:avLst/>
            </a:prstGeom>
            <a:ln w="22225">
              <a:solidFill>
                <a:srgbClr val="0B2545"/>
              </a:solidFill>
              <a:tailEnd type="triangle" w="med" len="med"/>
            </a:ln>
          </p:spPr>
        </p:cxnSp>
        <p:sp>
          <p:nvSpPr>
            <p:cNvPr id="9" name="Rounded Rectangle 8"/>
            <p:cNvSpPr/>
            <p:nvPr/>
          </p:nvSpPr>
          <p:spPr>
            <a:xfrm>
              <a:off x="1554480" y="2103120"/>
              <a:ext cx="1691640" cy="822960"/>
            </a:xfrm>
            <a:prstGeom prst="roundRect">
              <a:avLst>
                <a:gd name="adj" fmla="val 8888"/>
              </a:avLst>
            </a:prstGeom>
            <a:solidFill>
              <a:srgbClr val="0A5FA8"/>
            </a:solidFill>
            <a:ln>
              <a:noFill/>
            </a:ln>
          </p:spPr>
          <p:txBody>
            <a:bodyPr rtlCol="0" anchor="ctr" lIns="54864" tIns="54864" rIns="54864" bIns="54864" wrap="square">
              <a:noAutofit/>
            </a:bodyPr>
            <a:lstStyle/>
            <a:p>
              <a:pPr algn="ctr">
                <a:lnSpc>
                  <a:spcPct val="95000"/>
                </a:lnSpc>
              </a:pPr>
              <a:r>
                <a:rPr sz="1300" b="1" i="0" lang="vi-VN">
                  <a:solidFill>
                    <a:srgbClr val="FFFFFF"/>
                  </a:solidFill>
                  <a:latin typeface="Arial"/>
                  <a:ea typeface="Arial"/>
                  <a:cs typeface="Arial"/>
                </a:rPr>
                <a:t>Vòng góc · 100 Hz</a:t>
              </a:r>
            </a:p>
            <a:p>
              <a:pPr algn="ctr">
                <a:lnSpc>
                  <a:spcPct val="95000"/>
                </a:lnSpc>
              </a:pPr>
              <a:r>
                <a:rPr sz="1150" b="0" i="0" lang="vi-VN">
                  <a:solidFill>
                    <a:srgbClr val="FFFFFF"/>
                  </a:solidFill>
                  <a:latin typeface="Arial"/>
                  <a:ea typeface="Arial"/>
                  <a:cs typeface="Arial"/>
                </a:rPr>
                <a:t>P, giới hạn theo quãng đường dừng</a:t>
              </a:r>
            </a:p>
          </p:txBody>
        </p:sp>
        <p:cxnSp>
          <p:nvCxnSpPr>
            <p:cNvPr id="10" name="Connector 9"/>
            <p:cNvCxnSpPr/>
            <p:nvPr/>
          </p:nvCxnSpPr>
          <p:spPr>
            <a:xfrm>
              <a:off x="3246120" y="2514600"/>
              <a:ext cx="201168" cy="0"/>
            </a:xfrm>
            <a:prstGeom prst="line">
              <a:avLst/>
            </a:prstGeom>
            <a:ln w="22225">
              <a:solidFill>
                <a:srgbClr val="0B2545"/>
              </a:solidFill>
              <a:tailEnd type="triangle" w="med" len="med"/>
            </a:ln>
          </p:spPr>
        </p:cxnSp>
        <p:sp>
          <p:nvSpPr>
            <p:cNvPr id="11" name="TextBox 10"/>
            <p:cNvSpPr txBox="1"/>
            <p:nvPr/>
          </p:nvSpPr>
          <p:spPr>
            <a:xfrm>
              <a:off x="3017520" y="1947672"/>
              <a:ext cx="685800" cy="274320"/>
            </a:xfrm>
            <a:prstGeom prst="rect">
              <a:avLst/>
            </a:prstGeom>
            <a:noFill/>
          </p:spPr>
          <p:txBody>
            <a:bodyPr wrap="square" lIns="0" tIns="0" rIns="0" bIns="0" anchor="t">
              <a:noAutofit/>
            </a:bodyPr>
            <a:lstStyle/>
            <a:p>
              <a:pPr algn="ctr"/>
              <a:r>
                <a:rPr sz="1500" b="0" i="1" lang="vi-VN">
                  <a:solidFill>
                    <a:srgbClr val="0B2545"/>
                  </a:solidFill>
                  <a:latin typeface="Cambria"/>
                  <a:ea typeface="Cambria"/>
                  <a:cs typeface="Cambria"/>
                </a:rPr>
                <a:t>ω</a:t>
              </a:r>
              <a:r>
                <a:rPr sz="1500" b="0" i="0" lang="vi-VN" baseline="-25000">
                  <a:solidFill>
                    <a:srgbClr val="0B2545"/>
                  </a:solidFill>
                  <a:latin typeface="Cambria"/>
                  <a:ea typeface="Cambria"/>
                  <a:cs typeface="Cambria"/>
                </a:rPr>
                <a:t>sp</a:t>
              </a:r>
            </a:p>
          </p:txBody>
        </p:sp>
      </p:grpSp>
      <p:grpSp>
        <p:nvGrpSpPr>
          <p:cNvPr id="12" name="Group 11"/>
          <p:cNvGrpSpPr/>
          <p:nvPr/>
        </p:nvGrpSpPr>
        <p:grpSpPr>
          <a:xfrm>
            <a:off x="3447288" y="2103120"/>
            <a:ext cx="2221992" cy="822960"/>
            <a:chOff x="3447288" y="2103120"/>
            <a:chExt cx="2221992" cy="822960"/>
          </a:xfrm>
        </p:grpSpPr>
        <p:sp>
          <p:nvSpPr>
            <p:cNvPr id="13" name="Oval 12"/>
            <p:cNvSpPr/>
            <p:nvPr/>
          </p:nvSpPr>
          <p:spPr>
            <a:xfrm>
              <a:off x="3447288" y="2350008"/>
              <a:ext cx="329184" cy="329184"/>
            </a:xfrm>
            <a:prstGeom prst="ellipse">
              <a:avLst/>
            </a:prstGeom>
            <a:solidFill>
              <a:srgbClr val="FFFFFF"/>
            </a:solidFill>
            <a:ln w="22225">
              <a:solidFill>
                <a:srgbClr val="0B2545"/>
              </a:solidFill>
            </a:ln>
          </p:spPr>
          <p:txBody>
            <a:bodyPr rtlCol="0" anchor="ctr" lIns="0" tIns="0" rIns="0" bIns="0" wrap="square">
              <a:noAutofit/>
            </a:bodyPr>
            <a:lstStyle/>
            <a:p>
              <a:pPr algn="ctr"/>
              <a:r>
                <a:rPr sz="1300" b="1" i="0" lang="vi-VN">
                  <a:solidFill>
                    <a:srgbClr val="0B2545"/>
                  </a:solidFill>
                  <a:latin typeface="Arial"/>
                  <a:ea typeface="Arial"/>
                  <a:cs typeface="Arial"/>
                </a:rPr>
                <a:t>Σ</a:t>
              </a:r>
            </a:p>
          </p:txBody>
        </p:sp>
        <p:cxnSp>
          <p:nvCxnSpPr>
            <p:cNvPr id="14" name="Connector 13"/>
            <p:cNvCxnSpPr/>
            <p:nvPr/>
          </p:nvCxnSpPr>
          <p:spPr>
            <a:xfrm>
              <a:off x="3776472" y="2514600"/>
              <a:ext cx="201168" cy="0"/>
            </a:xfrm>
            <a:prstGeom prst="line">
              <a:avLst/>
            </a:prstGeom>
            <a:ln w="22225">
              <a:solidFill>
                <a:srgbClr val="0B2545"/>
              </a:solidFill>
              <a:tailEnd type="triangle" w="med" len="med"/>
            </a:ln>
          </p:spPr>
        </p:cxnSp>
        <p:sp>
          <p:nvSpPr>
            <p:cNvPr id="15" name="Rounded Rectangle 14"/>
            <p:cNvSpPr/>
            <p:nvPr/>
          </p:nvSpPr>
          <p:spPr>
            <a:xfrm>
              <a:off x="3977640" y="2103120"/>
              <a:ext cx="1691640" cy="822960"/>
            </a:xfrm>
            <a:prstGeom prst="roundRect">
              <a:avLst>
                <a:gd name="adj" fmla="val 8888"/>
              </a:avLst>
            </a:prstGeom>
            <a:solidFill>
              <a:srgbClr val="0A5FA8"/>
            </a:solidFill>
            <a:ln>
              <a:noFill/>
            </a:ln>
          </p:spPr>
          <p:txBody>
            <a:bodyPr rtlCol="0" anchor="ctr" lIns="54864" tIns="54864" rIns="54864" bIns="54864" wrap="square">
              <a:noAutofit/>
            </a:bodyPr>
            <a:lstStyle/>
            <a:p>
              <a:pPr algn="ctr">
                <a:lnSpc>
                  <a:spcPct val="95000"/>
                </a:lnSpc>
              </a:pPr>
              <a:r>
                <a:rPr sz="1300" b="1" i="0" lang="vi-VN">
                  <a:solidFill>
                    <a:srgbClr val="FFFFFF"/>
                  </a:solidFill>
                  <a:latin typeface="Arial"/>
                  <a:ea typeface="Arial"/>
                  <a:cs typeface="Arial"/>
                </a:rPr>
                <a:t>Vòng tốc độ 500 Hz</a:t>
              </a:r>
            </a:p>
            <a:p>
              <a:pPr algn="ctr">
                <a:lnSpc>
                  <a:spcPct val="95000"/>
                </a:lnSpc>
              </a:pPr>
              <a:r>
                <a:rPr sz="1150" b="0" i="0" lang="vi-VN">
                  <a:solidFill>
                    <a:srgbClr val="FFFFFF"/>
                  </a:solidFill>
                  <a:latin typeface="Arial"/>
                  <a:ea typeface="Arial"/>
                  <a:cs typeface="Arial"/>
                </a:rPr>
                <a:t>PI + truyền thẳng </a:t>
              </a:r>
              <a:r>
                <a:rPr sz="1150" b="0" i="1" lang="vi-VN">
                  <a:solidFill>
                    <a:srgbClr val="FFFFFF"/>
                  </a:solidFill>
                  <a:latin typeface="Cambria"/>
                  <a:ea typeface="Cambria"/>
                  <a:cs typeface="Cambria"/>
                </a:rPr>
                <a:t>K</a:t>
              </a:r>
              <a:r>
                <a:rPr sz="1150" b="0" i="0" lang="vi-VN" baseline="-25000">
                  <a:solidFill>
                    <a:srgbClr val="FFFFFF"/>
                  </a:solidFill>
                  <a:latin typeface="Cambria"/>
                  <a:ea typeface="Cambria"/>
                  <a:cs typeface="Cambria"/>
                </a:rPr>
                <a:t>ff</a:t>
              </a:r>
            </a:p>
          </p:txBody>
        </p:sp>
      </p:grpSp>
      <p:grpSp>
        <p:nvGrpSpPr>
          <p:cNvPr id="16" name="Group 15"/>
          <p:cNvGrpSpPr/>
          <p:nvPr/>
        </p:nvGrpSpPr>
        <p:grpSpPr>
          <a:xfrm>
            <a:off x="932688" y="2103120"/>
            <a:ext cx="10771632" cy="1691640"/>
            <a:chOff x="932688" y="2103120"/>
            <a:chExt cx="10771632" cy="1691640"/>
          </a:xfrm>
        </p:grpSpPr>
        <p:sp>
          <p:nvSpPr>
            <p:cNvPr id="17" name="Rounded Rectangle 16"/>
            <p:cNvSpPr/>
            <p:nvPr/>
          </p:nvSpPr>
          <p:spPr>
            <a:xfrm>
              <a:off x="10607040" y="2103120"/>
              <a:ext cx="1097280" cy="822960"/>
            </a:xfrm>
            <a:prstGeom prst="roundRect">
              <a:avLst>
                <a:gd name="adj" fmla="val 8888"/>
              </a:avLst>
            </a:prstGeom>
            <a:solidFill>
              <a:srgbClr val="0B2545"/>
            </a:solidFill>
            <a:ln>
              <a:noFill/>
            </a:ln>
          </p:spPr>
          <p:txBody>
            <a:bodyPr rtlCol="0" anchor="ctr" lIns="54864" tIns="54864" rIns="54864" bIns="54864" wrap="square">
              <a:noAutofit/>
            </a:bodyPr>
            <a:lstStyle/>
            <a:p>
              <a:pPr algn="ctr">
                <a:lnSpc>
                  <a:spcPct val="95000"/>
                </a:lnSpc>
              </a:pPr>
              <a:r>
                <a:rPr sz="1300" b="1" i="0" lang="vi-VN">
                  <a:solidFill>
                    <a:srgbClr val="FFFFFF"/>
                  </a:solidFill>
                  <a:latin typeface="Arial"/>
                  <a:ea typeface="Arial"/>
                  <a:cs typeface="Arial"/>
                </a:rPr>
                <a:t>Động cơ</a:t>
              </a:r>
            </a:p>
            <a:p>
              <a:pPr algn="ctr">
                <a:lnSpc>
                  <a:spcPct val="95000"/>
                </a:lnSpc>
              </a:pPr>
              <a:r>
                <a:rPr sz="1200" b="0" i="0" lang="vi-VN">
                  <a:solidFill>
                    <a:srgbClr val="FFFFFF"/>
                  </a:solidFill>
                  <a:latin typeface="Arial"/>
                  <a:ea typeface="Arial"/>
                  <a:cs typeface="Arial"/>
                </a:rPr>
                <a:t>MS3506</a:t>
              </a:r>
            </a:p>
          </p:txBody>
        </p:sp>
        <p:cxnSp>
          <p:nvCxnSpPr>
            <p:cNvPr id="18" name="Connector 17"/>
            <p:cNvCxnSpPr/>
            <p:nvPr/>
          </p:nvCxnSpPr>
          <p:spPr>
            <a:xfrm>
              <a:off x="11155680" y="2926080"/>
              <a:ext cx="0" cy="320040"/>
            </a:xfrm>
            <a:prstGeom prst="line">
              <a:avLst/>
            </a:prstGeom>
            <a:ln w="22225">
              <a:solidFill>
                <a:srgbClr val="0B2545"/>
              </a:solidFill>
              <a:tailEnd type="triangle" w="med" len="med"/>
            </a:ln>
          </p:spPr>
        </p:cxnSp>
        <p:sp>
          <p:nvSpPr>
            <p:cNvPr id="19" name="Rounded Rectangle 18"/>
            <p:cNvSpPr/>
            <p:nvPr/>
          </p:nvSpPr>
          <p:spPr>
            <a:xfrm>
              <a:off x="9372600" y="3246120"/>
              <a:ext cx="2331720" cy="548640"/>
            </a:xfrm>
            <a:prstGeom prst="roundRect">
              <a:avLst>
                <a:gd name="adj" fmla="val 13333"/>
              </a:avLst>
            </a:prstGeom>
            <a:solidFill>
              <a:srgbClr val="EAF3FB"/>
            </a:solidFill>
            <a:ln>
              <a:noFill/>
            </a:ln>
          </p:spPr>
          <p:txBody>
            <a:bodyPr rtlCol="0" anchor="ctr" lIns="54864" tIns="54864" rIns="54864" bIns="54864" wrap="square">
              <a:noAutofit/>
            </a:bodyPr>
            <a:lstStyle/>
            <a:p>
              <a:pPr algn="ctr"/>
              <a:r>
                <a:rPr sz="1300" b="1" i="0" lang="vi-VN">
                  <a:solidFill>
                    <a:srgbClr val="0B2545"/>
                  </a:solidFill>
                  <a:latin typeface="Arial"/>
                  <a:ea typeface="Arial"/>
                  <a:cs typeface="Arial"/>
                </a:rPr>
                <a:t>IMU1: </a:t>
              </a:r>
              <a:r>
                <a:rPr sz="1300" b="1" i="1" lang="vi-VN">
                  <a:solidFill>
                    <a:srgbClr val="0B2545"/>
                  </a:solidFill>
                  <a:latin typeface="Cambria"/>
                  <a:ea typeface="Cambria"/>
                  <a:cs typeface="Cambria"/>
                </a:rPr>
                <a:t>θ</a:t>
              </a:r>
              <a:r>
                <a:rPr sz="1300" b="1" i="0" lang="vi-VN">
                  <a:solidFill>
                    <a:srgbClr val="0B2545"/>
                  </a:solidFill>
                  <a:latin typeface="Arial"/>
                  <a:ea typeface="Arial"/>
                  <a:cs typeface="Arial"/>
                </a:rPr>
                <a:t>, </a:t>
              </a:r>
              <a:r>
                <a:rPr sz="1300" b="1" i="1" lang="vi-VN">
                  <a:solidFill>
                    <a:srgbClr val="0B2545"/>
                  </a:solidFill>
                  <a:latin typeface="Cambria"/>
                  <a:ea typeface="Cambria"/>
                  <a:cs typeface="Cambria"/>
                </a:rPr>
                <a:t>ω</a:t>
              </a:r>
              <a:r>
                <a:rPr sz="1300" b="1" i="0" lang="vi-VN">
                  <a:solidFill>
                    <a:srgbClr val="0B2545"/>
                  </a:solidFill>
                  <a:latin typeface="Arial"/>
                  <a:ea typeface="Arial"/>
                  <a:cs typeface="Arial"/>
                </a:rPr>
                <a:t> camera</a:t>
              </a:r>
            </a:p>
          </p:txBody>
        </p:sp>
        <p:cxnSp>
          <p:nvCxnSpPr>
            <p:cNvPr id="20" name="Connector 19"/>
            <p:cNvCxnSpPr/>
            <p:nvPr/>
          </p:nvCxnSpPr>
          <p:spPr>
            <a:xfrm flipH="1">
              <a:off x="3611880" y="3401568"/>
              <a:ext cx="5760720" cy="0"/>
            </a:xfrm>
            <a:prstGeom prst="line">
              <a:avLst/>
            </a:prstGeom>
            <a:ln w="22225">
              <a:solidFill>
                <a:srgbClr val="1F5FAF"/>
              </a:solidFill>
            </a:ln>
          </p:spPr>
        </p:cxnSp>
        <p:cxnSp>
          <p:nvCxnSpPr>
            <p:cNvPr id="21" name="Connector 20"/>
            <p:cNvCxnSpPr/>
            <p:nvPr/>
          </p:nvCxnSpPr>
          <p:spPr>
            <a:xfrm flipV="1">
              <a:off x="3611880" y="2688336"/>
              <a:ext cx="0" cy="713232"/>
            </a:xfrm>
            <a:prstGeom prst="line">
              <a:avLst/>
            </a:prstGeom>
            <a:ln w="22225">
              <a:solidFill>
                <a:srgbClr val="1F5FAF"/>
              </a:solidFill>
              <a:tailEnd type="triangle" w="med" len="med"/>
            </a:ln>
          </p:spPr>
        </p:cxnSp>
        <p:sp>
          <p:nvSpPr>
            <p:cNvPr id="22" name="TextBox 21"/>
            <p:cNvSpPr txBox="1"/>
            <p:nvPr/>
          </p:nvSpPr>
          <p:spPr>
            <a:xfrm>
              <a:off x="3675888" y="3072384"/>
              <a:ext cx="457200" cy="274320"/>
            </a:xfrm>
            <a:prstGeom prst="rect">
              <a:avLst/>
            </a:prstGeom>
            <a:noFill/>
          </p:spPr>
          <p:txBody>
            <a:bodyPr wrap="square" lIns="0" tIns="0" rIns="0" bIns="0" anchor="t">
              <a:noAutofit/>
            </a:bodyPr>
            <a:lstStyle/>
            <a:p>
              <a:pPr algn="l"/>
              <a:r>
                <a:rPr sz="1500" b="0" i="1" lang="vi-VN">
                  <a:solidFill>
                    <a:srgbClr val="1F5FAF"/>
                  </a:solidFill>
                  <a:latin typeface="Cambria"/>
                  <a:ea typeface="Cambria"/>
                  <a:cs typeface="Cambria"/>
                </a:rPr>
                <a:t>ω</a:t>
              </a:r>
            </a:p>
          </p:txBody>
        </p:sp>
        <p:cxnSp>
          <p:nvCxnSpPr>
            <p:cNvPr id="23" name="Connector 22"/>
            <p:cNvCxnSpPr/>
            <p:nvPr/>
          </p:nvCxnSpPr>
          <p:spPr>
            <a:xfrm flipH="1">
              <a:off x="1188720" y="3657600"/>
              <a:ext cx="8183880" cy="0"/>
            </a:xfrm>
            <a:prstGeom prst="line">
              <a:avLst/>
            </a:prstGeom>
            <a:ln w="22225">
              <a:solidFill>
                <a:srgbClr val="0B2545"/>
              </a:solidFill>
            </a:ln>
          </p:spPr>
        </p:cxnSp>
        <p:cxnSp>
          <p:nvCxnSpPr>
            <p:cNvPr id="24" name="Connector 23"/>
            <p:cNvCxnSpPr/>
            <p:nvPr/>
          </p:nvCxnSpPr>
          <p:spPr>
            <a:xfrm flipV="1">
              <a:off x="1188720" y="2688336"/>
              <a:ext cx="0" cy="969264"/>
            </a:xfrm>
            <a:prstGeom prst="line">
              <a:avLst/>
            </a:prstGeom>
            <a:ln w="22225">
              <a:solidFill>
                <a:srgbClr val="0B2545"/>
              </a:solidFill>
              <a:tailEnd type="triangle" w="med" len="med"/>
            </a:ln>
          </p:spPr>
        </p:cxnSp>
        <p:sp>
          <p:nvSpPr>
            <p:cNvPr id="25" name="TextBox 24"/>
            <p:cNvSpPr txBox="1"/>
            <p:nvPr/>
          </p:nvSpPr>
          <p:spPr>
            <a:xfrm>
              <a:off x="1252728" y="3310128"/>
              <a:ext cx="457200" cy="274320"/>
            </a:xfrm>
            <a:prstGeom prst="rect">
              <a:avLst/>
            </a:prstGeom>
            <a:noFill/>
          </p:spPr>
          <p:txBody>
            <a:bodyPr wrap="square" lIns="0" tIns="0" rIns="0" bIns="0" anchor="t">
              <a:noAutofit/>
            </a:bodyPr>
            <a:lstStyle/>
            <a:p>
              <a:pPr algn="l"/>
              <a:r>
                <a:rPr sz="1500" b="0" i="1" lang="vi-VN">
                  <a:solidFill>
                    <a:srgbClr val="0B2545"/>
                  </a:solidFill>
                  <a:latin typeface="Cambria"/>
                  <a:ea typeface="Cambria"/>
                  <a:cs typeface="Cambria"/>
                </a:rPr>
                <a:t>θ</a:t>
              </a:r>
            </a:p>
          </p:txBody>
        </p:sp>
        <p:sp>
          <p:nvSpPr>
            <p:cNvPr id="26" name="TextBox 25"/>
            <p:cNvSpPr txBox="1"/>
            <p:nvPr/>
          </p:nvSpPr>
          <p:spPr>
            <a:xfrm>
              <a:off x="932688" y="2624328"/>
              <a:ext cx="274320" cy="274320"/>
            </a:xfrm>
            <a:prstGeom prst="rect">
              <a:avLst/>
            </a:prstGeom>
            <a:noFill/>
          </p:spPr>
          <p:txBody>
            <a:bodyPr wrap="square" lIns="0" tIns="0" rIns="0" bIns="0" anchor="t">
              <a:noAutofit/>
            </a:bodyPr>
            <a:lstStyle/>
            <a:p>
              <a:pPr algn="l"/>
              <a:r>
                <a:rPr sz="1600" b="1" i="0" lang="vi-VN">
                  <a:solidFill>
                    <a:srgbClr val="C62828"/>
                  </a:solidFill>
                  <a:latin typeface="Arial"/>
                  <a:ea typeface="Arial"/>
                  <a:cs typeface="Arial"/>
                </a:rPr>
                <a:t>−</a:t>
              </a:r>
            </a:p>
          </p:txBody>
        </p:sp>
        <p:sp>
          <p:nvSpPr>
            <p:cNvPr id="27" name="TextBox 26"/>
            <p:cNvSpPr txBox="1"/>
            <p:nvPr/>
          </p:nvSpPr>
          <p:spPr>
            <a:xfrm>
              <a:off x="3355848" y="2624328"/>
              <a:ext cx="274320" cy="274320"/>
            </a:xfrm>
            <a:prstGeom prst="rect">
              <a:avLst/>
            </a:prstGeom>
            <a:noFill/>
          </p:spPr>
          <p:txBody>
            <a:bodyPr wrap="square" lIns="0" tIns="0" rIns="0" bIns="0" anchor="t">
              <a:noAutofit/>
            </a:bodyPr>
            <a:lstStyle/>
            <a:p>
              <a:pPr algn="l"/>
              <a:r>
                <a:rPr sz="1600" b="1" i="0" lang="vi-VN">
                  <a:solidFill>
                    <a:srgbClr val="C62828"/>
                  </a:solidFill>
                  <a:latin typeface="Arial"/>
                  <a:ea typeface="Arial"/>
                  <a:cs typeface="Arial"/>
                </a:rPr>
                <a:t>−</a:t>
              </a:r>
            </a:p>
          </p:txBody>
        </p:sp>
      </p:grpSp>
      <p:grpSp>
        <p:nvGrpSpPr>
          <p:cNvPr id="28" name="Group 27"/>
          <p:cNvGrpSpPr/>
          <p:nvPr/>
        </p:nvGrpSpPr>
        <p:grpSpPr>
          <a:xfrm>
            <a:off x="5669280" y="2103120"/>
            <a:ext cx="4937760" cy="822960"/>
            <a:chOff x="5669280" y="2103120"/>
            <a:chExt cx="4937760" cy="822960"/>
          </a:xfrm>
        </p:grpSpPr>
        <p:cxnSp>
          <p:nvCxnSpPr>
            <p:cNvPr id="29" name="Connector 28"/>
            <p:cNvCxnSpPr/>
            <p:nvPr/>
          </p:nvCxnSpPr>
          <p:spPr>
            <a:xfrm>
              <a:off x="5669280" y="2514600"/>
              <a:ext cx="201168" cy="0"/>
            </a:xfrm>
            <a:prstGeom prst="line">
              <a:avLst/>
            </a:prstGeom>
            <a:ln w="22225">
              <a:solidFill>
                <a:srgbClr val="0B2545"/>
              </a:solidFill>
              <a:tailEnd type="triangle" w="med" len="med"/>
            </a:ln>
          </p:spPr>
        </p:cxnSp>
        <p:sp>
          <p:nvSpPr>
            <p:cNvPr id="30" name="Oval 29"/>
            <p:cNvSpPr/>
            <p:nvPr/>
          </p:nvSpPr>
          <p:spPr>
            <a:xfrm>
              <a:off x="5870448" y="2350008"/>
              <a:ext cx="329184" cy="329184"/>
            </a:xfrm>
            <a:prstGeom prst="ellipse">
              <a:avLst/>
            </a:prstGeom>
            <a:solidFill>
              <a:srgbClr val="FFFFFF"/>
            </a:solidFill>
            <a:ln w="22225">
              <a:solidFill>
                <a:srgbClr val="0B2545"/>
              </a:solidFill>
            </a:ln>
          </p:spPr>
          <p:txBody>
            <a:bodyPr rtlCol="0" anchor="ctr" lIns="0" tIns="0" rIns="0" bIns="0" wrap="square">
              <a:noAutofit/>
            </a:bodyPr>
            <a:lstStyle/>
            <a:p>
              <a:pPr algn="ctr"/>
              <a:r>
                <a:rPr sz="1300" b="1" i="0" lang="vi-VN">
                  <a:solidFill>
                    <a:srgbClr val="0B2545"/>
                  </a:solidFill>
                  <a:latin typeface="Arial"/>
                  <a:ea typeface="Arial"/>
                  <a:cs typeface="Arial"/>
                </a:rPr>
                <a:t>Σ</a:t>
              </a:r>
            </a:p>
          </p:txBody>
        </p:sp>
        <p:cxnSp>
          <p:nvCxnSpPr>
            <p:cNvPr id="31" name="Connector 30"/>
            <p:cNvCxnSpPr/>
            <p:nvPr/>
          </p:nvCxnSpPr>
          <p:spPr>
            <a:xfrm>
              <a:off x="6199632" y="2514600"/>
              <a:ext cx="201168" cy="0"/>
            </a:xfrm>
            <a:prstGeom prst="line">
              <a:avLst/>
            </a:prstGeom>
            <a:ln w="22225">
              <a:solidFill>
                <a:srgbClr val="0B2545"/>
              </a:solidFill>
              <a:tailEnd type="triangle" w="med" len="med"/>
            </a:ln>
          </p:spPr>
        </p:cxnSp>
        <p:sp>
          <p:nvSpPr>
            <p:cNvPr id="32" name="Rounded Rectangle 31"/>
            <p:cNvSpPr/>
            <p:nvPr/>
          </p:nvSpPr>
          <p:spPr>
            <a:xfrm>
              <a:off x="6400800" y="2103120"/>
              <a:ext cx="1188720" cy="822960"/>
            </a:xfrm>
            <a:prstGeom prst="roundRect">
              <a:avLst>
                <a:gd name="adj" fmla="val 8888"/>
              </a:avLst>
            </a:prstGeom>
            <a:solidFill>
              <a:srgbClr val="FFFFFF"/>
            </a:solidFill>
            <a:ln w="25400">
              <a:solidFill>
                <a:srgbClr val="E8710A"/>
              </a:solidFill>
            </a:ln>
          </p:spPr>
          <p:txBody>
            <a:bodyPr rtlCol="0" anchor="ctr" lIns="54864" tIns="54864" rIns="54864" bIns="54864" wrap="square">
              <a:noAutofit/>
            </a:bodyPr>
            <a:lstStyle/>
            <a:p>
              <a:pPr algn="ctr"/>
              <a:r>
                <a:rPr sz="1300" b="1" i="0" lang="vi-VN">
                  <a:solidFill>
                    <a:srgbClr val="0B2545"/>
                  </a:solidFill>
                  <a:latin typeface="Arial"/>
                  <a:ea typeface="Arial"/>
                  <a:cs typeface="Arial"/>
                </a:rPr>
                <a:t>④ Giới hạn</a:t>
              </a:r>
            </a:p>
            <a:p>
              <a:pPr algn="ctr"/>
              <a:r>
                <a:rPr sz="1300" b="1" i="0" lang="vi-VN">
                  <a:solidFill>
                    <a:srgbClr val="0B2545"/>
                  </a:solidFill>
                  <a:latin typeface="Arial"/>
                  <a:ea typeface="Arial"/>
                  <a:cs typeface="Arial"/>
                </a:rPr>
                <a:t>theo vùng</a:t>
              </a:r>
            </a:p>
          </p:txBody>
        </p:sp>
        <p:cxnSp>
          <p:nvCxnSpPr>
            <p:cNvPr id="33" name="Connector 32"/>
            <p:cNvCxnSpPr/>
            <p:nvPr/>
          </p:nvCxnSpPr>
          <p:spPr>
            <a:xfrm>
              <a:off x="7589520" y="2514600"/>
              <a:ext cx="182880" cy="0"/>
            </a:xfrm>
            <a:prstGeom prst="line">
              <a:avLst/>
            </a:prstGeom>
            <a:ln w="22225">
              <a:solidFill>
                <a:srgbClr val="0B2545"/>
              </a:solidFill>
              <a:tailEnd type="triangle" w="med" len="med"/>
            </a:ln>
          </p:spPr>
        </p:cxnSp>
        <p:sp>
          <p:nvSpPr>
            <p:cNvPr id="34" name="Rounded Rectangle 33"/>
            <p:cNvSpPr/>
            <p:nvPr/>
          </p:nvSpPr>
          <p:spPr>
            <a:xfrm>
              <a:off x="7772400" y="2103120"/>
              <a:ext cx="1417320" cy="822960"/>
            </a:xfrm>
            <a:prstGeom prst="roundRect">
              <a:avLst>
                <a:gd name="adj" fmla="val 8888"/>
              </a:avLst>
            </a:prstGeom>
            <a:solidFill>
              <a:srgbClr val="FFFFFF"/>
            </a:solidFill>
            <a:ln w="25400">
              <a:solidFill>
                <a:srgbClr val="E8710A"/>
              </a:solidFill>
            </a:ln>
          </p:spPr>
          <p:txBody>
            <a:bodyPr rtlCol="0" anchor="ctr" lIns="54864" tIns="54864" rIns="54864" bIns="54864" wrap="square">
              <a:noAutofit/>
            </a:bodyPr>
            <a:lstStyle/>
            <a:p>
              <a:pPr algn="ctr"/>
              <a:r>
                <a:rPr sz="1300" b="1" i="0" lang="vi-VN">
                  <a:solidFill>
                    <a:srgbClr val="0B2545"/>
                  </a:solidFill>
                  <a:latin typeface="Arial"/>
                  <a:ea typeface="Arial"/>
                  <a:cs typeface="Arial"/>
                </a:rPr>
                <a:t>⑤ Đảo chiều,</a:t>
              </a:r>
            </a:p>
            <a:p>
              <a:pPr algn="ctr"/>
              <a:r>
                <a:rPr sz="1300" b="1" i="0" lang="vi-VN">
                  <a:solidFill>
                    <a:srgbClr val="0B2545"/>
                  </a:solidFill>
                  <a:latin typeface="Arial"/>
                  <a:ea typeface="Arial"/>
                  <a:cs typeface="Arial"/>
                </a:rPr>
                <a:t>dừng, tạo dạng</a:t>
              </a:r>
            </a:p>
          </p:txBody>
        </p:sp>
        <p:cxnSp>
          <p:nvCxnSpPr>
            <p:cNvPr id="35" name="Connector 34"/>
            <p:cNvCxnSpPr/>
            <p:nvPr/>
          </p:nvCxnSpPr>
          <p:spPr>
            <a:xfrm>
              <a:off x="9189720" y="2514600"/>
              <a:ext cx="182880" cy="0"/>
            </a:xfrm>
            <a:prstGeom prst="line">
              <a:avLst/>
            </a:prstGeom>
            <a:ln w="22225">
              <a:solidFill>
                <a:srgbClr val="0B2545"/>
              </a:solidFill>
              <a:tailEnd type="triangle" w="med" len="med"/>
            </a:ln>
          </p:spPr>
        </p:cxnSp>
        <p:sp>
          <p:nvSpPr>
            <p:cNvPr id="36" name="Rounded Rectangle 35"/>
            <p:cNvSpPr/>
            <p:nvPr/>
          </p:nvSpPr>
          <p:spPr>
            <a:xfrm>
              <a:off x="9372600" y="2103120"/>
              <a:ext cx="1051560" cy="822960"/>
            </a:xfrm>
            <a:prstGeom prst="roundRect">
              <a:avLst>
                <a:gd name="adj" fmla="val 8888"/>
              </a:avLst>
            </a:prstGeom>
            <a:solidFill>
              <a:srgbClr val="FFFFFF"/>
            </a:solidFill>
            <a:ln w="25400">
              <a:solidFill>
                <a:srgbClr val="E8710A"/>
              </a:solidFill>
            </a:ln>
          </p:spPr>
          <p:txBody>
            <a:bodyPr rtlCol="0" anchor="ctr" lIns="54864" tIns="54864" rIns="54864" bIns="54864" wrap="square">
              <a:noAutofit/>
            </a:bodyPr>
            <a:lstStyle/>
            <a:p>
              <a:pPr algn="ctr"/>
              <a:r>
                <a:rPr sz="1300" b="1" i="0" lang="vi-VN">
                  <a:solidFill>
                    <a:srgbClr val="0B2545"/>
                  </a:solidFill>
                  <a:latin typeface="Arial"/>
                  <a:ea typeface="Arial"/>
                  <a:cs typeface="Arial"/>
                </a:rPr>
                <a:t>⑥ Lịch</a:t>
              </a:r>
            </a:p>
            <a:p>
              <a:pPr algn="ctr"/>
              <a:r>
                <a:rPr sz="1300" b="1" i="0" lang="vi-VN">
                  <a:solidFill>
                    <a:srgbClr val="0B2545"/>
                  </a:solidFill>
                  <a:latin typeface="Arial"/>
                  <a:ea typeface="Arial"/>
                  <a:cs typeface="Arial"/>
                </a:rPr>
                <a:t>RS485</a:t>
              </a:r>
            </a:p>
          </p:txBody>
        </p:sp>
        <p:cxnSp>
          <p:nvCxnSpPr>
            <p:cNvPr id="37" name="Connector 36"/>
            <p:cNvCxnSpPr/>
            <p:nvPr/>
          </p:nvCxnSpPr>
          <p:spPr>
            <a:xfrm>
              <a:off x="10424160" y="2514600"/>
              <a:ext cx="182880" cy="0"/>
            </a:xfrm>
            <a:prstGeom prst="line">
              <a:avLst/>
            </a:prstGeom>
            <a:ln w="22225">
              <a:solidFill>
                <a:srgbClr val="0B2545"/>
              </a:solidFill>
              <a:tailEnd type="triangle" w="med" len="med"/>
            </a:ln>
          </p:spPr>
        </p:cxnSp>
      </p:grpSp>
      <p:grpSp>
        <p:nvGrpSpPr>
          <p:cNvPr id="38" name="Group 37"/>
          <p:cNvGrpSpPr/>
          <p:nvPr/>
        </p:nvGrpSpPr>
        <p:grpSpPr>
          <a:xfrm>
            <a:off x="3017520" y="1261872"/>
            <a:ext cx="4526280" cy="1078992"/>
            <a:chOff x="3017520" y="1261872"/>
            <a:chExt cx="4526280" cy="1078992"/>
          </a:xfrm>
        </p:grpSpPr>
        <p:sp>
          <p:nvSpPr>
            <p:cNvPr id="39" name="Rounded Rectangle 38"/>
            <p:cNvSpPr/>
            <p:nvPr/>
          </p:nvSpPr>
          <p:spPr>
            <a:xfrm>
              <a:off x="3017520" y="1261872"/>
              <a:ext cx="1508760" cy="457200"/>
            </a:xfrm>
            <a:prstGeom prst="roundRect">
              <a:avLst>
                <a:gd name="adj" fmla="val 16000"/>
              </a:avLst>
            </a:prstGeom>
            <a:solidFill>
              <a:srgbClr val="EAF3FB"/>
            </a:solidFill>
            <a:ln>
              <a:noFill/>
            </a:ln>
          </p:spPr>
          <p:txBody>
            <a:bodyPr rtlCol="0" anchor="ctr" lIns="54864" tIns="54864" rIns="54864" bIns="54864" wrap="square">
              <a:noAutofit/>
            </a:bodyPr>
            <a:lstStyle/>
            <a:p>
              <a:pPr algn="ctr"/>
              <a:r>
                <a:rPr sz="1300" b="1" i="0" lang="vi-VN">
                  <a:solidFill>
                    <a:srgbClr val="0B2545"/>
                  </a:solidFill>
                  <a:latin typeface="Arial"/>
                  <a:ea typeface="Arial"/>
                  <a:cs typeface="Arial"/>
                </a:rPr>
                <a:t>IMU2: </a:t>
              </a:r>
              <a:r>
                <a:rPr sz="1300" b="1" i="1" lang="vi-VN">
                  <a:solidFill>
                    <a:srgbClr val="0B2545"/>
                  </a:solidFill>
                  <a:latin typeface="Cambria"/>
                  <a:ea typeface="Cambria"/>
                  <a:cs typeface="Cambria"/>
                </a:rPr>
                <a:t>ω</a:t>
              </a:r>
              <a:r>
                <a:rPr sz="1300" b="1" i="0" lang="vi-VN" baseline="-25000">
                  <a:solidFill>
                    <a:srgbClr val="0B2545"/>
                  </a:solidFill>
                  <a:latin typeface="Cambria"/>
                  <a:ea typeface="Cambria"/>
                  <a:cs typeface="Cambria"/>
                </a:rPr>
                <a:t>b</a:t>
              </a:r>
              <a:r>
                <a:rPr sz="1300" b="1" i="0" lang="vi-VN">
                  <a:solidFill>
                    <a:srgbClr val="0B2545"/>
                  </a:solidFill>
                  <a:latin typeface="Arial"/>
                  <a:ea typeface="Arial"/>
                  <a:cs typeface="Arial"/>
                </a:rPr>
                <a:t>, </a:t>
              </a:r>
              <a:r>
                <a:rPr sz="1300" b="1" i="1" lang="vi-VN">
                  <a:solidFill>
                    <a:srgbClr val="0B2545"/>
                  </a:solidFill>
                  <a:latin typeface="Cambria"/>
                  <a:ea typeface="Cambria"/>
                  <a:cs typeface="Cambria"/>
                </a:rPr>
                <a:t>α</a:t>
              </a:r>
              <a:r>
                <a:rPr sz="1300" b="1" i="0" lang="vi-VN" baseline="-25000">
                  <a:solidFill>
                    <a:srgbClr val="0B2545"/>
                  </a:solidFill>
                  <a:latin typeface="Cambria"/>
                  <a:ea typeface="Cambria"/>
                  <a:cs typeface="Cambria"/>
                </a:rPr>
                <a:t>b</a:t>
              </a:r>
            </a:p>
          </p:txBody>
        </p:sp>
        <p:cxnSp>
          <p:nvCxnSpPr>
            <p:cNvPr id="40" name="Connector 39"/>
            <p:cNvCxnSpPr/>
            <p:nvPr/>
          </p:nvCxnSpPr>
          <p:spPr>
            <a:xfrm>
              <a:off x="4526280" y="1490472"/>
              <a:ext cx="182880" cy="0"/>
            </a:xfrm>
            <a:prstGeom prst="line">
              <a:avLst/>
            </a:prstGeom>
            <a:ln w="25400">
              <a:solidFill>
                <a:srgbClr val="E8710A"/>
              </a:solidFill>
              <a:tailEnd type="triangle" w="med" len="med"/>
            </a:ln>
          </p:spPr>
        </p:cxnSp>
        <p:sp>
          <p:nvSpPr>
            <p:cNvPr id="41" name="Rounded Rectangle 40"/>
            <p:cNvSpPr/>
            <p:nvPr/>
          </p:nvSpPr>
          <p:spPr>
            <a:xfrm>
              <a:off x="4709160" y="1261872"/>
              <a:ext cx="2834640" cy="457200"/>
            </a:xfrm>
            <a:prstGeom prst="roundRect">
              <a:avLst>
                <a:gd name="adj" fmla="val 16000"/>
              </a:avLst>
            </a:prstGeom>
            <a:solidFill>
              <a:srgbClr val="E8710A"/>
            </a:solidFill>
            <a:ln>
              <a:noFill/>
            </a:ln>
          </p:spPr>
          <p:txBody>
            <a:bodyPr rtlCol="0" anchor="ctr" lIns="54864" tIns="54864" rIns="54864" bIns="54864" wrap="square">
              <a:noAutofit/>
            </a:bodyPr>
            <a:lstStyle/>
            <a:p>
              <a:pPr algn="ctr"/>
              <a:r>
                <a:rPr sz="1300" b="1" i="0" lang="vi-VN">
                  <a:solidFill>
                    <a:srgbClr val="FFFFFF"/>
                  </a:solidFill>
                  <a:latin typeface="Arial"/>
                  <a:ea typeface="Arial"/>
                  <a:cs typeface="Arial"/>
                </a:rPr>
                <a:t>② Bù IMU2 + ③ ngoại suy 12 ms</a:t>
              </a:r>
            </a:p>
          </p:txBody>
        </p:sp>
        <p:cxnSp>
          <p:nvCxnSpPr>
            <p:cNvPr id="42" name="Connector 41"/>
            <p:cNvCxnSpPr/>
            <p:nvPr/>
          </p:nvCxnSpPr>
          <p:spPr>
            <a:xfrm>
              <a:off x="6035040" y="1719072"/>
              <a:ext cx="0" cy="621792"/>
            </a:xfrm>
            <a:prstGeom prst="line">
              <a:avLst/>
            </a:prstGeom>
            <a:ln w="25400">
              <a:solidFill>
                <a:srgbClr val="E8710A"/>
              </a:solidFill>
              <a:tailEnd type="triangle" w="med" len="med"/>
            </a:ln>
          </p:spPr>
        </p:cxnSp>
        <p:sp>
          <p:nvSpPr>
            <p:cNvPr id="43" name="TextBox 42"/>
            <p:cNvSpPr txBox="1"/>
            <p:nvPr/>
          </p:nvSpPr>
          <p:spPr>
            <a:xfrm>
              <a:off x="6108192" y="1828800"/>
              <a:ext cx="548640" cy="274320"/>
            </a:xfrm>
            <a:prstGeom prst="rect">
              <a:avLst/>
            </a:prstGeom>
            <a:noFill/>
          </p:spPr>
          <p:txBody>
            <a:bodyPr wrap="square" lIns="0" tIns="0" rIns="0" bIns="0" anchor="t">
              <a:noAutofit/>
            </a:bodyPr>
            <a:lstStyle/>
            <a:p>
              <a:pPr algn="l"/>
              <a:r>
                <a:rPr sz="1500" b="0" i="1" lang="vi-VN">
                  <a:solidFill>
                    <a:srgbClr val="E8710A"/>
                  </a:solidFill>
                  <a:latin typeface="Cambria"/>
                  <a:ea typeface="Cambria"/>
                  <a:cs typeface="Cambria"/>
                </a:rPr>
                <a:t>u</a:t>
              </a:r>
              <a:r>
                <a:rPr sz="1500" b="0" i="0" lang="vi-VN" baseline="-25000">
                  <a:solidFill>
                    <a:srgbClr val="E8710A"/>
                  </a:solidFill>
                  <a:latin typeface="Cambria"/>
                  <a:ea typeface="Cambria"/>
                  <a:cs typeface="Cambria"/>
                </a:rPr>
                <a:t>ff</a:t>
              </a:r>
            </a:p>
          </p:txBody>
        </p:sp>
      </p:grpSp>
      <p:grpSp>
        <p:nvGrpSpPr>
          <p:cNvPr id="44" name="Group 43"/>
          <p:cNvGrpSpPr/>
          <p:nvPr/>
        </p:nvGrpSpPr>
        <p:grpSpPr>
          <a:xfrm>
            <a:off x="502920" y="4069080"/>
            <a:ext cx="6263640" cy="1984248"/>
            <a:chOff x="502920" y="4069080"/>
            <a:chExt cx="6263640" cy="1984248"/>
          </a:xfrm>
        </p:grpSpPr>
        <p:sp>
          <p:nvSpPr>
            <p:cNvPr id="45" name="Rounded Rectangle 44"/>
            <p:cNvSpPr/>
            <p:nvPr/>
          </p:nvSpPr>
          <p:spPr>
            <a:xfrm>
              <a:off x="502920" y="4069080"/>
              <a:ext cx="6263640" cy="1984248"/>
            </a:xfrm>
            <a:prstGeom prst="roundRect">
              <a:avLst>
                <a:gd name="adj" fmla="val 46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46" name="Picture 45" descr="code_0A5FA8.png"/>
            <p:cNvPicPr>
              <a:picLocks noChangeAspect="1"/>
            </p:cNvPicPr>
            <p:nvPr/>
          </p:nvPicPr>
          <p:blipFill>
            <a:blip r:embed="rId2"/>
            <a:stretch>
              <a:fillRect/>
            </a:stretch>
          </p:blipFill>
          <p:spPr>
            <a:xfrm>
              <a:off x="667512" y="4160520"/>
              <a:ext cx="237744" cy="237744"/>
            </a:xfrm>
            <a:prstGeom prst="rect">
              <a:avLst/>
            </a:prstGeom>
          </p:spPr>
        </p:pic>
        <p:sp>
          <p:nvSpPr>
            <p:cNvPr id="47" name="TextBox 46"/>
            <p:cNvSpPr txBox="1"/>
            <p:nvPr/>
          </p:nvSpPr>
          <p:spPr>
            <a:xfrm>
              <a:off x="996696" y="4133088"/>
              <a:ext cx="561441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LUẬT ĐIỀU KHIỂN RỜI RẠC (2.11), (2.12)</a:t>
              </a:r>
            </a:p>
          </p:txBody>
        </p:sp>
        <p:sp>
          <p:nvSpPr>
            <p:cNvPr id="48" name="TextBox 47"/>
            <p:cNvSpPr txBox="1"/>
            <p:nvPr/>
          </p:nvSpPr>
          <p:spPr>
            <a:xfrm>
              <a:off x="685800" y="4480560"/>
              <a:ext cx="5943600" cy="457200"/>
            </a:xfrm>
            <a:prstGeom prst="rect">
              <a:avLst/>
            </a:prstGeom>
            <a:noFill/>
          </p:spPr>
          <p:txBody>
            <a:bodyPr wrap="square" lIns="0" tIns="0" rIns="0" bIns="0" anchor="ctr">
              <a:noAutofit/>
            </a:bodyPr>
            <a:lstStyle/>
            <a:p>
              <a:pPr algn="l"/>
              <a:r>
                <a:rPr sz="1650" b="0" i="1" lang="vi-VN">
                  <a:solidFill>
                    <a:srgbClr val="0B2545"/>
                  </a:solidFill>
                  <a:latin typeface="Cambria"/>
                  <a:ea typeface="Cambria"/>
                  <a:cs typeface="Cambria"/>
                </a:rPr>
                <a:t>ω</a:t>
              </a:r>
              <a:r>
                <a:rPr sz="1650" b="0" i="0" lang="vi-VN" baseline="-25000">
                  <a:solidFill>
                    <a:srgbClr val="0B2545"/>
                  </a:solidFill>
                  <a:latin typeface="Cambria"/>
                  <a:ea typeface="Cambria"/>
                  <a:cs typeface="Cambria"/>
                </a:rPr>
                <a:t>sp,k</a:t>
              </a:r>
              <a:r>
                <a:rPr sz="1650" b="0" i="0" lang="vi-VN">
                  <a:solidFill>
                    <a:srgbClr val="0B2545"/>
                  </a:solidFill>
                  <a:latin typeface="Cambria"/>
                  <a:ea typeface="Cambria"/>
                  <a:cs typeface="Cambria"/>
                </a:rPr>
                <a:t> = sat( </a:t>
              </a:r>
              <a:r>
                <a:rPr sz="1650" b="0" i="1" lang="vi-VN">
                  <a:solidFill>
                    <a:srgbClr val="0B2545"/>
                  </a:solidFill>
                  <a:latin typeface="Cambria"/>
                  <a:ea typeface="Cambria"/>
                  <a:cs typeface="Cambria"/>
                </a:rPr>
                <a:t>K</a:t>
              </a:r>
              <a:r>
                <a:rPr sz="1650" b="0" i="0" lang="vi-VN" baseline="-25000">
                  <a:solidFill>
                    <a:srgbClr val="0B2545"/>
                  </a:solidFill>
                  <a:latin typeface="Cambria"/>
                  <a:ea typeface="Cambria"/>
                  <a:cs typeface="Cambria"/>
                </a:rPr>
                <a:t>p</a:t>
              </a:r>
              <a:r>
                <a:rPr sz="1650" b="0" i="0" lang="vi-VN" baseline="30000">
                  <a:solidFill>
                    <a:srgbClr val="0B2545"/>
                  </a:solidFill>
                  <a:latin typeface="Cambria"/>
                  <a:ea typeface="Cambria"/>
                  <a:cs typeface="Cambria"/>
                </a:rPr>
                <a:t>θ</a:t>
              </a:r>
              <a:r>
                <a:rPr sz="1650" b="0" i="1" lang="vi-VN">
                  <a:solidFill>
                    <a:srgbClr val="0B2545"/>
                  </a:solidFill>
                  <a:latin typeface="Cambria"/>
                  <a:ea typeface="Cambria"/>
                  <a:cs typeface="Cambria"/>
                </a:rPr>
                <a:t>e</a:t>
              </a:r>
              <a:r>
                <a:rPr sz="1650" b="0" i="0" lang="vi-VN" baseline="-25000">
                  <a:solidFill>
                    <a:srgbClr val="0B2545"/>
                  </a:solidFill>
                  <a:latin typeface="Cambria"/>
                  <a:ea typeface="Cambria"/>
                  <a:cs typeface="Cambria"/>
                </a:rPr>
                <a:t>θ,k</a:t>
              </a:r>
              <a:r>
                <a:rPr sz="1650" b="0" i="0" lang="vi-VN">
                  <a:solidFill>
                    <a:srgbClr val="0B2545"/>
                  </a:solidFill>
                  <a:latin typeface="Cambria"/>
                  <a:ea typeface="Cambria"/>
                  <a:cs typeface="Cambria"/>
                </a:rPr>
                <a:t> , min( </a:t>
              </a:r>
              <a:r>
                <a:rPr sz="1650" b="0" i="1" lang="vi-VN">
                  <a:solidFill>
                    <a:srgbClr val="0B2545"/>
                  </a:solidFill>
                  <a:latin typeface="Cambria"/>
                  <a:ea typeface="Cambria"/>
                  <a:cs typeface="Cambria"/>
                </a:rPr>
                <a:t>ω</a:t>
              </a:r>
              <a:r>
                <a:rPr sz="1650" b="0" i="0" lang="vi-VN" baseline="-25000">
                  <a:solidFill>
                    <a:srgbClr val="0B2545"/>
                  </a:solidFill>
                  <a:latin typeface="Cambria"/>
                  <a:ea typeface="Cambria"/>
                  <a:cs typeface="Cambria"/>
                </a:rPr>
                <a:t>max</a:t>
              </a:r>
              <a:r>
                <a:rPr sz="1650" b="0" i="0" lang="vi-VN">
                  <a:solidFill>
                    <a:srgbClr val="0B2545"/>
                  </a:solidFill>
                  <a:latin typeface="Cambria"/>
                  <a:ea typeface="Cambria"/>
                  <a:cs typeface="Cambria"/>
                </a:rPr>
                <a:t> , √(2</a:t>
              </a:r>
              <a:r>
                <a:rPr sz="1650" b="0" i="1" lang="vi-VN">
                  <a:solidFill>
                    <a:srgbClr val="0B2545"/>
                  </a:solidFill>
                  <a:latin typeface="Cambria"/>
                  <a:ea typeface="Cambria"/>
                  <a:cs typeface="Cambria"/>
                </a:rPr>
                <a:t>a</a:t>
              </a:r>
              <a:r>
                <a:rPr sz="1650" b="0" i="0" lang="vi-VN" baseline="-25000">
                  <a:solidFill>
                    <a:srgbClr val="0B2545"/>
                  </a:solidFill>
                  <a:latin typeface="Cambria"/>
                  <a:ea typeface="Cambria"/>
                  <a:cs typeface="Cambria"/>
                </a:rPr>
                <a:t>br</a:t>
              </a:r>
              <a:r>
                <a:rPr sz="1650" b="0" i="0" lang="vi-VN">
                  <a:solidFill>
                    <a:srgbClr val="0B2545"/>
                  </a:solidFill>
                  <a:latin typeface="Cambria"/>
                  <a:ea typeface="Cambria"/>
                  <a:cs typeface="Cambria"/>
                </a:rPr>
                <a:t>|</a:t>
              </a:r>
              <a:r>
                <a:rPr sz="1650" b="0" i="1" lang="vi-VN">
                  <a:solidFill>
                    <a:srgbClr val="0B2545"/>
                  </a:solidFill>
                  <a:latin typeface="Cambria"/>
                  <a:ea typeface="Cambria"/>
                  <a:cs typeface="Cambria"/>
                </a:rPr>
                <a:t>e</a:t>
              </a:r>
              <a:r>
                <a:rPr sz="1650" b="0" i="0" lang="vi-VN" baseline="-25000">
                  <a:solidFill>
                    <a:srgbClr val="0B2545"/>
                  </a:solidFill>
                  <a:latin typeface="Cambria"/>
                  <a:ea typeface="Cambria"/>
                  <a:cs typeface="Cambria"/>
                </a:rPr>
                <a:t>θ,k</a:t>
              </a:r>
              <a:r>
                <a:rPr sz="1650" b="0" i="0" lang="vi-VN">
                  <a:solidFill>
                    <a:srgbClr val="0B2545"/>
                  </a:solidFill>
                  <a:latin typeface="Cambria"/>
                  <a:ea typeface="Cambria"/>
                  <a:cs typeface="Cambria"/>
                </a:rPr>
                <a:t>|) ) )</a:t>
              </a:r>
            </a:p>
          </p:txBody>
        </p:sp>
        <p:sp>
          <p:nvSpPr>
            <p:cNvPr id="49" name="TextBox 48"/>
            <p:cNvSpPr txBox="1"/>
            <p:nvPr/>
          </p:nvSpPr>
          <p:spPr>
            <a:xfrm>
              <a:off x="685800" y="4937760"/>
              <a:ext cx="5943600" cy="457200"/>
            </a:xfrm>
            <a:prstGeom prst="rect">
              <a:avLst/>
            </a:prstGeom>
            <a:noFill/>
          </p:spPr>
          <p:txBody>
            <a:bodyPr wrap="square" lIns="0" tIns="0" rIns="0" bIns="0" anchor="ctr">
              <a:noAutofit/>
            </a:bodyPr>
            <a:lstStyle/>
            <a:p>
              <a:pPr algn="l"/>
              <a:r>
                <a:rPr sz="1650" b="0" i="1" lang="vi-VN">
                  <a:solidFill>
                    <a:srgbClr val="0B2545"/>
                  </a:solidFill>
                  <a:latin typeface="Cambria"/>
                  <a:ea typeface="Cambria"/>
                  <a:cs typeface="Cambria"/>
                </a:rPr>
                <a:t>u</a:t>
              </a:r>
              <a:r>
                <a:rPr sz="1650" b="0" i="0" lang="vi-VN" baseline="-25000">
                  <a:solidFill>
                    <a:srgbClr val="0B2545"/>
                  </a:solidFill>
                  <a:latin typeface="Cambria"/>
                  <a:ea typeface="Cambria"/>
                  <a:cs typeface="Cambria"/>
                </a:rPr>
                <a:t>k</a:t>
              </a:r>
              <a:r>
                <a:rPr sz="1650" b="0" i="0" lang="vi-VN">
                  <a:solidFill>
                    <a:srgbClr val="0B2545"/>
                  </a:solidFill>
                  <a:latin typeface="Cambria"/>
                  <a:ea typeface="Cambria"/>
                  <a:cs typeface="Cambria"/>
                </a:rPr>
                <a:t> = </a:t>
              </a:r>
              <a:r>
                <a:rPr sz="1650" b="0" i="1" lang="vi-VN">
                  <a:solidFill>
                    <a:srgbClr val="0B2545"/>
                  </a:solidFill>
                  <a:latin typeface="Cambria"/>
                  <a:ea typeface="Cambria"/>
                  <a:cs typeface="Cambria"/>
                </a:rPr>
                <a:t>K</a:t>
              </a:r>
              <a:r>
                <a:rPr sz="1650" b="0" i="0" lang="vi-VN" baseline="-25000">
                  <a:solidFill>
                    <a:srgbClr val="0B2545"/>
                  </a:solidFill>
                  <a:latin typeface="Cambria"/>
                  <a:ea typeface="Cambria"/>
                  <a:cs typeface="Cambria"/>
                </a:rPr>
                <a:t>ff</a:t>
              </a:r>
              <a:r>
                <a:rPr sz="1650" b="0" i="1" lang="vi-VN">
                  <a:solidFill>
                    <a:srgbClr val="0B2545"/>
                  </a:solidFill>
                  <a:latin typeface="Cambria"/>
                  <a:ea typeface="Cambria"/>
                  <a:cs typeface="Cambria"/>
                </a:rPr>
                <a:t>ω</a:t>
              </a:r>
              <a:r>
                <a:rPr sz="1650" b="0" i="0" lang="vi-VN" baseline="-25000">
                  <a:solidFill>
                    <a:srgbClr val="0B2545"/>
                  </a:solidFill>
                  <a:latin typeface="Cambria"/>
                  <a:ea typeface="Cambria"/>
                  <a:cs typeface="Cambria"/>
                </a:rPr>
                <a:t>sp,k</a:t>
              </a:r>
              <a:r>
                <a:rPr sz="1650" b="0" i="0" lang="vi-VN">
                  <a:solidFill>
                    <a:srgbClr val="0B2545"/>
                  </a:solidFill>
                  <a:latin typeface="Cambria"/>
                  <a:ea typeface="Cambria"/>
                  <a:cs typeface="Cambria"/>
                </a:rPr>
                <a:t> + </a:t>
              </a:r>
              <a:r>
                <a:rPr sz="1650" b="0" i="1" lang="vi-VN">
                  <a:solidFill>
                    <a:srgbClr val="0B2545"/>
                  </a:solidFill>
                  <a:latin typeface="Cambria"/>
                  <a:ea typeface="Cambria"/>
                  <a:cs typeface="Cambria"/>
                </a:rPr>
                <a:t>K</a:t>
              </a:r>
              <a:r>
                <a:rPr sz="1650" b="0" i="0" lang="vi-VN" baseline="-25000">
                  <a:solidFill>
                    <a:srgbClr val="0B2545"/>
                  </a:solidFill>
                  <a:latin typeface="Cambria"/>
                  <a:ea typeface="Cambria"/>
                  <a:cs typeface="Cambria"/>
                </a:rPr>
                <a:t>p</a:t>
              </a:r>
              <a:r>
                <a:rPr sz="1650" b="0" i="0" lang="vi-VN" baseline="30000">
                  <a:solidFill>
                    <a:srgbClr val="0B2545"/>
                  </a:solidFill>
                  <a:latin typeface="Cambria"/>
                  <a:ea typeface="Cambria"/>
                  <a:cs typeface="Cambria"/>
                </a:rPr>
                <a:t>ω</a:t>
              </a:r>
              <a:r>
                <a:rPr sz="1650" b="0" i="1" lang="vi-VN">
                  <a:solidFill>
                    <a:srgbClr val="0B2545"/>
                  </a:solidFill>
                  <a:latin typeface="Cambria"/>
                  <a:ea typeface="Cambria"/>
                  <a:cs typeface="Cambria"/>
                </a:rPr>
                <a:t>ε</a:t>
              </a:r>
              <a:r>
                <a:rPr sz="1650" b="0" i="0" lang="vi-VN" baseline="-25000">
                  <a:solidFill>
                    <a:srgbClr val="0B2545"/>
                  </a:solidFill>
                  <a:latin typeface="Cambria"/>
                  <a:ea typeface="Cambria"/>
                  <a:cs typeface="Cambria"/>
                </a:rPr>
                <a:t>k</a:t>
              </a:r>
              <a:r>
                <a:rPr sz="1650" b="0" i="0" lang="vi-VN">
                  <a:solidFill>
                    <a:srgbClr val="0B2545"/>
                  </a:solidFill>
                  <a:latin typeface="Cambria"/>
                  <a:ea typeface="Cambria"/>
                  <a:cs typeface="Cambria"/>
                </a:rPr>
                <a:t> + </a:t>
              </a:r>
              <a:r>
                <a:rPr sz="1650" b="0" i="1" lang="vi-VN">
                  <a:solidFill>
                    <a:srgbClr val="0B2545"/>
                  </a:solidFill>
                  <a:latin typeface="Cambria"/>
                  <a:ea typeface="Cambria"/>
                  <a:cs typeface="Cambria"/>
                </a:rPr>
                <a:t>I</a:t>
              </a:r>
              <a:r>
                <a:rPr sz="1650" b="0" i="0" lang="vi-VN" baseline="-25000">
                  <a:solidFill>
                    <a:srgbClr val="0B2545"/>
                  </a:solidFill>
                  <a:latin typeface="Cambria"/>
                  <a:ea typeface="Cambria"/>
                  <a:cs typeface="Cambria"/>
                </a:rPr>
                <a:t>ω,k</a:t>
              </a:r>
              <a:r>
                <a:rPr sz="1650" b="0" i="0" lang="vi-VN">
                  <a:solidFill>
                    <a:srgbClr val="0B2545"/>
                  </a:solidFill>
                  <a:latin typeface="Cambria"/>
                  <a:ea typeface="Cambria"/>
                  <a:cs typeface="Cambria"/>
                </a:rPr>
                <a:t> + </a:t>
              </a:r>
              <a:r>
                <a:rPr sz="1650" b="0" i="1" lang="vi-VN">
                  <a:solidFill>
                    <a:srgbClr val="0B2545"/>
                  </a:solidFill>
                  <a:latin typeface="Cambria"/>
                  <a:ea typeface="Cambria"/>
                  <a:cs typeface="Cambria"/>
                </a:rPr>
                <a:t>u</a:t>
              </a:r>
              <a:r>
                <a:rPr sz="1650" b="0" i="0" lang="vi-VN" baseline="-25000">
                  <a:solidFill>
                    <a:srgbClr val="0B2545"/>
                  </a:solidFill>
                  <a:latin typeface="Cambria"/>
                  <a:ea typeface="Cambria"/>
                  <a:cs typeface="Cambria"/>
                </a:rPr>
                <a:t>ff,k</a:t>
              </a:r>
              <a:r>
                <a:rPr sz="1650" b="0" i="0" lang="vi-VN">
                  <a:solidFill>
                    <a:srgbClr val="0B2545"/>
                  </a:solidFill>
                  <a:latin typeface="Cambria"/>
                  <a:ea typeface="Cambria"/>
                  <a:cs typeface="Cambria"/>
                </a:rPr>
                <a:t> − </a:t>
              </a:r>
              <a:r>
                <a:rPr sz="1650" b="0" i="1" lang="vi-VN">
                  <a:solidFill>
                    <a:srgbClr val="0B2545"/>
                  </a:solidFill>
                  <a:latin typeface="Cambria"/>
                  <a:ea typeface="Cambria"/>
                  <a:cs typeface="Cambria"/>
                </a:rPr>
                <a:t>u</a:t>
              </a:r>
              <a:r>
                <a:rPr sz="1650" b="0" i="0" lang="vi-VN" baseline="-25000">
                  <a:solidFill>
                    <a:srgbClr val="0B2545"/>
                  </a:solidFill>
                  <a:latin typeface="Cambria"/>
                  <a:ea typeface="Cambria"/>
                  <a:cs typeface="Cambria"/>
                </a:rPr>
                <a:t>d,k</a:t>
              </a:r>
            </a:p>
          </p:txBody>
        </p:sp>
        <p:sp>
          <p:nvSpPr>
            <p:cNvPr id="50" name="TextBox 49"/>
            <p:cNvSpPr txBox="1"/>
            <p:nvPr/>
          </p:nvSpPr>
          <p:spPr>
            <a:xfrm>
              <a:off x="685800" y="5413248"/>
              <a:ext cx="5943600" cy="603504"/>
            </a:xfrm>
            <a:prstGeom prst="rect">
              <a:avLst/>
            </a:prstGeom>
            <a:noFill/>
          </p:spPr>
          <p:txBody>
            <a:bodyPr wrap="square" lIns="0" tIns="0" rIns="0" bIns="0" anchor="t">
              <a:noAutofit/>
            </a:bodyPr>
            <a:lstStyle/>
            <a:p>
              <a:pPr algn="l">
                <a:lnSpc>
                  <a:spcPct val="98000"/>
                </a:lnSpc>
              </a:pPr>
              <a:r>
                <a:rPr sz="1250" b="0" i="0" lang="vi-VN">
                  <a:solidFill>
                    <a:srgbClr val="1E2B3A"/>
                  </a:solidFill>
                  <a:latin typeface="Arial"/>
                  <a:ea typeface="Arial"/>
                  <a:cs typeface="Arial"/>
                </a:rPr>
                <a:t>Vòng ngoài thuần P (</a:t>
              </a:r>
              <a:r>
                <a:rPr sz="1250" b="0" i="1" lang="vi-VN">
                  <a:solidFill>
                    <a:srgbClr val="1E2B3A"/>
                  </a:solidFill>
                  <a:latin typeface="Cambria"/>
                  <a:ea typeface="Cambria"/>
                  <a:cs typeface="Cambria"/>
                </a:rPr>
                <a:t>K</a:t>
              </a:r>
              <a:r>
                <a:rPr sz="1250" b="0" i="0" lang="vi-VN" baseline="-25000">
                  <a:solidFill>
                    <a:srgbClr val="1E2B3A"/>
                  </a:solidFill>
                  <a:latin typeface="Cambria"/>
                  <a:ea typeface="Cambria"/>
                  <a:cs typeface="Cambria"/>
                </a:rPr>
                <a:t>i</a:t>
              </a:r>
              <a:r>
                <a:rPr sz="1250" b="0" i="0" lang="vi-VN" baseline="30000">
                  <a:solidFill>
                    <a:srgbClr val="1E2B3A"/>
                  </a:solidFill>
                  <a:latin typeface="Cambria"/>
                  <a:ea typeface="Cambria"/>
                  <a:cs typeface="Cambria"/>
                </a:rPr>
                <a:t>θ</a:t>
              </a:r>
              <a:r>
                <a:rPr sz="1250" b="0" i="0" lang="vi-VN">
                  <a:solidFill>
                    <a:srgbClr val="1E2B3A"/>
                  </a:solidFill>
                  <a:latin typeface="Arial"/>
                  <a:ea typeface="Arial"/>
                  <a:cs typeface="Arial"/>
                </a:rPr>
                <a:t> = 0): tránh hai tích phân lồng nhau · tích phân có điều kiện chống bão hòa · lệnh bù cộng </a:t>
              </a:r>
              <a:r>
                <a:rPr sz="1250" b="1" i="0" lang="vi-VN">
                  <a:solidFill>
                    <a:srgbClr val="1E2B3A"/>
                  </a:solidFill>
                  <a:latin typeface="Arial"/>
                  <a:ea typeface="Arial"/>
                  <a:cs typeface="Arial"/>
                </a:rPr>
                <a:t>trước</a:t>
              </a:r>
              <a:r>
                <a:rPr sz="1250" b="0" i="0" lang="vi-VN">
                  <a:solidFill>
                    <a:srgbClr val="1E2B3A"/>
                  </a:solidFill>
                  <a:latin typeface="Arial"/>
                  <a:ea typeface="Arial"/>
                  <a:cs typeface="Arial"/>
                </a:rPr>
                <a:t> khâu giới hạn</a:t>
              </a:r>
            </a:p>
          </p:txBody>
        </p:sp>
      </p:grpSp>
      <p:grpSp>
        <p:nvGrpSpPr>
          <p:cNvPr id="51" name="Group 50"/>
          <p:cNvGrpSpPr/>
          <p:nvPr/>
        </p:nvGrpSpPr>
        <p:grpSpPr>
          <a:xfrm>
            <a:off x="6949440" y="4069080"/>
            <a:ext cx="4754880" cy="1984248"/>
            <a:chOff x="6949440" y="4069080"/>
            <a:chExt cx="4754880" cy="1984248"/>
          </a:xfrm>
        </p:grpSpPr>
        <p:sp>
          <p:nvSpPr>
            <p:cNvPr id="52" name="Rounded Rectangle 51"/>
            <p:cNvSpPr/>
            <p:nvPr/>
          </p:nvSpPr>
          <p:spPr>
            <a:xfrm>
              <a:off x="6949440" y="4069080"/>
              <a:ext cx="4754880" cy="1984248"/>
            </a:xfrm>
            <a:prstGeom prst="roundRect">
              <a:avLst>
                <a:gd name="adj" fmla="val 46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53" name="Group 52"/>
            <p:cNvGrpSpPr/>
            <p:nvPr/>
          </p:nvGrpSpPr>
          <p:grpSpPr>
            <a:xfrm>
              <a:off x="7086600" y="4169664"/>
              <a:ext cx="4572000" cy="356616"/>
              <a:chOff x="7086600" y="4169664"/>
              <a:chExt cx="4572000" cy="356616"/>
            </a:xfrm>
          </p:grpSpPr>
          <p:sp>
            <p:nvSpPr>
              <p:cNvPr id="54" name="Rectangle 53"/>
              <p:cNvSpPr/>
              <p:nvPr/>
            </p:nvSpPr>
            <p:spPr>
              <a:xfrm>
                <a:off x="7086600" y="4169664"/>
                <a:ext cx="4572000" cy="356616"/>
              </a:xfrm>
              <a:prstGeom prst="rect">
                <a:avLst/>
              </a:prstGeom>
              <a:solidFill>
                <a:srgbClr val="0B2545"/>
              </a:solidFill>
              <a:ln>
                <a:noFill/>
              </a:ln>
            </p:spPr>
            <p:txBody>
              <a:bodyPr rtlCol="0" anchor="ctr" lIns="54864" tIns="54864" rIns="54864" bIns="54864" wrap="square">
                <a:noAutofit/>
              </a:bodyPr>
              <a:lstStyle/>
              <a:p>
                <a:pPr algn="ctr"/>
              </a:p>
            </p:txBody>
          </p:sp>
          <p:sp>
            <p:nvSpPr>
              <p:cNvPr id="55" name="TextBox 54"/>
              <p:cNvSpPr txBox="1"/>
              <p:nvPr/>
            </p:nvSpPr>
            <p:spPr>
              <a:xfrm>
                <a:off x="7141464" y="4169664"/>
                <a:ext cx="1810512" cy="356616"/>
              </a:xfrm>
              <a:prstGeom prst="rect">
                <a:avLst/>
              </a:prstGeom>
              <a:noFill/>
            </p:spPr>
            <p:txBody>
              <a:bodyPr wrap="square" lIns="0" tIns="0" rIns="0" bIns="0" anchor="ctr">
                <a:noAutofit/>
              </a:bodyPr>
              <a:lstStyle/>
              <a:p>
                <a:pPr algn="l">
                  <a:lnSpc>
                    <a:spcPct val="95000"/>
                  </a:lnSpc>
                </a:pPr>
                <a:r>
                  <a:rPr sz="1400" b="1" i="0" lang="vi-VN">
                    <a:solidFill>
                      <a:srgbClr val="FFFFFF"/>
                    </a:solidFill>
                    <a:latin typeface="Arial"/>
                    <a:ea typeface="Arial"/>
                    <a:cs typeface="Arial"/>
                  </a:rPr>
                  <a:t>Hệ số</a:t>
                </a:r>
              </a:p>
            </p:txBody>
          </p:sp>
          <p:sp>
            <p:nvSpPr>
              <p:cNvPr id="56" name="TextBox 55"/>
              <p:cNvSpPr txBox="1"/>
              <p:nvPr/>
            </p:nvSpPr>
            <p:spPr>
              <a:xfrm>
                <a:off x="9061704" y="4169664"/>
                <a:ext cx="1216152" cy="356616"/>
              </a:xfrm>
              <a:prstGeom prst="rect">
                <a:avLst/>
              </a:prstGeom>
              <a:noFill/>
            </p:spPr>
            <p:txBody>
              <a:bodyPr wrap="square" lIns="0" tIns="0" rIns="0" bIns="0" anchor="ctr">
                <a:noAutofit/>
              </a:bodyPr>
              <a:lstStyle/>
              <a:p>
                <a:pPr algn="ctr">
                  <a:lnSpc>
                    <a:spcPct val="95000"/>
                  </a:lnSpc>
                </a:pPr>
                <a:r>
                  <a:rPr sz="1400" b="1" i="0" lang="vi-VN">
                    <a:solidFill>
                      <a:srgbClr val="FFFFFF"/>
                    </a:solidFill>
                    <a:latin typeface="Arial"/>
                    <a:ea typeface="Arial"/>
                    <a:cs typeface="Arial"/>
                  </a:rPr>
                  <a:t>● Yaw</a:t>
                </a:r>
              </a:p>
            </p:txBody>
          </p:sp>
          <p:sp>
            <p:nvSpPr>
              <p:cNvPr id="57" name="TextBox 56"/>
              <p:cNvSpPr txBox="1"/>
              <p:nvPr/>
            </p:nvSpPr>
            <p:spPr>
              <a:xfrm>
                <a:off x="10387584" y="4169664"/>
                <a:ext cx="1216152" cy="356616"/>
              </a:xfrm>
              <a:prstGeom prst="rect">
                <a:avLst/>
              </a:prstGeom>
              <a:noFill/>
            </p:spPr>
            <p:txBody>
              <a:bodyPr wrap="square" lIns="0" tIns="0" rIns="0" bIns="0" anchor="ctr">
                <a:noAutofit/>
              </a:bodyPr>
              <a:lstStyle/>
              <a:p>
                <a:pPr algn="ctr">
                  <a:lnSpc>
                    <a:spcPct val="95000"/>
                  </a:lnSpc>
                </a:pPr>
                <a:r>
                  <a:rPr sz="1400" b="1" i="0" lang="vi-VN">
                    <a:solidFill>
                      <a:srgbClr val="FFFFFF"/>
                    </a:solidFill>
                    <a:latin typeface="Arial"/>
                    <a:ea typeface="Arial"/>
                    <a:cs typeface="Arial"/>
                  </a:rPr>
                  <a:t>■ Pitch</a:t>
                </a:r>
              </a:p>
            </p:txBody>
          </p:sp>
        </p:grpSp>
        <p:grpSp>
          <p:nvGrpSpPr>
            <p:cNvPr id="58" name="Group 57"/>
            <p:cNvGrpSpPr/>
            <p:nvPr/>
          </p:nvGrpSpPr>
          <p:grpSpPr>
            <a:xfrm>
              <a:off x="7086600" y="4526280"/>
              <a:ext cx="4572000" cy="356616"/>
              <a:chOff x="7086600" y="4526280"/>
              <a:chExt cx="4572000" cy="356616"/>
            </a:xfrm>
          </p:grpSpPr>
          <p:sp>
            <p:nvSpPr>
              <p:cNvPr id="59" name="Rectangle 58"/>
              <p:cNvSpPr/>
              <p:nvPr/>
            </p:nvSpPr>
            <p:spPr>
              <a:xfrm>
                <a:off x="7086600" y="4526280"/>
                <a:ext cx="4572000" cy="356616"/>
              </a:xfrm>
              <a:prstGeom prst="rect">
                <a:avLst/>
              </a:prstGeom>
              <a:solidFill>
                <a:srgbClr val="FFFFFF"/>
              </a:solidFill>
              <a:ln>
                <a:noFill/>
              </a:ln>
            </p:spPr>
            <p:txBody>
              <a:bodyPr rtlCol="0" anchor="ctr" lIns="54864" tIns="54864" rIns="54864" bIns="54864" wrap="square">
                <a:noAutofit/>
              </a:bodyPr>
              <a:lstStyle/>
              <a:p>
                <a:pPr algn="ctr"/>
              </a:p>
            </p:txBody>
          </p:sp>
          <p:sp>
            <p:nvSpPr>
              <p:cNvPr id="60" name="TextBox 59"/>
              <p:cNvSpPr txBox="1"/>
              <p:nvPr/>
            </p:nvSpPr>
            <p:spPr>
              <a:xfrm>
                <a:off x="7141464" y="4526280"/>
                <a:ext cx="1810512" cy="356616"/>
              </a:xfrm>
              <a:prstGeom prst="rect">
                <a:avLst/>
              </a:prstGeom>
              <a:noFill/>
            </p:spPr>
            <p:txBody>
              <a:bodyPr wrap="square" lIns="0" tIns="0" rIns="0" bIns="0" anchor="ctr">
                <a:noAutofit/>
              </a:bodyPr>
              <a:lstStyle/>
              <a:p>
                <a:pPr algn="l">
                  <a:lnSpc>
                    <a:spcPct val="95000"/>
                  </a:lnSpc>
                </a:pPr>
                <a:r>
                  <a:rPr sz="1450" b="0" i="1" lang="vi-VN">
                    <a:solidFill>
                      <a:srgbClr val="1E2B3A"/>
                    </a:solidFill>
                    <a:latin typeface="Cambria"/>
                    <a:ea typeface="Cambria"/>
                    <a:cs typeface="Cambria"/>
                  </a:rPr>
                  <a:t>K</a:t>
                </a:r>
                <a:r>
                  <a:rPr sz="1450" b="0" i="0" lang="vi-VN" baseline="-25000">
                    <a:solidFill>
                      <a:srgbClr val="1E2B3A"/>
                    </a:solidFill>
                    <a:latin typeface="Cambria"/>
                    <a:ea typeface="Cambria"/>
                    <a:cs typeface="Cambria"/>
                  </a:rPr>
                  <a:t>p</a:t>
                </a:r>
                <a:r>
                  <a:rPr sz="1450" b="0" i="0" lang="vi-VN" baseline="30000">
                    <a:solidFill>
                      <a:srgbClr val="1E2B3A"/>
                    </a:solidFill>
                    <a:latin typeface="Cambria"/>
                    <a:ea typeface="Cambria"/>
                    <a:cs typeface="Cambria"/>
                  </a:rPr>
                  <a:t>θ</a:t>
                </a:r>
                <a:r>
                  <a:rPr sz="1450" b="0" i="0" lang="vi-VN">
                    <a:solidFill>
                      <a:srgbClr val="1E2B3A"/>
                    </a:solidFill>
                    <a:latin typeface="Arial"/>
                    <a:ea typeface="Arial"/>
                    <a:cs typeface="Arial"/>
                  </a:rPr>
                  <a:t> (s</a:t>
                </a:r>
                <a:r>
                  <a:rPr sz="1450" b="0" i="0" lang="vi-VN" baseline="30000">
                    <a:solidFill>
                      <a:srgbClr val="1E2B3A"/>
                    </a:solidFill>
                    <a:latin typeface="Arial"/>
                    <a:ea typeface="Arial"/>
                    <a:cs typeface="Arial"/>
                  </a:rPr>
                  <a:t>−1</a:t>
                </a:r>
                <a:r>
                  <a:rPr sz="1450" b="0" i="0" lang="vi-VN">
                    <a:solidFill>
                      <a:srgbClr val="1E2B3A"/>
                    </a:solidFill>
                    <a:latin typeface="Arial"/>
                    <a:ea typeface="Arial"/>
                    <a:cs typeface="Arial"/>
                  </a:rPr>
                  <a:t>)</a:t>
                </a:r>
              </a:p>
            </p:txBody>
          </p:sp>
          <p:sp>
            <p:nvSpPr>
              <p:cNvPr id="61" name="TextBox 60"/>
              <p:cNvSpPr txBox="1"/>
              <p:nvPr/>
            </p:nvSpPr>
            <p:spPr>
              <a:xfrm>
                <a:off x="9061704" y="4526280"/>
                <a:ext cx="1216152" cy="356616"/>
              </a:xfrm>
              <a:prstGeom prst="rect">
                <a:avLst/>
              </a:prstGeom>
              <a:noFill/>
            </p:spPr>
            <p:txBody>
              <a:bodyPr wrap="square" lIns="0" tIns="0" rIns="0" bIns="0" anchor="ctr">
                <a:noAutofit/>
              </a:bodyPr>
              <a:lstStyle/>
              <a:p>
                <a:pPr algn="ctr">
                  <a:lnSpc>
                    <a:spcPct val="95000"/>
                  </a:lnSpc>
                </a:pPr>
                <a:r>
                  <a:rPr sz="1450" b="0" i="0" lang="vi-VN">
                    <a:solidFill>
                      <a:srgbClr val="1E2B3A"/>
                    </a:solidFill>
                    <a:latin typeface="Arial"/>
                    <a:ea typeface="Arial"/>
                    <a:cs typeface="Arial"/>
                  </a:rPr>
                  <a:t>9,5</a:t>
                </a:r>
              </a:p>
            </p:txBody>
          </p:sp>
          <p:sp>
            <p:nvSpPr>
              <p:cNvPr id="62" name="TextBox 61"/>
              <p:cNvSpPr txBox="1"/>
              <p:nvPr/>
            </p:nvSpPr>
            <p:spPr>
              <a:xfrm>
                <a:off x="10387584" y="4526280"/>
                <a:ext cx="1216152" cy="356616"/>
              </a:xfrm>
              <a:prstGeom prst="rect">
                <a:avLst/>
              </a:prstGeom>
              <a:noFill/>
            </p:spPr>
            <p:txBody>
              <a:bodyPr wrap="square" lIns="0" tIns="0" rIns="0" bIns="0" anchor="ctr">
                <a:noAutofit/>
              </a:bodyPr>
              <a:lstStyle/>
              <a:p>
                <a:pPr algn="ctr">
                  <a:lnSpc>
                    <a:spcPct val="95000"/>
                  </a:lnSpc>
                </a:pPr>
                <a:r>
                  <a:rPr sz="1450" b="0" i="0" lang="vi-VN">
                    <a:solidFill>
                      <a:srgbClr val="1E2B3A"/>
                    </a:solidFill>
                    <a:latin typeface="Arial"/>
                    <a:ea typeface="Arial"/>
                    <a:cs typeface="Arial"/>
                  </a:rPr>
                  <a:t>38,0</a:t>
                </a:r>
              </a:p>
            </p:txBody>
          </p:sp>
        </p:grpSp>
        <p:grpSp>
          <p:nvGrpSpPr>
            <p:cNvPr id="63" name="Group 62"/>
            <p:cNvGrpSpPr/>
            <p:nvPr/>
          </p:nvGrpSpPr>
          <p:grpSpPr>
            <a:xfrm>
              <a:off x="7086600" y="4882896"/>
              <a:ext cx="4572000" cy="356616"/>
              <a:chOff x="7086600" y="4882896"/>
              <a:chExt cx="4572000" cy="356616"/>
            </a:xfrm>
          </p:grpSpPr>
          <p:sp>
            <p:nvSpPr>
              <p:cNvPr id="64" name="Rectangle 63"/>
              <p:cNvSpPr/>
              <p:nvPr/>
            </p:nvSpPr>
            <p:spPr>
              <a:xfrm>
                <a:off x="7086600" y="4882896"/>
                <a:ext cx="4572000" cy="356616"/>
              </a:xfrm>
              <a:prstGeom prst="rect">
                <a:avLst/>
              </a:prstGeom>
              <a:solidFill>
                <a:srgbClr val="F4F8FC"/>
              </a:solidFill>
              <a:ln>
                <a:noFill/>
              </a:ln>
            </p:spPr>
            <p:txBody>
              <a:bodyPr rtlCol="0" anchor="ctr" lIns="54864" tIns="54864" rIns="54864" bIns="54864" wrap="square">
                <a:noAutofit/>
              </a:bodyPr>
              <a:lstStyle/>
              <a:p>
                <a:pPr algn="ctr"/>
              </a:p>
            </p:txBody>
          </p:sp>
          <p:sp>
            <p:nvSpPr>
              <p:cNvPr id="65" name="TextBox 64"/>
              <p:cNvSpPr txBox="1"/>
              <p:nvPr/>
            </p:nvSpPr>
            <p:spPr>
              <a:xfrm>
                <a:off x="7141464" y="4882896"/>
                <a:ext cx="1810512" cy="356616"/>
              </a:xfrm>
              <a:prstGeom prst="rect">
                <a:avLst/>
              </a:prstGeom>
              <a:noFill/>
            </p:spPr>
            <p:txBody>
              <a:bodyPr wrap="square" lIns="0" tIns="0" rIns="0" bIns="0" anchor="ctr">
                <a:noAutofit/>
              </a:bodyPr>
              <a:lstStyle/>
              <a:p>
                <a:pPr algn="l">
                  <a:lnSpc>
                    <a:spcPct val="95000"/>
                  </a:lnSpc>
                </a:pPr>
                <a:r>
                  <a:rPr sz="1450" b="0" i="1" lang="vi-VN">
                    <a:solidFill>
                      <a:srgbClr val="1E2B3A"/>
                    </a:solidFill>
                    <a:latin typeface="Cambria"/>
                    <a:ea typeface="Cambria"/>
                    <a:cs typeface="Cambria"/>
                  </a:rPr>
                  <a:t>K</a:t>
                </a:r>
                <a:r>
                  <a:rPr sz="1450" b="0" i="0" lang="vi-VN" baseline="-25000">
                    <a:solidFill>
                      <a:srgbClr val="1E2B3A"/>
                    </a:solidFill>
                    <a:latin typeface="Cambria"/>
                    <a:ea typeface="Cambria"/>
                    <a:cs typeface="Cambria"/>
                  </a:rPr>
                  <a:t>p</a:t>
                </a:r>
                <a:r>
                  <a:rPr sz="1450" b="0" i="0" lang="vi-VN" baseline="30000">
                    <a:solidFill>
                      <a:srgbClr val="1E2B3A"/>
                    </a:solidFill>
                    <a:latin typeface="Cambria"/>
                    <a:ea typeface="Cambria"/>
                    <a:cs typeface="Cambria"/>
                  </a:rPr>
                  <a:t>ω</a:t>
                </a:r>
              </a:p>
            </p:txBody>
          </p:sp>
          <p:sp>
            <p:nvSpPr>
              <p:cNvPr id="66" name="TextBox 65"/>
              <p:cNvSpPr txBox="1"/>
              <p:nvPr/>
            </p:nvSpPr>
            <p:spPr>
              <a:xfrm>
                <a:off x="9061704" y="4882896"/>
                <a:ext cx="1216152" cy="356616"/>
              </a:xfrm>
              <a:prstGeom prst="rect">
                <a:avLst/>
              </a:prstGeom>
              <a:noFill/>
            </p:spPr>
            <p:txBody>
              <a:bodyPr wrap="square" lIns="0" tIns="0" rIns="0" bIns="0" anchor="ctr">
                <a:noAutofit/>
              </a:bodyPr>
              <a:lstStyle/>
              <a:p>
                <a:pPr algn="ctr">
                  <a:lnSpc>
                    <a:spcPct val="95000"/>
                  </a:lnSpc>
                </a:pPr>
                <a:r>
                  <a:rPr sz="1450" b="0" i="0" lang="vi-VN">
                    <a:solidFill>
                      <a:srgbClr val="1E2B3A"/>
                    </a:solidFill>
                    <a:latin typeface="Arial"/>
                    <a:ea typeface="Arial"/>
                    <a:cs typeface="Arial"/>
                  </a:rPr>
                  <a:t>0,28</a:t>
                </a:r>
              </a:p>
            </p:txBody>
          </p:sp>
          <p:sp>
            <p:nvSpPr>
              <p:cNvPr id="67" name="TextBox 66"/>
              <p:cNvSpPr txBox="1"/>
              <p:nvPr/>
            </p:nvSpPr>
            <p:spPr>
              <a:xfrm>
                <a:off x="10387584" y="4882896"/>
                <a:ext cx="1216152" cy="356616"/>
              </a:xfrm>
              <a:prstGeom prst="rect">
                <a:avLst/>
              </a:prstGeom>
              <a:noFill/>
            </p:spPr>
            <p:txBody>
              <a:bodyPr wrap="square" lIns="0" tIns="0" rIns="0" bIns="0" anchor="ctr">
                <a:noAutofit/>
              </a:bodyPr>
              <a:lstStyle/>
              <a:p>
                <a:pPr algn="ctr">
                  <a:lnSpc>
                    <a:spcPct val="95000"/>
                  </a:lnSpc>
                </a:pPr>
                <a:r>
                  <a:rPr sz="1450" b="0" i="0" lang="vi-VN">
                    <a:solidFill>
                      <a:srgbClr val="1E2B3A"/>
                    </a:solidFill>
                    <a:latin typeface="Arial"/>
                    <a:ea typeface="Arial"/>
                    <a:cs typeface="Arial"/>
                  </a:rPr>
                  <a:t>0,15</a:t>
                </a:r>
              </a:p>
            </p:txBody>
          </p:sp>
        </p:grpSp>
        <p:grpSp>
          <p:nvGrpSpPr>
            <p:cNvPr id="68" name="Group 67"/>
            <p:cNvGrpSpPr/>
            <p:nvPr/>
          </p:nvGrpSpPr>
          <p:grpSpPr>
            <a:xfrm>
              <a:off x="7086600" y="5239512"/>
              <a:ext cx="4572000" cy="356616"/>
              <a:chOff x="7086600" y="5239512"/>
              <a:chExt cx="4572000" cy="356616"/>
            </a:xfrm>
          </p:grpSpPr>
          <p:sp>
            <p:nvSpPr>
              <p:cNvPr id="69" name="Rectangle 68"/>
              <p:cNvSpPr/>
              <p:nvPr/>
            </p:nvSpPr>
            <p:spPr>
              <a:xfrm>
                <a:off x="7086600" y="5239512"/>
                <a:ext cx="4572000" cy="356616"/>
              </a:xfrm>
              <a:prstGeom prst="rect">
                <a:avLst/>
              </a:prstGeom>
              <a:solidFill>
                <a:srgbClr val="FFFFFF"/>
              </a:solidFill>
              <a:ln>
                <a:noFill/>
              </a:ln>
            </p:spPr>
            <p:txBody>
              <a:bodyPr rtlCol="0" anchor="ctr" lIns="54864" tIns="54864" rIns="54864" bIns="54864" wrap="square">
                <a:noAutofit/>
              </a:bodyPr>
              <a:lstStyle/>
              <a:p>
                <a:pPr algn="ctr"/>
              </a:p>
            </p:txBody>
          </p:sp>
          <p:sp>
            <p:nvSpPr>
              <p:cNvPr id="70" name="TextBox 69"/>
              <p:cNvSpPr txBox="1"/>
              <p:nvPr/>
            </p:nvSpPr>
            <p:spPr>
              <a:xfrm>
                <a:off x="7141464" y="5239512"/>
                <a:ext cx="1810512" cy="356616"/>
              </a:xfrm>
              <a:prstGeom prst="rect">
                <a:avLst/>
              </a:prstGeom>
              <a:noFill/>
            </p:spPr>
            <p:txBody>
              <a:bodyPr wrap="square" lIns="0" tIns="0" rIns="0" bIns="0" anchor="ctr">
                <a:noAutofit/>
              </a:bodyPr>
              <a:lstStyle/>
              <a:p>
                <a:pPr algn="l">
                  <a:lnSpc>
                    <a:spcPct val="95000"/>
                  </a:lnSpc>
                </a:pPr>
                <a:r>
                  <a:rPr sz="1450" b="0" i="1" lang="vi-VN">
                    <a:solidFill>
                      <a:srgbClr val="1E2B3A"/>
                    </a:solidFill>
                    <a:latin typeface="Cambria"/>
                    <a:ea typeface="Cambria"/>
                    <a:cs typeface="Cambria"/>
                  </a:rPr>
                  <a:t>K</a:t>
                </a:r>
                <a:r>
                  <a:rPr sz="1450" b="0" i="0" lang="vi-VN" baseline="-25000">
                    <a:solidFill>
                      <a:srgbClr val="1E2B3A"/>
                    </a:solidFill>
                    <a:latin typeface="Cambria"/>
                    <a:ea typeface="Cambria"/>
                    <a:cs typeface="Cambria"/>
                  </a:rPr>
                  <a:t>i</a:t>
                </a:r>
                <a:r>
                  <a:rPr sz="1450" b="0" i="0" lang="vi-VN" baseline="30000">
                    <a:solidFill>
                      <a:srgbClr val="1E2B3A"/>
                    </a:solidFill>
                    <a:latin typeface="Cambria"/>
                    <a:ea typeface="Cambria"/>
                    <a:cs typeface="Cambria"/>
                  </a:rPr>
                  <a:t>ω</a:t>
                </a:r>
                <a:r>
                  <a:rPr sz="1450" b="0" i="0" lang="vi-VN">
                    <a:solidFill>
                      <a:srgbClr val="1E2B3A"/>
                    </a:solidFill>
                    <a:latin typeface="Arial"/>
                    <a:ea typeface="Arial"/>
                    <a:cs typeface="Arial"/>
                  </a:rPr>
                  <a:t> (s</a:t>
                </a:r>
                <a:r>
                  <a:rPr sz="1450" b="0" i="0" lang="vi-VN" baseline="30000">
                    <a:solidFill>
                      <a:srgbClr val="1E2B3A"/>
                    </a:solidFill>
                    <a:latin typeface="Arial"/>
                    <a:ea typeface="Arial"/>
                    <a:cs typeface="Arial"/>
                  </a:rPr>
                  <a:t>−1</a:t>
                </a:r>
                <a:r>
                  <a:rPr sz="1450" b="0" i="0" lang="vi-VN">
                    <a:solidFill>
                      <a:srgbClr val="1E2B3A"/>
                    </a:solidFill>
                    <a:latin typeface="Arial"/>
                    <a:ea typeface="Arial"/>
                    <a:cs typeface="Arial"/>
                  </a:rPr>
                  <a:t>)</a:t>
                </a:r>
              </a:p>
            </p:txBody>
          </p:sp>
          <p:sp>
            <p:nvSpPr>
              <p:cNvPr id="71" name="TextBox 70"/>
              <p:cNvSpPr txBox="1"/>
              <p:nvPr/>
            </p:nvSpPr>
            <p:spPr>
              <a:xfrm>
                <a:off x="9061704" y="5239512"/>
                <a:ext cx="1216152" cy="356616"/>
              </a:xfrm>
              <a:prstGeom prst="rect">
                <a:avLst/>
              </a:prstGeom>
              <a:noFill/>
            </p:spPr>
            <p:txBody>
              <a:bodyPr wrap="square" lIns="0" tIns="0" rIns="0" bIns="0" anchor="ctr">
                <a:noAutofit/>
              </a:bodyPr>
              <a:lstStyle/>
              <a:p>
                <a:pPr algn="ctr">
                  <a:lnSpc>
                    <a:spcPct val="95000"/>
                  </a:lnSpc>
                </a:pPr>
                <a:r>
                  <a:rPr sz="1450" b="0" i="0" lang="vi-VN">
                    <a:solidFill>
                      <a:srgbClr val="1E2B3A"/>
                    </a:solidFill>
                    <a:latin typeface="Arial"/>
                    <a:ea typeface="Arial"/>
                    <a:cs typeface="Arial"/>
                  </a:rPr>
                  <a:t>1,0</a:t>
                </a:r>
              </a:p>
            </p:txBody>
          </p:sp>
          <p:sp>
            <p:nvSpPr>
              <p:cNvPr id="72" name="TextBox 71"/>
              <p:cNvSpPr txBox="1"/>
              <p:nvPr/>
            </p:nvSpPr>
            <p:spPr>
              <a:xfrm>
                <a:off x="10387584" y="5239512"/>
                <a:ext cx="1216152" cy="356616"/>
              </a:xfrm>
              <a:prstGeom prst="rect">
                <a:avLst/>
              </a:prstGeom>
              <a:noFill/>
            </p:spPr>
            <p:txBody>
              <a:bodyPr wrap="square" lIns="0" tIns="0" rIns="0" bIns="0" anchor="ctr">
                <a:noAutofit/>
              </a:bodyPr>
              <a:lstStyle/>
              <a:p>
                <a:pPr algn="ctr">
                  <a:lnSpc>
                    <a:spcPct val="95000"/>
                  </a:lnSpc>
                </a:pPr>
                <a:r>
                  <a:rPr sz="1450" b="0" i="0" lang="vi-VN">
                    <a:solidFill>
                      <a:srgbClr val="1E2B3A"/>
                    </a:solidFill>
                    <a:latin typeface="Arial"/>
                    <a:ea typeface="Arial"/>
                    <a:cs typeface="Arial"/>
                  </a:rPr>
                  <a:t>0,5</a:t>
                </a:r>
              </a:p>
            </p:txBody>
          </p:sp>
        </p:grpSp>
        <p:grpSp>
          <p:nvGrpSpPr>
            <p:cNvPr id="73" name="Group 72"/>
            <p:cNvGrpSpPr/>
            <p:nvPr/>
          </p:nvGrpSpPr>
          <p:grpSpPr>
            <a:xfrm>
              <a:off x="7086600" y="5596128"/>
              <a:ext cx="4572000" cy="356616"/>
              <a:chOff x="7086600" y="5596128"/>
              <a:chExt cx="4572000" cy="356616"/>
            </a:xfrm>
          </p:grpSpPr>
          <p:sp>
            <p:nvSpPr>
              <p:cNvPr id="74" name="Rectangle 73"/>
              <p:cNvSpPr/>
              <p:nvPr/>
            </p:nvSpPr>
            <p:spPr>
              <a:xfrm>
                <a:off x="7086600" y="5596128"/>
                <a:ext cx="4572000" cy="356616"/>
              </a:xfrm>
              <a:prstGeom prst="rect">
                <a:avLst/>
              </a:prstGeom>
              <a:solidFill>
                <a:srgbClr val="F4F8FC"/>
              </a:solidFill>
              <a:ln>
                <a:noFill/>
              </a:ln>
            </p:spPr>
            <p:txBody>
              <a:bodyPr rtlCol="0" anchor="ctr" lIns="54864" tIns="54864" rIns="54864" bIns="54864" wrap="square">
                <a:noAutofit/>
              </a:bodyPr>
              <a:lstStyle/>
              <a:p>
                <a:pPr algn="ctr"/>
              </a:p>
            </p:txBody>
          </p:sp>
          <p:sp>
            <p:nvSpPr>
              <p:cNvPr id="75" name="TextBox 74"/>
              <p:cNvSpPr txBox="1"/>
              <p:nvPr/>
            </p:nvSpPr>
            <p:spPr>
              <a:xfrm>
                <a:off x="7141464" y="5596128"/>
                <a:ext cx="1810512" cy="356616"/>
              </a:xfrm>
              <a:prstGeom prst="rect">
                <a:avLst/>
              </a:prstGeom>
              <a:noFill/>
            </p:spPr>
            <p:txBody>
              <a:bodyPr wrap="square" lIns="0" tIns="0" rIns="0" bIns="0" anchor="ctr">
                <a:noAutofit/>
              </a:bodyPr>
              <a:lstStyle/>
              <a:p>
                <a:pPr algn="l">
                  <a:lnSpc>
                    <a:spcPct val="95000"/>
                  </a:lnSpc>
                </a:pPr>
                <a:r>
                  <a:rPr sz="1450" b="0" i="1" lang="vi-VN">
                    <a:solidFill>
                      <a:srgbClr val="1E2B3A"/>
                    </a:solidFill>
                    <a:latin typeface="Cambria"/>
                    <a:ea typeface="Cambria"/>
                    <a:cs typeface="Cambria"/>
                  </a:rPr>
                  <a:t>ω</a:t>
                </a:r>
                <a:r>
                  <a:rPr sz="1450" b="0" i="0" lang="vi-VN" baseline="-25000">
                    <a:solidFill>
                      <a:srgbClr val="1E2B3A"/>
                    </a:solidFill>
                    <a:latin typeface="Cambria"/>
                    <a:ea typeface="Cambria"/>
                    <a:cs typeface="Cambria"/>
                  </a:rPr>
                  <a:t>max</a:t>
                </a:r>
                <a:r>
                  <a:rPr sz="1450" b="0" i="0" lang="vi-VN">
                    <a:solidFill>
                      <a:srgbClr val="1E2B3A"/>
                    </a:solidFill>
                    <a:latin typeface="Arial"/>
                    <a:ea typeface="Arial"/>
                    <a:cs typeface="Arial"/>
                  </a:rPr>
                  <a:t> (°/s)</a:t>
                </a:r>
              </a:p>
            </p:txBody>
          </p:sp>
          <p:sp>
            <p:nvSpPr>
              <p:cNvPr id="76" name="TextBox 75"/>
              <p:cNvSpPr txBox="1"/>
              <p:nvPr/>
            </p:nvSpPr>
            <p:spPr>
              <a:xfrm>
                <a:off x="9061704" y="5596128"/>
                <a:ext cx="1216152" cy="356616"/>
              </a:xfrm>
              <a:prstGeom prst="rect">
                <a:avLst/>
              </a:prstGeom>
              <a:noFill/>
            </p:spPr>
            <p:txBody>
              <a:bodyPr wrap="square" lIns="0" tIns="0" rIns="0" bIns="0" anchor="ctr">
                <a:noAutofit/>
              </a:bodyPr>
              <a:lstStyle/>
              <a:p>
                <a:pPr algn="ctr">
                  <a:lnSpc>
                    <a:spcPct val="95000"/>
                  </a:lnSpc>
                </a:pPr>
                <a:r>
                  <a:rPr sz="1450" b="0" i="0" lang="vi-VN">
                    <a:solidFill>
                      <a:srgbClr val="1E2B3A"/>
                    </a:solidFill>
                    <a:latin typeface="Arial"/>
                    <a:ea typeface="Arial"/>
                    <a:cs typeface="Arial"/>
                  </a:rPr>
                  <a:t>110</a:t>
                </a:r>
              </a:p>
            </p:txBody>
          </p:sp>
          <p:sp>
            <p:nvSpPr>
              <p:cNvPr id="77" name="TextBox 76"/>
              <p:cNvSpPr txBox="1"/>
              <p:nvPr/>
            </p:nvSpPr>
            <p:spPr>
              <a:xfrm>
                <a:off x="10387584" y="5596128"/>
                <a:ext cx="1216152" cy="356616"/>
              </a:xfrm>
              <a:prstGeom prst="rect">
                <a:avLst/>
              </a:prstGeom>
              <a:noFill/>
            </p:spPr>
            <p:txBody>
              <a:bodyPr wrap="square" lIns="0" tIns="0" rIns="0" bIns="0" anchor="ctr">
                <a:noAutofit/>
              </a:bodyPr>
              <a:lstStyle/>
              <a:p>
                <a:pPr algn="ctr">
                  <a:lnSpc>
                    <a:spcPct val="95000"/>
                  </a:lnSpc>
                </a:pPr>
                <a:r>
                  <a:rPr sz="1450" b="0" i="0" lang="vi-VN">
                    <a:solidFill>
                      <a:srgbClr val="1E2B3A"/>
                    </a:solidFill>
                    <a:latin typeface="Arial"/>
                    <a:ea typeface="Arial"/>
                    <a:cs typeface="Arial"/>
                  </a:rPr>
                  <a:t>100</a:t>
                </a:r>
              </a:p>
            </p:txBody>
          </p:sp>
        </p:grpSp>
      </p:grpSp>
      <p:sp>
        <p:nvSpPr>
          <p:cNvPr id="78"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12</a:t>
            </a:fl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6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600"/>
                                        <p:tgtEl>
                                          <p:spTgt spid="28"/>
                                        </p:tgtEl>
                                      </p:cBhvr>
                                    </p:animEffect>
                                  </p:childTnLst>
                                </p:cTn>
                              </p:par>
                            </p:childTnLst>
                          </p:cTn>
                        </p:par>
                        <p:par>
                          <p:cTn id="21" fill="hold">
                            <p:stCondLst>
                              <p:cond delay="600"/>
                            </p:stCondLst>
                            <p:childTnLst>
                              <p:par>
                                <p:cTn id="22" presetID="22" presetClass="entr" presetSubtype="1" fill="hold" grpId="0" nodeType="after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up)">
                                      <p:cBhvr>
                                        <p:cTn id="24" dur="5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anim calcmode="lin" valueType="num">
                                      <p:cBhvr>
                                        <p:cTn id="30" dur="500" fill="hold"/>
                                        <p:tgtEl>
                                          <p:spTgt spid="44"/>
                                        </p:tgtEl>
                                        <p:attrNameLst>
                                          <p:attrName>ppt_x</p:attrName>
                                        </p:attrNameLst>
                                      </p:cBhvr>
                                      <p:tavLst>
                                        <p:tav tm="0">
                                          <p:val>
                                            <p:strVal val="#ppt_x"/>
                                          </p:val>
                                        </p:tav>
                                        <p:tav tm="100000">
                                          <p:val>
                                            <p:strVal val="#ppt_x"/>
                                          </p:val>
                                        </p:tav>
                                      </p:tavLst>
                                    </p:anim>
                                    <p:anim calcmode="lin" valueType="num">
                                      <p:cBhvr>
                                        <p:cTn id="31" dur="500" fill="hold"/>
                                        <p:tgtEl>
                                          <p:spTgt spid="44"/>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200"/>
                                  </p:stCondLst>
                                  <p:childTnLst>
                                    <p:set>
                                      <p:cBhvr>
                                        <p:cTn id="33" dur="1" fill="hold">
                                          <p:stCondLst>
                                            <p:cond delay="0"/>
                                          </p:stCondLst>
                                        </p:cTn>
                                        <p:tgtEl>
                                          <p:spTgt spid="51"/>
                                        </p:tgtEl>
                                        <p:attrNameLst>
                                          <p:attrName>style.visibility</p:attrName>
                                        </p:attrNameLst>
                                      </p:cBhvr>
                                      <p:to>
                                        <p:strVal val="visible"/>
                                      </p:to>
                                    </p:set>
                                    <p:animEffect transition="in" filter="fade">
                                      <p:cBhvr>
                                        <p:cTn id="34" dur="500"/>
                                        <p:tgtEl>
                                          <p:spTgt spid="51"/>
                                        </p:tgtEl>
                                      </p:cBhvr>
                                    </p:animEffect>
                                    <p:anim calcmode="lin" valueType="num">
                                      <p:cBhvr>
                                        <p:cTn id="35" dur="500" fill="hold"/>
                                        <p:tgtEl>
                                          <p:spTgt spid="51"/>
                                        </p:tgtEl>
                                        <p:attrNameLst>
                                          <p:attrName>ppt_x</p:attrName>
                                        </p:attrNameLst>
                                      </p:cBhvr>
                                      <p:tavLst>
                                        <p:tav tm="0">
                                          <p:val>
                                            <p:strVal val="#ppt_x"/>
                                          </p:val>
                                        </p:tav>
                                        <p:tav tm="100000">
                                          <p:val>
                                            <p:strVal val="#ppt_x"/>
                                          </p:val>
                                        </p:tav>
                                      </p:tavLst>
                                    </p:anim>
                                    <p:anim calcmode="lin" valueType="num">
                                      <p:cBhvr>
                                        <p:cTn id="36" dur="500" fill="hold"/>
                                        <p:tgtEl>
                                          <p:spTgt spid="51"/>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3 · THUẬT TOÁN ĐIỀU KHIỂN</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② Bù trước bằng IMU2 và ③ ngoại suy bù trễ 12 ms</a:t>
            </a:r>
          </a:p>
        </p:txBody>
      </p:sp>
      <p:sp>
        <p:nvSpPr>
          <p:cNvPr id="4" name="Rounded Rectangle 3"/>
          <p:cNvSpPr/>
          <p:nvPr/>
        </p:nvSpPr>
        <p:spPr>
          <a:xfrm>
            <a:off x="502920" y="1261872"/>
            <a:ext cx="5486400" cy="4791456"/>
          </a:xfrm>
          <a:prstGeom prst="roundRect">
            <a:avLst>
              <a:gd name="adj" fmla="val 19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5" name="Picture 4" descr="exchange_0A5FA8.png"/>
          <p:cNvPicPr>
            <a:picLocks noChangeAspect="1"/>
          </p:cNvPicPr>
          <p:nvPr/>
        </p:nvPicPr>
        <p:blipFill>
          <a:blip r:embed="rId2"/>
          <a:stretch>
            <a:fillRect/>
          </a:stretch>
        </p:blipFill>
        <p:spPr>
          <a:xfrm>
            <a:off x="667512" y="1353312"/>
            <a:ext cx="237744" cy="237744"/>
          </a:xfrm>
          <a:prstGeom prst="rect">
            <a:avLst/>
          </a:prstGeom>
        </p:spPr>
      </p:pic>
      <p:sp>
        <p:nvSpPr>
          <p:cNvPr id="6" name="TextBox 5"/>
          <p:cNvSpPr txBox="1"/>
          <p:nvPr/>
        </p:nvSpPr>
        <p:spPr>
          <a:xfrm>
            <a:off x="996696" y="1325880"/>
            <a:ext cx="479145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② BÙ TRUYỀN THẲNG TỪ IMU2</a:t>
            </a:r>
          </a:p>
        </p:txBody>
      </p:sp>
      <p:grpSp>
        <p:nvGrpSpPr>
          <p:cNvPr id="7" name="Group 6"/>
          <p:cNvGrpSpPr/>
          <p:nvPr/>
        </p:nvGrpSpPr>
        <p:grpSpPr>
          <a:xfrm>
            <a:off x="685800" y="1673352"/>
            <a:ext cx="5120640" cy="402336"/>
            <a:chOff x="685800" y="1673352"/>
            <a:chExt cx="5120640" cy="402336"/>
          </a:xfrm>
        </p:grpSpPr>
        <p:pic>
          <p:nvPicPr>
            <p:cNvPr id="8" name="Picture 7" descr="warning_C62828.png"/>
            <p:cNvPicPr>
              <a:picLocks noChangeAspect="1"/>
            </p:cNvPicPr>
            <p:nvPr/>
          </p:nvPicPr>
          <p:blipFill>
            <a:blip r:embed="rId3"/>
            <a:stretch>
              <a:fillRect/>
            </a:stretch>
          </p:blipFill>
          <p:spPr>
            <a:xfrm>
              <a:off x="685800" y="1737360"/>
              <a:ext cx="274320" cy="274320"/>
            </a:xfrm>
            <a:prstGeom prst="rect">
              <a:avLst/>
            </a:prstGeom>
          </p:spPr>
        </p:pic>
        <p:sp>
          <p:nvSpPr>
            <p:cNvPr id="9" name="TextBox 8"/>
            <p:cNvSpPr txBox="1"/>
            <p:nvPr/>
          </p:nvSpPr>
          <p:spPr>
            <a:xfrm>
              <a:off x="1051560" y="1673352"/>
              <a:ext cx="4754880" cy="402336"/>
            </a:xfrm>
            <a:prstGeom prst="rect">
              <a:avLst/>
            </a:prstGeom>
            <a:noFill/>
          </p:spPr>
          <p:txBody>
            <a:bodyPr wrap="square" lIns="0" tIns="0" rIns="0" bIns="0" anchor="ctr">
              <a:noAutofit/>
            </a:bodyPr>
            <a:lstStyle/>
            <a:p>
              <a:pPr algn="l"/>
              <a:r>
                <a:rPr sz="1450" b="0" i="0" lang="vi-VN">
                  <a:solidFill>
                    <a:srgbClr val="1E2B3A"/>
                  </a:solidFill>
                  <a:latin typeface="Arial"/>
                  <a:ea typeface="Arial"/>
                  <a:cs typeface="Arial"/>
                </a:rPr>
                <a:t>Phản hồi chỉ tác động khi sai lệch đã xuất hiện</a:t>
              </a:r>
            </a:p>
          </p:txBody>
        </p:sp>
      </p:grpSp>
      <p:grpSp>
        <p:nvGrpSpPr>
          <p:cNvPr id="10" name="Group 9"/>
          <p:cNvGrpSpPr/>
          <p:nvPr/>
        </p:nvGrpSpPr>
        <p:grpSpPr>
          <a:xfrm>
            <a:off x="658368" y="2084832"/>
            <a:ext cx="5184648" cy="978408"/>
            <a:chOff x="658368" y="2084832"/>
            <a:chExt cx="5184648" cy="978408"/>
          </a:xfrm>
        </p:grpSpPr>
        <p:sp>
          <p:nvSpPr>
            <p:cNvPr id="11" name="Rounded Rectangle 10"/>
            <p:cNvSpPr/>
            <p:nvPr/>
          </p:nvSpPr>
          <p:spPr>
            <a:xfrm>
              <a:off x="658368" y="2514600"/>
              <a:ext cx="1097280" cy="548640"/>
            </a:xfrm>
            <a:prstGeom prst="roundRect">
              <a:avLst>
                <a:gd name="adj" fmla="val 13333"/>
              </a:avLst>
            </a:prstGeom>
            <a:solidFill>
              <a:srgbClr val="EAF3FB"/>
            </a:solidFill>
            <a:ln>
              <a:noFill/>
            </a:ln>
          </p:spPr>
          <p:txBody>
            <a:bodyPr rtlCol="0" anchor="ctr" lIns="54864" tIns="54864" rIns="54864" bIns="54864" wrap="square">
              <a:noAutofit/>
            </a:bodyPr>
            <a:lstStyle/>
            <a:p>
              <a:pPr algn="ctr"/>
              <a:r>
                <a:rPr sz="1300" b="1" i="0" lang="vi-VN">
                  <a:solidFill>
                    <a:srgbClr val="0B2545"/>
                  </a:solidFill>
                  <a:latin typeface="Arial"/>
                  <a:ea typeface="Arial"/>
                  <a:cs typeface="Arial"/>
                </a:rPr>
                <a:t>IMU2 </a:t>
              </a:r>
              <a:r>
                <a:rPr sz="1300" b="1" i="1" lang="vi-VN">
                  <a:solidFill>
                    <a:srgbClr val="0B2545"/>
                  </a:solidFill>
                  <a:latin typeface="Cambria"/>
                  <a:ea typeface="Cambria"/>
                  <a:cs typeface="Cambria"/>
                </a:rPr>
                <a:t>ω</a:t>
              </a:r>
              <a:r>
                <a:rPr sz="1300" b="1" i="0" lang="vi-VN" baseline="-25000">
                  <a:solidFill>
                    <a:srgbClr val="0B2545"/>
                  </a:solidFill>
                  <a:latin typeface="Cambria"/>
                  <a:ea typeface="Cambria"/>
                  <a:cs typeface="Cambria"/>
                </a:rPr>
                <a:t>b</a:t>
              </a:r>
            </a:p>
          </p:txBody>
        </p:sp>
        <p:cxnSp>
          <p:nvCxnSpPr>
            <p:cNvPr id="12" name="Connector 11"/>
            <p:cNvCxnSpPr/>
            <p:nvPr/>
          </p:nvCxnSpPr>
          <p:spPr>
            <a:xfrm>
              <a:off x="1755648" y="2788920"/>
              <a:ext cx="182880" cy="0"/>
            </a:xfrm>
            <a:prstGeom prst="line">
              <a:avLst/>
            </a:prstGeom>
            <a:ln w="22225">
              <a:solidFill>
                <a:srgbClr val="0B2545"/>
              </a:solidFill>
              <a:tailEnd type="triangle" w="med" len="med"/>
            </a:ln>
          </p:spPr>
        </p:cxnSp>
        <p:sp>
          <p:nvSpPr>
            <p:cNvPr id="13" name="Rounded Rectangle 12"/>
            <p:cNvSpPr/>
            <p:nvPr/>
          </p:nvSpPr>
          <p:spPr>
            <a:xfrm>
              <a:off x="1938528" y="2514600"/>
              <a:ext cx="896112" cy="548640"/>
            </a:xfrm>
            <a:prstGeom prst="roundRect">
              <a:avLst>
                <a:gd name="adj" fmla="val 13333"/>
              </a:avLst>
            </a:prstGeom>
            <a:solidFill>
              <a:srgbClr val="E8710A"/>
            </a:solidFill>
            <a:ln>
              <a:noFill/>
            </a:ln>
          </p:spPr>
          <p:txBody>
            <a:bodyPr rtlCol="0" anchor="ctr" lIns="54864" tIns="54864" rIns="54864" bIns="54864" wrap="square">
              <a:noAutofit/>
            </a:bodyPr>
            <a:lstStyle/>
            <a:p>
              <a:pPr algn="ctr"/>
              <a:r>
                <a:rPr sz="1400" b="1" i="0" lang="vi-VN">
                  <a:solidFill>
                    <a:srgbClr val="FFFFFF"/>
                  </a:solidFill>
                  <a:latin typeface="Arial"/>
                  <a:ea typeface="Arial"/>
                  <a:cs typeface="Arial"/>
                </a:rPr>
                <a:t>× </a:t>
              </a:r>
              <a:r>
                <a:rPr sz="1400" b="1" i="1" lang="vi-VN">
                  <a:solidFill>
                    <a:srgbClr val="FFFFFF"/>
                  </a:solidFill>
                  <a:latin typeface="Cambria"/>
                  <a:ea typeface="Cambria"/>
                  <a:cs typeface="Cambria"/>
                </a:rPr>
                <a:t>k</a:t>
              </a:r>
              <a:r>
                <a:rPr sz="1400" b="1" i="0" lang="vi-VN">
                  <a:solidFill>
                    <a:srgbClr val="FFFFFF"/>
                  </a:solidFill>
                  <a:latin typeface="Cambria"/>
                  <a:ea typeface="Cambria"/>
                  <a:cs typeface="Cambria"/>
                </a:rPr>
                <a:t>(</a:t>
              </a:r>
              <a:r>
                <a:rPr sz="1400" b="1" i="1" lang="vi-VN">
                  <a:solidFill>
                    <a:srgbClr val="FFFFFF"/>
                  </a:solidFill>
                  <a:latin typeface="Cambria"/>
                  <a:ea typeface="Cambria"/>
                  <a:cs typeface="Cambria"/>
                </a:rPr>
                <a:t>v</a:t>
              </a:r>
              <a:r>
                <a:rPr sz="1400" b="1" i="0" lang="vi-VN">
                  <a:solidFill>
                    <a:srgbClr val="FFFFFF"/>
                  </a:solidFill>
                  <a:latin typeface="Cambria"/>
                  <a:ea typeface="Cambria"/>
                  <a:cs typeface="Cambria"/>
                </a:rPr>
                <a:t>)</a:t>
              </a:r>
            </a:p>
          </p:txBody>
        </p:sp>
        <p:cxnSp>
          <p:nvCxnSpPr>
            <p:cNvPr id="14" name="Connector 13"/>
            <p:cNvCxnSpPr/>
            <p:nvPr/>
          </p:nvCxnSpPr>
          <p:spPr>
            <a:xfrm>
              <a:off x="2834640" y="2788920"/>
              <a:ext cx="182880" cy="0"/>
            </a:xfrm>
            <a:prstGeom prst="line">
              <a:avLst/>
            </a:prstGeom>
            <a:ln w="22225">
              <a:solidFill>
                <a:srgbClr val="0B2545"/>
              </a:solidFill>
              <a:tailEnd type="triangle" w="med" len="med"/>
            </a:ln>
          </p:spPr>
        </p:cxnSp>
        <p:sp>
          <p:nvSpPr>
            <p:cNvPr id="15" name="Oval 14"/>
            <p:cNvSpPr/>
            <p:nvPr/>
          </p:nvSpPr>
          <p:spPr>
            <a:xfrm>
              <a:off x="3017520" y="2624328"/>
              <a:ext cx="329184" cy="329184"/>
            </a:xfrm>
            <a:prstGeom prst="ellipse">
              <a:avLst/>
            </a:prstGeom>
            <a:solidFill>
              <a:srgbClr val="FFFFFF"/>
            </a:solidFill>
            <a:ln w="22225">
              <a:solidFill>
                <a:srgbClr val="0B2545"/>
              </a:solidFill>
            </a:ln>
          </p:spPr>
          <p:txBody>
            <a:bodyPr rtlCol="0" anchor="ctr" lIns="0" tIns="0" rIns="0" bIns="0" wrap="square">
              <a:noAutofit/>
            </a:bodyPr>
            <a:lstStyle/>
            <a:p>
              <a:pPr algn="ctr"/>
              <a:r>
                <a:rPr sz="1300" b="1" i="0" lang="vi-VN">
                  <a:solidFill>
                    <a:srgbClr val="0B2545"/>
                  </a:solidFill>
                  <a:latin typeface="Arial"/>
                  <a:ea typeface="Arial"/>
                  <a:cs typeface="Arial"/>
                </a:rPr>
                <a:t>Σ</a:t>
              </a:r>
            </a:p>
          </p:txBody>
        </p:sp>
        <p:sp>
          <p:nvSpPr>
            <p:cNvPr id="16" name="TextBox 15"/>
            <p:cNvSpPr txBox="1"/>
            <p:nvPr/>
          </p:nvSpPr>
          <p:spPr>
            <a:xfrm>
              <a:off x="2606040" y="2084832"/>
              <a:ext cx="1188720" cy="256032"/>
            </a:xfrm>
            <a:prstGeom prst="rect">
              <a:avLst/>
            </a:prstGeom>
            <a:noFill/>
          </p:spPr>
          <p:txBody>
            <a:bodyPr wrap="square" lIns="0" tIns="0" rIns="0" bIns="0" anchor="t">
              <a:noAutofit/>
            </a:bodyPr>
            <a:lstStyle/>
            <a:p>
              <a:pPr algn="ctr"/>
              <a:r>
                <a:rPr sz="1150" b="0" i="0" lang="vi-VN">
                  <a:solidFill>
                    <a:srgbClr val="5B6B7B"/>
                  </a:solidFill>
                  <a:latin typeface="Arial"/>
                  <a:ea typeface="Arial"/>
                  <a:cs typeface="Arial"/>
                </a:rPr>
                <a:t>từ vòng góc</a:t>
              </a:r>
            </a:p>
          </p:txBody>
        </p:sp>
        <p:cxnSp>
          <p:nvCxnSpPr>
            <p:cNvPr id="17" name="Connector 16"/>
            <p:cNvCxnSpPr/>
            <p:nvPr/>
          </p:nvCxnSpPr>
          <p:spPr>
            <a:xfrm>
              <a:off x="3182112" y="2340864"/>
              <a:ext cx="0" cy="283464"/>
            </a:xfrm>
            <a:prstGeom prst="line">
              <a:avLst/>
            </a:prstGeom>
            <a:ln w="22225">
              <a:solidFill>
                <a:srgbClr val="0B2545"/>
              </a:solidFill>
              <a:tailEnd type="triangle" w="med" len="med"/>
            </a:ln>
          </p:spPr>
        </p:cxnSp>
        <p:cxnSp>
          <p:nvCxnSpPr>
            <p:cNvPr id="18" name="Connector 17"/>
            <p:cNvCxnSpPr/>
            <p:nvPr/>
          </p:nvCxnSpPr>
          <p:spPr>
            <a:xfrm>
              <a:off x="3346704" y="2788920"/>
              <a:ext cx="182880" cy="0"/>
            </a:xfrm>
            <a:prstGeom prst="line">
              <a:avLst/>
            </a:prstGeom>
            <a:ln w="22225">
              <a:solidFill>
                <a:srgbClr val="0B2545"/>
              </a:solidFill>
              <a:tailEnd type="triangle" w="med" len="med"/>
            </a:ln>
          </p:spPr>
        </p:cxnSp>
        <p:sp>
          <p:nvSpPr>
            <p:cNvPr id="19" name="Rounded Rectangle 18"/>
            <p:cNvSpPr/>
            <p:nvPr/>
          </p:nvSpPr>
          <p:spPr>
            <a:xfrm>
              <a:off x="3529584" y="2514600"/>
              <a:ext cx="1280160" cy="548640"/>
            </a:xfrm>
            <a:prstGeom prst="roundRect">
              <a:avLst>
                <a:gd name="adj" fmla="val 13333"/>
              </a:avLst>
            </a:prstGeom>
            <a:solidFill>
              <a:srgbClr val="0A5FA8"/>
            </a:solidFill>
            <a:ln>
              <a:noFill/>
            </a:ln>
          </p:spPr>
          <p:txBody>
            <a:bodyPr rtlCol="0" anchor="ctr" lIns="54864" tIns="54864" rIns="54864" bIns="54864" wrap="square">
              <a:noAutofit/>
            </a:bodyPr>
            <a:lstStyle/>
            <a:p>
              <a:pPr algn="ctr"/>
              <a:r>
                <a:rPr sz="1300" b="1" i="0" lang="vi-VN">
                  <a:solidFill>
                    <a:srgbClr val="FFFFFF"/>
                  </a:solidFill>
                  <a:latin typeface="Arial"/>
                  <a:ea typeface="Arial"/>
                  <a:cs typeface="Arial"/>
                </a:rPr>
                <a:t>Vòng tốc độ</a:t>
              </a:r>
            </a:p>
          </p:txBody>
        </p:sp>
        <p:cxnSp>
          <p:nvCxnSpPr>
            <p:cNvPr id="20" name="Connector 19"/>
            <p:cNvCxnSpPr/>
            <p:nvPr/>
          </p:nvCxnSpPr>
          <p:spPr>
            <a:xfrm>
              <a:off x="4809744" y="2788920"/>
              <a:ext cx="164592" cy="0"/>
            </a:xfrm>
            <a:prstGeom prst="line">
              <a:avLst/>
            </a:prstGeom>
            <a:ln w="22225">
              <a:solidFill>
                <a:srgbClr val="0B2545"/>
              </a:solidFill>
              <a:tailEnd type="triangle" w="med" len="med"/>
            </a:ln>
          </p:spPr>
        </p:cxnSp>
        <p:sp>
          <p:nvSpPr>
            <p:cNvPr id="21" name="Rounded Rectangle 20"/>
            <p:cNvSpPr/>
            <p:nvPr/>
          </p:nvSpPr>
          <p:spPr>
            <a:xfrm>
              <a:off x="4974336" y="2514600"/>
              <a:ext cx="868680" cy="548640"/>
            </a:xfrm>
            <a:prstGeom prst="roundRect">
              <a:avLst>
                <a:gd name="adj" fmla="val 13333"/>
              </a:avLst>
            </a:prstGeom>
            <a:solidFill>
              <a:srgbClr val="0B2545"/>
            </a:solidFill>
            <a:ln>
              <a:noFill/>
            </a:ln>
          </p:spPr>
          <p:txBody>
            <a:bodyPr rtlCol="0" anchor="ctr" lIns="54864" tIns="54864" rIns="54864" bIns="54864" wrap="square">
              <a:noAutofit/>
            </a:bodyPr>
            <a:lstStyle/>
            <a:p>
              <a:pPr algn="ctr"/>
              <a:r>
                <a:rPr sz="1250" b="1" i="0" lang="vi-VN">
                  <a:solidFill>
                    <a:srgbClr val="FFFFFF"/>
                  </a:solidFill>
                  <a:latin typeface="Arial"/>
                  <a:ea typeface="Arial"/>
                  <a:cs typeface="Arial"/>
                </a:rPr>
                <a:t>Động cơ</a:t>
              </a:r>
            </a:p>
          </p:txBody>
        </p:sp>
      </p:grpSp>
      <p:grpSp>
        <p:nvGrpSpPr>
          <p:cNvPr id="22" name="Group 21"/>
          <p:cNvGrpSpPr/>
          <p:nvPr/>
        </p:nvGrpSpPr>
        <p:grpSpPr>
          <a:xfrm>
            <a:off x="640080" y="3246120"/>
            <a:ext cx="5212080" cy="877824"/>
            <a:chOff x="640080" y="3246120"/>
            <a:chExt cx="5212080" cy="877824"/>
          </a:xfrm>
        </p:grpSpPr>
        <p:sp>
          <p:nvSpPr>
            <p:cNvPr id="23" name="TextBox 22"/>
            <p:cNvSpPr txBox="1"/>
            <p:nvPr/>
          </p:nvSpPr>
          <p:spPr>
            <a:xfrm>
              <a:off x="640080" y="3246120"/>
              <a:ext cx="5212080" cy="438912"/>
            </a:xfrm>
            <a:prstGeom prst="rect">
              <a:avLst/>
            </a:prstGeom>
            <a:noFill/>
          </p:spPr>
          <p:txBody>
            <a:bodyPr wrap="square" lIns="0" tIns="0" rIns="0" bIns="0" anchor="ctr">
              <a:noAutofit/>
            </a:bodyPr>
            <a:lstStyle/>
            <a:p>
              <a:pPr algn="ctr"/>
              <a:r>
                <a:rPr sz="1900" b="0" i="1" lang="vi-VN">
                  <a:solidFill>
                    <a:srgbClr val="0B2545"/>
                  </a:solidFill>
                  <a:latin typeface="Cambria"/>
                  <a:ea typeface="Cambria"/>
                  <a:cs typeface="Cambria"/>
                </a:rPr>
                <a:t>u</a:t>
              </a:r>
              <a:r>
                <a:rPr sz="1900" b="0" i="0" lang="vi-VN" baseline="-25000">
                  <a:solidFill>
                    <a:srgbClr val="0B2545"/>
                  </a:solidFill>
                  <a:latin typeface="Cambria"/>
                  <a:ea typeface="Cambria"/>
                  <a:cs typeface="Cambria"/>
                </a:rPr>
                <a:t>ff</a:t>
              </a:r>
              <a:r>
                <a:rPr sz="1900" b="0" i="0" lang="vi-VN">
                  <a:solidFill>
                    <a:srgbClr val="0B2545"/>
                  </a:solidFill>
                  <a:latin typeface="Cambria"/>
                  <a:ea typeface="Cambria"/>
                  <a:cs typeface="Cambria"/>
                </a:rPr>
                <a:t> = </a:t>
              </a:r>
              <a:r>
                <a:rPr sz="1900" b="0" i="1" lang="vi-VN">
                  <a:solidFill>
                    <a:srgbClr val="0B2545"/>
                  </a:solidFill>
                  <a:latin typeface="Cambria"/>
                  <a:ea typeface="Cambria"/>
                  <a:cs typeface="Cambria"/>
                </a:rPr>
                <a:t>k</a:t>
              </a:r>
              <a:r>
                <a:rPr sz="1900" b="0" i="0" lang="vi-VN">
                  <a:solidFill>
                    <a:srgbClr val="0B2545"/>
                  </a:solidFill>
                  <a:latin typeface="Cambria"/>
                  <a:ea typeface="Cambria"/>
                  <a:cs typeface="Cambria"/>
                </a:rPr>
                <a:t>(</a:t>
              </a:r>
              <a:r>
                <a:rPr sz="1900" b="0" i="1" lang="vi-VN">
                  <a:solidFill>
                    <a:srgbClr val="0B2545"/>
                  </a:solidFill>
                  <a:latin typeface="Cambria"/>
                  <a:ea typeface="Cambria"/>
                  <a:cs typeface="Cambria"/>
                </a:rPr>
                <a:t>v</a:t>
              </a:r>
              <a:r>
                <a:rPr sz="1900" b="0" i="0" lang="vi-VN">
                  <a:solidFill>
                    <a:srgbClr val="0B2545"/>
                  </a:solidFill>
                  <a:latin typeface="Cambria"/>
                  <a:ea typeface="Cambria"/>
                  <a:cs typeface="Cambria"/>
                </a:rPr>
                <a:t>)·( </a:t>
              </a:r>
              <a:r>
                <a:rPr sz="1900" b="0" i="1" lang="vi-VN">
                  <a:solidFill>
                    <a:srgbClr val="0B2545"/>
                  </a:solidFill>
                  <a:latin typeface="Cambria"/>
                  <a:ea typeface="Cambria"/>
                  <a:cs typeface="Cambria"/>
                </a:rPr>
                <a:t>ω</a:t>
              </a:r>
              <a:r>
                <a:rPr sz="1900" b="0" i="0" lang="vi-VN" baseline="-25000">
                  <a:solidFill>
                    <a:srgbClr val="0B2545"/>
                  </a:solidFill>
                  <a:latin typeface="Cambria"/>
                  <a:ea typeface="Cambria"/>
                  <a:cs typeface="Cambria"/>
                </a:rPr>
                <a:t>b</a:t>
              </a:r>
              <a:r>
                <a:rPr sz="1900" b="0" i="0" lang="vi-VN">
                  <a:solidFill>
                    <a:srgbClr val="0B2545"/>
                  </a:solidFill>
                  <a:latin typeface="Cambria"/>
                  <a:ea typeface="Cambria"/>
                  <a:cs typeface="Cambria"/>
                </a:rPr>
                <a:t> + </a:t>
              </a:r>
              <a:r>
                <a:rPr sz="1900" b="0" i="1" lang="vi-VN">
                  <a:solidFill>
                    <a:srgbClr val="0B2545"/>
                  </a:solidFill>
                  <a:latin typeface="Cambria"/>
                  <a:ea typeface="Cambria"/>
                  <a:cs typeface="Cambria"/>
                </a:rPr>
                <a:t>τ</a:t>
              </a:r>
              <a:r>
                <a:rPr sz="1900" b="0" i="0" lang="vi-VN" baseline="-25000">
                  <a:solidFill>
                    <a:srgbClr val="0B2545"/>
                  </a:solidFill>
                  <a:latin typeface="Cambria"/>
                  <a:ea typeface="Cambria"/>
                  <a:cs typeface="Cambria"/>
                </a:rPr>
                <a:t>p</a:t>
              </a:r>
              <a:r>
                <a:rPr sz="1900" b="0" i="1" lang="vi-VN">
                  <a:solidFill>
                    <a:srgbClr val="0B2545"/>
                  </a:solidFill>
                  <a:latin typeface="Cambria"/>
                  <a:ea typeface="Cambria"/>
                  <a:cs typeface="Cambria"/>
                </a:rPr>
                <a:t>α</a:t>
              </a:r>
              <a:r>
                <a:rPr sz="1900" b="0" i="0" lang="vi-VN" baseline="-25000">
                  <a:solidFill>
                    <a:srgbClr val="0B2545"/>
                  </a:solidFill>
                  <a:latin typeface="Cambria"/>
                  <a:ea typeface="Cambria"/>
                  <a:cs typeface="Cambria"/>
                </a:rPr>
                <a:t>b</a:t>
              </a:r>
              <a:r>
                <a:rPr sz="1900" b="0" i="0" lang="vi-VN">
                  <a:solidFill>
                    <a:srgbClr val="0B2545"/>
                  </a:solidFill>
                  <a:latin typeface="Cambria"/>
                  <a:ea typeface="Cambria"/>
                  <a:cs typeface="Cambria"/>
                </a:rPr>
                <a:t> )</a:t>
              </a:r>
            </a:p>
          </p:txBody>
        </p:sp>
        <p:sp>
          <p:nvSpPr>
            <p:cNvPr id="24" name="TextBox 23"/>
            <p:cNvSpPr txBox="1"/>
            <p:nvPr/>
          </p:nvSpPr>
          <p:spPr>
            <a:xfrm>
              <a:off x="640080" y="3685032"/>
              <a:ext cx="5212080" cy="438912"/>
            </a:xfrm>
            <a:prstGeom prst="rect">
              <a:avLst/>
            </a:prstGeom>
            <a:noFill/>
          </p:spPr>
          <p:txBody>
            <a:bodyPr wrap="square" lIns="0" tIns="0" rIns="0" bIns="0" anchor="ctr">
              <a:noAutofit/>
            </a:bodyPr>
            <a:lstStyle/>
            <a:p>
              <a:pPr algn="ctr"/>
              <a:r>
                <a:rPr sz="1900" b="0" i="1" lang="vi-VN">
                  <a:solidFill>
                    <a:srgbClr val="0B2545"/>
                  </a:solidFill>
                  <a:latin typeface="Cambria"/>
                  <a:ea typeface="Cambria"/>
                  <a:cs typeface="Cambria"/>
                </a:rPr>
                <a:t>e</a:t>
              </a:r>
              <a:r>
                <a:rPr sz="1900" b="0" i="0" lang="vi-VN" baseline="-25000">
                  <a:solidFill>
                    <a:srgbClr val="0B2545"/>
                  </a:solidFill>
                  <a:latin typeface="Cambria"/>
                  <a:ea typeface="Cambria"/>
                  <a:cs typeface="Cambria"/>
                </a:rPr>
                <a:t>θ,ss</a:t>
              </a:r>
              <a:r>
                <a:rPr sz="1900" b="0" i="0" lang="vi-VN" baseline="30000">
                  <a:solidFill>
                    <a:srgbClr val="0B2545"/>
                  </a:solidFill>
                  <a:latin typeface="Cambria"/>
                  <a:ea typeface="Cambria"/>
                  <a:cs typeface="Cambria"/>
                </a:rPr>
                <a:t>ff</a:t>
              </a:r>
              <a:r>
                <a:rPr sz="1900" b="0" i="0" lang="vi-VN">
                  <a:solidFill>
                    <a:srgbClr val="0B2545"/>
                  </a:solidFill>
                  <a:latin typeface="Cambria"/>
                  <a:ea typeface="Cambria"/>
                  <a:cs typeface="Cambria"/>
                </a:rPr>
                <a:t> = −(1 − </a:t>
              </a:r>
              <a:r>
                <a:rPr sz="1900" b="0" i="1" lang="vi-VN">
                  <a:solidFill>
                    <a:srgbClr val="0B2545"/>
                  </a:solidFill>
                  <a:latin typeface="Cambria"/>
                  <a:ea typeface="Cambria"/>
                  <a:cs typeface="Cambria"/>
                </a:rPr>
                <a:t>k</a:t>
              </a:r>
              <a:r>
                <a:rPr sz="1900" b="0" i="0" lang="vi-VN">
                  <a:solidFill>
                    <a:srgbClr val="0B2545"/>
                  </a:solidFill>
                  <a:latin typeface="Cambria"/>
                  <a:ea typeface="Cambria"/>
                  <a:cs typeface="Cambria"/>
                </a:rPr>
                <a:t>)·</a:t>
              </a:r>
              <a:r>
                <a:rPr sz="1900" b="0" i="1" lang="vi-VN">
                  <a:solidFill>
                    <a:srgbClr val="0B2545"/>
                  </a:solidFill>
                  <a:latin typeface="Cambria"/>
                  <a:ea typeface="Cambria"/>
                  <a:cs typeface="Cambria"/>
                </a:rPr>
                <a:t>ω</a:t>
              </a:r>
              <a:r>
                <a:rPr sz="1900" b="0" i="0" lang="vi-VN" baseline="-25000">
                  <a:solidFill>
                    <a:srgbClr val="0B2545"/>
                  </a:solidFill>
                  <a:latin typeface="Cambria"/>
                  <a:ea typeface="Cambria"/>
                  <a:cs typeface="Cambria"/>
                </a:rPr>
                <a:t>b</a:t>
              </a:r>
              <a:r>
                <a:rPr sz="1900" b="0" i="0" lang="vi-VN">
                  <a:solidFill>
                    <a:srgbClr val="0B2545"/>
                  </a:solidFill>
                  <a:latin typeface="Cambria"/>
                  <a:ea typeface="Cambria"/>
                  <a:cs typeface="Cambria"/>
                </a:rPr>
                <a:t> / </a:t>
              </a:r>
              <a:r>
                <a:rPr sz="1900" b="0" i="1" lang="vi-VN">
                  <a:solidFill>
                    <a:srgbClr val="0B2545"/>
                  </a:solidFill>
                  <a:latin typeface="Cambria"/>
                  <a:ea typeface="Cambria"/>
                  <a:cs typeface="Cambria"/>
                </a:rPr>
                <a:t>K</a:t>
              </a:r>
              <a:r>
                <a:rPr sz="1900" b="0" i="0" lang="vi-VN" baseline="-25000">
                  <a:solidFill>
                    <a:srgbClr val="0B2545"/>
                  </a:solidFill>
                  <a:latin typeface="Cambria"/>
                  <a:ea typeface="Cambria"/>
                  <a:cs typeface="Cambria"/>
                </a:rPr>
                <a:t>p</a:t>
              </a:r>
              <a:r>
                <a:rPr sz="1900" b="0" i="0" lang="vi-VN" baseline="30000">
                  <a:solidFill>
                    <a:srgbClr val="0B2545"/>
                  </a:solidFill>
                  <a:latin typeface="Cambria"/>
                  <a:ea typeface="Cambria"/>
                  <a:cs typeface="Cambria"/>
                </a:rPr>
                <a:t>θ</a:t>
              </a:r>
              <a:r>
                <a:rPr sz="1900" b="0" i="0" lang="vi-VN">
                  <a:solidFill>
                    <a:srgbClr val="0B2545"/>
                  </a:solidFill>
                  <a:latin typeface="Arial"/>
                  <a:ea typeface="Arial"/>
                  <a:cs typeface="Arial"/>
                </a:rPr>
                <a:t>   (1.30)</a:t>
              </a:r>
            </a:p>
          </p:txBody>
        </p:sp>
      </p:grpSp>
      <p:sp>
        <p:nvSpPr>
          <p:cNvPr id="25" name="Rounded Rectangle 24"/>
          <p:cNvSpPr/>
          <p:nvPr/>
        </p:nvSpPr>
        <p:spPr>
          <a:xfrm>
            <a:off x="685800" y="4187952"/>
            <a:ext cx="5120640" cy="640080"/>
          </a:xfrm>
          <a:prstGeom prst="roundRect">
            <a:avLst>
              <a:gd name="adj" fmla="val 14285"/>
            </a:avLst>
          </a:prstGeom>
          <a:solidFill>
            <a:srgbClr val="FFF1E6"/>
          </a:solidFill>
          <a:ln w="19050">
            <a:solidFill>
              <a:srgbClr val="E8710A"/>
            </a:solidFill>
          </a:ln>
        </p:spPr>
        <p:txBody>
          <a:bodyPr rtlCol="0" anchor="ctr" lIns="54864" tIns="54864" rIns="54864" bIns="54864" wrap="square">
            <a:noAutofit/>
          </a:bodyPr>
          <a:lstStyle/>
          <a:p>
            <a:pPr algn="ctr"/>
            <a:r>
              <a:rPr sz="1450" b="0" i="1" lang="vi-VN">
                <a:solidFill>
                  <a:srgbClr val="1E2B3A"/>
                </a:solidFill>
                <a:latin typeface="Cambria"/>
                <a:ea typeface="Cambria"/>
                <a:cs typeface="Cambria"/>
              </a:rPr>
              <a:t>k</a:t>
            </a:r>
            <a:r>
              <a:rPr sz="1450" b="0" i="0" lang="vi-VN">
                <a:solidFill>
                  <a:srgbClr val="1E2B3A"/>
                </a:solidFill>
                <a:latin typeface="Arial"/>
                <a:ea typeface="Arial"/>
                <a:cs typeface="Arial"/>
              </a:rPr>
              <a:t> = 0,9 ⇒ sai lệch xác lập giảm </a:t>
            </a:r>
            <a:r>
              <a:rPr sz="1450" b="1" i="0" lang="vi-VN">
                <a:solidFill>
                  <a:srgbClr val="1E2B3A"/>
                </a:solidFill>
                <a:latin typeface="Arial"/>
                <a:ea typeface="Arial"/>
                <a:cs typeface="Arial"/>
              </a:rPr>
              <a:t>10 lần</a:t>
            </a:r>
            <a:r>
              <a:rPr sz="1450" b="0" i="0" lang="vi-VN">
                <a:solidFill>
                  <a:srgbClr val="1E2B3A"/>
                </a:solidFill>
                <a:latin typeface="Arial"/>
                <a:ea typeface="Arial"/>
                <a:cs typeface="Arial"/>
              </a:rPr>
              <a:t>, không tăng hệ số vòng kín</a:t>
            </a:r>
          </a:p>
        </p:txBody>
      </p:sp>
      <p:sp>
        <p:nvSpPr>
          <p:cNvPr id="26" name="TextBox 25"/>
          <p:cNvSpPr txBox="1"/>
          <p:nvPr/>
        </p:nvSpPr>
        <p:spPr>
          <a:xfrm>
            <a:off x="685800" y="4937760"/>
            <a:ext cx="5166360" cy="1078992"/>
          </a:xfrm>
          <a:prstGeom prst="rect">
            <a:avLst/>
          </a:prstGeom>
          <a:noFill/>
        </p:spPr>
        <p:txBody>
          <a:bodyPr wrap="square" lIns="0" tIns="0" rIns="0" bIns="0" anchor="t">
            <a:noAutofit/>
          </a:bodyPr>
          <a:lstStyle/>
          <a:p>
            <a:pPr algn="l" marL="201168" indent="-201168">
              <a:lnSpc>
                <a:spcPct val="98000"/>
              </a:lnSpc>
              <a:spcAft>
                <a:spcPts val="100"/>
              </a:spcAft>
              <a:buClr>
                <a:srgbClr val="0A5FA8"/>
              </a:buClr>
              <a:buSzPct val="100000"/>
              <a:buFont typeface="Arial"/>
              <a:buChar char="•"/>
            </a:pPr>
            <a:r>
              <a:rPr sz="1300" b="0" i="1" lang="vi-VN">
                <a:solidFill>
                  <a:srgbClr val="1E2B3A"/>
                </a:solidFill>
                <a:latin typeface="Cambria"/>
                <a:ea typeface="Cambria"/>
                <a:cs typeface="Cambria"/>
              </a:rPr>
              <a:t>k</a:t>
            </a:r>
            <a:r>
              <a:rPr sz="1300" b="0" i="0" lang="vi-VN">
                <a:solidFill>
                  <a:srgbClr val="1E2B3A"/>
                </a:solidFill>
                <a:latin typeface="Cambria"/>
                <a:ea typeface="Cambria"/>
                <a:cs typeface="Cambria"/>
              </a:rPr>
              <a:t>(</a:t>
            </a:r>
            <a:r>
              <a:rPr sz="1300" b="0" i="1" lang="vi-VN">
                <a:solidFill>
                  <a:srgbClr val="1E2B3A"/>
                </a:solidFill>
                <a:latin typeface="Cambria"/>
                <a:ea typeface="Cambria"/>
                <a:cs typeface="Cambria"/>
              </a:rPr>
              <a:t>v</a:t>
            </a:r>
            <a:r>
              <a:rPr sz="1300" b="0" i="0" lang="vi-VN">
                <a:solidFill>
                  <a:srgbClr val="1E2B3A"/>
                </a:solidFill>
                <a:latin typeface="Cambria"/>
                <a:ea typeface="Cambria"/>
                <a:cs typeface="Cambria"/>
              </a:rPr>
              <a:t>)</a:t>
            </a:r>
            <a:r>
              <a:rPr sz="1300" b="0" i="0" lang="vi-VN">
                <a:solidFill>
                  <a:srgbClr val="1E2B3A"/>
                </a:solidFill>
                <a:latin typeface="Arial"/>
                <a:ea typeface="Arial"/>
                <a:cs typeface="Arial"/>
              </a:rPr>
              <a:t> tăng theo vùng tốc độ: 0,85 → 0,98 (Yaw)</a:t>
            </a:r>
          </a:p>
          <a:p>
            <a:pPr algn="l" marL="201168" indent="-201168">
              <a:lnSpc>
                <a:spcPct val="98000"/>
              </a:lnSpc>
              <a:spcAft>
                <a:spcPts val="100"/>
              </a:spcAft>
              <a:buClr>
                <a:srgbClr val="0A5FA8"/>
              </a:buClr>
              <a:buSzPct val="100000"/>
              <a:buFont typeface="Arial"/>
              <a:buChar char="•"/>
            </a:pPr>
            <a:r>
              <a:rPr sz="1300" b="0" i="0" lang="vi-VN">
                <a:solidFill>
                  <a:srgbClr val="1E2B3A"/>
                </a:solidFill>
                <a:latin typeface="Arial"/>
                <a:ea typeface="Arial"/>
                <a:cs typeface="Arial"/>
              </a:rPr>
              <a:t>Cổng tin cậy: IMU2 ≤ 12 ms, giá trị hữu hạn; bù quá mức → chỉ giảm </a:t>
            </a:r>
            <a:r>
              <a:rPr sz="1300" b="0" i="1" lang="vi-VN">
                <a:solidFill>
                  <a:srgbClr val="1E2B3A"/>
                </a:solidFill>
                <a:latin typeface="Cambria"/>
                <a:ea typeface="Cambria"/>
                <a:cs typeface="Cambria"/>
              </a:rPr>
              <a:t>k</a:t>
            </a:r>
          </a:p>
          <a:p>
            <a:pPr algn="l" marL="201168" indent="-201168">
              <a:lnSpc>
                <a:spcPct val="98000"/>
              </a:lnSpc>
              <a:spcAft>
                <a:spcPts val="100"/>
              </a:spcAft>
              <a:buClr>
                <a:srgbClr val="0A5FA8"/>
              </a:buClr>
              <a:buSzPct val="100000"/>
              <a:buFont typeface="Arial"/>
              <a:buChar char="•"/>
            </a:pPr>
            <a:r>
              <a:rPr sz="1300" b="0" i="0" lang="vi-VN">
                <a:solidFill>
                  <a:srgbClr val="1E2B3A"/>
                </a:solidFill>
                <a:latin typeface="Arial"/>
                <a:ea typeface="Arial"/>
                <a:cs typeface="Arial"/>
              </a:rPr>
              <a:t>Không đổi hàm truyền hở → không lấn dự trữ ổn định</a:t>
            </a:r>
          </a:p>
        </p:txBody>
      </p:sp>
      <p:sp>
        <p:nvSpPr>
          <p:cNvPr id="27" name="Rounded Rectangle 26"/>
          <p:cNvSpPr/>
          <p:nvPr/>
        </p:nvSpPr>
        <p:spPr>
          <a:xfrm>
            <a:off x="6172200" y="1261872"/>
            <a:ext cx="5532120" cy="4791456"/>
          </a:xfrm>
          <a:prstGeom prst="roundRect">
            <a:avLst>
              <a:gd name="adj" fmla="val 19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8" name="Picture 27" descr="stopwatch_0A5FA8.png"/>
          <p:cNvPicPr>
            <a:picLocks noChangeAspect="1"/>
          </p:cNvPicPr>
          <p:nvPr/>
        </p:nvPicPr>
        <p:blipFill>
          <a:blip r:embed="rId4"/>
          <a:stretch>
            <a:fillRect/>
          </a:stretch>
        </p:blipFill>
        <p:spPr>
          <a:xfrm>
            <a:off x="6336792" y="1353312"/>
            <a:ext cx="237744" cy="237744"/>
          </a:xfrm>
          <a:prstGeom prst="rect">
            <a:avLst/>
          </a:prstGeom>
        </p:spPr>
      </p:pic>
      <p:sp>
        <p:nvSpPr>
          <p:cNvPr id="29" name="TextBox 28"/>
          <p:cNvSpPr txBox="1"/>
          <p:nvPr/>
        </p:nvSpPr>
        <p:spPr>
          <a:xfrm>
            <a:off x="6665976" y="1325880"/>
            <a:ext cx="479145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③ NGOẠI SUY BÙ TRỄ</a:t>
            </a:r>
          </a:p>
        </p:txBody>
      </p:sp>
      <p:grpSp>
        <p:nvGrpSpPr>
          <p:cNvPr id="30" name="Group 29"/>
          <p:cNvGrpSpPr/>
          <p:nvPr/>
        </p:nvGrpSpPr>
        <p:grpSpPr>
          <a:xfrm>
            <a:off x="6355080" y="1673352"/>
            <a:ext cx="5212080" cy="402336"/>
            <a:chOff x="6355080" y="1673352"/>
            <a:chExt cx="5212080" cy="402336"/>
          </a:xfrm>
        </p:grpSpPr>
        <p:pic>
          <p:nvPicPr>
            <p:cNvPr id="31" name="Picture 30" descr="warning_C62828.png"/>
            <p:cNvPicPr>
              <a:picLocks noChangeAspect="1"/>
            </p:cNvPicPr>
            <p:nvPr/>
          </p:nvPicPr>
          <p:blipFill>
            <a:blip r:embed="rId3"/>
            <a:stretch>
              <a:fillRect/>
            </a:stretch>
          </p:blipFill>
          <p:spPr>
            <a:xfrm>
              <a:off x="6355080" y="1737360"/>
              <a:ext cx="274320" cy="274320"/>
            </a:xfrm>
            <a:prstGeom prst="rect">
              <a:avLst/>
            </a:prstGeom>
          </p:spPr>
        </p:pic>
        <p:sp>
          <p:nvSpPr>
            <p:cNvPr id="32" name="TextBox 31"/>
            <p:cNvSpPr txBox="1"/>
            <p:nvPr/>
          </p:nvSpPr>
          <p:spPr>
            <a:xfrm>
              <a:off x="6720840" y="1673352"/>
              <a:ext cx="4846320" cy="402336"/>
            </a:xfrm>
            <a:prstGeom prst="rect">
              <a:avLst/>
            </a:prstGeom>
            <a:noFill/>
          </p:spPr>
          <p:txBody>
            <a:bodyPr wrap="square" lIns="0" tIns="0" rIns="0" bIns="0" anchor="ctr">
              <a:noAutofit/>
            </a:bodyPr>
            <a:lstStyle/>
            <a:p>
              <a:pPr algn="l"/>
              <a:r>
                <a:rPr sz="1400" b="0" i="0" lang="vi-VN">
                  <a:solidFill>
                    <a:srgbClr val="1E2B3A"/>
                  </a:solidFill>
                  <a:latin typeface="Arial"/>
                  <a:ea typeface="Arial"/>
                  <a:cs typeface="Arial"/>
                </a:rPr>
                <a:t>Trễ ≈ 12 ms: lệnh bù đến muộn, đảo chiều thì ngược dấu</a:t>
              </a:r>
            </a:p>
          </p:txBody>
        </p:sp>
      </p:grpSp>
      <p:grpSp>
        <p:nvGrpSpPr>
          <p:cNvPr id="33" name="Group 32"/>
          <p:cNvGrpSpPr/>
          <p:nvPr/>
        </p:nvGrpSpPr>
        <p:grpSpPr>
          <a:xfrm>
            <a:off x="6309360" y="2121408"/>
            <a:ext cx="5257800" cy="2514600"/>
            <a:chOff x="6309360" y="2121408"/>
            <a:chExt cx="5257800" cy="2514600"/>
          </a:xfrm>
        </p:grpSpPr>
        <p:pic>
          <p:nvPicPr>
            <p:cNvPr id="34" name="Picture 33" descr="s13_extrap.png"/>
            <p:cNvPicPr>
              <a:picLocks noChangeAspect="1"/>
            </p:cNvPicPr>
            <p:nvPr/>
          </p:nvPicPr>
          <p:blipFill>
            <a:blip r:embed="rId5"/>
            <a:stretch>
              <a:fillRect/>
            </a:stretch>
          </p:blipFill>
          <p:spPr>
            <a:xfrm>
              <a:off x="6309360" y="2121408"/>
              <a:ext cx="5257800" cy="2514600"/>
            </a:xfrm>
            <a:prstGeom prst="rect">
              <a:avLst/>
            </a:prstGeom>
          </p:spPr>
        </p:pic>
        <p:sp>
          <p:nvSpPr>
            <p:cNvPr id="35" name="Rounded Rectangle 34"/>
            <p:cNvSpPr/>
            <p:nvPr/>
          </p:nvSpPr>
          <p:spPr>
            <a:xfrm>
              <a:off x="10515600" y="4315968"/>
              <a:ext cx="1005840" cy="274320"/>
            </a:xfrm>
            <a:prstGeom prst="roundRect">
              <a:avLst>
                <a:gd name="adj" fmla="val 50000"/>
              </a:avLst>
            </a:prstGeom>
            <a:solidFill>
              <a:srgbClr val="F1F4F8"/>
            </a:solidFill>
            <a:ln>
              <a:noFill/>
            </a:ln>
          </p:spPr>
          <p:txBody>
            <a:bodyPr rtlCol="0" anchor="ctr" lIns="73152" tIns="18288" rIns="73152" bIns="18288" wrap="square">
              <a:noAutofit/>
            </a:bodyPr>
            <a:lstStyle/>
            <a:p>
              <a:pPr algn="ctr"/>
              <a:r>
                <a:rPr sz="1100" b="0" i="0" lang="vi-VN">
                  <a:solidFill>
                    <a:srgbClr val="5B6B7B"/>
                  </a:solidFill>
                  <a:latin typeface="Arial"/>
                  <a:ea typeface="Arial"/>
                  <a:cs typeface="Arial"/>
                </a:rPr>
                <a:t>minh họa</a:t>
              </a:r>
            </a:p>
          </p:txBody>
        </p:sp>
      </p:grpSp>
      <p:grpSp>
        <p:nvGrpSpPr>
          <p:cNvPr id="36" name="Group 35"/>
          <p:cNvGrpSpPr/>
          <p:nvPr/>
        </p:nvGrpSpPr>
        <p:grpSpPr>
          <a:xfrm>
            <a:off x="6309360" y="4663440"/>
            <a:ext cx="5257800" cy="1344168"/>
            <a:chOff x="6309360" y="4663440"/>
            <a:chExt cx="5257800" cy="1344168"/>
          </a:xfrm>
        </p:grpSpPr>
        <p:sp>
          <p:nvSpPr>
            <p:cNvPr id="37" name="TextBox 36"/>
            <p:cNvSpPr txBox="1"/>
            <p:nvPr/>
          </p:nvSpPr>
          <p:spPr>
            <a:xfrm>
              <a:off x="6309360" y="4663440"/>
              <a:ext cx="5257800" cy="457200"/>
            </a:xfrm>
            <a:prstGeom prst="rect">
              <a:avLst/>
            </a:prstGeom>
            <a:noFill/>
          </p:spPr>
          <p:txBody>
            <a:bodyPr wrap="square" lIns="0" tIns="0" rIns="0" bIns="0" anchor="ctr">
              <a:noAutofit/>
            </a:bodyPr>
            <a:lstStyle/>
            <a:p>
              <a:pPr algn="ctr"/>
              <a:r>
                <a:rPr sz="1800" b="0" i="1" lang="vi-VN">
                  <a:solidFill>
                    <a:srgbClr val="0B2545"/>
                  </a:solidFill>
                  <a:latin typeface="Cambria"/>
                  <a:ea typeface="Cambria"/>
                  <a:cs typeface="Cambria"/>
                </a:rPr>
                <a:t>ω̂</a:t>
              </a:r>
              <a:r>
                <a:rPr sz="1800" b="0" i="0" lang="vi-VN" baseline="-25000">
                  <a:solidFill>
                    <a:srgbClr val="0B2545"/>
                  </a:solidFill>
                  <a:latin typeface="Cambria"/>
                  <a:ea typeface="Cambria"/>
                  <a:cs typeface="Cambria"/>
                </a:rPr>
                <a:t>b</a:t>
              </a:r>
              <a:r>
                <a:rPr sz="1800" b="0" i="0" lang="vi-VN">
                  <a:solidFill>
                    <a:srgbClr val="0B2545"/>
                  </a:solidFill>
                  <a:latin typeface="Cambria"/>
                  <a:ea typeface="Cambria"/>
                  <a:cs typeface="Cambria"/>
                </a:rPr>
                <a:t> = </a:t>
              </a:r>
              <a:r>
                <a:rPr sz="1800" b="0" i="1" lang="vi-VN">
                  <a:solidFill>
                    <a:srgbClr val="0B2545"/>
                  </a:solidFill>
                  <a:latin typeface="Cambria"/>
                  <a:ea typeface="Cambria"/>
                  <a:cs typeface="Cambria"/>
                </a:rPr>
                <a:t>ω</a:t>
              </a:r>
              <a:r>
                <a:rPr sz="1800" b="0" i="0" lang="vi-VN" baseline="-25000">
                  <a:solidFill>
                    <a:srgbClr val="0B2545"/>
                  </a:solidFill>
                  <a:latin typeface="Cambria"/>
                  <a:ea typeface="Cambria"/>
                  <a:cs typeface="Cambria"/>
                </a:rPr>
                <a:t>b</a:t>
              </a:r>
              <a:r>
                <a:rPr sz="1800" b="0" i="0" lang="vi-VN">
                  <a:solidFill>
                    <a:srgbClr val="0B2545"/>
                  </a:solidFill>
                  <a:latin typeface="Cambria"/>
                  <a:ea typeface="Cambria"/>
                  <a:cs typeface="Cambria"/>
                </a:rPr>
                <a:t> + sat( </a:t>
              </a:r>
              <a:r>
                <a:rPr sz="1800" b="0" i="1" lang="vi-VN">
                  <a:solidFill>
                    <a:srgbClr val="0B2545"/>
                  </a:solidFill>
                  <a:latin typeface="Cambria"/>
                  <a:ea typeface="Cambria"/>
                  <a:cs typeface="Cambria"/>
                </a:rPr>
                <a:t>τ</a:t>
              </a:r>
              <a:r>
                <a:rPr sz="1800" b="0" i="0" lang="vi-VN" baseline="-25000">
                  <a:solidFill>
                    <a:srgbClr val="0B2545"/>
                  </a:solidFill>
                  <a:latin typeface="Cambria"/>
                  <a:ea typeface="Cambria"/>
                  <a:cs typeface="Cambria"/>
                </a:rPr>
                <a:t>p</a:t>
              </a:r>
              <a:r>
                <a:rPr sz="1800" b="0" i="1" lang="vi-VN">
                  <a:solidFill>
                    <a:srgbClr val="0B2545"/>
                  </a:solidFill>
                  <a:latin typeface="Cambria"/>
                  <a:ea typeface="Cambria"/>
                  <a:cs typeface="Cambria"/>
                </a:rPr>
                <a:t>α</a:t>
              </a:r>
              <a:r>
                <a:rPr sz="1800" b="0" i="0" lang="vi-VN" baseline="-25000">
                  <a:solidFill>
                    <a:srgbClr val="0B2545"/>
                  </a:solidFill>
                  <a:latin typeface="Cambria"/>
                  <a:ea typeface="Cambria"/>
                  <a:cs typeface="Cambria"/>
                </a:rPr>
                <a:t>b</a:t>
              </a:r>
              <a:r>
                <a:rPr sz="1800" b="0" i="0" lang="vi-VN">
                  <a:solidFill>
                    <a:srgbClr val="0B2545"/>
                  </a:solidFill>
                  <a:latin typeface="Cambria"/>
                  <a:ea typeface="Cambria"/>
                  <a:cs typeface="Cambria"/>
                </a:rPr>
                <a:t> , Δ</a:t>
              </a:r>
              <a:r>
                <a:rPr sz="1800" b="0" i="1" lang="vi-VN">
                  <a:solidFill>
                    <a:srgbClr val="0B2545"/>
                  </a:solidFill>
                  <a:latin typeface="Cambria"/>
                  <a:ea typeface="Cambria"/>
                  <a:cs typeface="Cambria"/>
                </a:rPr>
                <a:t>ω</a:t>
              </a:r>
              <a:r>
                <a:rPr sz="1800" b="0" i="0" lang="vi-VN" baseline="-25000">
                  <a:solidFill>
                    <a:srgbClr val="0B2545"/>
                  </a:solidFill>
                  <a:latin typeface="Cambria"/>
                  <a:ea typeface="Cambria"/>
                  <a:cs typeface="Cambria"/>
                </a:rPr>
                <a:t>max</a:t>
              </a:r>
              <a:r>
                <a:rPr sz="1800" b="0" i="0" lang="vi-VN">
                  <a:solidFill>
                    <a:srgbClr val="0B2545"/>
                  </a:solidFill>
                  <a:latin typeface="Cambria"/>
                  <a:ea typeface="Cambria"/>
                  <a:cs typeface="Cambria"/>
                </a:rPr>
                <a:t> )</a:t>
              </a:r>
              <a:r>
                <a:rPr sz="1800" b="0" i="0" lang="vi-VN">
                  <a:solidFill>
                    <a:srgbClr val="0B2545"/>
                  </a:solidFill>
                  <a:latin typeface="Arial"/>
                  <a:ea typeface="Arial"/>
                  <a:cs typeface="Arial"/>
                </a:rPr>
                <a:t>   (2.14)</a:t>
              </a:r>
            </a:p>
          </p:txBody>
        </p:sp>
        <p:sp>
          <p:nvSpPr>
            <p:cNvPr id="38" name="TextBox 37"/>
            <p:cNvSpPr txBox="1"/>
            <p:nvPr/>
          </p:nvSpPr>
          <p:spPr>
            <a:xfrm>
              <a:off x="6355080" y="5138928"/>
              <a:ext cx="5166360" cy="868680"/>
            </a:xfrm>
            <a:prstGeom prst="rect">
              <a:avLst/>
            </a:prstGeom>
            <a:noFill/>
          </p:spPr>
          <p:txBody>
            <a:bodyPr wrap="square" lIns="0" tIns="0" rIns="0" bIns="0" anchor="t">
              <a:noAutofit/>
            </a:bodyPr>
            <a:lstStyle/>
            <a:p>
              <a:pPr algn="ctr">
                <a:lnSpc>
                  <a:spcPct val="100000"/>
                </a:lnSpc>
              </a:pPr>
              <a:r>
                <a:rPr sz="1300" b="0" i="1" lang="vi-VN">
                  <a:solidFill>
                    <a:srgbClr val="1E2B3A"/>
                  </a:solidFill>
                  <a:latin typeface="Cambria"/>
                  <a:ea typeface="Cambria"/>
                  <a:cs typeface="Cambria"/>
                </a:rPr>
                <a:t>τ</a:t>
              </a:r>
              <a:r>
                <a:rPr sz="1300" b="0" i="0" lang="vi-VN" baseline="-25000">
                  <a:solidFill>
                    <a:srgbClr val="1E2B3A"/>
                  </a:solidFill>
                  <a:latin typeface="Cambria"/>
                  <a:ea typeface="Cambria"/>
                  <a:cs typeface="Cambria"/>
                </a:rPr>
                <a:t>p</a:t>
              </a:r>
              <a:r>
                <a:rPr sz="1300" b="0" i="0" lang="vi-VN">
                  <a:solidFill>
                    <a:srgbClr val="1E2B3A"/>
                  </a:solidFill>
                  <a:latin typeface="Arial"/>
                  <a:ea typeface="Arial"/>
                  <a:cs typeface="Arial"/>
                </a:rPr>
                <a:t> = 12 ms · Δ</a:t>
              </a:r>
              <a:r>
                <a:rPr sz="1300" b="0" i="1" lang="vi-VN">
                  <a:solidFill>
                    <a:srgbClr val="1E2B3A"/>
                  </a:solidFill>
                  <a:latin typeface="Cambria"/>
                  <a:ea typeface="Cambria"/>
                  <a:cs typeface="Cambria"/>
                </a:rPr>
                <a:t>ω</a:t>
              </a:r>
              <a:r>
                <a:rPr sz="1300" b="0" i="0" lang="vi-VN" baseline="-25000">
                  <a:solidFill>
                    <a:srgbClr val="1E2B3A"/>
                  </a:solidFill>
                  <a:latin typeface="Cambria"/>
                  <a:ea typeface="Cambria"/>
                  <a:cs typeface="Cambria"/>
                </a:rPr>
                <a:t>max</a:t>
              </a:r>
              <a:r>
                <a:rPr sz="1300" b="0" i="0" lang="vi-VN">
                  <a:solidFill>
                    <a:srgbClr val="1E2B3A"/>
                  </a:solidFill>
                  <a:latin typeface="Arial"/>
                  <a:ea typeface="Arial"/>
                  <a:cs typeface="Arial"/>
                </a:rPr>
                <a:t> = 90 °/s · </a:t>
              </a:r>
              <a:r>
                <a:rPr sz="1300" b="0" i="1" lang="vi-VN">
                  <a:solidFill>
                    <a:srgbClr val="1E2B3A"/>
                  </a:solidFill>
                  <a:latin typeface="Cambria"/>
                  <a:ea typeface="Cambria"/>
                  <a:cs typeface="Cambria"/>
                </a:rPr>
                <a:t>α</a:t>
              </a:r>
              <a:r>
                <a:rPr sz="1300" b="0" i="0" lang="vi-VN" baseline="-25000">
                  <a:solidFill>
                    <a:srgbClr val="1E2B3A"/>
                  </a:solidFill>
                  <a:latin typeface="Cambria"/>
                  <a:ea typeface="Cambria"/>
                  <a:cs typeface="Cambria"/>
                </a:rPr>
                <a:t>b</a:t>
              </a:r>
              <a:r>
                <a:rPr sz="1300" b="0" i="0" lang="vi-VN">
                  <a:solidFill>
                    <a:srgbClr val="1E2B3A"/>
                  </a:solidFill>
                  <a:latin typeface="Arial"/>
                  <a:ea typeface="Arial"/>
                  <a:cs typeface="Arial"/>
                </a:rPr>
                <a:t> lọc 18 Hz, vùng chết 70 °/s² · IMU2 quá 12 ms → giảm bù về 0 trong 30 ms</a:t>
              </a:r>
            </a:p>
          </p:txBody>
        </p:sp>
      </p:grpSp>
      <p:sp>
        <p:nvSpPr>
          <p:cNvPr id="46"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anim calcmode="lin" valueType="num">
                                      <p:cBhvr>
                                        <p:cTn id="21" dur="450" fill="hold"/>
                                        <p:tgtEl>
                                          <p:spTgt spid="25"/>
                                        </p:tgtEl>
                                        <p:attrNameLst>
                                          <p:attrName>ppt_w</p:attrName>
                                        </p:attrNameLst>
                                      </p:cBhvr>
                                      <p:tavLst>
                                        <p:tav tm="0">
                                          <p:val>
                                            <p:strVal val="0"/>
                                          </p:val>
                                        </p:tav>
                                        <p:tav tm="100000">
                                          <p:val>
                                            <p:strVal val="#ppt_w"/>
                                          </p:val>
                                        </p:tav>
                                      </p:tavLst>
                                    </p:anim>
                                    <p:anim calcmode="lin" valueType="num">
                                      <p:cBhvr>
                                        <p:cTn id="22" dur="450" fill="hold"/>
                                        <p:tgtEl>
                                          <p:spTgt spid="25"/>
                                        </p:tgtEl>
                                        <p:attrNameLst>
                                          <p:attrName>ppt_h</p:attrName>
                                        </p:attrNameLst>
                                      </p:cBhvr>
                                      <p:tavLst>
                                        <p:tav tm="0">
                                          <p:val>
                                            <p:strVal val="0"/>
                                          </p:val>
                                        </p:tav>
                                        <p:tav tm="100000">
                                          <p:val>
                                            <p:strVal val="#ppt_h"/>
                                          </p:val>
                                        </p:tav>
                                      </p:tavLst>
                                    </p:anim>
                                  </p:childTnLst>
                                </p:cTn>
                              </p:par>
                            </p:childTnLst>
                          </p:cTn>
                        </p:par>
                        <p:par>
                          <p:cTn id="23" fill="hold">
                            <p:stCondLst>
                              <p:cond delay="950"/>
                            </p:stCondLst>
                            <p:childTnLst>
                              <p:par>
                                <p:cTn id="24" presetID="6" presetClass="emph" presetSubtype="0" fill="hold" grpId="1" nodeType="afterEffect">
                                  <p:stCondLst>
                                    <p:cond delay="0"/>
                                  </p:stCondLst>
                                  <p:childTnLst>
                                    <p:animScale>
                                      <p:cBhvr>
                                        <p:cTn id="25" dur="300" autoRev="1" fill="hold"/>
                                        <p:tgtEl>
                                          <p:spTgt spid="25"/>
                                        </p:tgtEl>
                                      </p:cBhvr>
                                      <p:by x="112000" y="112000"/>
                                    </p:animScale>
                                  </p:childTnLst>
                                </p:cTn>
                              </p:par>
                            </p:childTnLst>
                          </p:cTn>
                        </p:par>
                        <p:par>
                          <p:cTn id="26" fill="hold">
                            <p:stCondLst>
                              <p:cond delay="1550"/>
                            </p:stCondLst>
                            <p:childTnLst>
                              <p:par>
                                <p:cTn id="27" presetID="10" presetClass="entr" presetSubtype="0"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childTnLst>
                          </p:cTn>
                        </p:par>
                        <p:par>
                          <p:cTn id="35" fill="hold">
                            <p:stCondLst>
                              <p:cond delay="400"/>
                            </p:stCondLst>
                            <p:childTnLst>
                              <p:par>
                                <p:cTn id="36" presetID="22" presetClass="entr" presetSubtype="8" fill="hold" grpId="0" nodeType="after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wipe(left)">
                                      <p:cBhvr>
                                        <p:cTn id="38" dur="9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anim calcmode="lin" valueType="num">
                                      <p:cBhvr>
                                        <p:cTn id="44" dur="500" fill="hold"/>
                                        <p:tgtEl>
                                          <p:spTgt spid="36"/>
                                        </p:tgtEl>
                                        <p:attrNameLst>
                                          <p:attrName>ppt_x</p:attrName>
                                        </p:attrNameLst>
                                      </p:cBhvr>
                                      <p:tavLst>
                                        <p:tav tm="0">
                                          <p:val>
                                            <p:strVal val="#ppt_x"/>
                                          </p:val>
                                        </p:tav>
                                        <p:tav tm="100000">
                                          <p:val>
                                            <p:strVal val="#ppt_x"/>
                                          </p:val>
                                        </p:tav>
                                      </p:tavLst>
                                    </p:anim>
                                    <p:anim calcmode="lin" valueType="num">
                                      <p:cBhvr>
                                        <p:cTn id="45" dur="500" fill="hold"/>
                                        <p:tgtEl>
                                          <p:spTgt spid="36"/>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3 · THUẬT TOÁN ĐIỀU KHIỂN</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④ Giới hạn lệnh động: nới khi khung quay nhanh, chặt khi tĩnh</a:t>
            </a:r>
          </a:p>
        </p:txBody>
      </p:sp>
      <p:grpSp>
        <p:nvGrpSpPr>
          <p:cNvPr id="4" name="Group 3"/>
          <p:cNvGrpSpPr/>
          <p:nvPr/>
        </p:nvGrpSpPr>
        <p:grpSpPr>
          <a:xfrm>
            <a:off x="502920" y="1261872"/>
            <a:ext cx="3977640" cy="1444752"/>
            <a:chOff x="502920" y="1261872"/>
            <a:chExt cx="3977640" cy="1444752"/>
          </a:xfrm>
        </p:grpSpPr>
        <p:sp>
          <p:nvSpPr>
            <p:cNvPr id="5" name="Rounded Rectangle 4"/>
            <p:cNvSpPr/>
            <p:nvPr/>
          </p:nvSpPr>
          <p:spPr>
            <a:xfrm>
              <a:off x="502920" y="1261872"/>
              <a:ext cx="3977640" cy="1444752"/>
            </a:xfrm>
            <a:prstGeom prst="roundRect">
              <a:avLst>
                <a:gd name="adj" fmla="val 6329"/>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6" name="Picture 5" descr="warning_C62828.png"/>
            <p:cNvPicPr>
              <a:picLocks noChangeAspect="1"/>
            </p:cNvPicPr>
            <p:nvPr/>
          </p:nvPicPr>
          <p:blipFill>
            <a:blip r:embed="rId2"/>
            <a:stretch>
              <a:fillRect/>
            </a:stretch>
          </p:blipFill>
          <p:spPr>
            <a:xfrm>
              <a:off x="667512" y="1353312"/>
              <a:ext cx="237744" cy="237744"/>
            </a:xfrm>
            <a:prstGeom prst="rect">
              <a:avLst/>
            </a:prstGeom>
          </p:spPr>
        </p:pic>
        <p:sp>
          <p:nvSpPr>
            <p:cNvPr id="7" name="TextBox 6"/>
            <p:cNvSpPr txBox="1"/>
            <p:nvPr/>
          </p:nvSpPr>
          <p:spPr>
            <a:xfrm>
              <a:off x="996696" y="1325880"/>
              <a:ext cx="332841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VẤN ĐỀ</a:t>
              </a:r>
            </a:p>
          </p:txBody>
        </p:sp>
        <p:sp>
          <p:nvSpPr>
            <p:cNvPr id="8" name="TextBox 7"/>
            <p:cNvSpPr txBox="1"/>
            <p:nvPr/>
          </p:nvSpPr>
          <p:spPr>
            <a:xfrm>
              <a:off x="685800" y="1645920"/>
              <a:ext cx="3657600" cy="1024128"/>
            </a:xfrm>
            <a:prstGeom prst="rect">
              <a:avLst/>
            </a:prstGeom>
            <a:noFill/>
          </p:spPr>
          <p:txBody>
            <a:bodyPr wrap="square" lIns="0" tIns="0" rIns="0" bIns="0" anchor="t">
              <a:noAutofit/>
            </a:bodyPr>
            <a:lstStyle/>
            <a:p>
              <a:pPr algn="l">
                <a:lnSpc>
                  <a:spcPct val="100000"/>
                </a:lnSpc>
              </a:pPr>
              <a:r>
                <a:rPr sz="1450" b="0" i="0" lang="vi-VN">
                  <a:solidFill>
                    <a:srgbClr val="1E2B3A"/>
                  </a:solidFill>
                  <a:latin typeface="Arial"/>
                  <a:ea typeface="Arial"/>
                  <a:cs typeface="Arial"/>
                </a:rPr>
                <a:t>Giới hạn cố định thấp → bão hòa (</a:t>
              </a:r>
              <a:r>
                <a:rPr sz="1450" b="1" i="0" lang="vi-VN">
                  <a:solidFill>
                    <a:srgbClr val="1E2B3A"/>
                  </a:solidFill>
                  <a:latin typeface="Arial"/>
                  <a:ea typeface="Arial"/>
                  <a:cs typeface="Arial"/>
                </a:rPr>
                <a:t>2,6 %</a:t>
              </a:r>
              <a:r>
                <a:rPr sz="1450" b="0" i="0" lang="vi-VN">
                  <a:solidFill>
                    <a:srgbClr val="1E2B3A"/>
                  </a:solidFill>
                  <a:latin typeface="Arial"/>
                  <a:ea typeface="Arial"/>
                  <a:cs typeface="Arial"/>
                </a:rPr>
                <a:t> mẫu Yaw chạm 135 °/s); cao → lệnh lớn ngay cả khi tĩnh</a:t>
              </a:r>
            </a:p>
          </p:txBody>
        </p:sp>
      </p:grpSp>
      <p:grpSp>
        <p:nvGrpSpPr>
          <p:cNvPr id="9" name="Group 8"/>
          <p:cNvGrpSpPr/>
          <p:nvPr/>
        </p:nvGrpSpPr>
        <p:grpSpPr>
          <a:xfrm>
            <a:off x="502920" y="2816352"/>
            <a:ext cx="3977640" cy="1371600"/>
            <a:chOff x="502920" y="2816352"/>
            <a:chExt cx="3977640" cy="1371600"/>
          </a:xfrm>
        </p:grpSpPr>
        <p:sp>
          <p:nvSpPr>
            <p:cNvPr id="10" name="Rounded Rectangle 9"/>
            <p:cNvSpPr/>
            <p:nvPr/>
          </p:nvSpPr>
          <p:spPr>
            <a:xfrm>
              <a:off x="502920" y="2816352"/>
              <a:ext cx="3977640" cy="1371600"/>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1" name="Picture 10" descr="lightbulb_E8710A.png"/>
            <p:cNvPicPr>
              <a:picLocks noChangeAspect="1"/>
            </p:cNvPicPr>
            <p:nvPr/>
          </p:nvPicPr>
          <p:blipFill>
            <a:blip r:embed="rId3"/>
            <a:stretch>
              <a:fillRect/>
            </a:stretch>
          </p:blipFill>
          <p:spPr>
            <a:xfrm>
              <a:off x="667512" y="2907792"/>
              <a:ext cx="237744" cy="237744"/>
            </a:xfrm>
            <a:prstGeom prst="rect">
              <a:avLst/>
            </a:prstGeom>
          </p:spPr>
        </p:pic>
        <p:sp>
          <p:nvSpPr>
            <p:cNvPr id="12" name="TextBox 11"/>
            <p:cNvSpPr txBox="1"/>
            <p:nvPr/>
          </p:nvSpPr>
          <p:spPr>
            <a:xfrm>
              <a:off x="996696" y="2880360"/>
              <a:ext cx="3328416" cy="292608"/>
            </a:xfrm>
            <a:prstGeom prst="rect">
              <a:avLst/>
            </a:prstGeom>
            <a:noFill/>
          </p:spPr>
          <p:txBody>
            <a:bodyPr wrap="square" lIns="0" tIns="0" rIns="0" bIns="0" anchor="ctr">
              <a:noAutofit/>
            </a:bodyPr>
            <a:lstStyle/>
            <a:p>
              <a:pPr algn="l"/>
              <a:r>
                <a:rPr sz="1250" b="1" i="0" lang="vi-VN" spc="40">
                  <a:solidFill>
                    <a:srgbClr val="E8710A"/>
                  </a:solidFill>
                  <a:latin typeface="Arial"/>
                  <a:ea typeface="Arial"/>
                  <a:cs typeface="Arial"/>
                </a:rPr>
                <a:t>GIẢI PHÁP</a:t>
              </a:r>
            </a:p>
          </p:txBody>
        </p:sp>
        <p:sp>
          <p:nvSpPr>
            <p:cNvPr id="13" name="TextBox 12"/>
            <p:cNvSpPr txBox="1"/>
            <p:nvPr/>
          </p:nvSpPr>
          <p:spPr>
            <a:xfrm>
              <a:off x="685800" y="3200400"/>
              <a:ext cx="3657600" cy="960120"/>
            </a:xfrm>
            <a:prstGeom prst="rect">
              <a:avLst/>
            </a:prstGeom>
            <a:noFill/>
          </p:spPr>
          <p:txBody>
            <a:bodyPr wrap="square" lIns="0" tIns="0" rIns="0" bIns="0" anchor="t">
              <a:noAutofit/>
            </a:bodyPr>
            <a:lstStyle/>
            <a:p>
              <a:pPr algn="l">
                <a:lnSpc>
                  <a:spcPct val="100000"/>
                </a:lnSpc>
              </a:pPr>
              <a:r>
                <a:rPr sz="1400" b="0" i="0" lang="vi-VN">
                  <a:solidFill>
                    <a:srgbClr val="1E2B3A"/>
                  </a:solidFill>
                  <a:latin typeface="Arial"/>
                  <a:ea typeface="Arial"/>
                  <a:cs typeface="Arial"/>
                </a:rPr>
                <a:t>4 vùng theo tốc độ khung </a:t>
              </a:r>
              <a:r>
                <a:rPr sz="1400" b="0" i="1" lang="vi-VN">
                  <a:solidFill>
                    <a:srgbClr val="1E2B3A"/>
                  </a:solidFill>
                  <a:latin typeface="Cambria"/>
                  <a:ea typeface="Cambria"/>
                  <a:cs typeface="Cambria"/>
                </a:rPr>
                <a:t>v</a:t>
              </a:r>
              <a:r>
                <a:rPr sz="1400" b="0" i="0" lang="vi-VN">
                  <a:solidFill>
                    <a:srgbClr val="1E2B3A"/>
                  </a:solidFill>
                  <a:latin typeface="Arial"/>
                  <a:ea typeface="Arial"/>
                  <a:cs typeface="Arial"/>
                </a:rPr>
                <a:t>; chuyển vùng có trễ; nội suy giới hạn theo </a:t>
              </a:r>
              <a:r>
                <a:rPr sz="1400" b="0" i="1" lang="vi-VN">
                  <a:solidFill>
                    <a:srgbClr val="1E2B3A"/>
                  </a:solidFill>
                  <a:latin typeface="Cambria"/>
                  <a:ea typeface="Cambria"/>
                  <a:cs typeface="Cambria"/>
                </a:rPr>
                <a:t>λ</a:t>
              </a:r>
              <a:r>
                <a:rPr sz="1400" b="0" i="0" lang="vi-VN">
                  <a:solidFill>
                    <a:srgbClr val="1E2B3A"/>
                  </a:solidFill>
                  <a:latin typeface="Arial"/>
                  <a:ea typeface="Arial"/>
                  <a:cs typeface="Arial"/>
                </a:rPr>
                <a:t> (2.17)–(2.19) → lệnh không nhảy bậc</a:t>
              </a:r>
            </a:p>
          </p:txBody>
        </p:sp>
      </p:grpSp>
      <p:grpSp>
        <p:nvGrpSpPr>
          <p:cNvPr id="14" name="Group 13"/>
          <p:cNvGrpSpPr/>
          <p:nvPr/>
        </p:nvGrpSpPr>
        <p:grpSpPr>
          <a:xfrm>
            <a:off x="502920" y="4315968"/>
            <a:ext cx="3977640" cy="457200"/>
            <a:chOff x="502920" y="4315968"/>
            <a:chExt cx="3977640" cy="457200"/>
          </a:xfrm>
        </p:grpSpPr>
        <p:sp>
          <p:nvSpPr>
            <p:cNvPr id="15" name="Rectangle 14"/>
            <p:cNvSpPr/>
            <p:nvPr/>
          </p:nvSpPr>
          <p:spPr>
            <a:xfrm>
              <a:off x="502920" y="4315968"/>
              <a:ext cx="3977640" cy="457200"/>
            </a:xfrm>
            <a:prstGeom prst="rect">
              <a:avLst/>
            </a:prstGeom>
            <a:solidFill>
              <a:srgbClr val="0B2545"/>
            </a:solidFill>
            <a:ln>
              <a:noFill/>
            </a:ln>
          </p:spPr>
          <p:txBody>
            <a:bodyPr rtlCol="0" anchor="ctr" lIns="54864" tIns="54864" rIns="54864" bIns="54864" wrap="square">
              <a:noAutofit/>
            </a:bodyPr>
            <a:lstStyle/>
            <a:p>
              <a:pPr algn="ctr"/>
            </a:p>
          </p:txBody>
        </p:sp>
        <p:sp>
          <p:nvSpPr>
            <p:cNvPr id="16" name="TextBox 15"/>
            <p:cNvSpPr txBox="1"/>
            <p:nvPr/>
          </p:nvSpPr>
          <p:spPr>
            <a:xfrm>
              <a:off x="557784" y="4315968"/>
              <a:ext cx="758952" cy="457200"/>
            </a:xfrm>
            <a:prstGeom prst="rect">
              <a:avLst/>
            </a:prstGeom>
            <a:noFill/>
          </p:spPr>
          <p:txBody>
            <a:bodyPr wrap="square" lIns="0" tIns="0" rIns="0" bIns="0" anchor="ctr">
              <a:noAutofit/>
            </a:bodyPr>
            <a:lstStyle/>
            <a:p>
              <a:pPr algn="l">
                <a:lnSpc>
                  <a:spcPct val="95000"/>
                </a:lnSpc>
              </a:pPr>
              <a:r>
                <a:rPr sz="1200" b="1" i="0" lang="vi-VN">
                  <a:solidFill>
                    <a:srgbClr val="FFFFFF"/>
                  </a:solidFill>
                  <a:latin typeface="Arial"/>
                  <a:ea typeface="Arial"/>
                  <a:cs typeface="Arial"/>
                </a:rPr>
                <a:t>Vùng</a:t>
              </a:r>
            </a:p>
          </p:txBody>
        </p:sp>
        <p:sp>
          <p:nvSpPr>
            <p:cNvPr id="17" name="TextBox 16"/>
            <p:cNvSpPr txBox="1"/>
            <p:nvPr/>
          </p:nvSpPr>
          <p:spPr>
            <a:xfrm>
              <a:off x="1426464" y="4315968"/>
              <a:ext cx="987552" cy="457200"/>
            </a:xfrm>
            <a:prstGeom prst="rect">
              <a:avLst/>
            </a:prstGeom>
            <a:noFill/>
          </p:spPr>
          <p:txBody>
            <a:bodyPr wrap="square" lIns="0" tIns="0" rIns="0" bIns="0" anchor="ctr">
              <a:noAutofit/>
            </a:bodyPr>
            <a:lstStyle/>
            <a:p>
              <a:pPr algn="ctr">
                <a:lnSpc>
                  <a:spcPct val="95000"/>
                </a:lnSpc>
              </a:pPr>
              <a:r>
                <a:rPr sz="1200" b="1" i="0" lang="vi-VN">
                  <a:solidFill>
                    <a:srgbClr val="FFFFFF"/>
                  </a:solidFill>
                  <a:latin typeface="Arial"/>
                  <a:ea typeface="Arial"/>
                  <a:cs typeface="Arial"/>
                </a:rPr>
                <a:t>Ngưỡng vào</a:t>
              </a:r>
            </a:p>
            <a:p>
              <a:pPr algn="ctr">
                <a:lnSpc>
                  <a:spcPct val="95000"/>
                </a:lnSpc>
              </a:pPr>
              <a:r>
                <a:rPr sz="1200" b="1" i="0" lang="vi-VN">
                  <a:solidFill>
                    <a:srgbClr val="FFFFFF"/>
                  </a:solidFill>
                  <a:latin typeface="Arial"/>
                  <a:ea typeface="Arial"/>
                  <a:cs typeface="Arial"/>
                </a:rPr>
                <a:t>Yaw / Pitch</a:t>
              </a:r>
            </a:p>
          </p:txBody>
        </p:sp>
        <p:sp>
          <p:nvSpPr>
            <p:cNvPr id="18" name="TextBox 17"/>
            <p:cNvSpPr txBox="1"/>
            <p:nvPr/>
          </p:nvSpPr>
          <p:spPr>
            <a:xfrm>
              <a:off x="2523744" y="4315968"/>
              <a:ext cx="1078992" cy="457200"/>
            </a:xfrm>
            <a:prstGeom prst="rect">
              <a:avLst/>
            </a:prstGeom>
            <a:noFill/>
          </p:spPr>
          <p:txBody>
            <a:bodyPr wrap="square" lIns="0" tIns="0" rIns="0" bIns="0" anchor="ctr">
              <a:noAutofit/>
            </a:bodyPr>
            <a:lstStyle/>
            <a:p>
              <a:pPr algn="ctr">
                <a:lnSpc>
                  <a:spcPct val="95000"/>
                </a:lnSpc>
              </a:pPr>
              <a:r>
                <a:rPr sz="1200" b="1" i="1" lang="vi-VN">
                  <a:solidFill>
                    <a:srgbClr val="FFFFFF"/>
                  </a:solidFill>
                  <a:latin typeface="Cambria"/>
                  <a:ea typeface="Cambria"/>
                  <a:cs typeface="Cambria"/>
                </a:rPr>
                <a:t>k</a:t>
              </a:r>
              <a:r>
                <a:rPr sz="1200" b="1" i="0" lang="vi-VN">
                  <a:solidFill>
                    <a:srgbClr val="FFFFFF"/>
                  </a:solidFill>
                  <a:latin typeface="Arial"/>
                  <a:ea typeface="Arial"/>
                  <a:cs typeface="Arial"/>
                </a:rPr>
                <a:t> Yaw / Pitch</a:t>
              </a:r>
            </a:p>
          </p:txBody>
        </p:sp>
        <p:sp>
          <p:nvSpPr>
            <p:cNvPr id="19" name="TextBox 18"/>
            <p:cNvSpPr txBox="1"/>
            <p:nvPr/>
          </p:nvSpPr>
          <p:spPr>
            <a:xfrm>
              <a:off x="3712464" y="4315968"/>
              <a:ext cx="713232" cy="457200"/>
            </a:xfrm>
            <a:prstGeom prst="rect">
              <a:avLst/>
            </a:prstGeom>
            <a:noFill/>
          </p:spPr>
          <p:txBody>
            <a:bodyPr wrap="square" lIns="0" tIns="0" rIns="0" bIns="0" anchor="ctr">
              <a:noAutofit/>
            </a:bodyPr>
            <a:lstStyle/>
            <a:p>
              <a:pPr algn="ctr">
                <a:lnSpc>
                  <a:spcPct val="95000"/>
                </a:lnSpc>
              </a:pPr>
              <a:r>
                <a:rPr sz="1200" b="1" i="0" lang="vi-VN">
                  <a:solidFill>
                    <a:srgbClr val="FFFFFF"/>
                  </a:solidFill>
                  <a:latin typeface="Arial"/>
                  <a:ea typeface="Arial"/>
                  <a:cs typeface="Arial"/>
                </a:rPr>
                <a:t>Giới hạn</a:t>
              </a:r>
            </a:p>
            <a:p>
              <a:pPr algn="ctr">
                <a:lnSpc>
                  <a:spcPct val="95000"/>
                </a:lnSpc>
              </a:pPr>
              <a:r>
                <a:rPr sz="1200" b="1" i="0" lang="vi-VN">
                  <a:solidFill>
                    <a:srgbClr val="FFFFFF"/>
                  </a:solidFill>
                  <a:latin typeface="Arial"/>
                  <a:ea typeface="Arial"/>
                  <a:cs typeface="Arial"/>
                </a:rPr>
                <a:t>(°/s)</a:t>
              </a:r>
            </a:p>
          </p:txBody>
        </p:sp>
      </p:grpSp>
      <p:grpSp>
        <p:nvGrpSpPr>
          <p:cNvPr id="20" name="Group 19"/>
          <p:cNvGrpSpPr/>
          <p:nvPr/>
        </p:nvGrpSpPr>
        <p:grpSpPr>
          <a:xfrm>
            <a:off x="502920" y="4773168"/>
            <a:ext cx="3977640" cy="320040"/>
            <a:chOff x="502920" y="4773168"/>
            <a:chExt cx="3977640" cy="320040"/>
          </a:xfrm>
        </p:grpSpPr>
        <p:sp>
          <p:nvSpPr>
            <p:cNvPr id="21" name="Rectangle 20"/>
            <p:cNvSpPr/>
            <p:nvPr/>
          </p:nvSpPr>
          <p:spPr>
            <a:xfrm>
              <a:off x="502920" y="4773168"/>
              <a:ext cx="3977640" cy="320040"/>
            </a:xfrm>
            <a:prstGeom prst="rect">
              <a:avLst/>
            </a:prstGeom>
            <a:solidFill>
              <a:srgbClr val="FFFFFF"/>
            </a:solidFill>
            <a:ln>
              <a:noFill/>
            </a:ln>
          </p:spPr>
          <p:txBody>
            <a:bodyPr rtlCol="0" anchor="ctr" lIns="54864" tIns="54864" rIns="54864" bIns="54864" wrap="square">
              <a:noAutofit/>
            </a:bodyPr>
            <a:lstStyle/>
            <a:p>
              <a:pPr algn="ctr"/>
            </a:p>
          </p:txBody>
        </p:sp>
        <p:sp>
          <p:nvSpPr>
            <p:cNvPr id="22" name="TextBox 21"/>
            <p:cNvSpPr txBox="1"/>
            <p:nvPr/>
          </p:nvSpPr>
          <p:spPr>
            <a:xfrm>
              <a:off x="557784" y="4773168"/>
              <a:ext cx="758952" cy="320040"/>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Chậm</a:t>
              </a:r>
            </a:p>
          </p:txBody>
        </p:sp>
        <p:sp>
          <p:nvSpPr>
            <p:cNvPr id="23" name="TextBox 22"/>
            <p:cNvSpPr txBox="1"/>
            <p:nvPr/>
          </p:nvSpPr>
          <p:spPr>
            <a:xfrm>
              <a:off x="1426464" y="4773168"/>
              <a:ext cx="98755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a:t>
              </a:r>
            </a:p>
          </p:txBody>
        </p:sp>
        <p:sp>
          <p:nvSpPr>
            <p:cNvPr id="24" name="TextBox 23"/>
            <p:cNvSpPr txBox="1"/>
            <p:nvPr/>
          </p:nvSpPr>
          <p:spPr>
            <a:xfrm>
              <a:off x="2523744" y="4773168"/>
              <a:ext cx="107899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0,85 / 0,80</a:t>
              </a:r>
            </a:p>
          </p:txBody>
        </p:sp>
        <p:sp>
          <p:nvSpPr>
            <p:cNvPr id="25" name="TextBox 24"/>
            <p:cNvSpPr txBox="1"/>
            <p:nvPr/>
          </p:nvSpPr>
          <p:spPr>
            <a:xfrm>
              <a:off x="3712464" y="4773168"/>
              <a:ext cx="71323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110</a:t>
              </a:r>
            </a:p>
          </p:txBody>
        </p:sp>
      </p:grpSp>
      <p:grpSp>
        <p:nvGrpSpPr>
          <p:cNvPr id="26" name="Group 25"/>
          <p:cNvGrpSpPr/>
          <p:nvPr/>
        </p:nvGrpSpPr>
        <p:grpSpPr>
          <a:xfrm>
            <a:off x="502920" y="5093208"/>
            <a:ext cx="3977640" cy="320040"/>
            <a:chOff x="502920" y="5093208"/>
            <a:chExt cx="3977640" cy="320040"/>
          </a:xfrm>
        </p:grpSpPr>
        <p:sp>
          <p:nvSpPr>
            <p:cNvPr id="27" name="Rectangle 26"/>
            <p:cNvSpPr/>
            <p:nvPr/>
          </p:nvSpPr>
          <p:spPr>
            <a:xfrm>
              <a:off x="502920" y="5093208"/>
              <a:ext cx="3977640" cy="320040"/>
            </a:xfrm>
            <a:prstGeom prst="rect">
              <a:avLst/>
            </a:prstGeom>
            <a:solidFill>
              <a:srgbClr val="F4F8FC"/>
            </a:solidFill>
            <a:ln>
              <a:noFill/>
            </a:ln>
          </p:spPr>
          <p:txBody>
            <a:bodyPr rtlCol="0" anchor="ctr" lIns="54864" tIns="54864" rIns="54864" bIns="54864" wrap="square">
              <a:noAutofit/>
            </a:bodyPr>
            <a:lstStyle/>
            <a:p>
              <a:pPr algn="ctr"/>
            </a:p>
          </p:txBody>
        </p:sp>
        <p:sp>
          <p:nvSpPr>
            <p:cNvPr id="28" name="TextBox 27"/>
            <p:cNvSpPr txBox="1"/>
            <p:nvPr/>
          </p:nvSpPr>
          <p:spPr>
            <a:xfrm>
              <a:off x="557784" y="5093208"/>
              <a:ext cx="758952" cy="320040"/>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Thường</a:t>
              </a:r>
            </a:p>
          </p:txBody>
        </p:sp>
        <p:sp>
          <p:nvSpPr>
            <p:cNvPr id="29" name="TextBox 28"/>
            <p:cNvSpPr txBox="1"/>
            <p:nvPr/>
          </p:nvSpPr>
          <p:spPr>
            <a:xfrm>
              <a:off x="1426464" y="5093208"/>
              <a:ext cx="98755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50 / 30</a:t>
              </a:r>
            </a:p>
          </p:txBody>
        </p:sp>
        <p:sp>
          <p:nvSpPr>
            <p:cNvPr id="30" name="TextBox 29"/>
            <p:cNvSpPr txBox="1"/>
            <p:nvPr/>
          </p:nvSpPr>
          <p:spPr>
            <a:xfrm>
              <a:off x="2523744" y="5093208"/>
              <a:ext cx="107899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0,90 / 0,86</a:t>
              </a:r>
            </a:p>
          </p:txBody>
        </p:sp>
        <p:sp>
          <p:nvSpPr>
            <p:cNvPr id="31" name="TextBox 30"/>
            <p:cNvSpPr txBox="1"/>
            <p:nvPr/>
          </p:nvSpPr>
          <p:spPr>
            <a:xfrm>
              <a:off x="3712464" y="5093208"/>
              <a:ext cx="71323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135</a:t>
              </a:r>
            </a:p>
          </p:txBody>
        </p:sp>
      </p:grpSp>
      <p:grpSp>
        <p:nvGrpSpPr>
          <p:cNvPr id="32" name="Group 31"/>
          <p:cNvGrpSpPr/>
          <p:nvPr/>
        </p:nvGrpSpPr>
        <p:grpSpPr>
          <a:xfrm>
            <a:off x="502920" y="5413248"/>
            <a:ext cx="3977640" cy="320040"/>
            <a:chOff x="502920" y="5413248"/>
            <a:chExt cx="3977640" cy="320040"/>
          </a:xfrm>
        </p:grpSpPr>
        <p:sp>
          <p:nvSpPr>
            <p:cNvPr id="33" name="Rectangle 32"/>
            <p:cNvSpPr/>
            <p:nvPr/>
          </p:nvSpPr>
          <p:spPr>
            <a:xfrm>
              <a:off x="502920" y="5413248"/>
              <a:ext cx="3977640" cy="320040"/>
            </a:xfrm>
            <a:prstGeom prst="rect">
              <a:avLst/>
            </a:prstGeom>
            <a:solidFill>
              <a:srgbClr val="FFFFFF"/>
            </a:solidFill>
            <a:ln>
              <a:noFill/>
            </a:ln>
          </p:spPr>
          <p:txBody>
            <a:bodyPr rtlCol="0" anchor="ctr" lIns="54864" tIns="54864" rIns="54864" bIns="54864" wrap="square">
              <a:noAutofit/>
            </a:bodyPr>
            <a:lstStyle/>
            <a:p>
              <a:pPr algn="ctr"/>
            </a:p>
          </p:txBody>
        </p:sp>
        <p:sp>
          <p:nvSpPr>
            <p:cNvPr id="34" name="TextBox 33"/>
            <p:cNvSpPr txBox="1"/>
            <p:nvPr/>
          </p:nvSpPr>
          <p:spPr>
            <a:xfrm>
              <a:off x="557784" y="5413248"/>
              <a:ext cx="758952" cy="320040"/>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Nhanh</a:t>
              </a:r>
            </a:p>
          </p:txBody>
        </p:sp>
        <p:sp>
          <p:nvSpPr>
            <p:cNvPr id="35" name="TextBox 34"/>
            <p:cNvSpPr txBox="1"/>
            <p:nvPr/>
          </p:nvSpPr>
          <p:spPr>
            <a:xfrm>
              <a:off x="1426464" y="5413248"/>
              <a:ext cx="98755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140 / 90</a:t>
              </a:r>
            </a:p>
          </p:txBody>
        </p:sp>
        <p:sp>
          <p:nvSpPr>
            <p:cNvPr id="36" name="TextBox 35"/>
            <p:cNvSpPr txBox="1"/>
            <p:nvPr/>
          </p:nvSpPr>
          <p:spPr>
            <a:xfrm>
              <a:off x="2523744" y="5413248"/>
              <a:ext cx="107899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0,95 / 0,92</a:t>
              </a:r>
            </a:p>
          </p:txBody>
        </p:sp>
        <p:sp>
          <p:nvSpPr>
            <p:cNvPr id="37" name="TextBox 36"/>
            <p:cNvSpPr txBox="1"/>
            <p:nvPr/>
          </p:nvSpPr>
          <p:spPr>
            <a:xfrm>
              <a:off x="3712464" y="5413248"/>
              <a:ext cx="71323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165</a:t>
              </a:r>
            </a:p>
          </p:txBody>
        </p:sp>
      </p:grpSp>
      <p:grpSp>
        <p:nvGrpSpPr>
          <p:cNvPr id="38" name="Group 37"/>
          <p:cNvGrpSpPr/>
          <p:nvPr/>
        </p:nvGrpSpPr>
        <p:grpSpPr>
          <a:xfrm>
            <a:off x="502920" y="5733288"/>
            <a:ext cx="3977640" cy="320040"/>
            <a:chOff x="502920" y="5733288"/>
            <a:chExt cx="3977640" cy="320040"/>
          </a:xfrm>
        </p:grpSpPr>
        <p:sp>
          <p:nvSpPr>
            <p:cNvPr id="39" name="Rectangle 38"/>
            <p:cNvSpPr/>
            <p:nvPr/>
          </p:nvSpPr>
          <p:spPr>
            <a:xfrm>
              <a:off x="502920" y="5733288"/>
              <a:ext cx="3977640" cy="320040"/>
            </a:xfrm>
            <a:prstGeom prst="rect">
              <a:avLst/>
            </a:prstGeom>
            <a:solidFill>
              <a:srgbClr val="F4F8FC"/>
            </a:solidFill>
            <a:ln>
              <a:noFill/>
            </a:ln>
          </p:spPr>
          <p:txBody>
            <a:bodyPr rtlCol="0" anchor="ctr" lIns="54864" tIns="54864" rIns="54864" bIns="54864" wrap="square">
              <a:noAutofit/>
            </a:bodyPr>
            <a:lstStyle/>
            <a:p>
              <a:pPr algn="ctr"/>
            </a:p>
          </p:txBody>
        </p:sp>
        <p:sp>
          <p:nvSpPr>
            <p:cNvPr id="40" name="TextBox 39"/>
            <p:cNvSpPr txBox="1"/>
            <p:nvPr/>
          </p:nvSpPr>
          <p:spPr>
            <a:xfrm>
              <a:off x="557784" y="5733288"/>
              <a:ext cx="758952" cy="320040"/>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Rất nhanh</a:t>
              </a:r>
            </a:p>
          </p:txBody>
        </p:sp>
        <p:sp>
          <p:nvSpPr>
            <p:cNvPr id="41" name="TextBox 40"/>
            <p:cNvSpPr txBox="1"/>
            <p:nvPr/>
          </p:nvSpPr>
          <p:spPr>
            <a:xfrm>
              <a:off x="1426464" y="5733288"/>
              <a:ext cx="98755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220 / 170</a:t>
              </a:r>
            </a:p>
          </p:txBody>
        </p:sp>
        <p:sp>
          <p:nvSpPr>
            <p:cNvPr id="42" name="TextBox 41"/>
            <p:cNvSpPr txBox="1"/>
            <p:nvPr/>
          </p:nvSpPr>
          <p:spPr>
            <a:xfrm>
              <a:off x="2523744" y="5733288"/>
              <a:ext cx="1078992" cy="320040"/>
            </a:xfrm>
            <a:prstGeom prst="rect">
              <a:avLst/>
            </a:prstGeom>
            <a:noFill/>
          </p:spPr>
          <p:txBody>
            <a:bodyPr wrap="square" lIns="0" tIns="0" rIns="0" bIns="0" anchor="ctr">
              <a:noAutofit/>
            </a:bodyPr>
            <a:lstStyle/>
            <a:p>
              <a:pPr algn="ctr">
                <a:lnSpc>
                  <a:spcPct val="95000"/>
                </a:lnSpc>
              </a:pPr>
              <a:r>
                <a:rPr sz="1250" b="0" i="1" lang="vi-VN">
                  <a:solidFill>
                    <a:srgbClr val="1E2B3A"/>
                  </a:solidFill>
                  <a:latin typeface="Cambria"/>
                  <a:ea typeface="Cambria"/>
                  <a:cs typeface="Cambria"/>
                </a:rPr>
                <a:t>k</a:t>
              </a:r>
              <a:r>
                <a:rPr sz="1250" b="0" i="0" lang="vi-VN">
                  <a:solidFill>
                    <a:srgbClr val="1E2B3A"/>
                  </a:solidFill>
                  <a:latin typeface="Cambria"/>
                  <a:ea typeface="Cambria"/>
                  <a:cs typeface="Cambria"/>
                </a:rPr>
                <a:t>(</a:t>
              </a:r>
              <a:r>
                <a:rPr sz="1250" b="0" i="1" lang="vi-VN">
                  <a:solidFill>
                    <a:srgbClr val="1E2B3A"/>
                  </a:solidFill>
                  <a:latin typeface="Cambria"/>
                  <a:ea typeface="Cambria"/>
                  <a:cs typeface="Cambria"/>
                </a:rPr>
                <a:t>v</a:t>
              </a:r>
              <a:r>
                <a:rPr sz="1250" b="0" i="0" lang="vi-VN">
                  <a:solidFill>
                    <a:srgbClr val="1E2B3A"/>
                  </a:solidFill>
                  <a:latin typeface="Cambria"/>
                  <a:ea typeface="Cambria"/>
                  <a:cs typeface="Cambria"/>
                </a:rPr>
                <a:t>)</a:t>
              </a:r>
            </a:p>
          </p:txBody>
        </p:sp>
        <p:sp>
          <p:nvSpPr>
            <p:cNvPr id="43" name="TextBox 42"/>
            <p:cNvSpPr txBox="1"/>
            <p:nvPr/>
          </p:nvSpPr>
          <p:spPr>
            <a:xfrm>
              <a:off x="3712464" y="5733288"/>
              <a:ext cx="713232" cy="32004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165</a:t>
              </a:r>
            </a:p>
          </p:txBody>
        </p:sp>
      </p:grpSp>
      <p:sp>
        <p:nvSpPr>
          <p:cNvPr id="44" name="Rounded Rectangle 43"/>
          <p:cNvSpPr/>
          <p:nvPr/>
        </p:nvSpPr>
        <p:spPr>
          <a:xfrm>
            <a:off x="4663440" y="1261872"/>
            <a:ext cx="7040880" cy="4791456"/>
          </a:xfrm>
          <a:prstGeom prst="roundRect">
            <a:avLst>
              <a:gd name="adj" fmla="val 19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5" name="TextBox 44"/>
          <p:cNvSpPr txBox="1"/>
          <p:nvPr/>
        </p:nvSpPr>
        <p:spPr>
          <a:xfrm>
            <a:off x="4846320" y="1325880"/>
            <a:ext cx="5943600" cy="292608"/>
          </a:xfrm>
          <a:prstGeom prst="rect">
            <a:avLst/>
          </a:prstGeom>
          <a:noFill/>
        </p:spPr>
        <p:txBody>
          <a:bodyPr wrap="square" lIns="0" tIns="0" rIns="0" bIns="0" anchor="t">
            <a:noAutofit/>
          </a:bodyPr>
          <a:lstStyle/>
          <a:p>
            <a:pPr algn="l"/>
            <a:r>
              <a:rPr sz="1250" b="1" i="0" lang="vi-VN" spc="40">
                <a:solidFill>
                  <a:srgbClr val="0A5FA8"/>
                </a:solidFill>
                <a:latin typeface="Arial"/>
                <a:ea typeface="Arial"/>
                <a:cs typeface="Arial"/>
              </a:rPr>
              <a:t>BỐN VÙNG TRẠNG THÁI ĐỘNG · TRỤC YAW</a:t>
            </a:r>
          </a:p>
        </p:txBody>
      </p:sp>
      <p:grpSp>
        <p:nvGrpSpPr>
          <p:cNvPr id="46" name="Group 45"/>
          <p:cNvGrpSpPr/>
          <p:nvPr/>
        </p:nvGrpSpPr>
        <p:grpSpPr>
          <a:xfrm>
            <a:off x="5257800" y="3249168"/>
            <a:ext cx="1371600" cy="1981200"/>
            <a:chOff x="5257800" y="3249168"/>
            <a:chExt cx="1371600" cy="1981200"/>
          </a:xfrm>
        </p:grpSpPr>
        <p:sp>
          <p:nvSpPr>
            <p:cNvPr id="47" name="Rounded Rectangle 46"/>
            <p:cNvSpPr/>
            <p:nvPr/>
          </p:nvSpPr>
          <p:spPr>
            <a:xfrm>
              <a:off x="5257800" y="3249168"/>
              <a:ext cx="1371600" cy="1981200"/>
            </a:xfrm>
            <a:prstGeom prst="roundRect">
              <a:avLst>
                <a:gd name="adj" fmla="val 4000"/>
              </a:avLst>
            </a:prstGeom>
            <a:solidFill>
              <a:srgbClr val="9CC3E8"/>
            </a:solidFill>
            <a:ln>
              <a:noFill/>
            </a:ln>
          </p:spPr>
          <p:txBody>
            <a:bodyPr rtlCol="0" anchor="ctr" lIns="54864" tIns="54864" rIns="54864" bIns="54864" wrap="square">
              <a:noAutofit/>
            </a:bodyPr>
            <a:lstStyle/>
            <a:p>
              <a:pPr algn="ctr"/>
            </a:p>
          </p:txBody>
        </p:sp>
        <p:sp>
          <p:nvSpPr>
            <p:cNvPr id="48" name="TextBox 47"/>
            <p:cNvSpPr txBox="1"/>
            <p:nvPr/>
          </p:nvSpPr>
          <p:spPr>
            <a:xfrm>
              <a:off x="5257800" y="3340608"/>
              <a:ext cx="1371600" cy="411480"/>
            </a:xfrm>
            <a:prstGeom prst="rect">
              <a:avLst/>
            </a:prstGeom>
            <a:noFill/>
          </p:spPr>
          <p:txBody>
            <a:bodyPr wrap="square" lIns="0" tIns="0" rIns="0" bIns="0" anchor="t">
              <a:noAutofit/>
            </a:bodyPr>
            <a:lstStyle/>
            <a:p>
              <a:pPr algn="ctr"/>
              <a:r>
                <a:rPr sz="1800" b="1" i="0" lang="vi-VN">
                  <a:solidFill>
                    <a:srgbClr val="1E2B3A"/>
                  </a:solidFill>
                  <a:latin typeface="Arial"/>
                  <a:ea typeface="Arial"/>
                  <a:cs typeface="Arial"/>
                </a:rPr>
                <a:t>110 °/s</a:t>
              </a:r>
            </a:p>
          </p:txBody>
        </p:sp>
        <p:sp>
          <p:nvSpPr>
            <p:cNvPr id="49" name="TextBox 48"/>
            <p:cNvSpPr txBox="1"/>
            <p:nvPr/>
          </p:nvSpPr>
          <p:spPr>
            <a:xfrm>
              <a:off x="5257800" y="3752088"/>
              <a:ext cx="1371600" cy="320040"/>
            </a:xfrm>
            <a:prstGeom prst="rect">
              <a:avLst/>
            </a:prstGeom>
            <a:noFill/>
          </p:spPr>
          <p:txBody>
            <a:bodyPr wrap="square" lIns="0" tIns="0" rIns="0" bIns="0" anchor="t">
              <a:noAutofit/>
            </a:bodyPr>
            <a:lstStyle/>
            <a:p>
              <a:pPr algn="ctr"/>
              <a:r>
                <a:rPr sz="1350" b="0" i="0" lang="vi-VN">
                  <a:solidFill>
                    <a:srgbClr val="1E2B3A"/>
                  </a:solidFill>
                  <a:latin typeface="Arial"/>
                  <a:ea typeface="Arial"/>
                  <a:cs typeface="Arial"/>
                </a:rPr>
                <a:t>k = 0,85</a:t>
              </a:r>
            </a:p>
          </p:txBody>
        </p:sp>
        <p:sp>
          <p:nvSpPr>
            <p:cNvPr id="50" name="TextBox 49"/>
            <p:cNvSpPr txBox="1"/>
            <p:nvPr/>
          </p:nvSpPr>
          <p:spPr>
            <a:xfrm>
              <a:off x="5257800" y="4791456"/>
              <a:ext cx="1371600" cy="365760"/>
            </a:xfrm>
            <a:prstGeom prst="rect">
              <a:avLst/>
            </a:prstGeom>
            <a:noFill/>
          </p:spPr>
          <p:txBody>
            <a:bodyPr wrap="square" lIns="0" tIns="0" rIns="0" bIns="0" anchor="t">
              <a:noAutofit/>
            </a:bodyPr>
            <a:lstStyle/>
            <a:p>
              <a:pPr algn="ctr"/>
              <a:r>
                <a:rPr sz="1500" b="1" i="0" lang="vi-VN">
                  <a:solidFill>
                    <a:srgbClr val="1E2B3A"/>
                  </a:solidFill>
                  <a:latin typeface="Arial"/>
                  <a:ea typeface="Arial"/>
                  <a:cs typeface="Arial"/>
                </a:rPr>
                <a:t>Chậm</a:t>
              </a:r>
            </a:p>
          </p:txBody>
        </p:sp>
      </p:grpSp>
      <p:grpSp>
        <p:nvGrpSpPr>
          <p:cNvPr id="51" name="Group 50"/>
          <p:cNvGrpSpPr/>
          <p:nvPr/>
        </p:nvGrpSpPr>
        <p:grpSpPr>
          <a:xfrm>
            <a:off x="6812280" y="2798895"/>
            <a:ext cx="1371600" cy="2431473"/>
            <a:chOff x="6812280" y="2798895"/>
            <a:chExt cx="1371600" cy="2431473"/>
          </a:xfrm>
        </p:grpSpPr>
        <p:sp>
          <p:nvSpPr>
            <p:cNvPr id="52" name="Rounded Rectangle 51"/>
            <p:cNvSpPr/>
            <p:nvPr/>
          </p:nvSpPr>
          <p:spPr>
            <a:xfrm>
              <a:off x="6812280" y="2798895"/>
              <a:ext cx="1371600" cy="2431473"/>
            </a:xfrm>
            <a:prstGeom prst="roundRect">
              <a:avLst>
                <a:gd name="adj" fmla="val 4000"/>
              </a:avLst>
            </a:prstGeom>
            <a:solidFill>
              <a:srgbClr val="5E9FD8"/>
            </a:solidFill>
            <a:ln>
              <a:noFill/>
            </a:ln>
          </p:spPr>
          <p:txBody>
            <a:bodyPr rtlCol="0" anchor="ctr" lIns="54864" tIns="54864" rIns="54864" bIns="54864" wrap="square">
              <a:noAutofit/>
            </a:bodyPr>
            <a:lstStyle/>
            <a:p>
              <a:pPr algn="ctr"/>
            </a:p>
          </p:txBody>
        </p:sp>
        <p:sp>
          <p:nvSpPr>
            <p:cNvPr id="53" name="TextBox 52"/>
            <p:cNvSpPr txBox="1"/>
            <p:nvPr/>
          </p:nvSpPr>
          <p:spPr>
            <a:xfrm>
              <a:off x="6812280" y="2890335"/>
              <a:ext cx="1371600" cy="411480"/>
            </a:xfrm>
            <a:prstGeom prst="rect">
              <a:avLst/>
            </a:prstGeom>
            <a:noFill/>
          </p:spPr>
          <p:txBody>
            <a:bodyPr wrap="square" lIns="0" tIns="0" rIns="0" bIns="0" anchor="t">
              <a:noAutofit/>
            </a:bodyPr>
            <a:lstStyle/>
            <a:p>
              <a:pPr algn="ctr"/>
              <a:r>
                <a:rPr sz="1800" b="1" i="0" lang="vi-VN">
                  <a:solidFill>
                    <a:srgbClr val="FFFFFF"/>
                  </a:solidFill>
                  <a:latin typeface="Arial"/>
                  <a:ea typeface="Arial"/>
                  <a:cs typeface="Arial"/>
                </a:rPr>
                <a:t>135 °/s</a:t>
              </a:r>
            </a:p>
          </p:txBody>
        </p:sp>
        <p:sp>
          <p:nvSpPr>
            <p:cNvPr id="54" name="TextBox 53"/>
            <p:cNvSpPr txBox="1"/>
            <p:nvPr/>
          </p:nvSpPr>
          <p:spPr>
            <a:xfrm>
              <a:off x="6812280" y="3301815"/>
              <a:ext cx="1371600" cy="320040"/>
            </a:xfrm>
            <a:prstGeom prst="rect">
              <a:avLst/>
            </a:prstGeom>
            <a:noFill/>
          </p:spPr>
          <p:txBody>
            <a:bodyPr wrap="square" lIns="0" tIns="0" rIns="0" bIns="0" anchor="t">
              <a:noAutofit/>
            </a:bodyPr>
            <a:lstStyle/>
            <a:p>
              <a:pPr algn="ctr"/>
              <a:r>
                <a:rPr sz="1350" b="0" i="0" lang="vi-VN">
                  <a:solidFill>
                    <a:srgbClr val="FFFFFF"/>
                  </a:solidFill>
                  <a:latin typeface="Arial"/>
                  <a:ea typeface="Arial"/>
                  <a:cs typeface="Arial"/>
                </a:rPr>
                <a:t>k = 0,90</a:t>
              </a:r>
            </a:p>
          </p:txBody>
        </p:sp>
        <p:sp>
          <p:nvSpPr>
            <p:cNvPr id="55" name="TextBox 54"/>
            <p:cNvSpPr txBox="1"/>
            <p:nvPr/>
          </p:nvSpPr>
          <p:spPr>
            <a:xfrm>
              <a:off x="6812280" y="4791456"/>
              <a:ext cx="1371600" cy="365760"/>
            </a:xfrm>
            <a:prstGeom prst="rect">
              <a:avLst/>
            </a:prstGeom>
            <a:noFill/>
          </p:spPr>
          <p:txBody>
            <a:bodyPr wrap="square" lIns="0" tIns="0" rIns="0" bIns="0" anchor="t">
              <a:noAutofit/>
            </a:bodyPr>
            <a:lstStyle/>
            <a:p>
              <a:pPr algn="ctr"/>
              <a:r>
                <a:rPr sz="1500" b="1" i="0" lang="vi-VN">
                  <a:solidFill>
                    <a:srgbClr val="FFFFFF"/>
                  </a:solidFill>
                  <a:latin typeface="Arial"/>
                  <a:ea typeface="Arial"/>
                  <a:cs typeface="Arial"/>
                </a:rPr>
                <a:t>Thường</a:t>
              </a:r>
            </a:p>
          </p:txBody>
        </p:sp>
      </p:grpSp>
      <p:grpSp>
        <p:nvGrpSpPr>
          <p:cNvPr id="56" name="Group 55"/>
          <p:cNvGrpSpPr/>
          <p:nvPr/>
        </p:nvGrpSpPr>
        <p:grpSpPr>
          <a:xfrm>
            <a:off x="8366760" y="2258568"/>
            <a:ext cx="1371600" cy="2971800"/>
            <a:chOff x="8366760" y="2258568"/>
            <a:chExt cx="1371600" cy="2971800"/>
          </a:xfrm>
        </p:grpSpPr>
        <p:sp>
          <p:nvSpPr>
            <p:cNvPr id="57" name="Rounded Rectangle 56"/>
            <p:cNvSpPr/>
            <p:nvPr/>
          </p:nvSpPr>
          <p:spPr>
            <a:xfrm>
              <a:off x="8366760" y="2258568"/>
              <a:ext cx="1371600" cy="2971800"/>
            </a:xfrm>
            <a:prstGeom prst="roundRect">
              <a:avLst>
                <a:gd name="adj" fmla="val 4000"/>
              </a:avLst>
            </a:prstGeom>
            <a:solidFill>
              <a:srgbClr val="2F78C0"/>
            </a:solidFill>
            <a:ln>
              <a:noFill/>
            </a:ln>
          </p:spPr>
          <p:txBody>
            <a:bodyPr rtlCol="0" anchor="ctr" lIns="54864" tIns="54864" rIns="54864" bIns="54864" wrap="square">
              <a:noAutofit/>
            </a:bodyPr>
            <a:lstStyle/>
            <a:p>
              <a:pPr algn="ctr"/>
            </a:p>
          </p:txBody>
        </p:sp>
        <p:sp>
          <p:nvSpPr>
            <p:cNvPr id="58" name="TextBox 57"/>
            <p:cNvSpPr txBox="1"/>
            <p:nvPr/>
          </p:nvSpPr>
          <p:spPr>
            <a:xfrm>
              <a:off x="8366760" y="2350008"/>
              <a:ext cx="1371600" cy="411480"/>
            </a:xfrm>
            <a:prstGeom prst="rect">
              <a:avLst/>
            </a:prstGeom>
            <a:noFill/>
          </p:spPr>
          <p:txBody>
            <a:bodyPr wrap="square" lIns="0" tIns="0" rIns="0" bIns="0" anchor="t">
              <a:noAutofit/>
            </a:bodyPr>
            <a:lstStyle/>
            <a:p>
              <a:pPr algn="ctr"/>
              <a:r>
                <a:rPr sz="1800" b="1" i="0" lang="vi-VN">
                  <a:solidFill>
                    <a:srgbClr val="FFFFFF"/>
                  </a:solidFill>
                  <a:latin typeface="Arial"/>
                  <a:ea typeface="Arial"/>
                  <a:cs typeface="Arial"/>
                </a:rPr>
                <a:t>165 °/s</a:t>
              </a:r>
            </a:p>
          </p:txBody>
        </p:sp>
        <p:sp>
          <p:nvSpPr>
            <p:cNvPr id="59" name="TextBox 58"/>
            <p:cNvSpPr txBox="1"/>
            <p:nvPr/>
          </p:nvSpPr>
          <p:spPr>
            <a:xfrm>
              <a:off x="8366760" y="2761488"/>
              <a:ext cx="1371600" cy="320040"/>
            </a:xfrm>
            <a:prstGeom prst="rect">
              <a:avLst/>
            </a:prstGeom>
            <a:noFill/>
          </p:spPr>
          <p:txBody>
            <a:bodyPr wrap="square" lIns="0" tIns="0" rIns="0" bIns="0" anchor="t">
              <a:noAutofit/>
            </a:bodyPr>
            <a:lstStyle/>
            <a:p>
              <a:pPr algn="ctr"/>
              <a:r>
                <a:rPr sz="1350" b="0" i="0" lang="vi-VN">
                  <a:solidFill>
                    <a:srgbClr val="FFFFFF"/>
                  </a:solidFill>
                  <a:latin typeface="Arial"/>
                  <a:ea typeface="Arial"/>
                  <a:cs typeface="Arial"/>
                </a:rPr>
                <a:t>k = 0,95</a:t>
              </a:r>
            </a:p>
          </p:txBody>
        </p:sp>
        <p:sp>
          <p:nvSpPr>
            <p:cNvPr id="60" name="TextBox 59"/>
            <p:cNvSpPr txBox="1"/>
            <p:nvPr/>
          </p:nvSpPr>
          <p:spPr>
            <a:xfrm>
              <a:off x="8366760" y="4791456"/>
              <a:ext cx="1371600" cy="365760"/>
            </a:xfrm>
            <a:prstGeom prst="rect">
              <a:avLst/>
            </a:prstGeom>
            <a:noFill/>
          </p:spPr>
          <p:txBody>
            <a:bodyPr wrap="square" lIns="0" tIns="0" rIns="0" bIns="0" anchor="t">
              <a:noAutofit/>
            </a:bodyPr>
            <a:lstStyle/>
            <a:p>
              <a:pPr algn="ctr"/>
              <a:r>
                <a:rPr sz="1500" b="1" i="0" lang="vi-VN">
                  <a:solidFill>
                    <a:srgbClr val="FFFFFF"/>
                  </a:solidFill>
                  <a:latin typeface="Arial"/>
                  <a:ea typeface="Arial"/>
                  <a:cs typeface="Arial"/>
                </a:rPr>
                <a:t>Nhanh</a:t>
              </a:r>
            </a:p>
          </p:txBody>
        </p:sp>
      </p:grpSp>
      <p:grpSp>
        <p:nvGrpSpPr>
          <p:cNvPr id="61" name="Group 60"/>
          <p:cNvGrpSpPr/>
          <p:nvPr/>
        </p:nvGrpSpPr>
        <p:grpSpPr>
          <a:xfrm>
            <a:off x="9921240" y="2258568"/>
            <a:ext cx="1371600" cy="2971800"/>
            <a:chOff x="9921240" y="2258568"/>
            <a:chExt cx="1371600" cy="2971800"/>
          </a:xfrm>
        </p:grpSpPr>
        <p:sp>
          <p:nvSpPr>
            <p:cNvPr id="62" name="Rounded Rectangle 61"/>
            <p:cNvSpPr/>
            <p:nvPr/>
          </p:nvSpPr>
          <p:spPr>
            <a:xfrm>
              <a:off x="9921240" y="2258568"/>
              <a:ext cx="1371600" cy="2971800"/>
            </a:xfrm>
            <a:prstGeom prst="roundRect">
              <a:avLst>
                <a:gd name="adj" fmla="val 4000"/>
              </a:avLst>
            </a:prstGeom>
            <a:solidFill>
              <a:srgbClr val="0B2545"/>
            </a:solidFill>
            <a:ln>
              <a:noFill/>
            </a:ln>
          </p:spPr>
          <p:txBody>
            <a:bodyPr rtlCol="0" anchor="ctr" lIns="54864" tIns="54864" rIns="54864" bIns="54864" wrap="square">
              <a:noAutofit/>
            </a:bodyPr>
            <a:lstStyle/>
            <a:p>
              <a:pPr algn="ctr"/>
            </a:p>
          </p:txBody>
        </p:sp>
        <p:sp>
          <p:nvSpPr>
            <p:cNvPr id="63" name="TextBox 62"/>
            <p:cNvSpPr txBox="1"/>
            <p:nvPr/>
          </p:nvSpPr>
          <p:spPr>
            <a:xfrm>
              <a:off x="9921240" y="2350008"/>
              <a:ext cx="1371600" cy="411480"/>
            </a:xfrm>
            <a:prstGeom prst="rect">
              <a:avLst/>
            </a:prstGeom>
            <a:noFill/>
          </p:spPr>
          <p:txBody>
            <a:bodyPr wrap="square" lIns="0" tIns="0" rIns="0" bIns="0" anchor="t">
              <a:noAutofit/>
            </a:bodyPr>
            <a:lstStyle/>
            <a:p>
              <a:pPr algn="ctr"/>
              <a:r>
                <a:rPr sz="1800" b="1" i="0" lang="vi-VN">
                  <a:solidFill>
                    <a:srgbClr val="FFFFFF"/>
                  </a:solidFill>
                  <a:latin typeface="Arial"/>
                  <a:ea typeface="Arial"/>
                  <a:cs typeface="Arial"/>
                </a:rPr>
                <a:t>165 °/s</a:t>
              </a:r>
            </a:p>
          </p:txBody>
        </p:sp>
        <p:sp>
          <p:nvSpPr>
            <p:cNvPr id="64" name="TextBox 63"/>
            <p:cNvSpPr txBox="1"/>
            <p:nvPr/>
          </p:nvSpPr>
          <p:spPr>
            <a:xfrm>
              <a:off x="9921240" y="2761488"/>
              <a:ext cx="1371600" cy="320040"/>
            </a:xfrm>
            <a:prstGeom prst="rect">
              <a:avLst/>
            </a:prstGeom>
            <a:noFill/>
          </p:spPr>
          <p:txBody>
            <a:bodyPr wrap="square" lIns="0" tIns="0" rIns="0" bIns="0" anchor="t">
              <a:noAutofit/>
            </a:bodyPr>
            <a:lstStyle/>
            <a:p>
              <a:pPr algn="ctr"/>
              <a:r>
                <a:rPr sz="1350" b="0" i="1" lang="vi-VN">
                  <a:solidFill>
                    <a:srgbClr val="FFFFFF"/>
                  </a:solidFill>
                  <a:latin typeface="Arial"/>
                  <a:ea typeface="Arial"/>
                  <a:cs typeface="Arial"/>
                </a:rPr>
                <a:t>k = k(v)</a:t>
              </a:r>
            </a:p>
          </p:txBody>
        </p:sp>
        <p:sp>
          <p:nvSpPr>
            <p:cNvPr id="65" name="TextBox 64"/>
            <p:cNvSpPr txBox="1"/>
            <p:nvPr/>
          </p:nvSpPr>
          <p:spPr>
            <a:xfrm>
              <a:off x="9921240" y="4791456"/>
              <a:ext cx="1371600" cy="365760"/>
            </a:xfrm>
            <a:prstGeom prst="rect">
              <a:avLst/>
            </a:prstGeom>
            <a:noFill/>
          </p:spPr>
          <p:txBody>
            <a:bodyPr wrap="square" lIns="0" tIns="0" rIns="0" bIns="0" anchor="t">
              <a:noAutofit/>
            </a:bodyPr>
            <a:lstStyle/>
            <a:p>
              <a:pPr algn="ctr"/>
              <a:r>
                <a:rPr sz="1500" b="1" i="0" lang="vi-VN">
                  <a:solidFill>
                    <a:srgbClr val="FFFFFF"/>
                  </a:solidFill>
                  <a:latin typeface="Arial"/>
                  <a:ea typeface="Arial"/>
                  <a:cs typeface="Arial"/>
                </a:rPr>
                <a:t>Rất nhanh</a:t>
              </a:r>
            </a:p>
          </p:txBody>
        </p:sp>
      </p:grpSp>
      <p:grpSp>
        <p:nvGrpSpPr>
          <p:cNvPr id="66" name="Group 65"/>
          <p:cNvGrpSpPr/>
          <p:nvPr/>
        </p:nvGrpSpPr>
        <p:grpSpPr>
          <a:xfrm>
            <a:off x="5074920" y="5157216"/>
            <a:ext cx="6492240" cy="713232"/>
            <a:chOff x="5074920" y="5157216"/>
            <a:chExt cx="6492240" cy="713232"/>
          </a:xfrm>
        </p:grpSpPr>
        <p:cxnSp>
          <p:nvCxnSpPr>
            <p:cNvPr id="67" name="Connector 66"/>
            <p:cNvCxnSpPr/>
            <p:nvPr/>
          </p:nvCxnSpPr>
          <p:spPr>
            <a:xfrm>
              <a:off x="5074920" y="5230368"/>
              <a:ext cx="6446520" cy="0"/>
            </a:xfrm>
            <a:prstGeom prst="line">
              <a:avLst/>
            </a:prstGeom>
            <a:ln w="19050">
              <a:solidFill>
                <a:srgbClr val="5B6B7B"/>
              </a:solidFill>
              <a:tailEnd type="triangle" w="med" len="med"/>
            </a:ln>
          </p:spPr>
        </p:cxnSp>
        <p:cxnSp>
          <p:nvCxnSpPr>
            <p:cNvPr id="68" name="Connector 67"/>
            <p:cNvCxnSpPr/>
            <p:nvPr/>
          </p:nvCxnSpPr>
          <p:spPr>
            <a:xfrm>
              <a:off x="6720840" y="5157216"/>
              <a:ext cx="0" cy="182880"/>
            </a:xfrm>
            <a:prstGeom prst="line">
              <a:avLst/>
            </a:prstGeom>
            <a:ln w="15875">
              <a:solidFill>
                <a:srgbClr val="5B6B7B"/>
              </a:solidFill>
            </a:ln>
          </p:spPr>
        </p:cxnSp>
        <p:sp>
          <p:nvSpPr>
            <p:cNvPr id="69" name="TextBox 68"/>
            <p:cNvSpPr txBox="1"/>
            <p:nvPr/>
          </p:nvSpPr>
          <p:spPr>
            <a:xfrm>
              <a:off x="6172200" y="5321808"/>
              <a:ext cx="1097280" cy="274320"/>
            </a:xfrm>
            <a:prstGeom prst="rect">
              <a:avLst/>
            </a:prstGeom>
            <a:noFill/>
          </p:spPr>
          <p:txBody>
            <a:bodyPr wrap="square" lIns="0" tIns="0" rIns="0" bIns="0" anchor="t">
              <a:noAutofit/>
            </a:bodyPr>
            <a:lstStyle/>
            <a:p>
              <a:pPr algn="ctr"/>
              <a:r>
                <a:rPr sz="1250" b="1" i="0" lang="vi-VN">
                  <a:solidFill>
                    <a:srgbClr val="1E2B3A"/>
                  </a:solidFill>
                  <a:latin typeface="Arial"/>
                  <a:ea typeface="Arial"/>
                  <a:cs typeface="Arial"/>
                </a:rPr>
                <a:t>v &gt; 50</a:t>
              </a:r>
            </a:p>
          </p:txBody>
        </p:sp>
        <p:cxnSp>
          <p:nvCxnSpPr>
            <p:cNvPr id="70" name="Connector 69"/>
            <p:cNvCxnSpPr/>
            <p:nvPr/>
          </p:nvCxnSpPr>
          <p:spPr>
            <a:xfrm>
              <a:off x="8275320" y="5157216"/>
              <a:ext cx="0" cy="182880"/>
            </a:xfrm>
            <a:prstGeom prst="line">
              <a:avLst/>
            </a:prstGeom>
            <a:ln w="15875">
              <a:solidFill>
                <a:srgbClr val="5B6B7B"/>
              </a:solidFill>
            </a:ln>
          </p:spPr>
        </p:cxnSp>
        <p:sp>
          <p:nvSpPr>
            <p:cNvPr id="71" name="TextBox 70"/>
            <p:cNvSpPr txBox="1"/>
            <p:nvPr/>
          </p:nvSpPr>
          <p:spPr>
            <a:xfrm>
              <a:off x="7726680" y="5321808"/>
              <a:ext cx="1097280" cy="274320"/>
            </a:xfrm>
            <a:prstGeom prst="rect">
              <a:avLst/>
            </a:prstGeom>
            <a:noFill/>
          </p:spPr>
          <p:txBody>
            <a:bodyPr wrap="square" lIns="0" tIns="0" rIns="0" bIns="0" anchor="t">
              <a:noAutofit/>
            </a:bodyPr>
            <a:lstStyle/>
            <a:p>
              <a:pPr algn="ctr"/>
              <a:r>
                <a:rPr sz="1250" b="1" i="0" lang="vi-VN">
                  <a:solidFill>
                    <a:srgbClr val="1E2B3A"/>
                  </a:solidFill>
                  <a:latin typeface="Arial"/>
                  <a:ea typeface="Arial"/>
                  <a:cs typeface="Arial"/>
                </a:rPr>
                <a:t>v &gt; 140</a:t>
              </a:r>
            </a:p>
          </p:txBody>
        </p:sp>
        <p:cxnSp>
          <p:nvCxnSpPr>
            <p:cNvPr id="72" name="Connector 71"/>
            <p:cNvCxnSpPr/>
            <p:nvPr/>
          </p:nvCxnSpPr>
          <p:spPr>
            <a:xfrm>
              <a:off x="9829800" y="5157216"/>
              <a:ext cx="0" cy="182880"/>
            </a:xfrm>
            <a:prstGeom prst="line">
              <a:avLst/>
            </a:prstGeom>
            <a:ln w="15875">
              <a:solidFill>
                <a:srgbClr val="5B6B7B"/>
              </a:solidFill>
            </a:ln>
          </p:spPr>
        </p:cxnSp>
        <p:sp>
          <p:nvSpPr>
            <p:cNvPr id="73" name="TextBox 72"/>
            <p:cNvSpPr txBox="1"/>
            <p:nvPr/>
          </p:nvSpPr>
          <p:spPr>
            <a:xfrm>
              <a:off x="9281160" y="5321808"/>
              <a:ext cx="1097280" cy="274320"/>
            </a:xfrm>
            <a:prstGeom prst="rect">
              <a:avLst/>
            </a:prstGeom>
            <a:noFill/>
          </p:spPr>
          <p:txBody>
            <a:bodyPr wrap="square" lIns="0" tIns="0" rIns="0" bIns="0" anchor="t">
              <a:noAutofit/>
            </a:bodyPr>
            <a:lstStyle/>
            <a:p>
              <a:pPr algn="ctr"/>
              <a:r>
                <a:rPr sz="1250" b="1" i="0" lang="vi-VN">
                  <a:solidFill>
                    <a:srgbClr val="1E2B3A"/>
                  </a:solidFill>
                  <a:latin typeface="Arial"/>
                  <a:ea typeface="Arial"/>
                  <a:cs typeface="Arial"/>
                </a:rPr>
                <a:t>v &gt; 220</a:t>
              </a:r>
            </a:p>
          </p:txBody>
        </p:sp>
        <p:sp>
          <p:nvSpPr>
            <p:cNvPr id="74" name="TextBox 73"/>
            <p:cNvSpPr txBox="1"/>
            <p:nvPr/>
          </p:nvSpPr>
          <p:spPr>
            <a:xfrm>
              <a:off x="8412480" y="5596128"/>
              <a:ext cx="3154680" cy="274320"/>
            </a:xfrm>
            <a:prstGeom prst="rect">
              <a:avLst/>
            </a:prstGeom>
            <a:noFill/>
          </p:spPr>
          <p:txBody>
            <a:bodyPr wrap="square" lIns="0" tIns="0" rIns="0" bIns="0" anchor="t">
              <a:noAutofit/>
            </a:bodyPr>
            <a:lstStyle/>
            <a:p>
              <a:pPr algn="r"/>
              <a:r>
                <a:rPr sz="1250" b="0" i="0" lang="vi-VN">
                  <a:solidFill>
                    <a:srgbClr val="5B6B7B"/>
                  </a:solidFill>
                  <a:latin typeface="Arial"/>
                  <a:ea typeface="Arial"/>
                  <a:cs typeface="Arial"/>
                </a:rPr>
                <a:t>tốc độ khung mang </a:t>
              </a:r>
              <a:r>
                <a:rPr sz="1250" b="0" i="1" lang="vi-VN">
                  <a:solidFill>
                    <a:srgbClr val="5B6B7B"/>
                  </a:solidFill>
                  <a:latin typeface="Cambria"/>
                  <a:ea typeface="Cambria"/>
                  <a:cs typeface="Cambria"/>
                </a:rPr>
                <a:t>v</a:t>
              </a:r>
              <a:r>
                <a:rPr sz="1250" b="0" i="0" lang="vi-VN">
                  <a:solidFill>
                    <a:srgbClr val="5B6B7B"/>
                  </a:solidFill>
                  <a:latin typeface="Arial"/>
                  <a:ea typeface="Arial"/>
                  <a:cs typeface="Arial"/>
                </a:rPr>
                <a:t> (°/s) →</a:t>
              </a:r>
            </a:p>
          </p:txBody>
        </p:sp>
      </p:grpSp>
      <p:grpSp>
        <p:nvGrpSpPr>
          <p:cNvPr id="75" name="Group 74"/>
          <p:cNvGrpSpPr/>
          <p:nvPr/>
        </p:nvGrpSpPr>
        <p:grpSpPr>
          <a:xfrm>
            <a:off x="5029200" y="1755648"/>
            <a:ext cx="2834640" cy="1024128"/>
            <a:chOff x="5029200" y="1755648"/>
            <a:chExt cx="2834640" cy="1024128"/>
          </a:xfrm>
        </p:grpSpPr>
        <p:sp>
          <p:nvSpPr>
            <p:cNvPr id="76" name="Rounded Rectangle 75"/>
            <p:cNvSpPr/>
            <p:nvPr/>
          </p:nvSpPr>
          <p:spPr>
            <a:xfrm>
              <a:off x="5029200" y="1755648"/>
              <a:ext cx="2834640" cy="1024128"/>
            </a:xfrm>
            <a:prstGeom prst="roundRect">
              <a:avLst>
                <a:gd name="adj" fmla="val 8928"/>
              </a:avLst>
            </a:prstGeom>
            <a:solidFill>
              <a:srgbClr val="FFF1E6"/>
            </a:solidFill>
            <a:ln w="15875">
              <a:solidFill>
                <a:srgbClr val="E8710A"/>
              </a:solidFill>
            </a:ln>
          </p:spPr>
          <p:txBody>
            <a:bodyPr rtlCol="0" anchor="ctr" tIns="91440" bIns="91440" wrap="square">
              <a:noAutofit/>
            </a:bodyPr>
            <a:lstStyle/>
            <a:p>
              <a:pPr algn="l"/>
              <a:r>
                <a:rPr sz="1300" b="0" i="0" lang="vi-VN">
                  <a:solidFill>
                    <a:srgbClr val="1E2B3A"/>
                  </a:solidFill>
                  <a:latin typeface="Arial"/>
                  <a:ea typeface="Arial"/>
                  <a:cs typeface="Arial"/>
                </a:rPr>
                <a:t>Chuyển vùng có trễ: ngưỡng ra thấp hơn ngưỡng vào </a:t>
              </a:r>
              <a:r>
                <a:rPr sz="1300" b="1" i="0" lang="vi-VN">
                  <a:solidFill>
                    <a:srgbClr val="1E2B3A"/>
                  </a:solidFill>
                  <a:latin typeface="Arial"/>
                  <a:ea typeface="Arial"/>
                  <a:cs typeface="Arial"/>
                </a:rPr>
                <a:t>25–30 %</a:t>
              </a:r>
              <a:r>
                <a:rPr sz="1300" b="0" i="0" lang="vi-VN">
                  <a:solidFill>
                    <a:srgbClr val="1E2B3A"/>
                  </a:solidFill>
                  <a:latin typeface="Arial"/>
                  <a:ea typeface="Arial"/>
                  <a:cs typeface="Arial"/>
                </a:rPr>
                <a:t> → không dao động qua lại</a:t>
              </a:r>
            </a:p>
          </p:txBody>
        </p:sp>
      </p:grpSp>
      <p:sp>
        <p:nvSpPr>
          <p:cNvPr id="77"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6"/>
                                        </p:tgtEl>
                                        <p:attrNameLst>
                                          <p:attrName>style.visibility</p:attrName>
                                        </p:attrNameLst>
                                      </p:cBhvr>
                                      <p:to>
                                        <p:strVal val="visible"/>
                                      </p:to>
                                    </p:set>
                                    <p:animEffect transition="in" filter="wipe(left)">
                                      <p:cBhvr>
                                        <p:cTn id="14" dur="500"/>
                                        <p:tgtEl>
                                          <p:spTgt spid="66"/>
                                        </p:tgtEl>
                                      </p:cBhvr>
                                    </p:animEffect>
                                  </p:childTnLst>
                                </p:cTn>
                              </p:par>
                            </p:childTnLst>
                          </p:cTn>
                        </p:par>
                        <p:par>
                          <p:cTn id="15" fill="hold">
                            <p:stCondLst>
                              <p:cond delay="500"/>
                            </p:stCondLst>
                            <p:childTnLst>
                              <p:par>
                                <p:cTn id="16" presetID="22" presetClass="entr" presetSubtype="4" fill="hold" grpId="0" nodeType="after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wipe(down)">
                                      <p:cBhvr>
                                        <p:cTn id="18" dur="450"/>
                                        <p:tgtEl>
                                          <p:spTgt spid="46"/>
                                        </p:tgtEl>
                                      </p:cBhvr>
                                    </p:animEffect>
                                  </p:childTnLst>
                                </p:cTn>
                              </p:par>
                            </p:childTnLst>
                          </p:cTn>
                        </p:par>
                        <p:par>
                          <p:cTn id="19" fill="hold">
                            <p:stCondLst>
                              <p:cond delay="950"/>
                            </p:stCondLst>
                            <p:childTnLst>
                              <p:par>
                                <p:cTn id="20" presetID="22" presetClass="entr" presetSubtype="4" fill="hold" grpId="0" nodeType="after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down)">
                                      <p:cBhvr>
                                        <p:cTn id="22" dur="450"/>
                                        <p:tgtEl>
                                          <p:spTgt spid="51"/>
                                        </p:tgtEl>
                                      </p:cBhvr>
                                    </p:animEffect>
                                  </p:childTnLst>
                                </p:cTn>
                              </p:par>
                            </p:childTnLst>
                          </p:cTn>
                        </p:par>
                        <p:par>
                          <p:cTn id="23" fill="hold">
                            <p:stCondLst>
                              <p:cond delay="1400"/>
                            </p:stCondLst>
                            <p:childTnLst>
                              <p:par>
                                <p:cTn id="24" presetID="22" presetClass="entr" presetSubtype="4" fill="hold" grpId="0" nodeType="after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wipe(down)">
                                      <p:cBhvr>
                                        <p:cTn id="26" dur="450"/>
                                        <p:tgtEl>
                                          <p:spTgt spid="56"/>
                                        </p:tgtEl>
                                      </p:cBhvr>
                                    </p:animEffect>
                                  </p:childTnLst>
                                </p:cTn>
                              </p:par>
                            </p:childTnLst>
                          </p:cTn>
                        </p:par>
                        <p:par>
                          <p:cTn id="27" fill="hold">
                            <p:stCondLst>
                              <p:cond delay="1850"/>
                            </p:stCondLst>
                            <p:childTnLst>
                              <p:par>
                                <p:cTn id="28" presetID="22" presetClass="entr" presetSubtype="4" fill="hold" grpId="0" nodeType="after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wipe(down)">
                                      <p:cBhvr>
                                        <p:cTn id="30" dur="450"/>
                                        <p:tgtEl>
                                          <p:spTgt spid="61"/>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50"/>
                                        <p:tgtEl>
                                          <p:spTgt spid="9"/>
                                        </p:tgtEl>
                                      </p:cBhvr>
                                    </p:animEffect>
                                    <p:anim calcmode="lin" valueType="num">
                                      <p:cBhvr>
                                        <p:cTn id="36" dur="450" fill="hold"/>
                                        <p:tgtEl>
                                          <p:spTgt spid="9"/>
                                        </p:tgtEl>
                                        <p:attrNameLst>
                                          <p:attrName>ppt_x</p:attrName>
                                        </p:attrNameLst>
                                      </p:cBhvr>
                                      <p:tavLst>
                                        <p:tav tm="0">
                                          <p:val>
                                            <p:strVal val="#ppt_x"/>
                                          </p:val>
                                        </p:tav>
                                        <p:tav tm="100000">
                                          <p:val>
                                            <p:strVal val="#ppt_x"/>
                                          </p:val>
                                        </p:tav>
                                      </p:tavLst>
                                    </p:anim>
                                    <p:anim calcmode="lin" valueType="num">
                                      <p:cBhvr>
                                        <p:cTn id="37" dur="450" fill="hold"/>
                                        <p:tgtEl>
                                          <p:spTgt spid="9"/>
                                        </p:tgtEl>
                                        <p:attrNameLst>
                                          <p:attrName>ppt_y</p:attrName>
                                        </p:attrNameLst>
                                      </p:cBhvr>
                                      <p:tavLst>
                                        <p:tav tm="0">
                                          <p:val>
                                            <p:strVal val="#ppt_y+.05"/>
                                          </p:val>
                                        </p:tav>
                                        <p:tav tm="100000">
                                          <p:val>
                                            <p:strVal val="#ppt_y"/>
                                          </p:val>
                                        </p:tav>
                                      </p:tavLst>
                                    </p:anim>
                                  </p:childTnLst>
                                </p:cTn>
                              </p:par>
                              <p:par>
                                <p:cTn id="38" presetID="53" presetClass="entr" presetSubtype="16" fill="hold" grpId="0" nodeType="withEffect">
                                  <p:stCondLst>
                                    <p:cond delay="200"/>
                                  </p:stCondLst>
                                  <p:childTnLst>
                                    <p:set>
                                      <p:cBhvr>
                                        <p:cTn id="39" dur="1" fill="hold">
                                          <p:stCondLst>
                                            <p:cond delay="0"/>
                                          </p:stCondLst>
                                        </p:cTn>
                                        <p:tgtEl>
                                          <p:spTgt spid="75"/>
                                        </p:tgtEl>
                                        <p:attrNameLst>
                                          <p:attrName>style.visibility</p:attrName>
                                        </p:attrNameLst>
                                      </p:cBhvr>
                                      <p:to>
                                        <p:strVal val="visible"/>
                                      </p:to>
                                    </p:set>
                                    <p:animEffect transition="in" filter="fade">
                                      <p:cBhvr>
                                        <p:cTn id="40" dur="450"/>
                                        <p:tgtEl>
                                          <p:spTgt spid="75"/>
                                        </p:tgtEl>
                                      </p:cBhvr>
                                    </p:animEffect>
                                    <p:anim calcmode="lin" valueType="num">
                                      <p:cBhvr>
                                        <p:cTn id="41" dur="450" fill="hold"/>
                                        <p:tgtEl>
                                          <p:spTgt spid="75"/>
                                        </p:tgtEl>
                                        <p:attrNameLst>
                                          <p:attrName>ppt_w</p:attrName>
                                        </p:attrNameLst>
                                      </p:cBhvr>
                                      <p:tavLst>
                                        <p:tav tm="0">
                                          <p:val>
                                            <p:strVal val="0"/>
                                          </p:val>
                                        </p:tav>
                                        <p:tav tm="100000">
                                          <p:val>
                                            <p:strVal val="#ppt_w"/>
                                          </p:val>
                                        </p:tav>
                                      </p:tavLst>
                                    </p:anim>
                                    <p:anim calcmode="lin" valueType="num">
                                      <p:cBhvr>
                                        <p:cTn id="42" dur="450" fill="hold"/>
                                        <p:tgtEl>
                                          <p:spTgt spid="75"/>
                                        </p:tgtEl>
                                        <p:attrNameLst>
                                          <p:attrName>ppt_h</p:attrName>
                                        </p:attrNameLst>
                                      </p:cBhvr>
                                      <p:tavLst>
                                        <p:tav tm="0">
                                          <p:val>
                                            <p:str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grpId="0" nodeType="withEffect">
                                  <p:stCondLst>
                                    <p:cond delay="1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p:tgtEl>
                                          <p:spTgt spid="20"/>
                                        </p:tgtEl>
                                      </p:cBhvr>
                                    </p:animEffect>
                                  </p:childTnLst>
                                </p:cTn>
                              </p:par>
                              <p:par>
                                <p:cTn id="51" presetID="10" presetClass="entr" presetSubtype="0" fill="hold" grpId="0" nodeType="withEffect">
                                  <p:stCondLst>
                                    <p:cond delay="20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300"/>
                                        <p:tgtEl>
                                          <p:spTgt spid="26"/>
                                        </p:tgtEl>
                                      </p:cBhvr>
                                    </p:animEffect>
                                  </p:childTnLst>
                                </p:cTn>
                              </p:par>
                              <p:par>
                                <p:cTn id="54" presetID="10" presetClass="entr" presetSubtype="0" fill="hold" grpId="0" nodeType="withEffect">
                                  <p:stCondLst>
                                    <p:cond delay="30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300"/>
                                        <p:tgtEl>
                                          <p:spTgt spid="32"/>
                                        </p:tgtEl>
                                      </p:cBhvr>
                                    </p:animEffect>
                                  </p:childTnLst>
                                </p:cTn>
                              </p:par>
                              <p:par>
                                <p:cTn id="57" presetID="10" presetClass="entr" presetSubtype="0" fill="hold" grpId="0" nodeType="withEffect">
                                  <p:stCondLst>
                                    <p:cond delay="40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3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3 · THUẬT TOÁN ĐIỀU KHIỂN</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⑤ Xử lý đảo chiều, dừng đột ngột và tạo dạng lệnh</a:t>
            </a:r>
          </a:p>
        </p:txBody>
      </p:sp>
      <p:grpSp>
        <p:nvGrpSpPr>
          <p:cNvPr id="4" name="Group 3"/>
          <p:cNvGrpSpPr/>
          <p:nvPr/>
        </p:nvGrpSpPr>
        <p:grpSpPr>
          <a:xfrm>
            <a:off x="502920" y="1261872"/>
            <a:ext cx="3611880" cy="4791456"/>
            <a:chOff x="502920" y="1261872"/>
            <a:chExt cx="3611880" cy="4791456"/>
          </a:xfrm>
        </p:grpSpPr>
        <p:sp>
          <p:nvSpPr>
            <p:cNvPr id="5" name="Rounded Rectangle 4"/>
            <p:cNvSpPr/>
            <p:nvPr/>
          </p:nvSpPr>
          <p:spPr>
            <a:xfrm>
              <a:off x="502920" y="1261872"/>
              <a:ext cx="3611880" cy="4791456"/>
            </a:xfrm>
            <a:prstGeom prst="roundRect">
              <a:avLst>
                <a:gd name="adj" fmla="val 253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6" name="Group 5"/>
            <p:cNvGrpSpPr/>
            <p:nvPr/>
          </p:nvGrpSpPr>
          <p:grpSpPr>
            <a:xfrm>
              <a:off x="630936" y="1389888"/>
              <a:ext cx="512064" cy="512064"/>
              <a:chOff x="630936" y="1389888"/>
              <a:chExt cx="512064" cy="512064"/>
            </a:xfrm>
          </p:grpSpPr>
          <p:sp>
            <p:nvSpPr>
              <p:cNvPr id="7" name="Oval 6"/>
              <p:cNvSpPr/>
              <p:nvPr/>
            </p:nvSpPr>
            <p:spPr>
              <a:xfrm>
                <a:off x="630936" y="1389888"/>
                <a:ext cx="512064" cy="512064"/>
              </a:xfrm>
              <a:prstGeom prst="ellipse">
                <a:avLst/>
              </a:prstGeom>
              <a:solidFill>
                <a:srgbClr val="0A5FA8"/>
              </a:solidFill>
              <a:ln>
                <a:noFill/>
              </a:ln>
            </p:spPr>
            <p:txBody>
              <a:bodyPr rtlCol="0" anchor="ctr" lIns="54864" tIns="54864" rIns="54864" bIns="54864" wrap="square">
                <a:noAutofit/>
              </a:bodyPr>
              <a:lstStyle/>
              <a:p>
                <a:pPr algn="ctr"/>
              </a:p>
            </p:txBody>
          </p:sp>
          <p:pic>
            <p:nvPicPr>
              <p:cNvPr id="8" name="Picture 7" descr="exchange.png"/>
              <p:cNvPicPr>
                <a:picLocks noChangeAspect="1"/>
              </p:cNvPicPr>
              <p:nvPr/>
            </p:nvPicPr>
            <p:blipFill>
              <a:blip r:embed="rId2"/>
              <a:stretch>
                <a:fillRect/>
              </a:stretch>
            </p:blipFill>
            <p:spPr>
              <a:xfrm>
                <a:off x="743590" y="1502542"/>
                <a:ext cx="286756" cy="286756"/>
              </a:xfrm>
              <a:prstGeom prst="rect">
                <a:avLst/>
              </a:prstGeom>
            </p:spPr>
          </p:pic>
        </p:grpSp>
        <p:sp>
          <p:nvSpPr>
            <p:cNvPr id="9" name="TextBox 8"/>
            <p:cNvSpPr txBox="1"/>
            <p:nvPr/>
          </p:nvSpPr>
          <p:spPr>
            <a:xfrm>
              <a:off x="1234440" y="1389888"/>
              <a:ext cx="2788920" cy="512064"/>
            </a:xfrm>
            <a:prstGeom prst="rect">
              <a:avLst/>
            </a:prstGeom>
            <a:noFill/>
          </p:spPr>
          <p:txBody>
            <a:bodyPr wrap="square" lIns="0" tIns="0" rIns="0" bIns="0" anchor="ctr">
              <a:noAutofit/>
            </a:bodyPr>
            <a:lstStyle/>
            <a:p>
              <a:pPr algn="l"/>
              <a:r>
                <a:rPr sz="1700" b="1" i="0" lang="vi-VN" spc="40">
                  <a:solidFill>
                    <a:srgbClr val="0B2545"/>
                  </a:solidFill>
                  <a:latin typeface="Arial"/>
                  <a:ea typeface="Arial"/>
                  <a:cs typeface="Arial"/>
                </a:rPr>
                <a:t>ĐẢO CHIỀU</a:t>
              </a:r>
            </a:p>
          </p:txBody>
        </p:sp>
        <p:sp>
          <p:nvSpPr>
            <p:cNvPr id="10" name="TextBox 9"/>
            <p:cNvSpPr txBox="1"/>
            <p:nvPr/>
          </p:nvSpPr>
          <p:spPr>
            <a:xfrm>
              <a:off x="685800" y="2011680"/>
              <a:ext cx="3246120" cy="658368"/>
            </a:xfrm>
            <a:prstGeom prst="rect">
              <a:avLst/>
            </a:prstGeom>
            <a:noFill/>
          </p:spPr>
          <p:txBody>
            <a:bodyPr wrap="square" lIns="0" tIns="0" rIns="0" bIns="0" anchor="t">
              <a:noAutofit/>
            </a:bodyPr>
            <a:lstStyle/>
            <a:p>
              <a:pPr algn="l">
                <a:lnSpc>
                  <a:spcPct val="98000"/>
                </a:lnSpc>
              </a:pPr>
              <a:r>
                <a:rPr sz="1350" b="0" i="0" lang="vi-VN">
                  <a:solidFill>
                    <a:srgbClr val="C62828"/>
                  </a:solidFill>
                  <a:latin typeface="Arial"/>
                  <a:ea typeface="Arial"/>
                  <a:cs typeface="Arial"/>
                </a:rPr>
                <a:t>Đổi dấu đột ngột → bước nhảy, rung; đổi chậm → camera bị khung kéo theo</a:t>
              </a:r>
            </a:p>
          </p:txBody>
        </p:sp>
        <p:sp>
          <p:nvSpPr>
            <p:cNvPr id="11" name="Rounded Rectangle 10"/>
            <p:cNvSpPr/>
            <p:nvPr/>
          </p:nvSpPr>
          <p:spPr>
            <a:xfrm>
              <a:off x="731520" y="2724912"/>
              <a:ext cx="3154680" cy="603504"/>
            </a:xfrm>
            <a:prstGeom prst="roundRect">
              <a:avLst>
                <a:gd name="adj" fmla="val 12121"/>
              </a:avLst>
            </a:prstGeom>
            <a:solidFill>
              <a:srgbClr val="EAF3FB"/>
            </a:solidFill>
            <a:ln>
              <a:noFill/>
            </a:ln>
          </p:spPr>
          <p:txBody>
            <a:bodyPr rtlCol="0" anchor="ctr" lIns="54864" tIns="54864" rIns="54864" bIns="54864" wrap="square">
              <a:noAutofit/>
            </a:bodyPr>
            <a:lstStyle/>
            <a:p>
              <a:pPr algn="ctr">
                <a:lnSpc>
                  <a:spcPct val="98000"/>
                </a:lnSpc>
              </a:pPr>
              <a:r>
                <a:rPr sz="1350" b="0" i="0" lang="vi-VN">
                  <a:solidFill>
                    <a:srgbClr val="1E2B3A"/>
                  </a:solidFill>
                  <a:latin typeface="Arial"/>
                  <a:ea typeface="Arial"/>
                  <a:cs typeface="Arial"/>
                </a:rPr>
                <a:t>Dự báo thời điểm qua 0:</a:t>
              </a:r>
            </a:p>
            <a:p>
              <a:pPr algn="ctr">
                <a:lnSpc>
                  <a:spcPct val="98000"/>
                </a:lnSpc>
              </a:pPr>
              <a:r>
                <a:rPr sz="1350" b="0" i="1" lang="vi-VN">
                  <a:solidFill>
                    <a:srgbClr val="1E2B3A"/>
                  </a:solidFill>
                  <a:latin typeface="Cambria"/>
                  <a:ea typeface="Cambria"/>
                  <a:cs typeface="Cambria"/>
                </a:rPr>
                <a:t>t</a:t>
              </a:r>
              <a:r>
                <a:rPr sz="1350" b="0" i="0" lang="vi-VN" baseline="-25000">
                  <a:solidFill>
                    <a:srgbClr val="1E2B3A"/>
                  </a:solidFill>
                  <a:latin typeface="Cambria"/>
                  <a:ea typeface="Cambria"/>
                  <a:cs typeface="Cambria"/>
                </a:rPr>
                <a:t>0</a:t>
              </a:r>
              <a:r>
                <a:rPr sz="1350" b="0" i="0" lang="vi-VN">
                  <a:solidFill>
                    <a:srgbClr val="1E2B3A"/>
                  </a:solidFill>
                  <a:latin typeface="Cambria"/>
                  <a:ea typeface="Cambria"/>
                  <a:cs typeface="Cambria"/>
                </a:rPr>
                <a:t> = −</a:t>
              </a:r>
              <a:r>
                <a:rPr sz="1350" b="0" i="1" lang="vi-VN">
                  <a:solidFill>
                    <a:srgbClr val="1E2B3A"/>
                  </a:solidFill>
                  <a:latin typeface="Cambria"/>
                  <a:ea typeface="Cambria"/>
                  <a:cs typeface="Cambria"/>
                </a:rPr>
                <a:t>ω</a:t>
              </a:r>
              <a:r>
                <a:rPr sz="1350" b="0" i="0" lang="vi-VN" baseline="-25000">
                  <a:solidFill>
                    <a:srgbClr val="1E2B3A"/>
                  </a:solidFill>
                  <a:latin typeface="Cambria"/>
                  <a:ea typeface="Cambria"/>
                  <a:cs typeface="Cambria"/>
                </a:rPr>
                <a:t>b</a:t>
              </a:r>
              <a:r>
                <a:rPr sz="1350" b="0" i="0" lang="vi-VN">
                  <a:solidFill>
                    <a:srgbClr val="1E2B3A"/>
                  </a:solidFill>
                  <a:latin typeface="Cambria"/>
                  <a:ea typeface="Cambria"/>
                  <a:cs typeface="Cambria"/>
                </a:rPr>
                <a:t> / </a:t>
              </a:r>
              <a:r>
                <a:rPr sz="1350" b="0" i="1" lang="vi-VN">
                  <a:solidFill>
                    <a:srgbClr val="1E2B3A"/>
                  </a:solidFill>
                  <a:latin typeface="Cambria"/>
                  <a:ea typeface="Cambria"/>
                  <a:cs typeface="Cambria"/>
                </a:rPr>
                <a:t>α</a:t>
              </a:r>
              <a:r>
                <a:rPr sz="1350" b="0" i="0" lang="vi-VN" baseline="-25000">
                  <a:solidFill>
                    <a:srgbClr val="1E2B3A"/>
                  </a:solidFill>
                  <a:latin typeface="Cambria"/>
                  <a:ea typeface="Cambria"/>
                  <a:cs typeface="Cambria"/>
                </a:rPr>
                <a:t>b</a:t>
              </a:r>
            </a:p>
          </p:txBody>
        </p:sp>
        <p:cxnSp>
          <p:nvCxnSpPr>
            <p:cNvPr id="12" name="Connector 11"/>
            <p:cNvCxnSpPr/>
            <p:nvPr/>
          </p:nvCxnSpPr>
          <p:spPr>
            <a:xfrm>
              <a:off x="2308860" y="3346704"/>
              <a:ext cx="0" cy="146304"/>
            </a:xfrm>
            <a:prstGeom prst="line">
              <a:avLst/>
            </a:prstGeom>
            <a:ln w="25400">
              <a:solidFill>
                <a:srgbClr val="5B6B7B"/>
              </a:solidFill>
              <a:tailEnd type="triangle" w="med" len="med"/>
            </a:ln>
          </p:spPr>
        </p:cxnSp>
        <p:sp>
          <p:nvSpPr>
            <p:cNvPr id="13" name="Rounded Rectangle 12"/>
            <p:cNvSpPr/>
            <p:nvPr/>
          </p:nvSpPr>
          <p:spPr>
            <a:xfrm>
              <a:off x="731520" y="3511296"/>
              <a:ext cx="3154680" cy="603504"/>
            </a:xfrm>
            <a:prstGeom prst="roundRect">
              <a:avLst>
                <a:gd name="adj" fmla="val 12121"/>
              </a:avLst>
            </a:prstGeom>
            <a:solidFill>
              <a:srgbClr val="EAF3FB"/>
            </a:solidFill>
            <a:ln>
              <a:noFill/>
            </a:ln>
          </p:spPr>
          <p:txBody>
            <a:bodyPr rtlCol="0" anchor="ctr" lIns="54864" tIns="54864" rIns="54864" bIns="54864" wrap="square">
              <a:noAutofit/>
            </a:bodyPr>
            <a:lstStyle/>
            <a:p>
              <a:pPr algn="ctr">
                <a:lnSpc>
                  <a:spcPct val="98000"/>
                </a:lnSpc>
              </a:pPr>
              <a:r>
                <a:rPr sz="1350" b="0" i="1" lang="vi-VN">
                  <a:solidFill>
                    <a:srgbClr val="1E2B3A"/>
                  </a:solidFill>
                  <a:latin typeface="Cambria"/>
                  <a:ea typeface="Cambria"/>
                  <a:cs typeface="Cambria"/>
                </a:rPr>
                <a:t>t</a:t>
              </a:r>
              <a:r>
                <a:rPr sz="1350" b="0" i="0" lang="vi-VN" baseline="-25000">
                  <a:solidFill>
                    <a:srgbClr val="1E2B3A"/>
                  </a:solidFill>
                  <a:latin typeface="Cambria"/>
                  <a:ea typeface="Cambria"/>
                  <a:cs typeface="Cambria"/>
                </a:rPr>
                <a:t>0</a:t>
              </a:r>
              <a:r>
                <a:rPr sz="1350" b="0" i="0" lang="vi-VN">
                  <a:solidFill>
                    <a:srgbClr val="1E2B3A"/>
                  </a:solidFill>
                  <a:latin typeface="Arial"/>
                  <a:ea typeface="Arial"/>
                  <a:cs typeface="Arial"/>
                </a:rPr>
                <a:t> ≤ 20 ms: mở cửa sổ,</a:t>
              </a:r>
            </a:p>
            <a:p>
              <a:pPr algn="ctr">
                <a:lnSpc>
                  <a:spcPct val="98000"/>
                </a:lnSpc>
              </a:pPr>
              <a:r>
                <a:rPr sz="1350" b="0" i="0" lang="vi-VN">
                  <a:solidFill>
                    <a:srgbClr val="1E2B3A"/>
                  </a:solidFill>
                  <a:latin typeface="Arial"/>
                  <a:ea typeface="Arial"/>
                  <a:cs typeface="Arial"/>
                </a:rPr>
                <a:t>giảm biên độ phía cũ</a:t>
              </a:r>
            </a:p>
          </p:txBody>
        </p:sp>
        <p:cxnSp>
          <p:nvCxnSpPr>
            <p:cNvPr id="14" name="Connector 13"/>
            <p:cNvCxnSpPr/>
            <p:nvPr/>
          </p:nvCxnSpPr>
          <p:spPr>
            <a:xfrm>
              <a:off x="2308860" y="4133088"/>
              <a:ext cx="0" cy="146304"/>
            </a:xfrm>
            <a:prstGeom prst="line">
              <a:avLst/>
            </a:prstGeom>
            <a:ln w="25400">
              <a:solidFill>
                <a:srgbClr val="5B6B7B"/>
              </a:solidFill>
              <a:tailEnd type="triangle" w="med" len="med"/>
            </a:ln>
          </p:spPr>
        </p:cxnSp>
        <p:sp>
          <p:nvSpPr>
            <p:cNvPr id="15" name="Rounded Rectangle 14"/>
            <p:cNvSpPr/>
            <p:nvPr/>
          </p:nvSpPr>
          <p:spPr>
            <a:xfrm>
              <a:off x="731520" y="4297680"/>
              <a:ext cx="3154680" cy="603504"/>
            </a:xfrm>
            <a:prstGeom prst="roundRect">
              <a:avLst>
                <a:gd name="adj" fmla="val 12121"/>
              </a:avLst>
            </a:prstGeom>
            <a:solidFill>
              <a:srgbClr val="EAF3FB"/>
            </a:solidFill>
            <a:ln>
              <a:noFill/>
            </a:ln>
          </p:spPr>
          <p:txBody>
            <a:bodyPr rtlCol="0" anchor="ctr" lIns="54864" tIns="54864" rIns="54864" bIns="54864" wrap="square">
              <a:noAutofit/>
            </a:bodyPr>
            <a:lstStyle/>
            <a:p>
              <a:pPr algn="ctr">
                <a:lnSpc>
                  <a:spcPct val="98000"/>
                </a:lnSpc>
              </a:pPr>
              <a:r>
                <a:rPr sz="1350" b="0" i="0" lang="vi-VN">
                  <a:solidFill>
                    <a:srgbClr val="1E2B3A"/>
                  </a:solidFill>
                  <a:latin typeface="Arial"/>
                  <a:ea typeface="Arial"/>
                  <a:cs typeface="Arial"/>
                </a:rPr>
                <a:t>Dấu mới đủ 2 chu kỳ</a:t>
              </a:r>
            </a:p>
            <a:p>
              <a:pPr algn="ctr">
                <a:lnSpc>
                  <a:spcPct val="98000"/>
                </a:lnSpc>
              </a:pPr>
              <a:r>
                <a:rPr sz="1350" b="0" i="0" lang="vi-VN">
                  <a:solidFill>
                    <a:srgbClr val="1E2B3A"/>
                  </a:solidFill>
                  <a:latin typeface="Arial"/>
                  <a:ea typeface="Arial"/>
                  <a:cs typeface="Arial"/>
                </a:rPr>
                <a:t>→ chuyển phía</a:t>
              </a:r>
            </a:p>
          </p:txBody>
        </p:sp>
        <p:sp>
          <p:nvSpPr>
            <p:cNvPr id="16" name="Rounded Rectangle 15"/>
            <p:cNvSpPr/>
            <p:nvPr/>
          </p:nvSpPr>
          <p:spPr>
            <a:xfrm>
              <a:off x="685800" y="5074920"/>
              <a:ext cx="3246120" cy="841248"/>
            </a:xfrm>
            <a:prstGeom prst="roundRect">
              <a:avLst>
                <a:gd name="adj" fmla="val 10869"/>
              </a:avLst>
            </a:prstGeom>
            <a:solidFill>
              <a:srgbClr val="FFF1E6"/>
            </a:solidFill>
            <a:ln>
              <a:noFill/>
            </a:ln>
          </p:spPr>
          <p:txBody>
            <a:bodyPr rtlCol="0" anchor="ctr" lIns="73152" tIns="73152" rIns="73152" bIns="73152" wrap="square">
              <a:noAutofit/>
            </a:bodyPr>
            <a:lstStyle/>
            <a:p>
              <a:pPr algn="ctr"/>
              <a:r>
                <a:rPr sz="1300" b="0" i="0" lang="vi-VN">
                  <a:solidFill>
                    <a:srgbClr val="1E2B3A"/>
                  </a:solidFill>
                  <a:latin typeface="Arial"/>
                  <a:ea typeface="Arial"/>
                  <a:cs typeface="Arial"/>
                </a:rPr>
                <a:t>Dự báo để </a:t>
              </a:r>
              <a:r>
                <a:rPr sz="1300" b="1" i="0" lang="vi-VN">
                  <a:solidFill>
                    <a:srgbClr val="1E2B3A"/>
                  </a:solidFill>
                  <a:latin typeface="Arial"/>
                  <a:ea typeface="Arial"/>
                  <a:cs typeface="Arial"/>
                </a:rPr>
                <a:t>phanh sớm</a:t>
              </a:r>
              <a:r>
                <a:rPr sz="1300" b="0" i="0" lang="vi-VN">
                  <a:solidFill>
                    <a:srgbClr val="1E2B3A"/>
                  </a:solidFill>
                  <a:latin typeface="Arial"/>
                  <a:ea typeface="Arial"/>
                  <a:cs typeface="Arial"/>
                </a:rPr>
                <a:t>, đo được mới </a:t>
              </a:r>
              <a:r>
                <a:rPr sz="1300" b="1" i="0" lang="vi-VN">
                  <a:solidFill>
                    <a:srgbClr val="1E2B3A"/>
                  </a:solidFill>
                  <a:latin typeface="Arial"/>
                  <a:ea typeface="Arial"/>
                  <a:cs typeface="Arial"/>
                </a:rPr>
                <a:t>đổi dấu</a:t>
              </a:r>
            </a:p>
          </p:txBody>
        </p:sp>
      </p:grpSp>
      <p:grpSp>
        <p:nvGrpSpPr>
          <p:cNvPr id="17" name="Group 16"/>
          <p:cNvGrpSpPr/>
          <p:nvPr/>
        </p:nvGrpSpPr>
        <p:grpSpPr>
          <a:xfrm>
            <a:off x="4297680" y="1261872"/>
            <a:ext cx="3611880" cy="4791456"/>
            <a:chOff x="4297680" y="1261872"/>
            <a:chExt cx="3611880" cy="4791456"/>
          </a:xfrm>
        </p:grpSpPr>
        <p:sp>
          <p:nvSpPr>
            <p:cNvPr id="18" name="Rounded Rectangle 17"/>
            <p:cNvSpPr/>
            <p:nvPr/>
          </p:nvSpPr>
          <p:spPr>
            <a:xfrm>
              <a:off x="4297680" y="1261872"/>
              <a:ext cx="3611880" cy="4791456"/>
            </a:xfrm>
            <a:prstGeom prst="roundRect">
              <a:avLst>
                <a:gd name="adj" fmla="val 253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19" name="Group 18"/>
            <p:cNvGrpSpPr/>
            <p:nvPr/>
          </p:nvGrpSpPr>
          <p:grpSpPr>
            <a:xfrm>
              <a:off x="4425696" y="1389888"/>
              <a:ext cx="512064" cy="512064"/>
              <a:chOff x="4425696" y="1389888"/>
              <a:chExt cx="512064" cy="512064"/>
            </a:xfrm>
          </p:grpSpPr>
          <p:sp>
            <p:nvSpPr>
              <p:cNvPr id="20" name="Oval 19"/>
              <p:cNvSpPr/>
              <p:nvPr/>
            </p:nvSpPr>
            <p:spPr>
              <a:xfrm>
                <a:off x="4425696" y="1389888"/>
                <a:ext cx="512064" cy="512064"/>
              </a:xfrm>
              <a:prstGeom prst="ellipse">
                <a:avLst/>
              </a:prstGeom>
              <a:solidFill>
                <a:srgbClr val="0A5FA8"/>
              </a:solidFill>
              <a:ln>
                <a:noFill/>
              </a:ln>
            </p:spPr>
            <p:txBody>
              <a:bodyPr rtlCol="0" anchor="ctr" lIns="54864" tIns="54864" rIns="54864" bIns="54864" wrap="square">
                <a:noAutofit/>
              </a:bodyPr>
              <a:lstStyle/>
              <a:p>
                <a:pPr algn="ctr"/>
              </a:p>
            </p:txBody>
          </p:sp>
          <p:pic>
            <p:nvPicPr>
              <p:cNvPr id="21" name="Picture 20" descr="hand.png"/>
              <p:cNvPicPr>
                <a:picLocks noChangeAspect="1"/>
              </p:cNvPicPr>
              <p:nvPr/>
            </p:nvPicPr>
            <p:blipFill>
              <a:blip r:embed="rId3"/>
              <a:stretch>
                <a:fillRect/>
              </a:stretch>
            </p:blipFill>
            <p:spPr>
              <a:xfrm>
                <a:off x="4538350" y="1502542"/>
                <a:ext cx="286756" cy="286756"/>
              </a:xfrm>
              <a:prstGeom prst="rect">
                <a:avLst/>
              </a:prstGeom>
            </p:spPr>
          </p:pic>
        </p:grpSp>
        <p:sp>
          <p:nvSpPr>
            <p:cNvPr id="22" name="TextBox 21"/>
            <p:cNvSpPr txBox="1"/>
            <p:nvPr/>
          </p:nvSpPr>
          <p:spPr>
            <a:xfrm>
              <a:off x="5029200" y="1389888"/>
              <a:ext cx="2788920" cy="512064"/>
            </a:xfrm>
            <a:prstGeom prst="rect">
              <a:avLst/>
            </a:prstGeom>
            <a:noFill/>
          </p:spPr>
          <p:txBody>
            <a:bodyPr wrap="square" lIns="0" tIns="0" rIns="0" bIns="0" anchor="ctr">
              <a:noAutofit/>
            </a:bodyPr>
            <a:lstStyle/>
            <a:p>
              <a:pPr algn="l"/>
              <a:r>
                <a:rPr sz="1700" b="1" i="0" lang="vi-VN" spc="40">
                  <a:solidFill>
                    <a:srgbClr val="0B2545"/>
                  </a:solidFill>
                  <a:latin typeface="Arial"/>
                  <a:ea typeface="Arial"/>
                  <a:cs typeface="Arial"/>
                </a:rPr>
                <a:t>DỪNG ĐỘT NGỘT</a:t>
              </a:r>
            </a:p>
          </p:txBody>
        </p:sp>
        <p:sp>
          <p:nvSpPr>
            <p:cNvPr id="23" name="TextBox 22"/>
            <p:cNvSpPr txBox="1"/>
            <p:nvPr/>
          </p:nvSpPr>
          <p:spPr>
            <a:xfrm>
              <a:off x="4480560" y="2011680"/>
              <a:ext cx="3246120" cy="658368"/>
            </a:xfrm>
            <a:prstGeom prst="rect">
              <a:avLst/>
            </a:prstGeom>
            <a:noFill/>
          </p:spPr>
          <p:txBody>
            <a:bodyPr wrap="square" lIns="0" tIns="0" rIns="0" bIns="0" anchor="t">
              <a:noAutofit/>
            </a:bodyPr>
            <a:lstStyle/>
            <a:p>
              <a:pPr algn="l">
                <a:lnSpc>
                  <a:spcPct val="98000"/>
                </a:lnSpc>
              </a:pPr>
              <a:r>
                <a:rPr sz="1350" b="0" i="0" lang="vi-VN">
                  <a:solidFill>
                    <a:srgbClr val="C62828"/>
                  </a:solidFill>
                  <a:latin typeface="Arial"/>
                  <a:ea typeface="Arial"/>
                  <a:cs typeface="Arial"/>
                </a:rPr>
                <a:t>Bù và tích phân tồn dư kéo camera vượt ngược, phục hồi chậm</a:t>
              </a:r>
            </a:p>
          </p:txBody>
        </p:sp>
        <p:sp>
          <p:nvSpPr>
            <p:cNvPr id="24" name="Rounded Rectangle 23"/>
            <p:cNvSpPr/>
            <p:nvPr/>
          </p:nvSpPr>
          <p:spPr>
            <a:xfrm>
              <a:off x="4526280" y="2724912"/>
              <a:ext cx="3154680" cy="438912"/>
            </a:xfrm>
            <a:prstGeom prst="roundRect">
              <a:avLst>
                <a:gd name="adj" fmla="val 16666"/>
              </a:avLst>
            </a:prstGeom>
            <a:solidFill>
              <a:srgbClr val="EAF3FB"/>
            </a:solidFill>
            <a:ln>
              <a:noFill/>
            </a:ln>
          </p:spPr>
          <p:txBody>
            <a:bodyPr rtlCol="0" anchor="ctr" lIns="54864" tIns="54864" rIns="54864" bIns="54864" wrap="square">
              <a:noAutofit/>
            </a:bodyPr>
            <a:lstStyle/>
            <a:p>
              <a:pPr algn="ctr">
                <a:lnSpc>
                  <a:spcPct val="98000"/>
                </a:lnSpc>
              </a:pPr>
              <a:r>
                <a:rPr sz="1350" b="0" i="0" lang="vi-VN">
                  <a:solidFill>
                    <a:srgbClr val="1E2B3A"/>
                  </a:solidFill>
                  <a:latin typeface="Arial"/>
                  <a:ea typeface="Arial"/>
                  <a:cs typeface="Arial"/>
                </a:rPr>
                <a:t>Chuyển động</a:t>
              </a:r>
            </a:p>
          </p:txBody>
        </p:sp>
        <p:cxnSp>
          <p:nvCxnSpPr>
            <p:cNvPr id="25" name="Connector 24"/>
            <p:cNvCxnSpPr/>
            <p:nvPr/>
          </p:nvCxnSpPr>
          <p:spPr>
            <a:xfrm>
              <a:off x="6103620" y="3182112"/>
              <a:ext cx="0" cy="128016"/>
            </a:xfrm>
            <a:prstGeom prst="line">
              <a:avLst/>
            </a:prstGeom>
            <a:ln w="25400">
              <a:solidFill>
                <a:srgbClr val="5B6B7B"/>
              </a:solidFill>
              <a:tailEnd type="triangle" w="med" len="med"/>
            </a:ln>
          </p:spPr>
        </p:cxnSp>
        <p:sp>
          <p:nvSpPr>
            <p:cNvPr id="26" name="Rounded Rectangle 25"/>
            <p:cNvSpPr/>
            <p:nvPr/>
          </p:nvSpPr>
          <p:spPr>
            <a:xfrm>
              <a:off x="4526280" y="3328416"/>
              <a:ext cx="3154680" cy="438912"/>
            </a:xfrm>
            <a:prstGeom prst="roundRect">
              <a:avLst>
                <a:gd name="adj" fmla="val 16666"/>
              </a:avLst>
            </a:prstGeom>
            <a:solidFill>
              <a:srgbClr val="EAF3FB"/>
            </a:solidFill>
            <a:ln>
              <a:noFill/>
            </a:ln>
          </p:spPr>
          <p:txBody>
            <a:bodyPr rtlCol="0" anchor="ctr" lIns="54864" tIns="54864" rIns="54864" bIns="54864" wrap="square">
              <a:noAutofit/>
            </a:bodyPr>
            <a:lstStyle/>
            <a:p>
              <a:pPr algn="ctr">
                <a:lnSpc>
                  <a:spcPct val="98000"/>
                </a:lnSpc>
              </a:pPr>
              <a:r>
                <a:rPr sz="1350" b="0" i="0" lang="vi-VN">
                  <a:solidFill>
                    <a:srgbClr val="1E2B3A"/>
                  </a:solidFill>
                  <a:latin typeface="Arial"/>
                  <a:ea typeface="Arial"/>
                  <a:cs typeface="Arial"/>
                </a:rPr>
                <a:t>Phanh · 100 ms</a:t>
              </a:r>
            </a:p>
          </p:txBody>
        </p:sp>
        <p:cxnSp>
          <p:nvCxnSpPr>
            <p:cNvPr id="27" name="Connector 26"/>
            <p:cNvCxnSpPr/>
            <p:nvPr/>
          </p:nvCxnSpPr>
          <p:spPr>
            <a:xfrm>
              <a:off x="6103620" y="3785616"/>
              <a:ext cx="0" cy="128016"/>
            </a:xfrm>
            <a:prstGeom prst="line">
              <a:avLst/>
            </a:prstGeom>
            <a:ln w="25400">
              <a:solidFill>
                <a:srgbClr val="5B6B7B"/>
              </a:solidFill>
              <a:tailEnd type="triangle" w="med" len="med"/>
            </a:ln>
          </p:spPr>
        </p:cxnSp>
        <p:sp>
          <p:nvSpPr>
            <p:cNvPr id="28" name="Rounded Rectangle 27"/>
            <p:cNvSpPr/>
            <p:nvPr/>
          </p:nvSpPr>
          <p:spPr>
            <a:xfrm>
              <a:off x="4526280" y="3931920"/>
              <a:ext cx="3154680" cy="438912"/>
            </a:xfrm>
            <a:prstGeom prst="roundRect">
              <a:avLst>
                <a:gd name="adj" fmla="val 16666"/>
              </a:avLst>
            </a:prstGeom>
            <a:solidFill>
              <a:srgbClr val="EAF3FB"/>
            </a:solidFill>
            <a:ln>
              <a:noFill/>
            </a:ln>
          </p:spPr>
          <p:txBody>
            <a:bodyPr rtlCol="0" anchor="ctr" lIns="54864" tIns="54864" rIns="54864" bIns="54864" wrap="square">
              <a:noAutofit/>
            </a:bodyPr>
            <a:lstStyle/>
            <a:p>
              <a:pPr algn="ctr">
                <a:lnSpc>
                  <a:spcPct val="98000"/>
                </a:lnSpc>
              </a:pPr>
              <a:r>
                <a:rPr sz="1350" b="0" i="0" lang="vi-VN">
                  <a:solidFill>
                    <a:srgbClr val="1E2B3A"/>
                  </a:solidFill>
                  <a:latin typeface="Arial"/>
                  <a:ea typeface="Arial"/>
                  <a:cs typeface="Arial"/>
                </a:rPr>
                <a:t>Ổn định · 120 ms</a:t>
              </a:r>
            </a:p>
          </p:txBody>
        </p:sp>
        <p:cxnSp>
          <p:nvCxnSpPr>
            <p:cNvPr id="29" name="Connector 28"/>
            <p:cNvCxnSpPr/>
            <p:nvPr/>
          </p:nvCxnSpPr>
          <p:spPr>
            <a:xfrm>
              <a:off x="6103620" y="4389120"/>
              <a:ext cx="0" cy="128016"/>
            </a:xfrm>
            <a:prstGeom prst="line">
              <a:avLst/>
            </a:prstGeom>
            <a:ln w="25400">
              <a:solidFill>
                <a:srgbClr val="5B6B7B"/>
              </a:solidFill>
              <a:tailEnd type="triangle" w="med" len="med"/>
            </a:ln>
          </p:spPr>
        </p:cxnSp>
        <p:sp>
          <p:nvSpPr>
            <p:cNvPr id="30" name="Rounded Rectangle 29"/>
            <p:cNvSpPr/>
            <p:nvPr/>
          </p:nvSpPr>
          <p:spPr>
            <a:xfrm>
              <a:off x="4526280" y="4535424"/>
              <a:ext cx="3154680" cy="438912"/>
            </a:xfrm>
            <a:prstGeom prst="roundRect">
              <a:avLst>
                <a:gd name="adj" fmla="val 16666"/>
              </a:avLst>
            </a:prstGeom>
            <a:solidFill>
              <a:srgbClr val="FFF1E6"/>
            </a:solidFill>
            <a:ln>
              <a:noFill/>
            </a:ln>
          </p:spPr>
          <p:txBody>
            <a:bodyPr rtlCol="0" anchor="ctr" lIns="54864" tIns="54864" rIns="54864" bIns="54864" wrap="square">
              <a:noAutofit/>
            </a:bodyPr>
            <a:lstStyle/>
            <a:p>
              <a:pPr algn="ctr">
                <a:lnSpc>
                  <a:spcPct val="98000"/>
                </a:lnSpc>
              </a:pPr>
              <a:r>
                <a:rPr sz="1350" b="0" i="0" lang="vi-VN">
                  <a:solidFill>
                    <a:srgbClr val="1E2B3A"/>
                  </a:solidFill>
                  <a:latin typeface="Arial"/>
                  <a:ea typeface="Arial"/>
                  <a:cs typeface="Arial"/>
                </a:rPr>
                <a:t>Đã dừng: bù giảm về 0</a:t>
              </a:r>
            </a:p>
          </p:txBody>
        </p:sp>
        <p:sp>
          <p:nvSpPr>
            <p:cNvPr id="31" name="Rounded Rectangle 30"/>
            <p:cNvSpPr/>
            <p:nvPr/>
          </p:nvSpPr>
          <p:spPr>
            <a:xfrm>
              <a:off x="4480560" y="5074920"/>
              <a:ext cx="3246120" cy="841248"/>
            </a:xfrm>
            <a:prstGeom prst="roundRect">
              <a:avLst>
                <a:gd name="adj" fmla="val 10869"/>
              </a:avLst>
            </a:prstGeom>
            <a:solidFill>
              <a:srgbClr val="FFF1E6"/>
            </a:solidFill>
            <a:ln>
              <a:noFill/>
            </a:ln>
          </p:spPr>
          <p:txBody>
            <a:bodyPr rtlCol="0" anchor="ctr" lIns="73152" tIns="73152" rIns="73152" bIns="73152" wrap="square">
              <a:noAutofit/>
            </a:bodyPr>
            <a:lstStyle/>
            <a:p>
              <a:pPr algn="ctr"/>
              <a:r>
                <a:rPr sz="1300" b="0" i="0" lang="vi-VN">
                  <a:solidFill>
                    <a:srgbClr val="1E2B3A"/>
                  </a:solidFill>
                  <a:latin typeface="Arial"/>
                  <a:ea typeface="Arial"/>
                  <a:cs typeface="Arial"/>
                </a:rPr>
                <a:t>Xác nhận dừng: 3 điều kiện trong 220 ms · giữ </a:t>
              </a:r>
              <a:r>
                <a:rPr sz="1300" b="0" i="1" lang="vi-VN">
                  <a:solidFill>
                    <a:srgbClr val="1E2B3A"/>
                  </a:solidFill>
                  <a:latin typeface="Cambria"/>
                  <a:ea typeface="Cambria"/>
                  <a:cs typeface="Cambria"/>
                </a:rPr>
                <a:t>T</a:t>
              </a:r>
              <a:r>
                <a:rPr sz="1300" b="0" i="0" lang="vi-VN" baseline="-25000">
                  <a:solidFill>
                    <a:srgbClr val="1E2B3A"/>
                  </a:solidFill>
                  <a:latin typeface="Cambria"/>
                  <a:ea typeface="Cambria"/>
                  <a:cs typeface="Cambria"/>
                </a:rPr>
                <a:t>h</a:t>
              </a:r>
              <a:r>
                <a:rPr sz="1300" b="0" i="0" lang="vi-VN">
                  <a:solidFill>
                    <a:srgbClr val="1E2B3A"/>
                  </a:solidFill>
                  <a:latin typeface="Arial"/>
                  <a:ea typeface="Arial"/>
                  <a:cs typeface="Arial"/>
                </a:rPr>
                <a:t> = 150 ms, giảm </a:t>
              </a:r>
              <a:r>
                <a:rPr sz="1300" b="0" i="1" lang="vi-VN">
                  <a:solidFill>
                    <a:srgbClr val="1E2B3A"/>
                  </a:solidFill>
                  <a:latin typeface="Cambria"/>
                  <a:ea typeface="Cambria"/>
                  <a:cs typeface="Cambria"/>
                </a:rPr>
                <a:t>T</a:t>
              </a:r>
              <a:r>
                <a:rPr sz="1300" b="0" i="0" lang="vi-VN" baseline="-25000">
                  <a:solidFill>
                    <a:srgbClr val="1E2B3A"/>
                  </a:solidFill>
                  <a:latin typeface="Cambria"/>
                  <a:ea typeface="Cambria"/>
                  <a:cs typeface="Cambria"/>
                </a:rPr>
                <a:t>r</a:t>
              </a:r>
              <a:r>
                <a:rPr sz="1300" b="0" i="0" lang="vi-VN">
                  <a:solidFill>
                    <a:srgbClr val="1E2B3A"/>
                  </a:solidFill>
                  <a:latin typeface="Arial"/>
                  <a:ea typeface="Arial"/>
                  <a:cs typeface="Arial"/>
                </a:rPr>
                <a:t> = 50 ms</a:t>
              </a:r>
            </a:p>
          </p:txBody>
        </p:sp>
      </p:grpSp>
      <p:grpSp>
        <p:nvGrpSpPr>
          <p:cNvPr id="32" name="Group 31"/>
          <p:cNvGrpSpPr/>
          <p:nvPr/>
        </p:nvGrpSpPr>
        <p:grpSpPr>
          <a:xfrm>
            <a:off x="8092440" y="1261872"/>
            <a:ext cx="3611880" cy="4791456"/>
            <a:chOff x="8092440" y="1261872"/>
            <a:chExt cx="3611880" cy="4791456"/>
          </a:xfrm>
        </p:grpSpPr>
        <p:sp>
          <p:nvSpPr>
            <p:cNvPr id="33" name="Rounded Rectangle 32"/>
            <p:cNvSpPr/>
            <p:nvPr/>
          </p:nvSpPr>
          <p:spPr>
            <a:xfrm>
              <a:off x="8092440" y="1261872"/>
              <a:ext cx="3611880" cy="4791456"/>
            </a:xfrm>
            <a:prstGeom prst="roundRect">
              <a:avLst>
                <a:gd name="adj" fmla="val 253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34" name="Group 33"/>
            <p:cNvGrpSpPr/>
            <p:nvPr/>
          </p:nvGrpSpPr>
          <p:grpSpPr>
            <a:xfrm>
              <a:off x="8220456" y="1389888"/>
              <a:ext cx="512064" cy="512064"/>
              <a:chOff x="8220456" y="1389888"/>
              <a:chExt cx="512064" cy="512064"/>
            </a:xfrm>
          </p:grpSpPr>
          <p:sp>
            <p:nvSpPr>
              <p:cNvPr id="35" name="Oval 34"/>
              <p:cNvSpPr/>
              <p:nvPr/>
            </p:nvSpPr>
            <p:spPr>
              <a:xfrm>
                <a:off x="8220456" y="1389888"/>
                <a:ext cx="512064" cy="512064"/>
              </a:xfrm>
              <a:prstGeom prst="ellipse">
                <a:avLst/>
              </a:prstGeom>
              <a:solidFill>
                <a:srgbClr val="0A5FA8"/>
              </a:solidFill>
              <a:ln>
                <a:noFill/>
              </a:ln>
            </p:spPr>
            <p:txBody>
              <a:bodyPr rtlCol="0" anchor="ctr" lIns="54864" tIns="54864" rIns="54864" bIns="54864" wrap="square">
                <a:noAutofit/>
              </a:bodyPr>
              <a:lstStyle/>
              <a:p>
                <a:pPr algn="ctr"/>
              </a:p>
            </p:txBody>
          </p:sp>
          <p:pic>
            <p:nvPicPr>
              <p:cNvPr id="36" name="Picture 35" descr="sliders.png"/>
              <p:cNvPicPr>
                <a:picLocks noChangeAspect="1"/>
              </p:cNvPicPr>
              <p:nvPr/>
            </p:nvPicPr>
            <p:blipFill>
              <a:blip r:embed="rId4"/>
              <a:stretch>
                <a:fillRect/>
              </a:stretch>
            </p:blipFill>
            <p:spPr>
              <a:xfrm>
                <a:off x="8333110" y="1502542"/>
                <a:ext cx="286756" cy="286756"/>
              </a:xfrm>
              <a:prstGeom prst="rect">
                <a:avLst/>
              </a:prstGeom>
            </p:spPr>
          </p:pic>
        </p:grpSp>
        <p:sp>
          <p:nvSpPr>
            <p:cNvPr id="37" name="TextBox 36"/>
            <p:cNvSpPr txBox="1"/>
            <p:nvPr/>
          </p:nvSpPr>
          <p:spPr>
            <a:xfrm>
              <a:off x="8823960" y="1389888"/>
              <a:ext cx="2788920" cy="512064"/>
            </a:xfrm>
            <a:prstGeom prst="rect">
              <a:avLst/>
            </a:prstGeom>
            <a:noFill/>
          </p:spPr>
          <p:txBody>
            <a:bodyPr wrap="square" lIns="0" tIns="0" rIns="0" bIns="0" anchor="ctr">
              <a:noAutofit/>
            </a:bodyPr>
            <a:lstStyle/>
            <a:p>
              <a:pPr algn="l"/>
              <a:r>
                <a:rPr sz="1700" b="1" i="0" lang="vi-VN" spc="40">
                  <a:solidFill>
                    <a:srgbClr val="0B2545"/>
                  </a:solidFill>
                  <a:latin typeface="Arial"/>
                  <a:ea typeface="Arial"/>
                  <a:cs typeface="Arial"/>
                </a:rPr>
                <a:t>TẠO DẠNG LỆNH</a:t>
              </a:r>
            </a:p>
          </p:txBody>
        </p:sp>
        <p:sp>
          <p:nvSpPr>
            <p:cNvPr id="38" name="TextBox 37"/>
            <p:cNvSpPr txBox="1"/>
            <p:nvPr/>
          </p:nvSpPr>
          <p:spPr>
            <a:xfrm>
              <a:off x="8275320" y="2011680"/>
              <a:ext cx="3246120" cy="658368"/>
            </a:xfrm>
            <a:prstGeom prst="rect">
              <a:avLst/>
            </a:prstGeom>
            <a:noFill/>
          </p:spPr>
          <p:txBody>
            <a:bodyPr wrap="square" lIns="0" tIns="0" rIns="0" bIns="0" anchor="t">
              <a:noAutofit/>
            </a:bodyPr>
            <a:lstStyle/>
            <a:p>
              <a:pPr algn="l">
                <a:lnSpc>
                  <a:spcPct val="98000"/>
                </a:lnSpc>
              </a:pPr>
              <a:r>
                <a:rPr sz="1350" b="0" i="0" lang="vi-VN">
                  <a:solidFill>
                    <a:srgbClr val="C62828"/>
                  </a:solidFill>
                  <a:latin typeface="Arial"/>
                  <a:ea typeface="Arial"/>
                  <a:cs typeface="Arial"/>
                </a:rPr>
                <a:t>Lệnh nhảy bậc khi đảo chiều → dòng đỉnh lớn, rung cơ khí</a:t>
              </a:r>
            </a:p>
          </p:txBody>
        </p:sp>
        <p:cxnSp>
          <p:nvCxnSpPr>
            <p:cNvPr id="39" name="Connector 38"/>
            <p:cNvCxnSpPr/>
            <p:nvPr/>
          </p:nvCxnSpPr>
          <p:spPr>
            <a:xfrm>
              <a:off x="8412480" y="4572000"/>
              <a:ext cx="2971800" cy="0"/>
            </a:xfrm>
            <a:prstGeom prst="line">
              <a:avLst/>
            </a:prstGeom>
            <a:ln w="15875">
              <a:solidFill>
                <a:srgbClr val="5B6B7B"/>
              </a:solidFill>
              <a:tailEnd type="triangle" w="med" len="med"/>
            </a:ln>
          </p:spPr>
        </p:cxnSp>
        <p:cxnSp>
          <p:nvCxnSpPr>
            <p:cNvPr id="40" name="Connector 39"/>
            <p:cNvCxnSpPr/>
            <p:nvPr/>
          </p:nvCxnSpPr>
          <p:spPr>
            <a:xfrm flipV="1">
              <a:off x="8412480" y="2788920"/>
              <a:ext cx="0" cy="1783080"/>
            </a:xfrm>
            <a:prstGeom prst="line">
              <a:avLst/>
            </a:prstGeom>
            <a:ln w="15875">
              <a:solidFill>
                <a:srgbClr val="5B6B7B"/>
              </a:solidFill>
              <a:tailEnd type="triangle" w="med" len="med"/>
            </a:ln>
          </p:spPr>
        </p:cxnSp>
        <p:cxnSp>
          <p:nvCxnSpPr>
            <p:cNvPr id="41" name="Connector 40"/>
            <p:cNvCxnSpPr/>
            <p:nvPr/>
          </p:nvCxnSpPr>
          <p:spPr>
            <a:xfrm>
              <a:off x="8412480" y="3056382"/>
              <a:ext cx="891540" cy="0"/>
            </a:xfrm>
            <a:prstGeom prst="line">
              <a:avLst/>
            </a:prstGeom>
            <a:ln w="31750">
              <a:solidFill>
                <a:srgbClr val="9AA7B4"/>
              </a:solidFill>
              <a:prstDash val="dash"/>
            </a:ln>
          </p:spPr>
        </p:cxnSp>
        <p:cxnSp>
          <p:nvCxnSpPr>
            <p:cNvPr id="42" name="Connector 41"/>
            <p:cNvCxnSpPr/>
            <p:nvPr/>
          </p:nvCxnSpPr>
          <p:spPr>
            <a:xfrm>
              <a:off x="9304020" y="3056382"/>
              <a:ext cx="0" cy="1248156"/>
            </a:xfrm>
            <a:prstGeom prst="line">
              <a:avLst/>
            </a:prstGeom>
            <a:ln w="31750">
              <a:solidFill>
                <a:srgbClr val="9AA7B4"/>
              </a:solidFill>
              <a:prstDash val="dash"/>
            </a:ln>
          </p:spPr>
        </p:cxnSp>
        <p:cxnSp>
          <p:nvCxnSpPr>
            <p:cNvPr id="43" name="Connector 42"/>
            <p:cNvCxnSpPr/>
            <p:nvPr/>
          </p:nvCxnSpPr>
          <p:spPr>
            <a:xfrm>
              <a:off x="9304020" y="4304538"/>
              <a:ext cx="2080260" cy="0"/>
            </a:xfrm>
            <a:prstGeom prst="line">
              <a:avLst/>
            </a:prstGeom>
            <a:ln w="31750">
              <a:solidFill>
                <a:srgbClr val="9AA7B4"/>
              </a:solidFill>
              <a:prstDash val="dash"/>
            </a:ln>
          </p:spPr>
        </p:cxnSp>
        <p:cxnSp>
          <p:nvCxnSpPr>
            <p:cNvPr id="44" name="Connector 43"/>
            <p:cNvCxnSpPr/>
            <p:nvPr/>
          </p:nvCxnSpPr>
          <p:spPr>
            <a:xfrm>
              <a:off x="8412480" y="3056382"/>
              <a:ext cx="891540" cy="0"/>
            </a:xfrm>
            <a:prstGeom prst="line">
              <a:avLst/>
            </a:prstGeom>
            <a:ln w="34925">
              <a:solidFill>
                <a:srgbClr val="E8710A"/>
              </a:solidFill>
            </a:ln>
          </p:spPr>
        </p:cxnSp>
        <p:cxnSp>
          <p:nvCxnSpPr>
            <p:cNvPr id="45" name="Connector 44"/>
            <p:cNvCxnSpPr/>
            <p:nvPr/>
          </p:nvCxnSpPr>
          <p:spPr>
            <a:xfrm>
              <a:off x="9304020" y="3056382"/>
              <a:ext cx="0" cy="249631"/>
            </a:xfrm>
            <a:prstGeom prst="line">
              <a:avLst/>
            </a:prstGeom>
            <a:ln w="34925">
              <a:solidFill>
                <a:srgbClr val="E8710A"/>
              </a:solidFill>
            </a:ln>
          </p:spPr>
        </p:cxnSp>
        <p:cxnSp>
          <p:nvCxnSpPr>
            <p:cNvPr id="46" name="Connector 45"/>
            <p:cNvCxnSpPr/>
            <p:nvPr/>
          </p:nvCxnSpPr>
          <p:spPr>
            <a:xfrm>
              <a:off x="9304020" y="3306013"/>
              <a:ext cx="267462" cy="0"/>
            </a:xfrm>
            <a:prstGeom prst="line">
              <a:avLst/>
            </a:prstGeom>
            <a:ln w="34925">
              <a:solidFill>
                <a:srgbClr val="E8710A"/>
              </a:solidFill>
            </a:ln>
          </p:spPr>
        </p:cxnSp>
        <p:cxnSp>
          <p:nvCxnSpPr>
            <p:cNvPr id="47" name="Connector 46"/>
            <p:cNvCxnSpPr/>
            <p:nvPr/>
          </p:nvCxnSpPr>
          <p:spPr>
            <a:xfrm>
              <a:off x="9571482" y="3306013"/>
              <a:ext cx="0" cy="249631"/>
            </a:xfrm>
            <a:prstGeom prst="line">
              <a:avLst/>
            </a:prstGeom>
            <a:ln w="34925">
              <a:solidFill>
                <a:srgbClr val="E8710A"/>
              </a:solidFill>
            </a:ln>
          </p:spPr>
        </p:cxnSp>
        <p:cxnSp>
          <p:nvCxnSpPr>
            <p:cNvPr id="48" name="Connector 47"/>
            <p:cNvCxnSpPr/>
            <p:nvPr/>
          </p:nvCxnSpPr>
          <p:spPr>
            <a:xfrm>
              <a:off x="9571482" y="3555644"/>
              <a:ext cx="267462" cy="0"/>
            </a:xfrm>
            <a:prstGeom prst="line">
              <a:avLst/>
            </a:prstGeom>
            <a:ln w="34925">
              <a:solidFill>
                <a:srgbClr val="E8710A"/>
              </a:solidFill>
            </a:ln>
          </p:spPr>
        </p:cxnSp>
        <p:cxnSp>
          <p:nvCxnSpPr>
            <p:cNvPr id="49" name="Connector 48"/>
            <p:cNvCxnSpPr/>
            <p:nvPr/>
          </p:nvCxnSpPr>
          <p:spPr>
            <a:xfrm>
              <a:off x="9838944" y="3555644"/>
              <a:ext cx="0" cy="249632"/>
            </a:xfrm>
            <a:prstGeom prst="line">
              <a:avLst/>
            </a:prstGeom>
            <a:ln w="34925">
              <a:solidFill>
                <a:srgbClr val="E8710A"/>
              </a:solidFill>
            </a:ln>
          </p:spPr>
        </p:cxnSp>
        <p:cxnSp>
          <p:nvCxnSpPr>
            <p:cNvPr id="50" name="Connector 49"/>
            <p:cNvCxnSpPr/>
            <p:nvPr/>
          </p:nvCxnSpPr>
          <p:spPr>
            <a:xfrm>
              <a:off x="9838944" y="3805276"/>
              <a:ext cx="267462" cy="0"/>
            </a:xfrm>
            <a:prstGeom prst="line">
              <a:avLst/>
            </a:prstGeom>
            <a:ln w="34925">
              <a:solidFill>
                <a:srgbClr val="E8710A"/>
              </a:solidFill>
            </a:ln>
          </p:spPr>
        </p:cxnSp>
        <p:cxnSp>
          <p:nvCxnSpPr>
            <p:cNvPr id="51" name="Connector 50"/>
            <p:cNvCxnSpPr/>
            <p:nvPr/>
          </p:nvCxnSpPr>
          <p:spPr>
            <a:xfrm>
              <a:off x="10106406" y="3805276"/>
              <a:ext cx="0" cy="249631"/>
            </a:xfrm>
            <a:prstGeom prst="line">
              <a:avLst/>
            </a:prstGeom>
            <a:ln w="34925">
              <a:solidFill>
                <a:srgbClr val="E8710A"/>
              </a:solidFill>
            </a:ln>
          </p:spPr>
        </p:cxnSp>
        <p:cxnSp>
          <p:nvCxnSpPr>
            <p:cNvPr id="52" name="Connector 51"/>
            <p:cNvCxnSpPr/>
            <p:nvPr/>
          </p:nvCxnSpPr>
          <p:spPr>
            <a:xfrm>
              <a:off x="10106406" y="4054907"/>
              <a:ext cx="267462" cy="0"/>
            </a:xfrm>
            <a:prstGeom prst="line">
              <a:avLst/>
            </a:prstGeom>
            <a:ln w="34925">
              <a:solidFill>
                <a:srgbClr val="E8710A"/>
              </a:solidFill>
            </a:ln>
          </p:spPr>
        </p:cxnSp>
        <p:cxnSp>
          <p:nvCxnSpPr>
            <p:cNvPr id="53" name="Connector 52"/>
            <p:cNvCxnSpPr/>
            <p:nvPr/>
          </p:nvCxnSpPr>
          <p:spPr>
            <a:xfrm>
              <a:off x="10373868" y="4054907"/>
              <a:ext cx="0" cy="249631"/>
            </a:xfrm>
            <a:prstGeom prst="line">
              <a:avLst/>
            </a:prstGeom>
            <a:ln w="34925">
              <a:solidFill>
                <a:srgbClr val="E8710A"/>
              </a:solidFill>
            </a:ln>
          </p:spPr>
        </p:cxnSp>
        <p:cxnSp>
          <p:nvCxnSpPr>
            <p:cNvPr id="54" name="Connector 53"/>
            <p:cNvCxnSpPr/>
            <p:nvPr/>
          </p:nvCxnSpPr>
          <p:spPr>
            <a:xfrm>
              <a:off x="10373868" y="4304538"/>
              <a:ext cx="267462" cy="0"/>
            </a:xfrm>
            <a:prstGeom prst="line">
              <a:avLst/>
            </a:prstGeom>
            <a:ln w="34925">
              <a:solidFill>
                <a:srgbClr val="E8710A"/>
              </a:solidFill>
            </a:ln>
          </p:spPr>
        </p:cxnSp>
        <p:cxnSp>
          <p:nvCxnSpPr>
            <p:cNvPr id="55" name="Connector 54"/>
            <p:cNvCxnSpPr/>
            <p:nvPr/>
          </p:nvCxnSpPr>
          <p:spPr>
            <a:xfrm>
              <a:off x="10641330" y="4304538"/>
              <a:ext cx="742950" cy="0"/>
            </a:xfrm>
            <a:prstGeom prst="line">
              <a:avLst/>
            </a:prstGeom>
            <a:ln w="34925">
              <a:solidFill>
                <a:srgbClr val="E8710A"/>
              </a:solidFill>
            </a:ln>
          </p:spPr>
        </p:cxnSp>
        <p:sp>
          <p:nvSpPr>
            <p:cNvPr id="56" name="TextBox 55"/>
            <p:cNvSpPr txBox="1"/>
            <p:nvPr/>
          </p:nvSpPr>
          <p:spPr>
            <a:xfrm>
              <a:off x="8522208" y="2770632"/>
              <a:ext cx="548640" cy="274320"/>
            </a:xfrm>
            <a:prstGeom prst="rect">
              <a:avLst/>
            </a:prstGeom>
            <a:noFill/>
          </p:spPr>
          <p:txBody>
            <a:bodyPr wrap="square" lIns="0" tIns="0" rIns="0" bIns="0" anchor="t">
              <a:noAutofit/>
            </a:bodyPr>
            <a:lstStyle/>
            <a:p>
              <a:pPr algn="l"/>
              <a:r>
                <a:rPr sz="1300" b="0" i="1" lang="vi-VN">
                  <a:solidFill>
                    <a:srgbClr val="5B6B7B"/>
                  </a:solidFill>
                  <a:latin typeface="Cambria"/>
                  <a:ea typeface="Cambria"/>
                  <a:cs typeface="Cambria"/>
                </a:rPr>
                <a:t>u</a:t>
              </a:r>
            </a:p>
          </p:txBody>
        </p:sp>
        <p:sp>
          <p:nvSpPr>
            <p:cNvPr id="57" name="TextBox 56"/>
            <p:cNvSpPr txBox="1"/>
            <p:nvPr/>
          </p:nvSpPr>
          <p:spPr>
            <a:xfrm>
              <a:off x="11018520" y="4590288"/>
              <a:ext cx="365760" cy="274320"/>
            </a:xfrm>
            <a:prstGeom prst="rect">
              <a:avLst/>
            </a:prstGeom>
            <a:noFill/>
          </p:spPr>
          <p:txBody>
            <a:bodyPr wrap="square" lIns="0" tIns="0" rIns="0" bIns="0" anchor="t">
              <a:noAutofit/>
            </a:bodyPr>
            <a:lstStyle/>
            <a:p>
              <a:pPr algn="r"/>
              <a:r>
                <a:rPr sz="1300" b="0" i="1" lang="vi-VN">
                  <a:solidFill>
                    <a:srgbClr val="5B6B7B"/>
                  </a:solidFill>
                  <a:latin typeface="Cambria"/>
                  <a:ea typeface="Cambria"/>
                  <a:cs typeface="Cambria"/>
                </a:rPr>
                <a:t>t</a:t>
              </a:r>
            </a:p>
          </p:txBody>
        </p:sp>
        <p:sp>
          <p:nvSpPr>
            <p:cNvPr id="58" name="TextBox 57"/>
            <p:cNvSpPr txBox="1"/>
            <p:nvPr/>
          </p:nvSpPr>
          <p:spPr>
            <a:xfrm>
              <a:off x="8549640" y="3716122"/>
              <a:ext cx="1463040" cy="274320"/>
            </a:xfrm>
            <a:prstGeom prst="rect">
              <a:avLst/>
            </a:prstGeom>
            <a:noFill/>
          </p:spPr>
          <p:txBody>
            <a:bodyPr wrap="square" lIns="0" tIns="0" rIns="0" bIns="0" anchor="t">
              <a:noAutofit/>
            </a:bodyPr>
            <a:lstStyle/>
            <a:p>
              <a:pPr algn="l"/>
              <a:r>
                <a:rPr sz="1200" b="1" i="0" lang="vi-VN">
                  <a:solidFill>
                    <a:srgbClr val="5B6B7B"/>
                  </a:solidFill>
                  <a:latin typeface="Arial"/>
                  <a:ea typeface="Arial"/>
                  <a:cs typeface="Arial"/>
                </a:rPr>
                <a:t>nhảy bậc</a:t>
              </a:r>
            </a:p>
          </p:txBody>
        </p:sp>
        <p:sp>
          <p:nvSpPr>
            <p:cNvPr id="59" name="TextBox 58"/>
            <p:cNvSpPr txBox="1"/>
            <p:nvPr/>
          </p:nvSpPr>
          <p:spPr>
            <a:xfrm>
              <a:off x="9633204" y="3323844"/>
              <a:ext cx="1737360" cy="274320"/>
            </a:xfrm>
            <a:prstGeom prst="rect">
              <a:avLst/>
            </a:prstGeom>
            <a:noFill/>
          </p:spPr>
          <p:txBody>
            <a:bodyPr wrap="square" lIns="0" tIns="0" rIns="0" bIns="0" anchor="t">
              <a:noAutofit/>
            </a:bodyPr>
            <a:lstStyle/>
            <a:p>
              <a:pPr algn="l"/>
              <a:r>
                <a:rPr sz="1200" b="1" i="0" lang="vi-VN">
                  <a:solidFill>
                    <a:srgbClr val="E8710A"/>
                  </a:solidFill>
                  <a:latin typeface="Arial"/>
                  <a:ea typeface="Arial"/>
                  <a:cs typeface="Arial"/>
                </a:rPr>
                <a:t>tạo dạng: từng bước</a:t>
              </a:r>
            </a:p>
          </p:txBody>
        </p:sp>
        <p:sp>
          <p:nvSpPr>
            <p:cNvPr id="60" name="Rounded Rectangle 59"/>
            <p:cNvSpPr/>
            <p:nvPr/>
          </p:nvSpPr>
          <p:spPr>
            <a:xfrm>
              <a:off x="10515600" y="2724912"/>
              <a:ext cx="960120" cy="256032"/>
            </a:xfrm>
            <a:prstGeom prst="roundRect">
              <a:avLst>
                <a:gd name="adj" fmla="val 50000"/>
              </a:avLst>
            </a:prstGeom>
            <a:solidFill>
              <a:srgbClr val="F1F4F8"/>
            </a:solidFill>
            <a:ln>
              <a:noFill/>
            </a:ln>
          </p:spPr>
          <p:txBody>
            <a:bodyPr rtlCol="0" anchor="ctr" lIns="73152" tIns="18288" rIns="73152" bIns="18288" wrap="square">
              <a:noAutofit/>
            </a:bodyPr>
            <a:lstStyle/>
            <a:p>
              <a:pPr algn="ctr"/>
              <a:r>
                <a:rPr sz="1050" b="0" i="0" lang="vi-VN">
                  <a:solidFill>
                    <a:srgbClr val="5B6B7B"/>
                  </a:solidFill>
                  <a:latin typeface="Arial"/>
                  <a:ea typeface="Arial"/>
                  <a:cs typeface="Arial"/>
                </a:rPr>
                <a:t>minh họa</a:t>
              </a:r>
            </a:p>
          </p:txBody>
        </p:sp>
        <p:sp>
          <p:nvSpPr>
            <p:cNvPr id="61" name="Rounded Rectangle 60"/>
            <p:cNvSpPr/>
            <p:nvPr/>
          </p:nvSpPr>
          <p:spPr>
            <a:xfrm>
              <a:off x="8275320" y="5074920"/>
              <a:ext cx="3246120" cy="841248"/>
            </a:xfrm>
            <a:prstGeom prst="roundRect">
              <a:avLst>
                <a:gd name="adj" fmla="val 10869"/>
              </a:avLst>
            </a:prstGeom>
            <a:solidFill>
              <a:srgbClr val="FFF1E6"/>
            </a:solidFill>
            <a:ln>
              <a:noFill/>
            </a:ln>
          </p:spPr>
          <p:txBody>
            <a:bodyPr rtlCol="0" anchor="ctr" lIns="73152" tIns="73152" rIns="73152" bIns="73152" wrap="square">
              <a:noAutofit/>
            </a:bodyPr>
            <a:lstStyle/>
            <a:p>
              <a:pPr algn="ctr"/>
              <a:r>
                <a:rPr sz="1300" b="0" i="0" lang="vi-VN">
                  <a:solidFill>
                    <a:srgbClr val="1E2B3A"/>
                  </a:solidFill>
                  <a:latin typeface="Arial"/>
                  <a:ea typeface="Arial"/>
                  <a:cs typeface="Arial"/>
                </a:rPr>
                <a:t>Giới hạn tốc độ biến thiên </a:t>
              </a:r>
              <a:r>
                <a:rPr sz="1300" b="0" i="1" lang="vi-VN">
                  <a:solidFill>
                    <a:srgbClr val="1E2B3A"/>
                  </a:solidFill>
                  <a:latin typeface="Cambria"/>
                  <a:ea typeface="Cambria"/>
                  <a:cs typeface="Cambria"/>
                </a:rPr>
                <a:t>a</a:t>
              </a:r>
              <a:r>
                <a:rPr sz="1300" b="0" i="0" lang="vi-VN" baseline="-25000">
                  <a:solidFill>
                    <a:srgbClr val="1E2B3A"/>
                  </a:solidFill>
                  <a:latin typeface="Cambria"/>
                  <a:ea typeface="Cambria"/>
                  <a:cs typeface="Cambria"/>
                </a:rPr>
                <a:t>max</a:t>
              </a:r>
              <a:r>
                <a:rPr sz="1300" b="0" i="0" lang="vi-VN">
                  <a:solidFill>
                    <a:srgbClr val="1E2B3A"/>
                  </a:solidFill>
                  <a:latin typeface="Arial"/>
                  <a:ea typeface="Arial"/>
                  <a:cs typeface="Arial"/>
                </a:rPr>
                <a:t> = 18 000 °/s², nới 30 000 °/s² khi đảo chiều + giới hạn độ giật (2.20)–(2.22)</a:t>
              </a:r>
            </a:p>
          </p:txBody>
        </p:sp>
      </p:grpSp>
      <p:sp>
        <p:nvSpPr>
          <p:cNvPr id="62"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anim calcmode="lin" valueType="num">
                                      <p:cBhvr>
                                        <p:cTn id="15" dur="500" fill="hold"/>
                                        <p:tgtEl>
                                          <p:spTgt spid="17"/>
                                        </p:tgtEl>
                                        <p:attrNameLst>
                                          <p:attrName>ppt_x</p:attrName>
                                        </p:attrNameLst>
                                      </p:cBhvr>
                                      <p:tavLst>
                                        <p:tav tm="0">
                                          <p:val>
                                            <p:strVal val="#ppt_x"/>
                                          </p:val>
                                        </p:tav>
                                        <p:tav tm="100000">
                                          <p:val>
                                            <p:strVal val="#ppt_x"/>
                                          </p:val>
                                        </p:tav>
                                      </p:tavLst>
                                    </p:anim>
                                    <p:anim calcmode="lin" valueType="num">
                                      <p:cBhvr>
                                        <p:cTn id="16" dur="500" fill="hold"/>
                                        <p:tgtEl>
                                          <p:spTgt spid="17"/>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anim calcmode="lin" valueType="num">
                                      <p:cBhvr>
                                        <p:cTn id="22" dur="500" fill="hold"/>
                                        <p:tgtEl>
                                          <p:spTgt spid="32"/>
                                        </p:tgtEl>
                                        <p:attrNameLst>
                                          <p:attrName>ppt_x</p:attrName>
                                        </p:attrNameLst>
                                      </p:cBhvr>
                                      <p:tavLst>
                                        <p:tav tm="0">
                                          <p:val>
                                            <p:strVal val="#ppt_x"/>
                                          </p:val>
                                        </p:tav>
                                        <p:tav tm="100000">
                                          <p:val>
                                            <p:strVal val="#ppt_x"/>
                                          </p:val>
                                        </p:tav>
                                      </p:tavLst>
                                    </p:anim>
                                    <p:anim calcmode="lin" valueType="num">
                                      <p:cBhvr>
                                        <p:cTn id="23" dur="500" fill="hold"/>
                                        <p:tgtEl>
                                          <p:spTgt spid="32"/>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3 · TRUYỀN THÔNG VÀ GIÁM SÁT</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⑥ Lịch RS485 tất định và cơ chế giám sát – bảo vệ – khôi phục</a:t>
            </a:r>
          </a:p>
        </p:txBody>
      </p:sp>
      <p:sp>
        <p:nvSpPr>
          <p:cNvPr id="4" name="Rounded Rectangle 3"/>
          <p:cNvSpPr/>
          <p:nvPr/>
        </p:nvSpPr>
        <p:spPr>
          <a:xfrm>
            <a:off x="502920" y="1261872"/>
            <a:ext cx="5806440" cy="4791456"/>
          </a:xfrm>
          <a:prstGeom prst="roundRect">
            <a:avLst>
              <a:gd name="adj" fmla="val 19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5" name="Picture 4" descr="network_0A5FA8.png"/>
          <p:cNvPicPr>
            <a:picLocks noChangeAspect="1"/>
          </p:cNvPicPr>
          <p:nvPr/>
        </p:nvPicPr>
        <p:blipFill>
          <a:blip r:embed="rId2"/>
          <a:stretch>
            <a:fillRect/>
          </a:stretch>
        </p:blipFill>
        <p:spPr>
          <a:xfrm>
            <a:off x="667512" y="1353312"/>
            <a:ext cx="237744" cy="237744"/>
          </a:xfrm>
          <a:prstGeom prst="rect">
            <a:avLst/>
          </a:prstGeom>
        </p:spPr>
      </p:pic>
      <p:sp>
        <p:nvSpPr>
          <p:cNvPr id="6" name="TextBox 5"/>
          <p:cNvSpPr txBox="1"/>
          <p:nvPr/>
        </p:nvSpPr>
        <p:spPr>
          <a:xfrm>
            <a:off x="996696" y="1325880"/>
            <a:ext cx="515721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⑥ LỊCH RS485 LUÂN PHIÊN</a:t>
            </a:r>
          </a:p>
        </p:txBody>
      </p:sp>
      <p:grpSp>
        <p:nvGrpSpPr>
          <p:cNvPr id="7" name="Group 6"/>
          <p:cNvGrpSpPr/>
          <p:nvPr/>
        </p:nvGrpSpPr>
        <p:grpSpPr>
          <a:xfrm>
            <a:off x="685800" y="1673352"/>
            <a:ext cx="5486400" cy="731520"/>
            <a:chOff x="685800" y="1673352"/>
            <a:chExt cx="5486400" cy="731520"/>
          </a:xfrm>
        </p:grpSpPr>
        <p:pic>
          <p:nvPicPr>
            <p:cNvPr id="8" name="Picture 7" descr="warning_C62828.png"/>
            <p:cNvPicPr>
              <a:picLocks noChangeAspect="1"/>
            </p:cNvPicPr>
            <p:nvPr/>
          </p:nvPicPr>
          <p:blipFill>
            <a:blip r:embed="rId3"/>
            <a:stretch>
              <a:fillRect/>
            </a:stretch>
          </p:blipFill>
          <p:spPr>
            <a:xfrm>
              <a:off x="685800" y="1737360"/>
              <a:ext cx="274320" cy="274320"/>
            </a:xfrm>
            <a:prstGeom prst="rect">
              <a:avLst/>
            </a:prstGeom>
          </p:spPr>
        </p:pic>
        <p:sp>
          <p:nvSpPr>
            <p:cNvPr id="9" name="TextBox 8"/>
            <p:cNvSpPr txBox="1"/>
            <p:nvPr/>
          </p:nvSpPr>
          <p:spPr>
            <a:xfrm>
              <a:off x="1051560" y="1673352"/>
              <a:ext cx="5120640" cy="731520"/>
            </a:xfrm>
            <a:prstGeom prst="rect">
              <a:avLst/>
            </a:prstGeom>
            <a:noFill/>
          </p:spPr>
          <p:txBody>
            <a:bodyPr wrap="square" lIns="0" tIns="0" rIns="0" bIns="0" anchor="t">
              <a:noAutofit/>
            </a:bodyPr>
            <a:lstStyle/>
            <a:p>
              <a:pPr algn="l">
                <a:lnSpc>
                  <a:spcPct val="100000"/>
                </a:lnSpc>
              </a:pPr>
              <a:r>
                <a:rPr sz="1450" b="0" i="0" lang="vi-VN">
                  <a:solidFill>
                    <a:srgbClr val="1E2B3A"/>
                  </a:solidFill>
                  <a:latin typeface="Arial"/>
                  <a:ea typeface="Arial"/>
                  <a:cs typeface="Arial"/>
                </a:rPr>
                <a:t>2 động cơ chung bus bán song công; ưu tiên động → trễ </a:t>
              </a:r>
              <a:r>
                <a:rPr sz="1450" b="0" i="1" lang="vi-VN">
                  <a:solidFill>
                    <a:srgbClr val="1E2B3A"/>
                  </a:solidFill>
                  <a:latin typeface="Cambria"/>
                  <a:ea typeface="Cambria"/>
                  <a:cs typeface="Cambria"/>
                </a:rPr>
                <a:t>τ</a:t>
              </a:r>
              <a:r>
                <a:rPr sz="1450" b="0" i="0" lang="vi-VN" baseline="-25000">
                  <a:solidFill>
                    <a:srgbClr val="1E2B3A"/>
                  </a:solidFill>
                  <a:latin typeface="Cambria"/>
                  <a:ea typeface="Cambria"/>
                  <a:cs typeface="Cambria"/>
                </a:rPr>
                <a:t>b</a:t>
              </a:r>
              <a:r>
                <a:rPr sz="1450" b="0" i="0" lang="vi-VN">
                  <a:solidFill>
                    <a:srgbClr val="1E2B3A"/>
                  </a:solidFill>
                  <a:latin typeface="Arial"/>
                  <a:ea typeface="Arial"/>
                  <a:cs typeface="Arial"/>
                </a:rPr>
                <a:t> ngẫu nhiên, phá giả thiết trễ hằng của ngoại suy</a:t>
              </a:r>
            </a:p>
          </p:txBody>
        </p:sp>
      </p:grpSp>
      <p:grpSp>
        <p:nvGrpSpPr>
          <p:cNvPr id="10" name="Group 9"/>
          <p:cNvGrpSpPr/>
          <p:nvPr/>
        </p:nvGrpSpPr>
        <p:grpSpPr>
          <a:xfrm>
            <a:off x="457200" y="2852928"/>
            <a:ext cx="5907024" cy="932688"/>
            <a:chOff x="457200" y="2852928"/>
            <a:chExt cx="5907024" cy="932688"/>
          </a:xfrm>
        </p:grpSpPr>
        <p:sp>
          <p:nvSpPr>
            <p:cNvPr id="11" name="Rounded Rectangle 10"/>
            <p:cNvSpPr/>
            <p:nvPr/>
          </p:nvSpPr>
          <p:spPr>
            <a:xfrm>
              <a:off x="795528" y="2852928"/>
              <a:ext cx="621792" cy="658368"/>
            </a:xfrm>
            <a:prstGeom prst="roundRect">
              <a:avLst>
                <a:gd name="adj" fmla="val 7352"/>
              </a:avLst>
            </a:prstGeom>
            <a:solidFill>
              <a:srgbClr val="1F5FAF"/>
            </a:solidFill>
            <a:ln>
              <a:noFill/>
            </a:ln>
          </p:spPr>
          <p:txBody>
            <a:bodyPr rtlCol="0" anchor="ctr" lIns="0" tIns="0" rIns="0" bIns="0" wrap="square">
              <a:noAutofit/>
            </a:bodyPr>
            <a:lstStyle/>
            <a:p>
              <a:pPr algn="ctr"/>
              <a:r>
                <a:rPr sz="1350" b="1" i="0" lang="vi-VN">
                  <a:solidFill>
                    <a:srgbClr val="FFFFFF"/>
                  </a:solidFill>
                  <a:latin typeface="Arial"/>
                  <a:ea typeface="Arial"/>
                  <a:cs typeface="Arial"/>
                </a:rPr>
                <a:t>Yaw</a:t>
              </a:r>
            </a:p>
          </p:txBody>
        </p:sp>
        <p:sp>
          <p:nvSpPr>
            <p:cNvPr id="12" name="Rounded Rectangle 11"/>
            <p:cNvSpPr/>
            <p:nvPr/>
          </p:nvSpPr>
          <p:spPr>
            <a:xfrm>
              <a:off x="1453896" y="2852928"/>
              <a:ext cx="621792" cy="658368"/>
            </a:xfrm>
            <a:prstGeom prst="roundRect">
              <a:avLst>
                <a:gd name="adj" fmla="val 7352"/>
              </a:avLst>
            </a:prstGeom>
            <a:solidFill>
              <a:srgbClr val="2E8B57"/>
            </a:solidFill>
            <a:ln>
              <a:noFill/>
            </a:ln>
          </p:spPr>
          <p:txBody>
            <a:bodyPr rtlCol="0" anchor="ctr" lIns="0" tIns="0" rIns="0" bIns="0" wrap="square">
              <a:noAutofit/>
            </a:bodyPr>
            <a:lstStyle/>
            <a:p>
              <a:pPr algn="ctr"/>
              <a:r>
                <a:rPr sz="1350" b="1" i="0" lang="vi-VN">
                  <a:solidFill>
                    <a:srgbClr val="FFFFFF"/>
                  </a:solidFill>
                  <a:latin typeface="Arial"/>
                  <a:ea typeface="Arial"/>
                  <a:cs typeface="Arial"/>
                </a:rPr>
                <a:t>Pitch</a:t>
              </a:r>
            </a:p>
          </p:txBody>
        </p:sp>
        <p:sp>
          <p:nvSpPr>
            <p:cNvPr id="13" name="Rounded Rectangle 12"/>
            <p:cNvSpPr/>
            <p:nvPr/>
          </p:nvSpPr>
          <p:spPr>
            <a:xfrm>
              <a:off x="2112264" y="2852928"/>
              <a:ext cx="621792" cy="658368"/>
            </a:xfrm>
            <a:prstGeom prst="roundRect">
              <a:avLst>
                <a:gd name="adj" fmla="val 7352"/>
              </a:avLst>
            </a:prstGeom>
            <a:solidFill>
              <a:srgbClr val="1F5FAF"/>
            </a:solidFill>
            <a:ln>
              <a:noFill/>
            </a:ln>
          </p:spPr>
          <p:txBody>
            <a:bodyPr rtlCol="0" anchor="ctr" lIns="0" tIns="0" rIns="0" bIns="0" wrap="square">
              <a:noAutofit/>
            </a:bodyPr>
            <a:lstStyle/>
            <a:p>
              <a:pPr algn="ctr"/>
              <a:r>
                <a:rPr sz="1350" b="1" i="0" lang="vi-VN">
                  <a:solidFill>
                    <a:srgbClr val="FFFFFF"/>
                  </a:solidFill>
                  <a:latin typeface="Arial"/>
                  <a:ea typeface="Arial"/>
                  <a:cs typeface="Arial"/>
                </a:rPr>
                <a:t>Yaw</a:t>
              </a:r>
            </a:p>
          </p:txBody>
        </p:sp>
        <p:sp>
          <p:nvSpPr>
            <p:cNvPr id="14" name="Rounded Rectangle 13"/>
            <p:cNvSpPr/>
            <p:nvPr/>
          </p:nvSpPr>
          <p:spPr>
            <a:xfrm>
              <a:off x="2770632" y="2852928"/>
              <a:ext cx="621792" cy="658368"/>
            </a:xfrm>
            <a:prstGeom prst="roundRect">
              <a:avLst>
                <a:gd name="adj" fmla="val 7352"/>
              </a:avLst>
            </a:prstGeom>
            <a:solidFill>
              <a:srgbClr val="2E8B57"/>
            </a:solidFill>
            <a:ln>
              <a:noFill/>
            </a:ln>
          </p:spPr>
          <p:txBody>
            <a:bodyPr rtlCol="0" anchor="ctr" lIns="0" tIns="0" rIns="0" bIns="0" wrap="square">
              <a:noAutofit/>
            </a:bodyPr>
            <a:lstStyle/>
            <a:p>
              <a:pPr algn="ctr"/>
              <a:r>
                <a:rPr sz="1350" b="1" i="0" lang="vi-VN">
                  <a:solidFill>
                    <a:srgbClr val="FFFFFF"/>
                  </a:solidFill>
                  <a:latin typeface="Arial"/>
                  <a:ea typeface="Arial"/>
                  <a:cs typeface="Arial"/>
                </a:rPr>
                <a:t>Pitch</a:t>
              </a:r>
            </a:p>
          </p:txBody>
        </p:sp>
        <p:sp>
          <p:nvSpPr>
            <p:cNvPr id="15" name="Rounded Rectangle 14"/>
            <p:cNvSpPr/>
            <p:nvPr/>
          </p:nvSpPr>
          <p:spPr>
            <a:xfrm>
              <a:off x="3429000" y="2852928"/>
              <a:ext cx="621792" cy="658368"/>
            </a:xfrm>
            <a:prstGeom prst="roundRect">
              <a:avLst>
                <a:gd name="adj" fmla="val 7352"/>
              </a:avLst>
            </a:prstGeom>
            <a:solidFill>
              <a:srgbClr val="1F5FAF"/>
            </a:solidFill>
            <a:ln>
              <a:noFill/>
            </a:ln>
          </p:spPr>
          <p:txBody>
            <a:bodyPr rtlCol="0" anchor="ctr" lIns="0" tIns="0" rIns="0" bIns="0" wrap="square">
              <a:noAutofit/>
            </a:bodyPr>
            <a:lstStyle/>
            <a:p>
              <a:pPr algn="ctr"/>
              <a:r>
                <a:rPr sz="1350" b="1" i="0" lang="vi-VN">
                  <a:solidFill>
                    <a:srgbClr val="FFFFFF"/>
                  </a:solidFill>
                  <a:latin typeface="Arial"/>
                  <a:ea typeface="Arial"/>
                  <a:cs typeface="Arial"/>
                </a:rPr>
                <a:t>Yaw</a:t>
              </a:r>
            </a:p>
          </p:txBody>
        </p:sp>
        <p:sp>
          <p:nvSpPr>
            <p:cNvPr id="16" name="Rounded Rectangle 15"/>
            <p:cNvSpPr/>
            <p:nvPr/>
          </p:nvSpPr>
          <p:spPr>
            <a:xfrm>
              <a:off x="4087368" y="2852928"/>
              <a:ext cx="621792" cy="658368"/>
            </a:xfrm>
            <a:prstGeom prst="roundRect">
              <a:avLst>
                <a:gd name="adj" fmla="val 7352"/>
              </a:avLst>
            </a:prstGeom>
            <a:solidFill>
              <a:srgbClr val="2E8B57"/>
            </a:solidFill>
            <a:ln>
              <a:noFill/>
            </a:ln>
          </p:spPr>
          <p:txBody>
            <a:bodyPr rtlCol="0" anchor="ctr" lIns="0" tIns="0" rIns="0" bIns="0" wrap="square">
              <a:noAutofit/>
            </a:bodyPr>
            <a:lstStyle/>
            <a:p>
              <a:pPr algn="ctr"/>
              <a:r>
                <a:rPr sz="1350" b="1" i="0" lang="vi-VN">
                  <a:solidFill>
                    <a:srgbClr val="FFFFFF"/>
                  </a:solidFill>
                  <a:latin typeface="Arial"/>
                  <a:ea typeface="Arial"/>
                  <a:cs typeface="Arial"/>
                </a:rPr>
                <a:t>Pitch</a:t>
              </a:r>
            </a:p>
          </p:txBody>
        </p:sp>
        <p:sp>
          <p:nvSpPr>
            <p:cNvPr id="17" name="Rounded Rectangle 16"/>
            <p:cNvSpPr/>
            <p:nvPr/>
          </p:nvSpPr>
          <p:spPr>
            <a:xfrm>
              <a:off x="4745736" y="2852928"/>
              <a:ext cx="621792" cy="658368"/>
            </a:xfrm>
            <a:prstGeom prst="roundRect">
              <a:avLst>
                <a:gd name="adj" fmla="val 7352"/>
              </a:avLst>
            </a:prstGeom>
            <a:solidFill>
              <a:srgbClr val="1F5FAF"/>
            </a:solidFill>
            <a:ln>
              <a:noFill/>
            </a:ln>
          </p:spPr>
          <p:txBody>
            <a:bodyPr rtlCol="0" anchor="ctr" lIns="0" tIns="0" rIns="0" bIns="0" wrap="square">
              <a:noAutofit/>
            </a:bodyPr>
            <a:lstStyle/>
            <a:p>
              <a:pPr algn="ctr"/>
              <a:r>
                <a:rPr sz="1350" b="1" i="0" lang="vi-VN">
                  <a:solidFill>
                    <a:srgbClr val="FFFFFF"/>
                  </a:solidFill>
                  <a:latin typeface="Arial"/>
                  <a:ea typeface="Arial"/>
                  <a:cs typeface="Arial"/>
                </a:rPr>
                <a:t>Yaw</a:t>
              </a:r>
            </a:p>
          </p:txBody>
        </p:sp>
        <p:sp>
          <p:nvSpPr>
            <p:cNvPr id="18" name="Rounded Rectangle 17"/>
            <p:cNvSpPr/>
            <p:nvPr/>
          </p:nvSpPr>
          <p:spPr>
            <a:xfrm>
              <a:off x="5404104" y="2852928"/>
              <a:ext cx="621792" cy="658368"/>
            </a:xfrm>
            <a:prstGeom prst="roundRect">
              <a:avLst>
                <a:gd name="adj" fmla="val 7352"/>
              </a:avLst>
            </a:prstGeom>
            <a:solidFill>
              <a:srgbClr val="2E8B57"/>
            </a:solidFill>
            <a:ln>
              <a:noFill/>
            </a:ln>
          </p:spPr>
          <p:txBody>
            <a:bodyPr rtlCol="0" anchor="ctr" lIns="0" tIns="0" rIns="0" bIns="0" wrap="square">
              <a:noAutofit/>
            </a:bodyPr>
            <a:lstStyle/>
            <a:p>
              <a:pPr algn="ctr"/>
              <a:r>
                <a:rPr sz="1350" b="1" i="0" lang="vi-VN">
                  <a:solidFill>
                    <a:srgbClr val="FFFFFF"/>
                  </a:solidFill>
                  <a:latin typeface="Arial"/>
                  <a:ea typeface="Arial"/>
                  <a:cs typeface="Arial"/>
                </a:rPr>
                <a:t>Pitch</a:t>
              </a:r>
            </a:p>
          </p:txBody>
        </p:sp>
        <p:sp>
          <p:nvSpPr>
            <p:cNvPr id="19" name="TextBox 18"/>
            <p:cNvSpPr txBox="1"/>
            <p:nvPr/>
          </p:nvSpPr>
          <p:spPr>
            <a:xfrm>
              <a:off x="457200" y="3547872"/>
              <a:ext cx="640080" cy="237744"/>
            </a:xfrm>
            <a:prstGeom prst="rect">
              <a:avLst/>
            </a:prstGeom>
            <a:noFill/>
          </p:spPr>
          <p:txBody>
            <a:bodyPr wrap="square" lIns="0" tIns="0" rIns="0" bIns="0" anchor="t">
              <a:noAutofit/>
            </a:bodyPr>
            <a:lstStyle/>
            <a:p>
              <a:pPr algn="ctr"/>
              <a:r>
                <a:rPr sz="1200" b="0" i="0" lang="vi-VN">
                  <a:solidFill>
                    <a:srgbClr val="5B6B7B"/>
                  </a:solidFill>
                  <a:latin typeface="Arial"/>
                  <a:ea typeface="Arial"/>
                  <a:cs typeface="Arial"/>
                </a:rPr>
                <a:t>0</a:t>
              </a:r>
            </a:p>
          </p:txBody>
        </p:sp>
        <p:sp>
          <p:nvSpPr>
            <p:cNvPr id="20" name="TextBox 19"/>
            <p:cNvSpPr txBox="1"/>
            <p:nvPr/>
          </p:nvSpPr>
          <p:spPr>
            <a:xfrm>
              <a:off x="1773936" y="3547872"/>
              <a:ext cx="640080" cy="237744"/>
            </a:xfrm>
            <a:prstGeom prst="rect">
              <a:avLst/>
            </a:prstGeom>
            <a:noFill/>
          </p:spPr>
          <p:txBody>
            <a:bodyPr wrap="square" lIns="0" tIns="0" rIns="0" bIns="0" anchor="t">
              <a:noAutofit/>
            </a:bodyPr>
            <a:lstStyle/>
            <a:p>
              <a:pPr algn="ctr"/>
              <a:r>
                <a:rPr sz="1200" b="0" i="0" lang="vi-VN">
                  <a:solidFill>
                    <a:srgbClr val="5B6B7B"/>
                  </a:solidFill>
                  <a:latin typeface="Arial"/>
                  <a:ea typeface="Arial"/>
                  <a:cs typeface="Arial"/>
                </a:rPr>
                <a:t>10</a:t>
              </a:r>
            </a:p>
          </p:txBody>
        </p:sp>
        <p:sp>
          <p:nvSpPr>
            <p:cNvPr id="21" name="TextBox 20"/>
            <p:cNvSpPr txBox="1"/>
            <p:nvPr/>
          </p:nvSpPr>
          <p:spPr>
            <a:xfrm>
              <a:off x="3090672" y="3547872"/>
              <a:ext cx="640080" cy="237744"/>
            </a:xfrm>
            <a:prstGeom prst="rect">
              <a:avLst/>
            </a:prstGeom>
            <a:noFill/>
          </p:spPr>
          <p:txBody>
            <a:bodyPr wrap="square" lIns="0" tIns="0" rIns="0" bIns="0" anchor="t">
              <a:noAutofit/>
            </a:bodyPr>
            <a:lstStyle/>
            <a:p>
              <a:pPr algn="ctr"/>
              <a:r>
                <a:rPr sz="1200" b="0" i="0" lang="vi-VN">
                  <a:solidFill>
                    <a:srgbClr val="5B6B7B"/>
                  </a:solidFill>
                  <a:latin typeface="Arial"/>
                  <a:ea typeface="Arial"/>
                  <a:cs typeface="Arial"/>
                </a:rPr>
                <a:t>20</a:t>
              </a:r>
            </a:p>
          </p:txBody>
        </p:sp>
        <p:sp>
          <p:nvSpPr>
            <p:cNvPr id="22" name="TextBox 21"/>
            <p:cNvSpPr txBox="1"/>
            <p:nvPr/>
          </p:nvSpPr>
          <p:spPr>
            <a:xfrm>
              <a:off x="4407408" y="3547872"/>
              <a:ext cx="640080" cy="237744"/>
            </a:xfrm>
            <a:prstGeom prst="rect">
              <a:avLst/>
            </a:prstGeom>
            <a:noFill/>
          </p:spPr>
          <p:txBody>
            <a:bodyPr wrap="square" lIns="0" tIns="0" rIns="0" bIns="0" anchor="t">
              <a:noAutofit/>
            </a:bodyPr>
            <a:lstStyle/>
            <a:p>
              <a:pPr algn="ctr"/>
              <a:r>
                <a:rPr sz="1200" b="0" i="0" lang="vi-VN">
                  <a:solidFill>
                    <a:srgbClr val="5B6B7B"/>
                  </a:solidFill>
                  <a:latin typeface="Arial"/>
                  <a:ea typeface="Arial"/>
                  <a:cs typeface="Arial"/>
                </a:rPr>
                <a:t>30</a:t>
              </a:r>
            </a:p>
          </p:txBody>
        </p:sp>
        <p:sp>
          <p:nvSpPr>
            <p:cNvPr id="23" name="TextBox 22"/>
            <p:cNvSpPr txBox="1"/>
            <p:nvPr/>
          </p:nvSpPr>
          <p:spPr>
            <a:xfrm>
              <a:off x="5724144" y="3547872"/>
              <a:ext cx="640080" cy="237744"/>
            </a:xfrm>
            <a:prstGeom prst="rect">
              <a:avLst/>
            </a:prstGeom>
            <a:noFill/>
          </p:spPr>
          <p:txBody>
            <a:bodyPr wrap="square" lIns="0" tIns="0" rIns="0" bIns="0" anchor="t">
              <a:noAutofit/>
            </a:bodyPr>
            <a:lstStyle/>
            <a:p>
              <a:pPr algn="ctr"/>
              <a:r>
                <a:rPr sz="1200" b="0" i="0" lang="vi-VN">
                  <a:solidFill>
                    <a:srgbClr val="5B6B7B"/>
                  </a:solidFill>
                  <a:latin typeface="Arial"/>
                  <a:ea typeface="Arial"/>
                  <a:cs typeface="Arial"/>
                </a:rPr>
                <a:t>40 ms</a:t>
              </a:r>
            </a:p>
          </p:txBody>
        </p:sp>
      </p:grpSp>
      <p:sp>
        <p:nvSpPr>
          <p:cNvPr id="24" name="Oval 23"/>
          <p:cNvSpPr/>
          <p:nvPr/>
        </p:nvSpPr>
        <p:spPr>
          <a:xfrm>
            <a:off x="987552" y="2523744"/>
            <a:ext cx="237744" cy="237744"/>
          </a:xfrm>
          <a:prstGeom prst="ellipse">
            <a:avLst/>
          </a:prstGeom>
          <a:solidFill>
            <a:srgbClr val="E8710A"/>
          </a:solidFill>
          <a:ln>
            <a:noFill/>
          </a:ln>
        </p:spPr>
        <p:txBody>
          <a:bodyPr rtlCol="0" anchor="ctr" lIns="54864" tIns="54864" rIns="54864" bIns="54864" wrap="square">
            <a:noAutofit/>
          </a:bodyPr>
          <a:lstStyle/>
          <a:p>
            <a:pPr algn="ctr"/>
          </a:p>
        </p:txBody>
      </p:sp>
      <p:grpSp>
        <p:nvGrpSpPr>
          <p:cNvPr id="25" name="Group 24"/>
          <p:cNvGrpSpPr/>
          <p:nvPr/>
        </p:nvGrpSpPr>
        <p:grpSpPr>
          <a:xfrm>
            <a:off x="795528" y="3785616"/>
            <a:ext cx="4974336" cy="329184"/>
            <a:chOff x="795528" y="3785616"/>
            <a:chExt cx="4974336" cy="329184"/>
          </a:xfrm>
        </p:grpSpPr>
        <p:cxnSp>
          <p:nvCxnSpPr>
            <p:cNvPr id="26" name="Connector 25"/>
            <p:cNvCxnSpPr/>
            <p:nvPr/>
          </p:nvCxnSpPr>
          <p:spPr>
            <a:xfrm>
              <a:off x="795528" y="3950208"/>
              <a:ext cx="1316736" cy="0"/>
            </a:xfrm>
            <a:prstGeom prst="line">
              <a:avLst/>
            </a:prstGeom>
            <a:ln w="19050">
              <a:solidFill>
                <a:srgbClr val="0B2545"/>
              </a:solidFill>
              <a:headEnd type="triangle" w="med" len="med"/>
              <a:tailEnd type="triangle" w="med" len="med"/>
            </a:ln>
          </p:spPr>
        </p:cxnSp>
        <p:sp>
          <p:nvSpPr>
            <p:cNvPr id="27" name="TextBox 26"/>
            <p:cNvSpPr txBox="1"/>
            <p:nvPr/>
          </p:nvSpPr>
          <p:spPr>
            <a:xfrm>
              <a:off x="2203704" y="3785616"/>
              <a:ext cx="3566160" cy="329184"/>
            </a:xfrm>
            <a:prstGeom prst="rect">
              <a:avLst/>
            </a:prstGeom>
            <a:noFill/>
          </p:spPr>
          <p:txBody>
            <a:bodyPr wrap="square" lIns="0" tIns="0" rIns="0" bIns="0" anchor="ctr">
              <a:noAutofit/>
            </a:bodyPr>
            <a:lstStyle/>
            <a:p>
              <a:pPr algn="l"/>
              <a:r>
                <a:rPr sz="1500" b="0" i="0" lang="vi-VN">
                  <a:solidFill>
                    <a:srgbClr val="0B2545"/>
                  </a:solidFill>
                  <a:latin typeface="Arial"/>
                  <a:ea typeface="Arial"/>
                  <a:cs typeface="Arial"/>
                </a:rPr>
                <a:t>mỗi trục cập nhật đều </a:t>
              </a:r>
              <a:r>
                <a:rPr sz="1500" b="1" i="0" lang="vi-VN">
                  <a:solidFill>
                    <a:srgbClr val="0B2545"/>
                  </a:solidFill>
                  <a:latin typeface="Arial"/>
                  <a:ea typeface="Arial"/>
                  <a:cs typeface="Arial"/>
                </a:rPr>
                <a:t>10 ms</a:t>
              </a:r>
            </a:p>
          </p:txBody>
        </p:sp>
      </p:grpSp>
      <p:sp>
        <p:nvSpPr>
          <p:cNvPr id="28" name="TextBox 27"/>
          <p:cNvSpPr txBox="1"/>
          <p:nvPr/>
        </p:nvSpPr>
        <p:spPr>
          <a:xfrm>
            <a:off x="685800" y="4315968"/>
            <a:ext cx="5440680" cy="1691640"/>
          </a:xfrm>
          <a:prstGeom prst="rect">
            <a:avLst/>
          </a:prstGeom>
          <a:noFill/>
        </p:spPr>
        <p:txBody>
          <a:bodyPr wrap="square" lIns="0" tIns="0" rIns="0" bIns="0" anchor="t">
            <a:noAutofit/>
          </a:bodyPr>
          <a:lstStyle/>
          <a:p>
            <a:pPr algn="l" marL="201168" indent="-201168">
              <a:lnSpc>
                <a:spcPct val="100000"/>
              </a:lnSpc>
              <a:spcAft>
                <a:spcPts val="600"/>
              </a:spcAft>
              <a:buClr>
                <a:srgbClr val="0A5FA8"/>
              </a:buClr>
              <a:buSzPct val="100000"/>
              <a:buFont typeface="Arial"/>
              <a:buChar char="•"/>
            </a:pPr>
            <a:r>
              <a:rPr sz="1500" b="0" i="0" lang="vi-VN">
                <a:solidFill>
                  <a:srgbClr val="1E2B3A"/>
                </a:solidFill>
                <a:latin typeface="Arial"/>
                <a:ea typeface="Arial"/>
                <a:cs typeface="Arial"/>
              </a:rPr>
              <a:t>Khe cố định 5 ms: khe chẵn Yaw, khe lẻ Pitch (2.28)</a:t>
            </a:r>
          </a:p>
          <a:p>
            <a:pPr algn="l" marL="201168" indent="-201168">
              <a:lnSpc>
                <a:spcPct val="100000"/>
              </a:lnSpc>
              <a:spcAft>
                <a:spcPts val="600"/>
              </a:spcAft>
              <a:buClr>
                <a:srgbClr val="0A5FA8"/>
              </a:buClr>
              <a:buSzPct val="100000"/>
              <a:buFont typeface="Arial"/>
              <a:buChar char="•"/>
            </a:pPr>
            <a:r>
              <a:rPr sz="1500" b="0" i="0" lang="vi-VN">
                <a:solidFill>
                  <a:srgbClr val="1E2B3A"/>
                </a:solidFill>
                <a:latin typeface="Arial"/>
                <a:ea typeface="Arial"/>
                <a:cs typeface="Arial"/>
              </a:rPr>
              <a:t>Phát khung ở ưu tiên 116 → chờ phản hồi ≤ 3 ms</a:t>
            </a:r>
          </a:p>
          <a:p>
            <a:pPr algn="l" marL="201168" indent="-201168">
              <a:lnSpc>
                <a:spcPct val="100000"/>
              </a:lnSpc>
              <a:spcAft>
                <a:spcPts val="600"/>
              </a:spcAft>
              <a:buClr>
                <a:srgbClr val="0A5FA8"/>
              </a:buClr>
              <a:buSzPct val="100000"/>
              <a:buFont typeface="Arial"/>
              <a:buChar char="•"/>
            </a:pPr>
            <a:r>
              <a:rPr sz="1500" b="1" i="0" lang="vi-VN">
                <a:solidFill>
                  <a:srgbClr val="1E2B3A"/>
                </a:solidFill>
                <a:latin typeface="Arial"/>
                <a:ea typeface="Arial"/>
                <a:cs typeface="Arial"/>
              </a:rPr>
              <a:t>Không thử lại trong khe</a:t>
            </a:r>
            <a:r>
              <a:rPr sz="1500" b="0" i="0" lang="vi-VN">
                <a:solidFill>
                  <a:srgbClr val="1E2B3A"/>
                </a:solidFill>
                <a:latin typeface="Arial"/>
                <a:ea typeface="Arial"/>
                <a:cs typeface="Arial"/>
              </a:rPr>
              <a:t> (không lấn khe trục kia); 5 lỗi liên tiếp → báo sự cố</a:t>
            </a:r>
          </a:p>
        </p:txBody>
      </p:sp>
      <p:sp>
        <p:nvSpPr>
          <p:cNvPr id="29" name="Rounded Rectangle 28"/>
          <p:cNvSpPr/>
          <p:nvPr/>
        </p:nvSpPr>
        <p:spPr>
          <a:xfrm>
            <a:off x="6492240" y="1261872"/>
            <a:ext cx="5212080" cy="4791456"/>
          </a:xfrm>
          <a:prstGeom prst="roundRect">
            <a:avLst>
              <a:gd name="adj" fmla="val 19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30" name="Picture 29" descr="shield_0A5FA8.png"/>
          <p:cNvPicPr>
            <a:picLocks noChangeAspect="1"/>
          </p:cNvPicPr>
          <p:nvPr/>
        </p:nvPicPr>
        <p:blipFill>
          <a:blip r:embed="rId4"/>
          <a:stretch>
            <a:fillRect/>
          </a:stretch>
        </p:blipFill>
        <p:spPr>
          <a:xfrm>
            <a:off x="6656832" y="1353312"/>
            <a:ext cx="237744" cy="237744"/>
          </a:xfrm>
          <a:prstGeom prst="rect">
            <a:avLst/>
          </a:prstGeom>
        </p:spPr>
      </p:pic>
      <p:sp>
        <p:nvSpPr>
          <p:cNvPr id="31" name="TextBox 30"/>
          <p:cNvSpPr txBox="1"/>
          <p:nvPr/>
        </p:nvSpPr>
        <p:spPr>
          <a:xfrm>
            <a:off x="6986016" y="1325880"/>
            <a:ext cx="451713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GIÁM SÁT · BẢO VỆ · KHÔI PHỤC</a:t>
            </a:r>
          </a:p>
        </p:txBody>
      </p:sp>
      <p:sp>
        <p:nvSpPr>
          <p:cNvPr id="32" name="Rounded Rectangle 31"/>
          <p:cNvSpPr/>
          <p:nvPr/>
        </p:nvSpPr>
        <p:spPr>
          <a:xfrm>
            <a:off x="6720840" y="1783080"/>
            <a:ext cx="1965960" cy="548640"/>
          </a:xfrm>
          <a:prstGeom prst="roundRect">
            <a:avLst>
              <a:gd name="adj" fmla="val 16666"/>
            </a:avLst>
          </a:prstGeom>
          <a:solidFill>
            <a:srgbClr val="EAF3FB"/>
          </a:solidFill>
          <a:ln>
            <a:noFill/>
          </a:ln>
        </p:spPr>
        <p:txBody>
          <a:bodyPr rtlCol="0" anchor="ctr" lIns="54864" tIns="54864" rIns="54864" bIns="54864" wrap="square">
            <a:noAutofit/>
          </a:bodyPr>
          <a:lstStyle/>
          <a:p>
            <a:pPr algn="ctr"/>
            <a:r>
              <a:rPr sz="1450" b="1" i="0" lang="vi-VN">
                <a:solidFill>
                  <a:srgbClr val="0B2545"/>
                </a:solidFill>
                <a:latin typeface="Arial"/>
                <a:ea typeface="Arial"/>
                <a:cs typeface="Arial"/>
              </a:rPr>
              <a:t>Khởi tạo</a:t>
            </a:r>
          </a:p>
        </p:txBody>
      </p:sp>
      <p:sp>
        <p:nvSpPr>
          <p:cNvPr id="33" name="Rounded Rectangle 32"/>
          <p:cNvSpPr/>
          <p:nvPr/>
        </p:nvSpPr>
        <p:spPr>
          <a:xfrm>
            <a:off x="9509760" y="1783080"/>
            <a:ext cx="1965960" cy="548640"/>
          </a:xfrm>
          <a:prstGeom prst="roundRect">
            <a:avLst>
              <a:gd name="adj" fmla="val 16666"/>
            </a:avLst>
          </a:prstGeom>
          <a:solidFill>
            <a:srgbClr val="EAF3FB"/>
          </a:solidFill>
          <a:ln>
            <a:noFill/>
          </a:ln>
        </p:spPr>
        <p:txBody>
          <a:bodyPr rtlCol="0" anchor="ctr" lIns="54864" tIns="54864" rIns="54864" bIns="54864" wrap="square">
            <a:noAutofit/>
          </a:bodyPr>
          <a:lstStyle/>
          <a:p>
            <a:pPr algn="ctr"/>
            <a:r>
              <a:rPr sz="1450" b="1" i="0" lang="vi-VN">
                <a:solidFill>
                  <a:srgbClr val="0B2545"/>
                </a:solidFill>
                <a:latin typeface="Arial"/>
                <a:ea typeface="Arial"/>
                <a:cs typeface="Arial"/>
              </a:rPr>
              <a:t>Sẵn sàng</a:t>
            </a:r>
          </a:p>
        </p:txBody>
      </p:sp>
      <p:sp>
        <p:nvSpPr>
          <p:cNvPr id="34" name="Rounded Rectangle 33"/>
          <p:cNvSpPr/>
          <p:nvPr/>
        </p:nvSpPr>
        <p:spPr>
          <a:xfrm>
            <a:off x="9509760" y="2971800"/>
            <a:ext cx="1965960" cy="548640"/>
          </a:xfrm>
          <a:prstGeom prst="roundRect">
            <a:avLst>
              <a:gd name="adj" fmla="val 16666"/>
            </a:avLst>
          </a:prstGeom>
          <a:solidFill>
            <a:srgbClr val="0A5FA8"/>
          </a:solidFill>
          <a:ln>
            <a:noFill/>
          </a:ln>
        </p:spPr>
        <p:txBody>
          <a:bodyPr rtlCol="0" anchor="ctr" lIns="54864" tIns="54864" rIns="54864" bIns="54864" wrap="square">
            <a:noAutofit/>
          </a:bodyPr>
          <a:lstStyle/>
          <a:p>
            <a:pPr algn="ctr"/>
            <a:r>
              <a:rPr sz="1450" b="1" i="0" lang="vi-VN">
                <a:solidFill>
                  <a:srgbClr val="FFFFFF"/>
                </a:solidFill>
                <a:latin typeface="Arial"/>
                <a:ea typeface="Arial"/>
                <a:cs typeface="Arial"/>
              </a:rPr>
              <a:t>Điều khiển</a:t>
            </a:r>
          </a:p>
        </p:txBody>
      </p:sp>
      <p:sp>
        <p:nvSpPr>
          <p:cNvPr id="35" name="Rounded Rectangle 34"/>
          <p:cNvSpPr/>
          <p:nvPr/>
        </p:nvSpPr>
        <p:spPr>
          <a:xfrm>
            <a:off x="6720840" y="2971800"/>
            <a:ext cx="1965960" cy="548640"/>
          </a:xfrm>
          <a:prstGeom prst="roundRect">
            <a:avLst>
              <a:gd name="adj" fmla="val 16666"/>
            </a:avLst>
          </a:prstGeom>
          <a:solidFill>
            <a:srgbClr val="FDECEC"/>
          </a:solidFill>
          <a:ln w="15875">
            <a:solidFill>
              <a:srgbClr val="C62828"/>
            </a:solidFill>
          </a:ln>
        </p:spPr>
        <p:txBody>
          <a:bodyPr rtlCol="0" anchor="ctr" lIns="54864" tIns="54864" rIns="54864" bIns="54864" wrap="square">
            <a:noAutofit/>
          </a:bodyPr>
          <a:lstStyle/>
          <a:p>
            <a:pPr algn="ctr"/>
            <a:r>
              <a:rPr sz="1450" b="1" i="0" lang="vi-VN">
                <a:solidFill>
                  <a:srgbClr val="C62828"/>
                </a:solidFill>
                <a:latin typeface="Arial"/>
                <a:ea typeface="Arial"/>
                <a:cs typeface="Arial"/>
              </a:rPr>
              <a:t>Dừng an toàn</a:t>
            </a:r>
          </a:p>
        </p:txBody>
      </p:sp>
      <p:grpSp>
        <p:nvGrpSpPr>
          <p:cNvPr id="36" name="Group 35"/>
          <p:cNvGrpSpPr/>
          <p:nvPr/>
        </p:nvGrpSpPr>
        <p:grpSpPr>
          <a:xfrm>
            <a:off x="7406640" y="2057400"/>
            <a:ext cx="4087368" cy="1508760"/>
            <a:chOff x="7406640" y="2057400"/>
            <a:chExt cx="4087368" cy="1508760"/>
          </a:xfrm>
        </p:grpSpPr>
        <p:cxnSp>
          <p:nvCxnSpPr>
            <p:cNvPr id="37" name="Connector 36"/>
            <p:cNvCxnSpPr/>
            <p:nvPr/>
          </p:nvCxnSpPr>
          <p:spPr>
            <a:xfrm>
              <a:off x="8686800" y="2057400"/>
              <a:ext cx="822960" cy="0"/>
            </a:xfrm>
            <a:prstGeom prst="line">
              <a:avLst/>
            </a:prstGeom>
            <a:ln w="22225">
              <a:solidFill>
                <a:srgbClr val="0B2545"/>
              </a:solidFill>
              <a:tailEnd type="triangle" w="med" len="med"/>
            </a:ln>
          </p:spPr>
        </p:cxnSp>
        <p:cxnSp>
          <p:nvCxnSpPr>
            <p:cNvPr id="38" name="Connector 37"/>
            <p:cNvCxnSpPr/>
            <p:nvPr/>
          </p:nvCxnSpPr>
          <p:spPr>
            <a:xfrm>
              <a:off x="10195560" y="2331720"/>
              <a:ext cx="0" cy="640080"/>
            </a:xfrm>
            <a:prstGeom prst="line">
              <a:avLst/>
            </a:prstGeom>
            <a:ln w="22225">
              <a:solidFill>
                <a:srgbClr val="0B2545"/>
              </a:solidFill>
              <a:tailEnd type="triangle" w="med" len="med"/>
            </a:ln>
          </p:spPr>
        </p:cxnSp>
        <p:sp>
          <p:nvSpPr>
            <p:cNvPr id="39" name="TextBox 38"/>
            <p:cNvSpPr txBox="1"/>
            <p:nvPr/>
          </p:nvSpPr>
          <p:spPr>
            <a:xfrm>
              <a:off x="9491472" y="2487168"/>
              <a:ext cx="685800" cy="274320"/>
            </a:xfrm>
            <a:prstGeom prst="rect">
              <a:avLst/>
            </a:prstGeom>
            <a:noFill/>
          </p:spPr>
          <p:txBody>
            <a:bodyPr wrap="square" lIns="0" tIns="0" rIns="0" bIns="0" anchor="t">
              <a:noAutofit/>
            </a:bodyPr>
            <a:lstStyle/>
            <a:p>
              <a:pPr algn="r"/>
              <a:r>
                <a:rPr sz="1150" b="1" i="0" lang="vi-VN">
                  <a:solidFill>
                    <a:srgbClr val="0B2545"/>
                  </a:solidFill>
                  <a:latin typeface="Arial"/>
                  <a:ea typeface="Arial"/>
                  <a:cs typeface="Arial"/>
                </a:rPr>
                <a:t>START</a:t>
              </a:r>
            </a:p>
          </p:txBody>
        </p:sp>
        <p:cxnSp>
          <p:nvCxnSpPr>
            <p:cNvPr id="40" name="Connector 39"/>
            <p:cNvCxnSpPr/>
            <p:nvPr/>
          </p:nvCxnSpPr>
          <p:spPr>
            <a:xfrm flipV="1">
              <a:off x="10744200" y="2331720"/>
              <a:ext cx="0" cy="640080"/>
            </a:xfrm>
            <a:prstGeom prst="line">
              <a:avLst/>
            </a:prstGeom>
            <a:ln w="22225">
              <a:solidFill>
                <a:srgbClr val="0B2545"/>
              </a:solidFill>
              <a:tailEnd type="triangle" w="med" len="med"/>
            </a:ln>
          </p:spPr>
        </p:cxnSp>
        <p:sp>
          <p:nvSpPr>
            <p:cNvPr id="41" name="TextBox 40"/>
            <p:cNvSpPr txBox="1"/>
            <p:nvPr/>
          </p:nvSpPr>
          <p:spPr>
            <a:xfrm>
              <a:off x="10808208" y="2487168"/>
              <a:ext cx="685800" cy="274320"/>
            </a:xfrm>
            <a:prstGeom prst="rect">
              <a:avLst/>
            </a:prstGeom>
            <a:noFill/>
          </p:spPr>
          <p:txBody>
            <a:bodyPr wrap="square" lIns="0" tIns="0" rIns="0" bIns="0" anchor="t">
              <a:noAutofit/>
            </a:bodyPr>
            <a:lstStyle/>
            <a:p>
              <a:pPr algn="l"/>
              <a:r>
                <a:rPr sz="1150" b="1" i="0" lang="vi-VN">
                  <a:solidFill>
                    <a:srgbClr val="0B2545"/>
                  </a:solidFill>
                  <a:latin typeface="Arial"/>
                  <a:ea typeface="Arial"/>
                  <a:cs typeface="Arial"/>
                </a:rPr>
                <a:t>STOP</a:t>
              </a:r>
            </a:p>
          </p:txBody>
        </p:sp>
        <p:cxnSp>
          <p:nvCxnSpPr>
            <p:cNvPr id="42" name="Connector 41"/>
            <p:cNvCxnSpPr/>
            <p:nvPr/>
          </p:nvCxnSpPr>
          <p:spPr>
            <a:xfrm flipH="1">
              <a:off x="8686800" y="3246120"/>
              <a:ext cx="822960" cy="0"/>
            </a:xfrm>
            <a:prstGeom prst="line">
              <a:avLst/>
            </a:prstGeom>
            <a:ln w="22225">
              <a:solidFill>
                <a:srgbClr val="C62828"/>
              </a:solidFill>
              <a:tailEnd type="triangle" w="med" len="med"/>
            </a:ln>
          </p:spPr>
        </p:cxnSp>
        <p:sp>
          <p:nvSpPr>
            <p:cNvPr id="43" name="TextBox 42"/>
            <p:cNvSpPr txBox="1"/>
            <p:nvPr/>
          </p:nvSpPr>
          <p:spPr>
            <a:xfrm>
              <a:off x="8705088" y="3291840"/>
              <a:ext cx="822960" cy="274320"/>
            </a:xfrm>
            <a:prstGeom prst="rect">
              <a:avLst/>
            </a:prstGeom>
            <a:noFill/>
          </p:spPr>
          <p:txBody>
            <a:bodyPr wrap="square" lIns="0" tIns="0" rIns="0" bIns="0" anchor="t">
              <a:noAutofit/>
            </a:bodyPr>
            <a:lstStyle/>
            <a:p>
              <a:pPr algn="ctr"/>
              <a:r>
                <a:rPr sz="1150" b="1" i="0" lang="vi-VN">
                  <a:solidFill>
                    <a:srgbClr val="C62828"/>
                  </a:solidFill>
                  <a:latin typeface="Arial"/>
                  <a:ea typeface="Arial"/>
                  <a:cs typeface="Arial"/>
                </a:rPr>
                <a:t>sự cố</a:t>
              </a:r>
            </a:p>
          </p:txBody>
        </p:sp>
        <p:cxnSp>
          <p:nvCxnSpPr>
            <p:cNvPr id="44" name="Connector 43"/>
            <p:cNvCxnSpPr/>
            <p:nvPr/>
          </p:nvCxnSpPr>
          <p:spPr>
            <a:xfrm flipV="1">
              <a:off x="8412480" y="2331720"/>
              <a:ext cx="1234440" cy="640080"/>
            </a:xfrm>
            <a:prstGeom prst="line">
              <a:avLst/>
            </a:prstGeom>
            <a:ln w="19050">
              <a:solidFill>
                <a:srgbClr val="1E7B34"/>
              </a:solidFill>
              <a:tailEnd type="triangle" w="med" len="med"/>
            </a:ln>
          </p:spPr>
        </p:cxnSp>
        <p:sp>
          <p:nvSpPr>
            <p:cNvPr id="45" name="TextBox 44"/>
            <p:cNvSpPr txBox="1"/>
            <p:nvPr/>
          </p:nvSpPr>
          <p:spPr>
            <a:xfrm>
              <a:off x="7406640" y="2395728"/>
              <a:ext cx="1463040" cy="274320"/>
            </a:xfrm>
            <a:prstGeom prst="rect">
              <a:avLst/>
            </a:prstGeom>
            <a:noFill/>
          </p:spPr>
          <p:txBody>
            <a:bodyPr wrap="square" lIns="0" tIns="0" rIns="0" bIns="0" anchor="t">
              <a:noAutofit/>
            </a:bodyPr>
            <a:lstStyle/>
            <a:p>
              <a:pPr algn="ctr"/>
              <a:r>
                <a:rPr sz="1150" b="1" i="0" lang="vi-VN">
                  <a:solidFill>
                    <a:srgbClr val="1E7B34"/>
                  </a:solidFill>
                  <a:latin typeface="Arial"/>
                  <a:ea typeface="Arial"/>
                  <a:cs typeface="Arial"/>
                </a:rPr>
                <a:t>đã dừng hẳn</a:t>
              </a:r>
            </a:p>
          </p:txBody>
        </p:sp>
      </p:grpSp>
      <p:sp>
        <p:nvSpPr>
          <p:cNvPr id="46" name="TextBox 45"/>
          <p:cNvSpPr txBox="1"/>
          <p:nvPr/>
        </p:nvSpPr>
        <p:spPr>
          <a:xfrm>
            <a:off x="6675120" y="3822192"/>
            <a:ext cx="4892040" cy="2194560"/>
          </a:xfrm>
          <a:prstGeom prst="rect">
            <a:avLst/>
          </a:prstGeom>
          <a:noFill/>
        </p:spPr>
        <p:txBody>
          <a:bodyPr wrap="square" lIns="0" tIns="0" rIns="0" bIns="0" anchor="t">
            <a:noAutofit/>
          </a:bodyPr>
          <a:lstStyle/>
          <a:p>
            <a:pPr algn="l" marL="201168" indent="-201168">
              <a:lnSpc>
                <a:spcPct val="100000"/>
              </a:lnSpc>
              <a:spcAft>
                <a:spcPts val="600"/>
              </a:spcAft>
              <a:buClr>
                <a:srgbClr val="C62828"/>
              </a:buClr>
              <a:buSzPct val="100000"/>
              <a:buFont typeface="Arial"/>
              <a:buChar char="•"/>
            </a:pPr>
            <a:r>
              <a:rPr sz="1450" b="0" i="0" lang="vi-VN">
                <a:solidFill>
                  <a:srgbClr val="1E2B3A"/>
                </a:solidFill>
                <a:latin typeface="Arial"/>
                <a:ea typeface="Arial"/>
                <a:cs typeface="Arial"/>
              </a:rPr>
              <a:t>Luồng giám sát an toàn (ưu tiên 118): dừng động cơ, ghi mã sự cố</a:t>
            </a:r>
          </a:p>
          <a:p>
            <a:pPr algn="l" marL="201168" indent="-201168">
              <a:lnSpc>
                <a:spcPct val="100000"/>
              </a:lnSpc>
              <a:spcAft>
                <a:spcPts val="600"/>
              </a:spcAft>
              <a:buClr>
                <a:srgbClr val="C62828"/>
              </a:buClr>
              <a:buSzPct val="100000"/>
              <a:buFont typeface="Arial"/>
              <a:buChar char="•"/>
            </a:pPr>
            <a:r>
              <a:rPr sz="1450" b="0" i="0" lang="vi-VN">
                <a:solidFill>
                  <a:srgbClr val="1E2B3A"/>
                </a:solidFill>
                <a:latin typeface="Arial"/>
                <a:ea typeface="Arial"/>
                <a:cs typeface="Arial"/>
              </a:rPr>
              <a:t>Mất IMU1 hoặc tuổi mẫu &gt; 6 ms → tắt điều khiển</a:t>
            </a:r>
          </a:p>
          <a:p>
            <a:pPr algn="l" marL="201168" indent="-201168">
              <a:lnSpc>
                <a:spcPct val="100000"/>
              </a:lnSpc>
              <a:spcAft>
                <a:spcPts val="600"/>
              </a:spcAft>
              <a:buClr>
                <a:srgbClr val="C62828"/>
              </a:buClr>
              <a:buSzPct val="100000"/>
              <a:buFont typeface="Arial"/>
              <a:buChar char="•"/>
            </a:pPr>
            <a:r>
              <a:rPr sz="1450" b="0" i="0" lang="vi-VN">
                <a:solidFill>
                  <a:srgbClr val="1E2B3A"/>
                </a:solidFill>
                <a:latin typeface="Arial"/>
                <a:ea typeface="Arial"/>
                <a:cs typeface="Arial"/>
              </a:rPr>
              <a:t>Mất IMU2 → tắt bù; luồng khôi phục (108): chờ yên → hiệu chuẩn → kiểm chứng</a:t>
            </a:r>
          </a:p>
          <a:p>
            <a:pPr algn="l" marL="201168" indent="-201168">
              <a:lnSpc>
                <a:spcPct val="100000"/>
              </a:lnSpc>
              <a:spcAft>
                <a:spcPts val="600"/>
              </a:spcAft>
              <a:buClr>
                <a:srgbClr val="C62828"/>
              </a:buClr>
              <a:buSzPct val="100000"/>
              <a:buFont typeface="Arial"/>
              <a:buChar char="•"/>
            </a:pPr>
            <a:r>
              <a:rPr sz="1450" b="0" i="0" lang="vi-VN">
                <a:solidFill>
                  <a:srgbClr val="1E2B3A"/>
                </a:solidFill>
                <a:latin typeface="Arial"/>
                <a:ea typeface="Arial"/>
                <a:cs typeface="Arial"/>
              </a:rPr>
              <a:t>RS485: 5 lỗi liên tiếp → báo sự cố</a:t>
            </a:r>
          </a:p>
        </p:txBody>
      </p:sp>
      <p:sp>
        <p:nvSpPr>
          <p:cNvPr id="64"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800"/>
                                        <p:tgtEl>
                                          <p:spTgt spid="10"/>
                                        </p:tgtEl>
                                      </p:cBhvr>
                                    </p:animEffect>
                                  </p:childTnLst>
                                </p:cTn>
                              </p:par>
                            </p:childTnLst>
                          </p:cTn>
                        </p:par>
                        <p:par>
                          <p:cTn id="13" fill="hold">
                            <p:stCondLst>
                              <p:cond delay="8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300"/>
                                        <p:tgtEl>
                                          <p:spTgt spid="24"/>
                                        </p:tgtEl>
                                      </p:cBhvr>
                                    </p:animEffect>
                                    <p:anim calcmode="lin" valueType="num">
                                      <p:cBhvr>
                                        <p:cTn id="17" dur="300" fill="hold"/>
                                        <p:tgtEl>
                                          <p:spTgt spid="24"/>
                                        </p:tgtEl>
                                        <p:attrNameLst>
                                          <p:attrName>ppt_w</p:attrName>
                                        </p:attrNameLst>
                                      </p:cBhvr>
                                      <p:tavLst>
                                        <p:tav tm="0">
                                          <p:val>
                                            <p:strVal val="0"/>
                                          </p:val>
                                        </p:tav>
                                        <p:tav tm="100000">
                                          <p:val>
                                            <p:strVal val="#ppt_w"/>
                                          </p:val>
                                        </p:tav>
                                      </p:tavLst>
                                    </p:anim>
                                    <p:anim calcmode="lin" valueType="num">
                                      <p:cBhvr>
                                        <p:cTn id="18" dur="300" fill="hold"/>
                                        <p:tgtEl>
                                          <p:spTgt spid="24"/>
                                        </p:tgtEl>
                                        <p:attrNameLst>
                                          <p:attrName>ppt_h</p:attrName>
                                        </p:attrNameLst>
                                      </p:cBhvr>
                                      <p:tavLst>
                                        <p:tav tm="0">
                                          <p:val>
                                            <p:strVal val="0"/>
                                          </p:val>
                                        </p:tav>
                                        <p:tav tm="100000">
                                          <p:val>
                                            <p:strVal val="#ppt_h"/>
                                          </p:val>
                                        </p:tav>
                                      </p:tavLst>
                                    </p:anim>
                                  </p:childTnLst>
                                </p:cTn>
                              </p:par>
                            </p:childTnLst>
                          </p:cTn>
                        </p:par>
                        <p:par>
                          <p:cTn id="19" fill="hold">
                            <p:stCondLst>
                              <p:cond delay="1100"/>
                            </p:stCondLst>
                            <p:childTnLst>
                              <p:par>
                                <p:cTn id="20" presetID="0" presetClass="path" presetSubtype="0" fill="hold" grpId="1" nodeType="afterEffect">
                                  <p:stCondLst>
                                    <p:cond delay="0"/>
                                  </p:stCondLst>
                                  <p:childTnLst>
                                    <p:animMotion origin="layout" path="M 0 0 L 0.3780 0 E" pathEditMode="relative" rAng="0" ptsTypes="AA">
                                      <p:cBhvr>
                                        <p:cTn id="21" dur="3600" fill="hold"/>
                                        <p:tgtEl>
                                          <p:spTgt spid="24"/>
                                        </p:tgtEl>
                                        <p:attrNameLst>
                                          <p:attrName>ppt_x</p:attrName>
                                          <p:attrName>ppt_y</p:attrName>
                                        </p:attrNameLst>
                                      </p:cBhvr>
                                      <p:rCtr x="0" y="0"/>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grpId="0" nodeType="withEffect">
                                  <p:stCondLst>
                                    <p:cond delay="20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5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350"/>
                                        <p:tgtEl>
                                          <p:spTgt spid="32"/>
                                        </p:tgtEl>
                                      </p:cBhvr>
                                    </p:animEffect>
                                    <p:anim calcmode="lin" valueType="num">
                                      <p:cBhvr>
                                        <p:cTn id="35" dur="350" fill="hold"/>
                                        <p:tgtEl>
                                          <p:spTgt spid="32"/>
                                        </p:tgtEl>
                                        <p:attrNameLst>
                                          <p:attrName>ppt_w</p:attrName>
                                        </p:attrNameLst>
                                      </p:cBhvr>
                                      <p:tavLst>
                                        <p:tav tm="0">
                                          <p:val>
                                            <p:strVal val="0"/>
                                          </p:val>
                                        </p:tav>
                                        <p:tav tm="100000">
                                          <p:val>
                                            <p:strVal val="#ppt_w"/>
                                          </p:val>
                                        </p:tav>
                                      </p:tavLst>
                                    </p:anim>
                                    <p:anim calcmode="lin" valueType="num">
                                      <p:cBhvr>
                                        <p:cTn id="36" dur="350" fill="hold"/>
                                        <p:tgtEl>
                                          <p:spTgt spid="32"/>
                                        </p:tgtEl>
                                        <p:attrNameLst>
                                          <p:attrName>ppt_h</p:attrName>
                                        </p:attrNameLst>
                                      </p:cBhvr>
                                      <p:tavLst>
                                        <p:tav tm="0">
                                          <p:val>
                                            <p:strVal val="0"/>
                                          </p:val>
                                        </p:tav>
                                        <p:tav tm="100000">
                                          <p:val>
                                            <p:strVal val="#ppt_h"/>
                                          </p:val>
                                        </p:tav>
                                      </p:tavLst>
                                    </p:anim>
                                  </p:childTnLst>
                                </p:cTn>
                              </p:par>
                            </p:childTnLst>
                          </p:cTn>
                        </p:par>
                        <p:par>
                          <p:cTn id="37" fill="hold">
                            <p:stCondLst>
                              <p:cond delay="350"/>
                            </p:stCondLst>
                            <p:childTnLst>
                              <p:par>
                                <p:cTn id="38" presetID="53" presetClass="entr" presetSubtype="16"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350"/>
                                        <p:tgtEl>
                                          <p:spTgt spid="33"/>
                                        </p:tgtEl>
                                      </p:cBhvr>
                                    </p:animEffect>
                                    <p:anim calcmode="lin" valueType="num">
                                      <p:cBhvr>
                                        <p:cTn id="41" dur="350" fill="hold"/>
                                        <p:tgtEl>
                                          <p:spTgt spid="33"/>
                                        </p:tgtEl>
                                        <p:attrNameLst>
                                          <p:attrName>ppt_w</p:attrName>
                                        </p:attrNameLst>
                                      </p:cBhvr>
                                      <p:tavLst>
                                        <p:tav tm="0">
                                          <p:val>
                                            <p:strVal val="0"/>
                                          </p:val>
                                        </p:tav>
                                        <p:tav tm="100000">
                                          <p:val>
                                            <p:strVal val="#ppt_w"/>
                                          </p:val>
                                        </p:tav>
                                      </p:tavLst>
                                    </p:anim>
                                    <p:anim calcmode="lin" valueType="num">
                                      <p:cBhvr>
                                        <p:cTn id="42" dur="350" fill="hold"/>
                                        <p:tgtEl>
                                          <p:spTgt spid="33"/>
                                        </p:tgtEl>
                                        <p:attrNameLst>
                                          <p:attrName>ppt_h</p:attrName>
                                        </p:attrNameLst>
                                      </p:cBhvr>
                                      <p:tavLst>
                                        <p:tav tm="0">
                                          <p:val>
                                            <p:strVal val="0"/>
                                          </p:val>
                                        </p:tav>
                                        <p:tav tm="100000">
                                          <p:val>
                                            <p:strVal val="#ppt_h"/>
                                          </p:val>
                                        </p:tav>
                                      </p:tavLst>
                                    </p:anim>
                                  </p:childTnLst>
                                </p:cTn>
                              </p:par>
                            </p:childTnLst>
                          </p:cTn>
                        </p:par>
                        <p:par>
                          <p:cTn id="43" fill="hold">
                            <p:stCondLst>
                              <p:cond delay="700"/>
                            </p:stCondLst>
                            <p:childTnLst>
                              <p:par>
                                <p:cTn id="44" presetID="53" presetClass="entr" presetSubtype="16" fill="hold" grpId="0" nodeType="after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350"/>
                                        <p:tgtEl>
                                          <p:spTgt spid="34"/>
                                        </p:tgtEl>
                                      </p:cBhvr>
                                    </p:animEffect>
                                    <p:anim calcmode="lin" valueType="num">
                                      <p:cBhvr>
                                        <p:cTn id="47" dur="350" fill="hold"/>
                                        <p:tgtEl>
                                          <p:spTgt spid="34"/>
                                        </p:tgtEl>
                                        <p:attrNameLst>
                                          <p:attrName>ppt_w</p:attrName>
                                        </p:attrNameLst>
                                      </p:cBhvr>
                                      <p:tavLst>
                                        <p:tav tm="0">
                                          <p:val>
                                            <p:strVal val="0"/>
                                          </p:val>
                                        </p:tav>
                                        <p:tav tm="100000">
                                          <p:val>
                                            <p:strVal val="#ppt_w"/>
                                          </p:val>
                                        </p:tav>
                                      </p:tavLst>
                                    </p:anim>
                                    <p:anim calcmode="lin" valueType="num">
                                      <p:cBhvr>
                                        <p:cTn id="48" dur="350" fill="hold"/>
                                        <p:tgtEl>
                                          <p:spTgt spid="34"/>
                                        </p:tgtEl>
                                        <p:attrNameLst>
                                          <p:attrName>ppt_h</p:attrName>
                                        </p:attrNameLst>
                                      </p:cBhvr>
                                      <p:tavLst>
                                        <p:tav tm="0">
                                          <p:val>
                                            <p:strVal val="0"/>
                                          </p:val>
                                        </p:tav>
                                        <p:tav tm="100000">
                                          <p:val>
                                            <p:strVal val="#ppt_h"/>
                                          </p:val>
                                        </p:tav>
                                      </p:tavLst>
                                    </p:anim>
                                  </p:childTnLst>
                                </p:cTn>
                              </p:par>
                            </p:childTnLst>
                          </p:cTn>
                        </p:par>
                        <p:par>
                          <p:cTn id="49" fill="hold">
                            <p:stCondLst>
                              <p:cond delay="1050"/>
                            </p:stCondLst>
                            <p:childTnLst>
                              <p:par>
                                <p:cTn id="50" presetID="53" presetClass="entr" presetSubtype="16" fill="hold" grpId="0" nodeType="after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350"/>
                                        <p:tgtEl>
                                          <p:spTgt spid="35"/>
                                        </p:tgtEl>
                                      </p:cBhvr>
                                    </p:animEffect>
                                    <p:anim calcmode="lin" valueType="num">
                                      <p:cBhvr>
                                        <p:cTn id="53" dur="350" fill="hold"/>
                                        <p:tgtEl>
                                          <p:spTgt spid="35"/>
                                        </p:tgtEl>
                                        <p:attrNameLst>
                                          <p:attrName>ppt_w</p:attrName>
                                        </p:attrNameLst>
                                      </p:cBhvr>
                                      <p:tavLst>
                                        <p:tav tm="0">
                                          <p:val>
                                            <p:strVal val="0"/>
                                          </p:val>
                                        </p:tav>
                                        <p:tav tm="100000">
                                          <p:val>
                                            <p:strVal val="#ppt_w"/>
                                          </p:val>
                                        </p:tav>
                                      </p:tavLst>
                                    </p:anim>
                                    <p:anim calcmode="lin" valueType="num">
                                      <p:cBhvr>
                                        <p:cTn id="54" dur="350" fill="hold"/>
                                        <p:tgtEl>
                                          <p:spTgt spid="35"/>
                                        </p:tgtEl>
                                        <p:attrNameLst>
                                          <p:attrName>ppt_h</p:attrName>
                                        </p:attrNameLst>
                                      </p:cBhvr>
                                      <p:tavLst>
                                        <p:tav tm="0">
                                          <p:val>
                                            <p:strVal val="0"/>
                                          </p:val>
                                        </p:tav>
                                        <p:tav tm="100000">
                                          <p:val>
                                            <p:strVal val="#ppt_h"/>
                                          </p:val>
                                        </p:tav>
                                      </p:tavLst>
                                    </p:anim>
                                  </p:childTnLst>
                                </p:cTn>
                              </p:par>
                            </p:childTnLst>
                          </p:cTn>
                        </p:par>
                        <p:par>
                          <p:cTn id="55" fill="hold">
                            <p:stCondLst>
                              <p:cond delay="1400"/>
                            </p:stCondLst>
                            <p:childTnLst>
                              <p:par>
                                <p:cTn id="56" presetID="10" presetClass="entr" presetSubtype="0" fill="hold" grpId="0" nodeType="after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500"/>
                                        <p:tgtEl>
                                          <p:spTgt spid="3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fade">
                                      <p:cBhvr>
                                        <p:cTn id="6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28" grpId="0" animBg="1"/>
      <p:bldP spid="32" grpId="0" animBg="1"/>
      <p:bldP spid="33" grpId="0" animBg="1"/>
      <p:bldP spid="34" grpId="0" animBg="1"/>
      <p:bldP spid="35" grpId="0" animBg="1"/>
      <p:bldP spid="46"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3 · PHẦN MỀM GIÁM SÁT TRÊN MÁY TÍNH</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Phần mềm giám sát và điều khiển trên máy tính</a:t>
            </a:r>
          </a:p>
        </p:txBody>
      </p:sp>
      <p:sp>
        <p:nvSpPr>
          <p:cNvPr id="4" name="Rounded Rectangle 3"/>
          <p:cNvSpPr/>
          <p:nvPr/>
        </p:nvSpPr>
        <p:spPr>
          <a:xfrm>
            <a:off x="466344" y="1225296"/>
            <a:ext cx="8165592" cy="4685843"/>
          </a:xfrm>
          <a:prstGeom prst="roundRect">
            <a:avLst>
              <a:gd name="adj" fmla="val 1170"/>
            </a:avLst>
          </a:prstGeom>
          <a:solidFill>
            <a:srgbClr val="0B2545"/>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5" name="Picture 4" descr="gui.jpg"/>
          <p:cNvPicPr>
            <a:picLocks noChangeAspect="1"/>
          </p:cNvPicPr>
          <p:nvPr/>
        </p:nvPicPr>
        <p:blipFill>
          <a:blip r:embed="rId2"/>
          <a:stretch>
            <a:fillRect/>
          </a:stretch>
        </p:blipFill>
        <p:spPr>
          <a:xfrm>
            <a:off x="502920" y="1261872"/>
            <a:ext cx="8092440" cy="4612691"/>
          </a:xfrm>
          <a:prstGeom prst="rect">
            <a:avLst/>
          </a:prstGeom>
        </p:spPr>
      </p:pic>
      <p:grpSp>
        <p:nvGrpSpPr>
          <p:cNvPr id="6" name="Group 5"/>
          <p:cNvGrpSpPr/>
          <p:nvPr/>
        </p:nvGrpSpPr>
        <p:grpSpPr>
          <a:xfrm>
            <a:off x="2136953" y="1152144"/>
            <a:ext cx="6377482" cy="2929632"/>
            <a:chOff x="2136953" y="1152144"/>
            <a:chExt cx="6377482" cy="2929632"/>
          </a:xfrm>
        </p:grpSpPr>
        <p:sp>
          <p:nvSpPr>
            <p:cNvPr id="7" name="Rounded Rectangle 6"/>
            <p:cNvSpPr/>
            <p:nvPr/>
          </p:nvSpPr>
          <p:spPr>
            <a:xfrm>
              <a:off x="2283257" y="1292997"/>
              <a:ext cx="1686962" cy="149399"/>
            </a:xfrm>
            <a:prstGeom prst="roundRect">
              <a:avLst>
                <a:gd name="adj" fmla="val 24482"/>
              </a:avLst>
            </a:prstGeom>
            <a:solidFill>
              <a:srgbClr val="E8710A">
                <a:alpha val="14000"/>
              </a:srgbClr>
            </a:solidFill>
            <a:ln w="34925">
              <a:solidFill>
                <a:srgbClr val="E8710A"/>
              </a:solidFill>
            </a:ln>
          </p:spPr>
          <p:txBody>
            <a:bodyPr rtlCol="0" anchor="ctr" lIns="54864" tIns="54864" rIns="54864" bIns="54864" wrap="square">
              <a:noAutofit/>
            </a:bodyPr>
            <a:lstStyle/>
            <a:p>
              <a:pPr algn="ctr"/>
            </a:p>
          </p:txBody>
        </p:sp>
        <p:sp>
          <p:nvSpPr>
            <p:cNvPr id="8" name="Rounded Rectangle 7"/>
            <p:cNvSpPr/>
            <p:nvPr/>
          </p:nvSpPr>
          <p:spPr>
            <a:xfrm>
              <a:off x="6796348" y="3895027"/>
              <a:ext cx="1718087" cy="186749"/>
            </a:xfrm>
            <a:prstGeom prst="roundRect">
              <a:avLst>
                <a:gd name="adj" fmla="val 19585"/>
              </a:avLst>
            </a:prstGeom>
            <a:solidFill>
              <a:srgbClr val="E8710A">
                <a:alpha val="14000"/>
              </a:srgbClr>
            </a:solidFill>
            <a:ln w="34925">
              <a:solidFill>
                <a:srgbClr val="E8710A"/>
              </a:solidFill>
            </a:ln>
          </p:spPr>
          <p:txBody>
            <a:bodyPr rtlCol="0" anchor="ctr" lIns="54864" tIns="54864" rIns="54864" bIns="54864" wrap="square">
              <a:noAutofit/>
            </a:bodyPr>
            <a:lstStyle/>
            <a:p>
              <a:pPr algn="ctr"/>
            </a:p>
          </p:txBody>
        </p:sp>
        <p:sp>
          <p:nvSpPr>
            <p:cNvPr id="9" name="Oval 8"/>
            <p:cNvSpPr/>
            <p:nvPr/>
          </p:nvSpPr>
          <p:spPr>
            <a:xfrm>
              <a:off x="2136953" y="1152144"/>
              <a:ext cx="310896" cy="310896"/>
            </a:xfrm>
            <a:prstGeom prst="ellipse">
              <a:avLst/>
            </a:prstGeom>
            <a:solidFill>
              <a:srgbClr val="E8710A"/>
            </a:solidFill>
            <a:ln w="19050">
              <a:solidFill>
                <a:srgbClr val="FFFFFF"/>
              </a:solidFill>
            </a:ln>
          </p:spPr>
          <p:txBody>
            <a:bodyPr rtlCol="0" anchor="ctr" lIns="0" tIns="0" rIns="0" bIns="0" wrap="square">
              <a:noAutofit/>
            </a:bodyPr>
            <a:lstStyle/>
            <a:p>
              <a:pPr algn="ctr"/>
              <a:r>
                <a:rPr sz="1250" b="1" i="0" lang="vi-VN">
                  <a:solidFill>
                    <a:srgbClr val="FFFFFF"/>
                  </a:solidFill>
                  <a:latin typeface="Arial"/>
                  <a:ea typeface="Arial"/>
                  <a:cs typeface="Arial"/>
                </a:rPr>
                <a:t>1</a:t>
              </a:r>
            </a:p>
          </p:txBody>
        </p:sp>
      </p:grpSp>
      <p:grpSp>
        <p:nvGrpSpPr>
          <p:cNvPr id="10" name="Group 9"/>
          <p:cNvGrpSpPr/>
          <p:nvPr/>
        </p:nvGrpSpPr>
        <p:grpSpPr>
          <a:xfrm>
            <a:off x="8796528" y="1261872"/>
            <a:ext cx="2907792" cy="850392"/>
            <a:chOff x="8796528" y="1261872"/>
            <a:chExt cx="2907792" cy="850392"/>
          </a:xfrm>
        </p:grpSpPr>
        <p:sp>
          <p:nvSpPr>
            <p:cNvPr id="11" name="Rounded Rectangle 10"/>
            <p:cNvSpPr/>
            <p:nvPr/>
          </p:nvSpPr>
          <p:spPr>
            <a:xfrm>
              <a:off x="8796528" y="1261872"/>
              <a:ext cx="2907792" cy="850392"/>
            </a:xfrm>
            <a:prstGeom prst="roundRect">
              <a:avLst>
                <a:gd name="adj" fmla="val 1075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12" name="Oval 11"/>
            <p:cNvSpPr/>
            <p:nvPr/>
          </p:nvSpPr>
          <p:spPr>
            <a:xfrm>
              <a:off x="8906256" y="1444752"/>
              <a:ext cx="365760" cy="365760"/>
            </a:xfrm>
            <a:prstGeom prst="ellipse">
              <a:avLst/>
            </a:prstGeom>
            <a:solidFill>
              <a:srgbClr val="E8710A"/>
            </a:solidFill>
            <a:ln>
              <a:noFill/>
            </a:ln>
          </p:spPr>
          <p:txBody>
            <a:bodyPr rtlCol="0" anchor="ctr" lIns="0" tIns="0" rIns="0" bIns="0" wrap="square">
              <a:noAutofit/>
            </a:bodyPr>
            <a:lstStyle/>
            <a:p>
              <a:pPr algn="ctr"/>
              <a:r>
                <a:rPr sz="1400" b="1" i="0" lang="vi-VN">
                  <a:solidFill>
                    <a:srgbClr val="FFFFFF"/>
                  </a:solidFill>
                  <a:latin typeface="Arial"/>
                  <a:ea typeface="Arial"/>
                  <a:cs typeface="Arial"/>
                </a:rPr>
                <a:t>1</a:t>
              </a:r>
            </a:p>
          </p:txBody>
        </p:sp>
        <p:sp>
          <p:nvSpPr>
            <p:cNvPr id="13" name="TextBox 12"/>
            <p:cNvSpPr txBox="1"/>
            <p:nvPr/>
          </p:nvSpPr>
          <p:spPr>
            <a:xfrm>
              <a:off x="9363456" y="1307592"/>
              <a:ext cx="2267712" cy="329184"/>
            </a:xfrm>
            <a:prstGeom prst="rect">
              <a:avLst/>
            </a:prstGeom>
            <a:noFill/>
          </p:spPr>
          <p:txBody>
            <a:bodyPr wrap="square" lIns="0" tIns="0" rIns="0" bIns="0" anchor="ctr">
              <a:noAutofit/>
            </a:bodyPr>
            <a:lstStyle/>
            <a:p>
              <a:pPr algn="l"/>
              <a:r>
                <a:rPr sz="1350" b="1" i="0" lang="vi-VN">
                  <a:solidFill>
                    <a:srgbClr val="0B2545"/>
                  </a:solidFill>
                  <a:latin typeface="Arial"/>
                  <a:ea typeface="Arial"/>
                  <a:cs typeface="Arial"/>
                </a:rPr>
                <a:t>Kết nối · START/STOP</a:t>
              </a:r>
            </a:p>
          </p:txBody>
        </p:sp>
        <p:sp>
          <p:nvSpPr>
            <p:cNvPr id="14" name="TextBox 13"/>
            <p:cNvSpPr txBox="1"/>
            <p:nvPr/>
          </p:nvSpPr>
          <p:spPr>
            <a:xfrm>
              <a:off x="9363456" y="1627632"/>
              <a:ext cx="2267712" cy="475488"/>
            </a:xfrm>
            <a:prstGeom prst="rect">
              <a:avLst/>
            </a:prstGeom>
            <a:noFill/>
          </p:spPr>
          <p:txBody>
            <a:bodyPr wrap="square" lIns="0" tIns="0" rIns="0" bIns="0" anchor="t">
              <a:noAutofit/>
            </a:bodyPr>
            <a:lstStyle/>
            <a:p>
              <a:pPr algn="l">
                <a:lnSpc>
                  <a:spcPct val="95000"/>
                </a:lnSpc>
              </a:pPr>
              <a:r>
                <a:rPr sz="1150" b="0" i="0" lang="vi-VN">
                  <a:solidFill>
                    <a:srgbClr val="1E2B3A"/>
                  </a:solidFill>
                  <a:latin typeface="Arial"/>
                  <a:ea typeface="Arial"/>
                  <a:cs typeface="Arial"/>
                </a:rPr>
                <a:t>Cổng nối tiếp, tốc độ baud; bắt đầu / dừng điều khiển</a:t>
              </a:r>
            </a:p>
          </p:txBody>
        </p:sp>
      </p:grpSp>
      <p:grpSp>
        <p:nvGrpSpPr>
          <p:cNvPr id="15" name="Group 14"/>
          <p:cNvGrpSpPr/>
          <p:nvPr/>
        </p:nvGrpSpPr>
        <p:grpSpPr>
          <a:xfrm>
            <a:off x="6618920" y="3947922"/>
            <a:ext cx="1920416" cy="1055147"/>
            <a:chOff x="6618920" y="3947922"/>
            <a:chExt cx="1920416" cy="1055147"/>
          </a:xfrm>
        </p:grpSpPr>
        <p:sp>
          <p:nvSpPr>
            <p:cNvPr id="16" name="Rounded Rectangle 15"/>
            <p:cNvSpPr/>
            <p:nvPr/>
          </p:nvSpPr>
          <p:spPr>
            <a:xfrm>
              <a:off x="6765224" y="4094226"/>
              <a:ext cx="1774112" cy="908843"/>
            </a:xfrm>
            <a:prstGeom prst="roundRect">
              <a:avLst>
                <a:gd name="adj" fmla="val 4024"/>
              </a:avLst>
            </a:prstGeom>
            <a:solidFill>
              <a:srgbClr val="E8710A">
                <a:alpha val="14000"/>
              </a:srgbClr>
            </a:solidFill>
            <a:ln w="34925">
              <a:solidFill>
                <a:srgbClr val="E8710A"/>
              </a:solidFill>
            </a:ln>
          </p:spPr>
          <p:txBody>
            <a:bodyPr rtlCol="0" anchor="ctr" lIns="54864" tIns="54864" rIns="54864" bIns="54864" wrap="square">
              <a:noAutofit/>
            </a:bodyPr>
            <a:lstStyle/>
            <a:p>
              <a:pPr algn="ctr"/>
            </a:p>
          </p:txBody>
        </p:sp>
        <p:sp>
          <p:nvSpPr>
            <p:cNvPr id="17" name="Oval 16"/>
            <p:cNvSpPr/>
            <p:nvPr/>
          </p:nvSpPr>
          <p:spPr>
            <a:xfrm>
              <a:off x="6618920" y="3947922"/>
              <a:ext cx="310896" cy="310896"/>
            </a:xfrm>
            <a:prstGeom prst="ellipse">
              <a:avLst/>
            </a:prstGeom>
            <a:solidFill>
              <a:srgbClr val="E8710A"/>
            </a:solidFill>
            <a:ln w="19050">
              <a:solidFill>
                <a:srgbClr val="FFFFFF"/>
              </a:solidFill>
            </a:ln>
          </p:spPr>
          <p:txBody>
            <a:bodyPr rtlCol="0" anchor="ctr" lIns="0" tIns="0" rIns="0" bIns="0" wrap="square">
              <a:noAutofit/>
            </a:bodyPr>
            <a:lstStyle/>
            <a:p>
              <a:pPr algn="ctr"/>
              <a:r>
                <a:rPr sz="1250" b="1" i="0" lang="vi-VN">
                  <a:solidFill>
                    <a:srgbClr val="FFFFFF"/>
                  </a:solidFill>
                  <a:latin typeface="Arial"/>
                  <a:ea typeface="Arial"/>
                  <a:cs typeface="Arial"/>
                </a:rPr>
                <a:t>2</a:t>
              </a:r>
            </a:p>
          </p:txBody>
        </p:sp>
      </p:grpSp>
      <p:grpSp>
        <p:nvGrpSpPr>
          <p:cNvPr id="18" name="Group 17"/>
          <p:cNvGrpSpPr/>
          <p:nvPr/>
        </p:nvGrpSpPr>
        <p:grpSpPr>
          <a:xfrm>
            <a:off x="8796528" y="2203704"/>
            <a:ext cx="2907792" cy="850392"/>
            <a:chOff x="8796528" y="2203704"/>
            <a:chExt cx="2907792" cy="850392"/>
          </a:xfrm>
        </p:grpSpPr>
        <p:sp>
          <p:nvSpPr>
            <p:cNvPr id="19" name="Rounded Rectangle 18"/>
            <p:cNvSpPr/>
            <p:nvPr/>
          </p:nvSpPr>
          <p:spPr>
            <a:xfrm>
              <a:off x="8796528" y="2203704"/>
              <a:ext cx="2907792" cy="850392"/>
            </a:xfrm>
            <a:prstGeom prst="roundRect">
              <a:avLst>
                <a:gd name="adj" fmla="val 1075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20" name="Oval 19"/>
            <p:cNvSpPr/>
            <p:nvPr/>
          </p:nvSpPr>
          <p:spPr>
            <a:xfrm>
              <a:off x="8906256" y="2386584"/>
              <a:ext cx="365760" cy="365760"/>
            </a:xfrm>
            <a:prstGeom prst="ellipse">
              <a:avLst/>
            </a:prstGeom>
            <a:solidFill>
              <a:srgbClr val="E8710A"/>
            </a:solidFill>
            <a:ln>
              <a:noFill/>
            </a:ln>
          </p:spPr>
          <p:txBody>
            <a:bodyPr rtlCol="0" anchor="ctr" lIns="0" tIns="0" rIns="0" bIns="0" wrap="square">
              <a:noAutofit/>
            </a:bodyPr>
            <a:lstStyle/>
            <a:p>
              <a:pPr algn="ctr"/>
              <a:r>
                <a:rPr sz="1400" b="1" i="0" lang="vi-VN">
                  <a:solidFill>
                    <a:srgbClr val="FFFFFF"/>
                  </a:solidFill>
                  <a:latin typeface="Arial"/>
                  <a:ea typeface="Arial"/>
                  <a:cs typeface="Arial"/>
                </a:rPr>
                <a:t>2</a:t>
              </a:r>
            </a:p>
          </p:txBody>
        </p:sp>
        <p:sp>
          <p:nvSpPr>
            <p:cNvPr id="21" name="TextBox 20"/>
            <p:cNvSpPr txBox="1"/>
            <p:nvPr/>
          </p:nvSpPr>
          <p:spPr>
            <a:xfrm>
              <a:off x="9363456" y="2249424"/>
              <a:ext cx="2267712" cy="329184"/>
            </a:xfrm>
            <a:prstGeom prst="rect">
              <a:avLst/>
            </a:prstGeom>
            <a:noFill/>
          </p:spPr>
          <p:txBody>
            <a:bodyPr wrap="square" lIns="0" tIns="0" rIns="0" bIns="0" anchor="ctr">
              <a:noAutofit/>
            </a:bodyPr>
            <a:lstStyle/>
            <a:p>
              <a:pPr algn="l"/>
              <a:r>
                <a:rPr sz="1350" b="1" i="0" lang="vi-VN">
                  <a:solidFill>
                    <a:srgbClr val="0B2545"/>
                  </a:solidFill>
                  <a:latin typeface="Arial"/>
                  <a:ea typeface="Arial"/>
                  <a:cs typeface="Arial"/>
                </a:rPr>
                <a:t>Điều khiển góc, tốc độ</a:t>
              </a:r>
            </a:p>
          </p:txBody>
        </p:sp>
        <p:sp>
          <p:nvSpPr>
            <p:cNvPr id="22" name="TextBox 21"/>
            <p:cNvSpPr txBox="1"/>
            <p:nvPr/>
          </p:nvSpPr>
          <p:spPr>
            <a:xfrm>
              <a:off x="9363456" y="2569464"/>
              <a:ext cx="2267712" cy="475488"/>
            </a:xfrm>
            <a:prstGeom prst="rect">
              <a:avLst/>
            </a:prstGeom>
            <a:noFill/>
          </p:spPr>
          <p:txBody>
            <a:bodyPr wrap="square" lIns="0" tIns="0" rIns="0" bIns="0" anchor="t">
              <a:noAutofit/>
            </a:bodyPr>
            <a:lstStyle/>
            <a:p>
              <a:pPr algn="l">
                <a:lnSpc>
                  <a:spcPct val="95000"/>
                </a:lnSpc>
              </a:pPr>
              <a:r>
                <a:rPr sz="1150" b="0" i="0" lang="vi-VN">
                  <a:solidFill>
                    <a:srgbClr val="1E2B3A"/>
                  </a:solidFill>
                  <a:latin typeface="Arial"/>
                  <a:ea typeface="Arial"/>
                  <a:cs typeface="Arial"/>
                </a:rPr>
                <a:t>Đặt góc / tốc độ từng trục; chỉnh nhanh ±1°, ±10°, về 0°</a:t>
              </a:r>
            </a:p>
          </p:txBody>
        </p:sp>
      </p:grpSp>
      <p:grpSp>
        <p:nvGrpSpPr>
          <p:cNvPr id="23" name="Group 22"/>
          <p:cNvGrpSpPr/>
          <p:nvPr/>
        </p:nvGrpSpPr>
        <p:grpSpPr>
          <a:xfrm>
            <a:off x="1140960" y="1358341"/>
            <a:ext cx="2555361" cy="4254773"/>
            <a:chOff x="1140960" y="1358341"/>
            <a:chExt cx="2555361" cy="4254773"/>
          </a:xfrm>
        </p:grpSpPr>
        <p:sp>
          <p:nvSpPr>
            <p:cNvPr id="24" name="Rounded Rectangle 23"/>
            <p:cNvSpPr/>
            <p:nvPr/>
          </p:nvSpPr>
          <p:spPr>
            <a:xfrm>
              <a:off x="1287264" y="1504645"/>
              <a:ext cx="2409057" cy="286348"/>
            </a:xfrm>
            <a:prstGeom prst="roundRect">
              <a:avLst>
                <a:gd name="adj" fmla="val 12773"/>
              </a:avLst>
            </a:prstGeom>
            <a:solidFill>
              <a:srgbClr val="E8710A">
                <a:alpha val="14000"/>
              </a:srgbClr>
            </a:solidFill>
            <a:ln w="34925">
              <a:solidFill>
                <a:srgbClr val="E8710A"/>
              </a:solidFill>
            </a:ln>
          </p:spPr>
          <p:txBody>
            <a:bodyPr rtlCol="0" anchor="ctr" lIns="54864" tIns="54864" rIns="54864" bIns="54864" wrap="square">
              <a:noAutofit/>
            </a:bodyPr>
            <a:lstStyle/>
            <a:p>
              <a:pPr algn="ctr"/>
            </a:p>
          </p:txBody>
        </p:sp>
        <p:sp>
          <p:nvSpPr>
            <p:cNvPr id="25" name="Rounded Rectangle 24"/>
            <p:cNvSpPr/>
            <p:nvPr/>
          </p:nvSpPr>
          <p:spPr>
            <a:xfrm>
              <a:off x="1287264" y="4442823"/>
              <a:ext cx="2377932" cy="1170291"/>
            </a:xfrm>
            <a:prstGeom prst="roundRect">
              <a:avLst>
                <a:gd name="adj" fmla="val 3125"/>
              </a:avLst>
            </a:prstGeom>
            <a:solidFill>
              <a:srgbClr val="E8710A">
                <a:alpha val="14000"/>
              </a:srgbClr>
            </a:solidFill>
            <a:ln w="34925">
              <a:solidFill>
                <a:srgbClr val="E8710A"/>
              </a:solidFill>
            </a:ln>
          </p:spPr>
          <p:txBody>
            <a:bodyPr rtlCol="0" anchor="ctr" lIns="54864" tIns="54864" rIns="54864" bIns="54864" wrap="square">
              <a:noAutofit/>
            </a:bodyPr>
            <a:lstStyle/>
            <a:p>
              <a:pPr algn="ctr"/>
            </a:p>
          </p:txBody>
        </p:sp>
        <p:sp>
          <p:nvSpPr>
            <p:cNvPr id="26" name="Oval 25"/>
            <p:cNvSpPr/>
            <p:nvPr/>
          </p:nvSpPr>
          <p:spPr>
            <a:xfrm>
              <a:off x="1140960" y="1358341"/>
              <a:ext cx="310896" cy="310896"/>
            </a:xfrm>
            <a:prstGeom prst="ellipse">
              <a:avLst/>
            </a:prstGeom>
            <a:solidFill>
              <a:srgbClr val="E8710A"/>
            </a:solidFill>
            <a:ln w="19050">
              <a:solidFill>
                <a:srgbClr val="FFFFFF"/>
              </a:solidFill>
            </a:ln>
          </p:spPr>
          <p:txBody>
            <a:bodyPr rtlCol="0" anchor="ctr" lIns="0" tIns="0" rIns="0" bIns="0" wrap="square">
              <a:noAutofit/>
            </a:bodyPr>
            <a:lstStyle/>
            <a:p>
              <a:pPr algn="ctr"/>
              <a:r>
                <a:rPr sz="1250" b="1" i="0" lang="vi-VN">
                  <a:solidFill>
                    <a:srgbClr val="FFFFFF"/>
                  </a:solidFill>
                  <a:latin typeface="Arial"/>
                  <a:ea typeface="Arial"/>
                  <a:cs typeface="Arial"/>
                </a:rPr>
                <a:t>3</a:t>
              </a:r>
            </a:p>
          </p:txBody>
        </p:sp>
      </p:grpSp>
      <p:grpSp>
        <p:nvGrpSpPr>
          <p:cNvPr id="27" name="Group 26"/>
          <p:cNvGrpSpPr/>
          <p:nvPr/>
        </p:nvGrpSpPr>
        <p:grpSpPr>
          <a:xfrm>
            <a:off x="8796528" y="3145536"/>
            <a:ext cx="2907792" cy="850392"/>
            <a:chOff x="8796528" y="3145536"/>
            <a:chExt cx="2907792" cy="850392"/>
          </a:xfrm>
        </p:grpSpPr>
        <p:sp>
          <p:nvSpPr>
            <p:cNvPr id="28" name="Rounded Rectangle 27"/>
            <p:cNvSpPr/>
            <p:nvPr/>
          </p:nvSpPr>
          <p:spPr>
            <a:xfrm>
              <a:off x="8796528" y="3145536"/>
              <a:ext cx="2907792" cy="850392"/>
            </a:xfrm>
            <a:prstGeom prst="roundRect">
              <a:avLst>
                <a:gd name="adj" fmla="val 1075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29" name="Oval 28"/>
            <p:cNvSpPr/>
            <p:nvPr/>
          </p:nvSpPr>
          <p:spPr>
            <a:xfrm>
              <a:off x="8906256" y="3328416"/>
              <a:ext cx="365760" cy="365760"/>
            </a:xfrm>
            <a:prstGeom prst="ellipse">
              <a:avLst/>
            </a:prstGeom>
            <a:solidFill>
              <a:srgbClr val="E8710A"/>
            </a:solidFill>
            <a:ln>
              <a:noFill/>
            </a:ln>
          </p:spPr>
          <p:txBody>
            <a:bodyPr rtlCol="0" anchor="ctr" lIns="0" tIns="0" rIns="0" bIns="0" wrap="square">
              <a:noAutofit/>
            </a:bodyPr>
            <a:lstStyle/>
            <a:p>
              <a:pPr algn="ctr"/>
              <a:r>
                <a:rPr sz="1400" b="1" i="0" lang="vi-VN">
                  <a:solidFill>
                    <a:srgbClr val="FFFFFF"/>
                  </a:solidFill>
                  <a:latin typeface="Arial"/>
                  <a:ea typeface="Arial"/>
                  <a:cs typeface="Arial"/>
                </a:rPr>
                <a:t>3</a:t>
              </a:r>
            </a:p>
          </p:txBody>
        </p:sp>
        <p:sp>
          <p:nvSpPr>
            <p:cNvPr id="30" name="TextBox 29"/>
            <p:cNvSpPr txBox="1"/>
            <p:nvPr/>
          </p:nvSpPr>
          <p:spPr>
            <a:xfrm>
              <a:off x="9363456" y="3191256"/>
              <a:ext cx="2267712" cy="329184"/>
            </a:xfrm>
            <a:prstGeom prst="rect">
              <a:avLst/>
            </a:prstGeom>
            <a:noFill/>
          </p:spPr>
          <p:txBody>
            <a:bodyPr wrap="square" lIns="0" tIns="0" rIns="0" bIns="0" anchor="ctr">
              <a:noAutofit/>
            </a:bodyPr>
            <a:lstStyle/>
            <a:p>
              <a:pPr algn="l"/>
              <a:r>
                <a:rPr sz="1350" b="1" i="0" lang="vi-VN">
                  <a:solidFill>
                    <a:srgbClr val="0B2545"/>
                  </a:solidFill>
                  <a:latin typeface="Arial"/>
                  <a:ea typeface="Arial"/>
                  <a:cs typeface="Arial"/>
                </a:rPr>
                <a:t>Theo dõi Yaw/Pitch, IMU</a:t>
              </a:r>
            </a:p>
          </p:txBody>
        </p:sp>
        <p:sp>
          <p:nvSpPr>
            <p:cNvPr id="31" name="TextBox 30"/>
            <p:cNvSpPr txBox="1"/>
            <p:nvPr/>
          </p:nvSpPr>
          <p:spPr>
            <a:xfrm>
              <a:off x="9363456" y="3511296"/>
              <a:ext cx="2267712" cy="475488"/>
            </a:xfrm>
            <a:prstGeom prst="rect">
              <a:avLst/>
            </a:prstGeom>
            <a:noFill/>
          </p:spPr>
          <p:txBody>
            <a:bodyPr wrap="square" lIns="0" tIns="0" rIns="0" bIns="0" anchor="t">
              <a:noAutofit/>
            </a:bodyPr>
            <a:lstStyle/>
            <a:p>
              <a:pPr algn="l">
                <a:lnSpc>
                  <a:spcPct val="95000"/>
                </a:lnSpc>
              </a:pPr>
              <a:r>
                <a:rPr sz="1150" b="0" i="0" lang="vi-VN">
                  <a:solidFill>
                    <a:srgbClr val="1E2B3A"/>
                  </a:solidFill>
                  <a:latin typeface="Arial"/>
                  <a:ea typeface="Arial"/>
                  <a:cs typeface="Arial"/>
                </a:rPr>
                <a:t>Sai số từng trục, mô hình 3D, chỉ báo tư thế từ IMU</a:t>
              </a:r>
            </a:p>
          </p:txBody>
        </p:sp>
      </p:grpSp>
      <p:grpSp>
        <p:nvGrpSpPr>
          <p:cNvPr id="32" name="Group 31"/>
          <p:cNvGrpSpPr/>
          <p:nvPr/>
        </p:nvGrpSpPr>
        <p:grpSpPr>
          <a:xfrm>
            <a:off x="6618920" y="1682039"/>
            <a:ext cx="1932866" cy="1777242"/>
            <a:chOff x="6618920" y="1682039"/>
            <a:chExt cx="1932866" cy="1777242"/>
          </a:xfrm>
        </p:grpSpPr>
        <p:sp>
          <p:nvSpPr>
            <p:cNvPr id="33" name="Rounded Rectangle 32"/>
            <p:cNvSpPr/>
            <p:nvPr/>
          </p:nvSpPr>
          <p:spPr>
            <a:xfrm>
              <a:off x="6765224" y="1828343"/>
              <a:ext cx="1786562" cy="1630938"/>
            </a:xfrm>
            <a:prstGeom prst="roundRect">
              <a:avLst>
                <a:gd name="adj" fmla="val 2242"/>
              </a:avLst>
            </a:prstGeom>
            <a:solidFill>
              <a:srgbClr val="E8710A">
                <a:alpha val="14000"/>
              </a:srgbClr>
            </a:solidFill>
            <a:ln w="34925">
              <a:solidFill>
                <a:srgbClr val="E8710A"/>
              </a:solidFill>
            </a:ln>
          </p:spPr>
          <p:txBody>
            <a:bodyPr rtlCol="0" anchor="ctr" lIns="54864" tIns="54864" rIns="54864" bIns="54864" wrap="square">
              <a:noAutofit/>
            </a:bodyPr>
            <a:lstStyle/>
            <a:p>
              <a:pPr algn="ctr"/>
            </a:p>
          </p:txBody>
        </p:sp>
        <p:sp>
          <p:nvSpPr>
            <p:cNvPr id="34" name="Oval 33"/>
            <p:cNvSpPr/>
            <p:nvPr/>
          </p:nvSpPr>
          <p:spPr>
            <a:xfrm>
              <a:off x="6618920" y="1682039"/>
              <a:ext cx="310896" cy="310896"/>
            </a:xfrm>
            <a:prstGeom prst="ellipse">
              <a:avLst/>
            </a:prstGeom>
            <a:solidFill>
              <a:srgbClr val="E8710A"/>
            </a:solidFill>
            <a:ln w="19050">
              <a:solidFill>
                <a:srgbClr val="FFFFFF"/>
              </a:solidFill>
            </a:ln>
          </p:spPr>
          <p:txBody>
            <a:bodyPr rtlCol="0" anchor="ctr" lIns="0" tIns="0" rIns="0" bIns="0" wrap="square">
              <a:noAutofit/>
            </a:bodyPr>
            <a:lstStyle/>
            <a:p>
              <a:pPr algn="ctr"/>
              <a:r>
                <a:rPr sz="1250" b="1" i="0" lang="vi-VN">
                  <a:solidFill>
                    <a:srgbClr val="FFFFFF"/>
                  </a:solidFill>
                  <a:latin typeface="Arial"/>
                  <a:ea typeface="Arial"/>
                  <a:cs typeface="Arial"/>
                </a:rPr>
                <a:t>4</a:t>
              </a:r>
            </a:p>
          </p:txBody>
        </p:sp>
      </p:grpSp>
      <p:grpSp>
        <p:nvGrpSpPr>
          <p:cNvPr id="35" name="Group 34"/>
          <p:cNvGrpSpPr/>
          <p:nvPr/>
        </p:nvGrpSpPr>
        <p:grpSpPr>
          <a:xfrm>
            <a:off x="8796528" y="4087368"/>
            <a:ext cx="2907792" cy="850392"/>
            <a:chOff x="8796528" y="4087368"/>
            <a:chExt cx="2907792" cy="850392"/>
          </a:xfrm>
        </p:grpSpPr>
        <p:sp>
          <p:nvSpPr>
            <p:cNvPr id="36" name="Rounded Rectangle 35"/>
            <p:cNvSpPr/>
            <p:nvPr/>
          </p:nvSpPr>
          <p:spPr>
            <a:xfrm>
              <a:off x="8796528" y="4087368"/>
              <a:ext cx="2907792" cy="850392"/>
            </a:xfrm>
            <a:prstGeom prst="roundRect">
              <a:avLst>
                <a:gd name="adj" fmla="val 1075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37" name="Oval 36"/>
            <p:cNvSpPr/>
            <p:nvPr/>
          </p:nvSpPr>
          <p:spPr>
            <a:xfrm>
              <a:off x="8906256" y="4270248"/>
              <a:ext cx="365760" cy="365760"/>
            </a:xfrm>
            <a:prstGeom prst="ellipse">
              <a:avLst/>
            </a:prstGeom>
            <a:solidFill>
              <a:srgbClr val="E8710A"/>
            </a:solidFill>
            <a:ln>
              <a:noFill/>
            </a:ln>
          </p:spPr>
          <p:txBody>
            <a:bodyPr rtlCol="0" anchor="ctr" lIns="0" tIns="0" rIns="0" bIns="0" wrap="square">
              <a:noAutofit/>
            </a:bodyPr>
            <a:lstStyle/>
            <a:p>
              <a:pPr algn="ctr"/>
              <a:r>
                <a:rPr sz="1400" b="1" i="0" lang="vi-VN">
                  <a:solidFill>
                    <a:srgbClr val="FFFFFF"/>
                  </a:solidFill>
                  <a:latin typeface="Arial"/>
                  <a:ea typeface="Arial"/>
                  <a:cs typeface="Arial"/>
                </a:rPr>
                <a:t>4</a:t>
              </a:r>
            </a:p>
          </p:txBody>
        </p:sp>
        <p:sp>
          <p:nvSpPr>
            <p:cNvPr id="38" name="TextBox 37"/>
            <p:cNvSpPr txBox="1"/>
            <p:nvPr/>
          </p:nvSpPr>
          <p:spPr>
            <a:xfrm>
              <a:off x="9363456" y="4133088"/>
              <a:ext cx="2267712" cy="329184"/>
            </a:xfrm>
            <a:prstGeom prst="rect">
              <a:avLst/>
            </a:prstGeom>
            <a:noFill/>
          </p:spPr>
          <p:txBody>
            <a:bodyPr wrap="square" lIns="0" tIns="0" rIns="0" bIns="0" anchor="ctr">
              <a:noAutofit/>
            </a:bodyPr>
            <a:lstStyle/>
            <a:p>
              <a:pPr algn="l"/>
              <a:r>
                <a:rPr sz="1350" b="1" i="0" lang="vi-VN">
                  <a:solidFill>
                    <a:srgbClr val="0B2545"/>
                  </a:solidFill>
                  <a:latin typeface="Arial"/>
                  <a:ea typeface="Arial"/>
                  <a:cs typeface="Arial"/>
                </a:rPr>
                <a:t>Động cơ · RS485</a:t>
              </a:r>
            </a:p>
          </p:txBody>
        </p:sp>
        <p:sp>
          <p:nvSpPr>
            <p:cNvPr id="39" name="TextBox 38"/>
            <p:cNvSpPr txBox="1"/>
            <p:nvPr/>
          </p:nvSpPr>
          <p:spPr>
            <a:xfrm>
              <a:off x="9363456" y="4453128"/>
              <a:ext cx="2267712" cy="475488"/>
            </a:xfrm>
            <a:prstGeom prst="rect">
              <a:avLst/>
            </a:prstGeom>
            <a:noFill/>
          </p:spPr>
          <p:txBody>
            <a:bodyPr wrap="square" lIns="0" tIns="0" rIns="0" bIns="0" anchor="t">
              <a:noAutofit/>
            </a:bodyPr>
            <a:lstStyle/>
            <a:p>
              <a:pPr algn="l">
                <a:lnSpc>
                  <a:spcPct val="95000"/>
                </a:lnSpc>
              </a:pPr>
              <a:r>
                <a:rPr sz="1150" b="0" i="0" lang="vi-VN">
                  <a:solidFill>
                    <a:srgbClr val="1E2B3A"/>
                  </a:solidFill>
                  <a:latin typeface="Arial"/>
                  <a:ea typeface="Arial"/>
                  <a:cs typeface="Arial"/>
                </a:rPr>
                <a:t>Dòng, tốc độ, nhiệt độ; tỉ lệ RS485; nhịp 500 / 100 Hz</a:t>
              </a:r>
            </a:p>
          </p:txBody>
        </p:sp>
      </p:grpSp>
      <p:grpSp>
        <p:nvGrpSpPr>
          <p:cNvPr id="40" name="Group 39"/>
          <p:cNvGrpSpPr/>
          <p:nvPr/>
        </p:nvGrpSpPr>
        <p:grpSpPr>
          <a:xfrm>
            <a:off x="1274814" y="1682039"/>
            <a:ext cx="7301871" cy="4142724"/>
            <a:chOff x="1274814" y="1682039"/>
            <a:chExt cx="7301871" cy="4142724"/>
          </a:xfrm>
        </p:grpSpPr>
        <p:sp>
          <p:nvSpPr>
            <p:cNvPr id="41" name="Rounded Rectangle 40"/>
            <p:cNvSpPr/>
            <p:nvPr/>
          </p:nvSpPr>
          <p:spPr>
            <a:xfrm>
              <a:off x="3714996" y="1828343"/>
              <a:ext cx="3006653" cy="3268101"/>
            </a:xfrm>
            <a:prstGeom prst="roundRect">
              <a:avLst>
                <a:gd name="adj" fmla="val 1216"/>
              </a:avLst>
            </a:prstGeom>
            <a:solidFill>
              <a:srgbClr val="E8710A">
                <a:alpha val="14000"/>
              </a:srgbClr>
            </a:solidFill>
            <a:ln w="34925">
              <a:solidFill>
                <a:srgbClr val="E8710A"/>
              </a:solidFill>
            </a:ln>
          </p:spPr>
          <p:txBody>
            <a:bodyPr rtlCol="0" anchor="ctr" lIns="54864" tIns="54864" rIns="54864" bIns="54864" wrap="square">
              <a:noAutofit/>
            </a:bodyPr>
            <a:lstStyle/>
            <a:p>
              <a:pPr algn="ctr"/>
            </a:p>
          </p:txBody>
        </p:sp>
        <p:sp>
          <p:nvSpPr>
            <p:cNvPr id="42" name="Rounded Rectangle 41"/>
            <p:cNvSpPr/>
            <p:nvPr/>
          </p:nvSpPr>
          <p:spPr>
            <a:xfrm>
              <a:off x="1274814" y="5662914"/>
              <a:ext cx="7301871" cy="161849"/>
            </a:xfrm>
            <a:prstGeom prst="roundRect">
              <a:avLst>
                <a:gd name="adj" fmla="val 22598"/>
              </a:avLst>
            </a:prstGeom>
            <a:solidFill>
              <a:srgbClr val="E8710A">
                <a:alpha val="14000"/>
              </a:srgbClr>
            </a:solidFill>
            <a:ln w="34925">
              <a:solidFill>
                <a:srgbClr val="E8710A"/>
              </a:solidFill>
            </a:ln>
          </p:spPr>
          <p:txBody>
            <a:bodyPr rtlCol="0" anchor="ctr" lIns="54864" tIns="54864" rIns="54864" bIns="54864" wrap="square">
              <a:noAutofit/>
            </a:bodyPr>
            <a:lstStyle/>
            <a:p>
              <a:pPr algn="ctr"/>
            </a:p>
          </p:txBody>
        </p:sp>
        <p:sp>
          <p:nvSpPr>
            <p:cNvPr id="43" name="Oval 42"/>
            <p:cNvSpPr/>
            <p:nvPr/>
          </p:nvSpPr>
          <p:spPr>
            <a:xfrm>
              <a:off x="3568692" y="1682039"/>
              <a:ext cx="310896" cy="310896"/>
            </a:xfrm>
            <a:prstGeom prst="ellipse">
              <a:avLst/>
            </a:prstGeom>
            <a:solidFill>
              <a:srgbClr val="E8710A"/>
            </a:solidFill>
            <a:ln w="19050">
              <a:solidFill>
                <a:srgbClr val="FFFFFF"/>
              </a:solidFill>
            </a:ln>
          </p:spPr>
          <p:txBody>
            <a:bodyPr rtlCol="0" anchor="ctr" lIns="0" tIns="0" rIns="0" bIns="0" wrap="square">
              <a:noAutofit/>
            </a:bodyPr>
            <a:lstStyle/>
            <a:p>
              <a:pPr algn="ctr"/>
              <a:r>
                <a:rPr sz="1250" b="1" i="0" lang="vi-VN">
                  <a:solidFill>
                    <a:srgbClr val="FFFFFF"/>
                  </a:solidFill>
                  <a:latin typeface="Arial"/>
                  <a:ea typeface="Arial"/>
                  <a:cs typeface="Arial"/>
                </a:rPr>
                <a:t>5</a:t>
              </a:r>
            </a:p>
          </p:txBody>
        </p:sp>
      </p:grpSp>
      <p:grpSp>
        <p:nvGrpSpPr>
          <p:cNvPr id="44" name="Group 43"/>
          <p:cNvGrpSpPr/>
          <p:nvPr/>
        </p:nvGrpSpPr>
        <p:grpSpPr>
          <a:xfrm>
            <a:off x="8796528" y="5029200"/>
            <a:ext cx="2907792" cy="850392"/>
            <a:chOff x="8796528" y="5029200"/>
            <a:chExt cx="2907792" cy="850392"/>
          </a:xfrm>
        </p:grpSpPr>
        <p:sp>
          <p:nvSpPr>
            <p:cNvPr id="45" name="Rounded Rectangle 44"/>
            <p:cNvSpPr/>
            <p:nvPr/>
          </p:nvSpPr>
          <p:spPr>
            <a:xfrm>
              <a:off x="8796528" y="5029200"/>
              <a:ext cx="2907792" cy="850392"/>
            </a:xfrm>
            <a:prstGeom prst="roundRect">
              <a:avLst>
                <a:gd name="adj" fmla="val 10752"/>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6" name="Oval 45"/>
            <p:cNvSpPr/>
            <p:nvPr/>
          </p:nvSpPr>
          <p:spPr>
            <a:xfrm>
              <a:off x="8906256" y="5212080"/>
              <a:ext cx="365760" cy="365760"/>
            </a:xfrm>
            <a:prstGeom prst="ellipse">
              <a:avLst/>
            </a:prstGeom>
            <a:solidFill>
              <a:srgbClr val="E8710A"/>
            </a:solidFill>
            <a:ln>
              <a:noFill/>
            </a:ln>
          </p:spPr>
          <p:txBody>
            <a:bodyPr rtlCol="0" anchor="ctr" lIns="0" tIns="0" rIns="0" bIns="0" wrap="square">
              <a:noAutofit/>
            </a:bodyPr>
            <a:lstStyle/>
            <a:p>
              <a:pPr algn="ctr"/>
              <a:r>
                <a:rPr sz="1400" b="1" i="0" lang="vi-VN">
                  <a:solidFill>
                    <a:srgbClr val="FFFFFF"/>
                  </a:solidFill>
                  <a:latin typeface="Arial"/>
                  <a:ea typeface="Arial"/>
                  <a:cs typeface="Arial"/>
                </a:rPr>
                <a:t>5</a:t>
              </a:r>
            </a:p>
          </p:txBody>
        </p:sp>
        <p:sp>
          <p:nvSpPr>
            <p:cNvPr id="47" name="TextBox 46"/>
            <p:cNvSpPr txBox="1"/>
            <p:nvPr/>
          </p:nvSpPr>
          <p:spPr>
            <a:xfrm>
              <a:off x="9363456" y="5074920"/>
              <a:ext cx="2267712" cy="329184"/>
            </a:xfrm>
            <a:prstGeom prst="rect">
              <a:avLst/>
            </a:prstGeom>
            <a:noFill/>
          </p:spPr>
          <p:txBody>
            <a:bodyPr wrap="square" lIns="0" tIns="0" rIns="0" bIns="0" anchor="ctr">
              <a:noAutofit/>
            </a:bodyPr>
            <a:lstStyle/>
            <a:p>
              <a:pPr algn="l"/>
              <a:r>
                <a:rPr sz="1350" b="1" i="0" lang="vi-VN">
                  <a:solidFill>
                    <a:srgbClr val="0B2545"/>
                  </a:solidFill>
                  <a:latin typeface="Arial"/>
                  <a:ea typeface="Arial"/>
                  <a:cs typeface="Arial"/>
                </a:rPr>
                <a:t>Đồ thị · nhật ký lỗi</a:t>
              </a:r>
            </a:p>
          </p:txBody>
        </p:sp>
        <p:sp>
          <p:nvSpPr>
            <p:cNvPr id="48" name="TextBox 47"/>
            <p:cNvSpPr txBox="1"/>
            <p:nvPr/>
          </p:nvSpPr>
          <p:spPr>
            <a:xfrm>
              <a:off x="9363456" y="5394960"/>
              <a:ext cx="2267712" cy="475488"/>
            </a:xfrm>
            <a:prstGeom prst="rect">
              <a:avLst/>
            </a:prstGeom>
            <a:noFill/>
          </p:spPr>
          <p:txBody>
            <a:bodyPr wrap="square" lIns="0" tIns="0" rIns="0" bIns="0" anchor="t">
              <a:noAutofit/>
            </a:bodyPr>
            <a:lstStyle/>
            <a:p>
              <a:pPr algn="l">
                <a:lnSpc>
                  <a:spcPct val="95000"/>
                </a:lnSpc>
              </a:pPr>
              <a:r>
                <a:rPr sz="1150" b="0" i="0" lang="vi-VN">
                  <a:solidFill>
                    <a:srgbClr val="1E2B3A"/>
                  </a:solidFill>
                  <a:latin typeface="Arial"/>
                  <a:ea typeface="Arial"/>
                  <a:cs typeface="Arial"/>
                </a:rPr>
                <a:t>Đồ thị góc thời gian thực, chỉ tiêu; log sự kiện, lỗi</a:t>
              </a:r>
            </a:p>
          </p:txBody>
        </p:sp>
      </p:grpSp>
      <p:sp>
        <p:nvSpPr>
          <p:cNvPr id="49" name="TextBox 48"/>
          <p:cNvSpPr txBox="1"/>
          <p:nvPr/>
        </p:nvSpPr>
        <p:spPr>
          <a:xfrm>
            <a:off x="8796528" y="5879592"/>
            <a:ext cx="2907792" cy="274320"/>
          </a:xfrm>
          <a:prstGeom prst="rect">
            <a:avLst/>
          </a:prstGeom>
          <a:noFill/>
        </p:spPr>
        <p:txBody>
          <a:bodyPr wrap="square" lIns="0" tIns="0" rIns="0" bIns="0" anchor="t">
            <a:noAutofit/>
          </a:bodyPr>
          <a:lstStyle/>
          <a:p>
            <a:pPr algn="l"/>
            <a:r>
              <a:rPr sz="1150" b="0" i="1" lang="vi-VN">
                <a:solidFill>
                  <a:srgbClr val="5B6B7B"/>
                </a:solidFill>
                <a:latin typeface="Arial"/>
                <a:ea typeface="Arial"/>
                <a:cs typeface="Arial"/>
              </a:rPr>
              <a:t>Python · PySide6 · ghi dữ liệu chu kỳ 10 ms</a:t>
            </a:r>
          </a:p>
        </p:txBody>
      </p:sp>
      <p:sp>
        <p:nvSpPr>
          <p:cNvPr id="91"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ppt_w</p:attrName>
                                        </p:attrNameLst>
                                      </p:cBhvr>
                                      <p:tavLst>
                                        <p:tav tm="0">
                                          <p:val>
                                            <p:strVal val="0"/>
                                          </p:val>
                                        </p:tav>
                                        <p:tav tm="100000">
                                          <p:val>
                                            <p:strVal val="#ppt_w"/>
                                          </p:val>
                                        </p:tav>
                                      </p:tavLst>
                                    </p:anim>
                                    <p:anim calcmode="lin" valueType="num">
                                      <p:cBhvr>
                                        <p:cTn id="17" dur="400" fill="hold"/>
                                        <p:tgtEl>
                                          <p:spTgt spid="6"/>
                                        </p:tgtEl>
                                        <p:attrNameLst>
                                          <p:attrName>ppt_h</p:attrName>
                                        </p:attrNameLst>
                                      </p:cBhvr>
                                      <p:tavLst>
                                        <p:tav tm="0">
                                          <p:val>
                                            <p:strVal val="0"/>
                                          </p:val>
                                        </p:tav>
                                        <p:tav tm="100000">
                                          <p:val>
                                            <p:strVal val="#ppt_h"/>
                                          </p:val>
                                        </p:tav>
                                      </p:tavLst>
                                    </p:anim>
                                  </p:childTnLst>
                                </p:cTn>
                              </p:par>
                              <p:par>
                                <p:cTn id="18" presetID="42" presetClass="entr" presetSubtype="0" fill="hold" grpId="0" nodeType="withEffect">
                                  <p:stCondLst>
                                    <p:cond delay="1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anim calcmode="lin" valueType="num">
                                      <p:cBhvr>
                                        <p:cTn id="21" dur="400" fill="hold"/>
                                        <p:tgtEl>
                                          <p:spTgt spid="10"/>
                                        </p:tgtEl>
                                        <p:attrNameLst>
                                          <p:attrName>ppt_x</p:attrName>
                                        </p:attrNameLst>
                                      </p:cBhvr>
                                      <p:tavLst>
                                        <p:tav tm="0">
                                          <p:val>
                                            <p:strVal val="#ppt_x"/>
                                          </p:val>
                                        </p:tav>
                                        <p:tav tm="100000">
                                          <p:val>
                                            <p:strVal val="#ppt_x"/>
                                          </p:val>
                                        </p:tav>
                                      </p:tavLst>
                                    </p:anim>
                                    <p:anim calcmode="lin" valueType="num">
                                      <p:cBhvr>
                                        <p:cTn id="22" dur="400" fill="hold"/>
                                        <p:tgtEl>
                                          <p:spTgt spid="10"/>
                                        </p:tgtEl>
                                        <p:attrNameLst>
                                          <p:attrName>ppt_y</p:attrName>
                                        </p:attrNameLst>
                                      </p:cBhvr>
                                      <p:tavLst>
                                        <p:tav tm="0">
                                          <p:val>
                                            <p:strVal val="#ppt_y+.05"/>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300"/>
                                        <p:tgtEl>
                                          <p:spTgt spid="6"/>
                                        </p:tgtEl>
                                      </p:cBhvr>
                                    </p:animEffect>
                                    <p:set>
                                      <p:cBhvr>
                                        <p:cTn id="27" dur="1" fill="hold">
                                          <p:stCondLst>
                                            <p:cond delay="299"/>
                                          </p:stCondLst>
                                        </p:cTn>
                                        <p:tgtEl>
                                          <p:spTgt spid="6"/>
                                        </p:tgtEl>
                                        <p:attrNameLst>
                                          <p:attrName>style.visibility</p:attrName>
                                        </p:attrNameLst>
                                      </p:cBhvr>
                                      <p:to>
                                        <p:strVal val="hidden"/>
                                      </p:to>
                                    </p:set>
                                  </p:childTnLst>
                                </p:cTn>
                              </p:par>
                              <p:par>
                                <p:cTn id="28" presetID="53" presetClass="entr" presetSubtype="16"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anim calcmode="lin" valueType="num">
                                      <p:cBhvr>
                                        <p:cTn id="31" dur="400" fill="hold"/>
                                        <p:tgtEl>
                                          <p:spTgt spid="15"/>
                                        </p:tgtEl>
                                        <p:attrNameLst>
                                          <p:attrName>ppt_w</p:attrName>
                                        </p:attrNameLst>
                                      </p:cBhvr>
                                      <p:tavLst>
                                        <p:tav tm="0">
                                          <p:val>
                                            <p:strVal val="0"/>
                                          </p:val>
                                        </p:tav>
                                        <p:tav tm="100000">
                                          <p:val>
                                            <p:strVal val="#ppt_w"/>
                                          </p:val>
                                        </p:tav>
                                      </p:tavLst>
                                    </p:anim>
                                    <p:anim calcmode="lin" valueType="num">
                                      <p:cBhvr>
                                        <p:cTn id="32" dur="400" fill="hold"/>
                                        <p:tgtEl>
                                          <p:spTgt spid="15"/>
                                        </p:tgtEl>
                                        <p:attrNameLst>
                                          <p:attrName>ppt_h</p:attrName>
                                        </p:attrNameLst>
                                      </p:cBhvr>
                                      <p:tavLst>
                                        <p:tav tm="0">
                                          <p:val>
                                            <p:strVal val="0"/>
                                          </p:val>
                                        </p:tav>
                                        <p:tav tm="100000">
                                          <p:val>
                                            <p:strVal val="#ppt_h"/>
                                          </p:val>
                                        </p:tav>
                                      </p:tavLst>
                                    </p:anim>
                                  </p:childTnLst>
                                </p:cTn>
                              </p:par>
                              <p:par>
                                <p:cTn id="33" presetID="42" presetClass="entr" presetSubtype="0" fill="hold" grpId="0" nodeType="withEffect">
                                  <p:stCondLst>
                                    <p:cond delay="10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anim calcmode="lin" valueType="num">
                                      <p:cBhvr>
                                        <p:cTn id="36" dur="400" fill="hold"/>
                                        <p:tgtEl>
                                          <p:spTgt spid="18"/>
                                        </p:tgtEl>
                                        <p:attrNameLst>
                                          <p:attrName>ppt_x</p:attrName>
                                        </p:attrNameLst>
                                      </p:cBhvr>
                                      <p:tavLst>
                                        <p:tav tm="0">
                                          <p:val>
                                            <p:strVal val="#ppt_x"/>
                                          </p:val>
                                        </p:tav>
                                        <p:tav tm="100000">
                                          <p:val>
                                            <p:strVal val="#ppt_x"/>
                                          </p:val>
                                        </p:tav>
                                      </p:tavLst>
                                    </p:anim>
                                    <p:anim calcmode="lin" valueType="num">
                                      <p:cBhvr>
                                        <p:cTn id="37" dur="400" fill="hold"/>
                                        <p:tgtEl>
                                          <p:spTgt spid="18"/>
                                        </p:tgtEl>
                                        <p:attrNameLst>
                                          <p:attrName>ppt_y</p:attrName>
                                        </p:attrNameLst>
                                      </p:cBhvr>
                                      <p:tavLst>
                                        <p:tav tm="0">
                                          <p:val>
                                            <p:strVal val="#ppt_y+.05"/>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300"/>
                                        <p:tgtEl>
                                          <p:spTgt spid="15"/>
                                        </p:tgtEl>
                                      </p:cBhvr>
                                    </p:animEffect>
                                    <p:set>
                                      <p:cBhvr>
                                        <p:cTn id="42" dur="1" fill="hold">
                                          <p:stCondLst>
                                            <p:cond delay="299"/>
                                          </p:stCondLst>
                                        </p:cTn>
                                        <p:tgtEl>
                                          <p:spTgt spid="15"/>
                                        </p:tgtEl>
                                        <p:attrNameLst>
                                          <p:attrName>style.visibility</p:attrName>
                                        </p:attrNameLst>
                                      </p:cBhvr>
                                      <p:to>
                                        <p:strVal val="hidden"/>
                                      </p:to>
                                    </p:set>
                                  </p:childTnLst>
                                </p:cTn>
                              </p:par>
                              <p:par>
                                <p:cTn id="43" presetID="53" presetClass="entr" presetSubtype="16"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00"/>
                                        <p:tgtEl>
                                          <p:spTgt spid="23"/>
                                        </p:tgtEl>
                                      </p:cBhvr>
                                    </p:animEffect>
                                    <p:anim calcmode="lin" valueType="num">
                                      <p:cBhvr>
                                        <p:cTn id="46" dur="400" fill="hold"/>
                                        <p:tgtEl>
                                          <p:spTgt spid="23"/>
                                        </p:tgtEl>
                                        <p:attrNameLst>
                                          <p:attrName>ppt_w</p:attrName>
                                        </p:attrNameLst>
                                      </p:cBhvr>
                                      <p:tavLst>
                                        <p:tav tm="0">
                                          <p:val>
                                            <p:strVal val="0"/>
                                          </p:val>
                                        </p:tav>
                                        <p:tav tm="100000">
                                          <p:val>
                                            <p:strVal val="#ppt_w"/>
                                          </p:val>
                                        </p:tav>
                                      </p:tavLst>
                                    </p:anim>
                                    <p:anim calcmode="lin" valueType="num">
                                      <p:cBhvr>
                                        <p:cTn id="47" dur="400" fill="hold"/>
                                        <p:tgtEl>
                                          <p:spTgt spid="23"/>
                                        </p:tgtEl>
                                        <p:attrNameLst>
                                          <p:attrName>ppt_h</p:attrName>
                                        </p:attrNameLst>
                                      </p:cBhvr>
                                      <p:tavLst>
                                        <p:tav tm="0">
                                          <p:val>
                                            <p:strVal val="0"/>
                                          </p:val>
                                        </p:tav>
                                        <p:tav tm="100000">
                                          <p:val>
                                            <p:strVal val="#ppt_h"/>
                                          </p:val>
                                        </p:tav>
                                      </p:tavLst>
                                    </p:anim>
                                  </p:childTnLst>
                                </p:cTn>
                              </p:par>
                              <p:par>
                                <p:cTn id="48" presetID="42" presetClass="entr" presetSubtype="0" fill="hold" grpId="0" nodeType="withEffect">
                                  <p:stCondLst>
                                    <p:cond delay="10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00"/>
                                        <p:tgtEl>
                                          <p:spTgt spid="27"/>
                                        </p:tgtEl>
                                      </p:cBhvr>
                                    </p:animEffect>
                                    <p:anim calcmode="lin" valueType="num">
                                      <p:cBhvr>
                                        <p:cTn id="51" dur="400" fill="hold"/>
                                        <p:tgtEl>
                                          <p:spTgt spid="27"/>
                                        </p:tgtEl>
                                        <p:attrNameLst>
                                          <p:attrName>ppt_x</p:attrName>
                                        </p:attrNameLst>
                                      </p:cBhvr>
                                      <p:tavLst>
                                        <p:tav tm="0">
                                          <p:val>
                                            <p:strVal val="#ppt_x"/>
                                          </p:val>
                                        </p:tav>
                                        <p:tav tm="100000">
                                          <p:val>
                                            <p:strVal val="#ppt_x"/>
                                          </p:val>
                                        </p:tav>
                                      </p:tavLst>
                                    </p:anim>
                                    <p:anim calcmode="lin" valueType="num">
                                      <p:cBhvr>
                                        <p:cTn id="52" dur="400" fill="hold"/>
                                        <p:tgtEl>
                                          <p:spTgt spid="27"/>
                                        </p:tgtEl>
                                        <p:attrNameLst>
                                          <p:attrName>ppt_y</p:attrName>
                                        </p:attrNameLst>
                                      </p:cBhvr>
                                      <p:tavLst>
                                        <p:tav tm="0">
                                          <p:val>
                                            <p:strVal val="#ppt_y+.05"/>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300"/>
                                        <p:tgtEl>
                                          <p:spTgt spid="23"/>
                                        </p:tgtEl>
                                      </p:cBhvr>
                                    </p:animEffect>
                                    <p:set>
                                      <p:cBhvr>
                                        <p:cTn id="57" dur="1" fill="hold">
                                          <p:stCondLst>
                                            <p:cond delay="299"/>
                                          </p:stCondLst>
                                        </p:cTn>
                                        <p:tgtEl>
                                          <p:spTgt spid="23"/>
                                        </p:tgtEl>
                                        <p:attrNameLst>
                                          <p:attrName>style.visibility</p:attrName>
                                        </p:attrNameLst>
                                      </p:cBhvr>
                                      <p:to>
                                        <p:strVal val="hidden"/>
                                      </p:to>
                                    </p:set>
                                  </p:childTnLst>
                                </p:cTn>
                              </p:par>
                              <p:par>
                                <p:cTn id="58" presetID="53" presetClass="entr" presetSubtype="16"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400"/>
                                        <p:tgtEl>
                                          <p:spTgt spid="32"/>
                                        </p:tgtEl>
                                      </p:cBhvr>
                                    </p:animEffect>
                                    <p:anim calcmode="lin" valueType="num">
                                      <p:cBhvr>
                                        <p:cTn id="61" dur="400" fill="hold"/>
                                        <p:tgtEl>
                                          <p:spTgt spid="32"/>
                                        </p:tgtEl>
                                        <p:attrNameLst>
                                          <p:attrName>ppt_w</p:attrName>
                                        </p:attrNameLst>
                                      </p:cBhvr>
                                      <p:tavLst>
                                        <p:tav tm="0">
                                          <p:val>
                                            <p:strVal val="0"/>
                                          </p:val>
                                        </p:tav>
                                        <p:tav tm="100000">
                                          <p:val>
                                            <p:strVal val="#ppt_w"/>
                                          </p:val>
                                        </p:tav>
                                      </p:tavLst>
                                    </p:anim>
                                    <p:anim calcmode="lin" valueType="num">
                                      <p:cBhvr>
                                        <p:cTn id="62" dur="400" fill="hold"/>
                                        <p:tgtEl>
                                          <p:spTgt spid="32"/>
                                        </p:tgtEl>
                                        <p:attrNameLst>
                                          <p:attrName>ppt_h</p:attrName>
                                        </p:attrNameLst>
                                      </p:cBhvr>
                                      <p:tavLst>
                                        <p:tav tm="0">
                                          <p:val>
                                            <p:strVal val="0"/>
                                          </p:val>
                                        </p:tav>
                                        <p:tav tm="100000">
                                          <p:val>
                                            <p:strVal val="#ppt_h"/>
                                          </p:val>
                                        </p:tav>
                                      </p:tavLst>
                                    </p:anim>
                                  </p:childTnLst>
                                </p:cTn>
                              </p:par>
                              <p:par>
                                <p:cTn id="63" presetID="42" presetClass="entr" presetSubtype="0" fill="hold" grpId="0" nodeType="withEffect">
                                  <p:stCondLst>
                                    <p:cond delay="10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400"/>
                                        <p:tgtEl>
                                          <p:spTgt spid="35"/>
                                        </p:tgtEl>
                                      </p:cBhvr>
                                    </p:animEffect>
                                    <p:anim calcmode="lin" valueType="num">
                                      <p:cBhvr>
                                        <p:cTn id="66" dur="400" fill="hold"/>
                                        <p:tgtEl>
                                          <p:spTgt spid="35"/>
                                        </p:tgtEl>
                                        <p:attrNameLst>
                                          <p:attrName>ppt_x</p:attrName>
                                        </p:attrNameLst>
                                      </p:cBhvr>
                                      <p:tavLst>
                                        <p:tav tm="0">
                                          <p:val>
                                            <p:strVal val="#ppt_x"/>
                                          </p:val>
                                        </p:tav>
                                        <p:tav tm="100000">
                                          <p:val>
                                            <p:strVal val="#ppt_x"/>
                                          </p:val>
                                        </p:tav>
                                      </p:tavLst>
                                    </p:anim>
                                    <p:anim calcmode="lin" valueType="num">
                                      <p:cBhvr>
                                        <p:cTn id="67" dur="400" fill="hold"/>
                                        <p:tgtEl>
                                          <p:spTgt spid="35"/>
                                        </p:tgtEl>
                                        <p:attrNameLst>
                                          <p:attrName>ppt_y</p:attrName>
                                        </p:attrNameLst>
                                      </p:cBhvr>
                                      <p:tavLst>
                                        <p:tav tm="0">
                                          <p:val>
                                            <p:strVal val="#ppt_y+.05"/>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grpId="1" nodeType="clickEffect">
                                  <p:stCondLst>
                                    <p:cond delay="0"/>
                                  </p:stCondLst>
                                  <p:childTnLst>
                                    <p:animEffect transition="out" filter="fade">
                                      <p:cBhvr>
                                        <p:cTn id="71" dur="300"/>
                                        <p:tgtEl>
                                          <p:spTgt spid="32"/>
                                        </p:tgtEl>
                                      </p:cBhvr>
                                    </p:animEffect>
                                    <p:set>
                                      <p:cBhvr>
                                        <p:cTn id="72" dur="1" fill="hold">
                                          <p:stCondLst>
                                            <p:cond delay="299"/>
                                          </p:stCondLst>
                                        </p:cTn>
                                        <p:tgtEl>
                                          <p:spTgt spid="32"/>
                                        </p:tgtEl>
                                        <p:attrNameLst>
                                          <p:attrName>style.visibility</p:attrName>
                                        </p:attrNameLst>
                                      </p:cBhvr>
                                      <p:to>
                                        <p:strVal val="hidden"/>
                                      </p:to>
                                    </p:set>
                                  </p:childTnLst>
                                </p:cTn>
                              </p:par>
                              <p:par>
                                <p:cTn id="73" presetID="53" presetClass="entr" presetSubtype="16"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400"/>
                                        <p:tgtEl>
                                          <p:spTgt spid="40"/>
                                        </p:tgtEl>
                                      </p:cBhvr>
                                    </p:animEffect>
                                    <p:anim calcmode="lin" valueType="num">
                                      <p:cBhvr>
                                        <p:cTn id="76" dur="400" fill="hold"/>
                                        <p:tgtEl>
                                          <p:spTgt spid="40"/>
                                        </p:tgtEl>
                                        <p:attrNameLst>
                                          <p:attrName>ppt_w</p:attrName>
                                        </p:attrNameLst>
                                      </p:cBhvr>
                                      <p:tavLst>
                                        <p:tav tm="0">
                                          <p:val>
                                            <p:strVal val="0"/>
                                          </p:val>
                                        </p:tav>
                                        <p:tav tm="100000">
                                          <p:val>
                                            <p:strVal val="#ppt_w"/>
                                          </p:val>
                                        </p:tav>
                                      </p:tavLst>
                                    </p:anim>
                                    <p:anim calcmode="lin" valueType="num">
                                      <p:cBhvr>
                                        <p:cTn id="77" dur="400" fill="hold"/>
                                        <p:tgtEl>
                                          <p:spTgt spid="40"/>
                                        </p:tgtEl>
                                        <p:attrNameLst>
                                          <p:attrName>ppt_h</p:attrName>
                                        </p:attrNameLst>
                                      </p:cBhvr>
                                      <p:tavLst>
                                        <p:tav tm="0">
                                          <p:val>
                                            <p:strVal val="0"/>
                                          </p:val>
                                        </p:tav>
                                        <p:tav tm="100000">
                                          <p:val>
                                            <p:strVal val="#ppt_h"/>
                                          </p:val>
                                        </p:tav>
                                      </p:tavLst>
                                    </p:anim>
                                  </p:childTnLst>
                                </p:cTn>
                              </p:par>
                              <p:par>
                                <p:cTn id="78" presetID="42" presetClass="entr" presetSubtype="0" fill="hold" grpId="0" nodeType="withEffect">
                                  <p:stCondLst>
                                    <p:cond delay="10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400"/>
                                        <p:tgtEl>
                                          <p:spTgt spid="44"/>
                                        </p:tgtEl>
                                      </p:cBhvr>
                                    </p:animEffect>
                                    <p:anim calcmode="lin" valueType="num">
                                      <p:cBhvr>
                                        <p:cTn id="81" dur="400" fill="hold"/>
                                        <p:tgtEl>
                                          <p:spTgt spid="44"/>
                                        </p:tgtEl>
                                        <p:attrNameLst>
                                          <p:attrName>ppt_x</p:attrName>
                                        </p:attrNameLst>
                                      </p:cBhvr>
                                      <p:tavLst>
                                        <p:tav tm="0">
                                          <p:val>
                                            <p:strVal val="#ppt_x"/>
                                          </p:val>
                                        </p:tav>
                                        <p:tav tm="100000">
                                          <p:val>
                                            <p:strVal val="#ppt_x"/>
                                          </p:val>
                                        </p:tav>
                                      </p:tavLst>
                                    </p:anim>
                                    <p:anim calcmode="lin" valueType="num">
                                      <p:cBhvr>
                                        <p:cTn id="82" dur="400" fill="hold"/>
                                        <p:tgtEl>
                                          <p:spTgt spid="44"/>
                                        </p:tgtEl>
                                        <p:attrNameLst>
                                          <p:attrName>ppt_y</p:attrName>
                                        </p:attrNameLst>
                                      </p:cBhvr>
                                      <p:tavLst>
                                        <p:tav tm="0">
                                          <p:val>
                                            <p:strVal val="#ppt_y+.05"/>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grpId="1" nodeType="clickEffect">
                                  <p:stCondLst>
                                    <p:cond delay="0"/>
                                  </p:stCondLst>
                                  <p:childTnLst>
                                    <p:animEffect transition="out" filter="fade">
                                      <p:cBhvr>
                                        <p:cTn id="86" dur="300"/>
                                        <p:tgtEl>
                                          <p:spTgt spid="40"/>
                                        </p:tgtEl>
                                      </p:cBhvr>
                                    </p:animEffect>
                                    <p:set>
                                      <p:cBhvr>
                                        <p:cTn id="87" dur="1" fill="hold">
                                          <p:stCondLst>
                                            <p:cond delay="299"/>
                                          </p:stCondLst>
                                        </p:cTn>
                                        <p:tgtEl>
                                          <p:spTgt spid="40"/>
                                        </p:tgtEl>
                                        <p:attrNameLst>
                                          <p:attrName>style.visibility</p:attrName>
                                        </p:attrNameLst>
                                      </p:cBhvr>
                                      <p:to>
                                        <p:strVal val="hidden"/>
                                      </p:to>
                                    </p:set>
                                  </p:childTnLst>
                                </p:cTn>
                              </p:par>
                              <p:par>
                                <p:cTn id="88" presetID="10" presetClass="entr" presetSubtype="0" fill="hold" grpId="0" nodeType="withEffect">
                                  <p:stCondLst>
                                    <p:cond delay="0"/>
                                  </p:stCondLst>
                                  <p:childTnLst>
                                    <p:set>
                                      <p:cBhvr>
                                        <p:cTn id="89" dur="1" fill="hold">
                                          <p:stCondLst>
                                            <p:cond delay="0"/>
                                          </p:stCondLst>
                                        </p:cTn>
                                        <p:tgtEl>
                                          <p:spTgt spid="49"/>
                                        </p:tgtEl>
                                        <p:attrNameLst>
                                          <p:attrName>style.visibility</p:attrName>
                                        </p:attrNameLst>
                                      </p:cBhvr>
                                      <p:to>
                                        <p:strVal val="visible"/>
                                      </p:to>
                                    </p:set>
                                    <p:animEffect transition="in" filter="fade">
                                      <p:cBhvr>
                                        <p:cTn id="90"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9"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4 · MÔ PHỎNG, HIỆU CHỈNH VÀ THỰC NGHIỆM</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Mô phỏng thu hẹp miền tham số, hệ thật quyết định lựa chọn</a:t>
            </a:r>
          </a:p>
        </p:txBody>
      </p:sp>
      <p:sp>
        <p:nvSpPr>
          <p:cNvPr id="4" name="TextBox 3"/>
          <p:cNvSpPr txBox="1"/>
          <p:nvPr/>
        </p:nvSpPr>
        <p:spPr>
          <a:xfrm>
            <a:off x="502920" y="1243584"/>
            <a:ext cx="7315200" cy="274320"/>
          </a:xfrm>
          <a:prstGeom prst="rect">
            <a:avLst/>
          </a:prstGeom>
          <a:noFill/>
        </p:spPr>
        <p:txBody>
          <a:bodyPr wrap="square" lIns="0" tIns="0" rIns="0" bIns="0" anchor="t">
            <a:noAutofit/>
          </a:bodyPr>
          <a:lstStyle/>
          <a:p>
            <a:pPr algn="l"/>
            <a:r>
              <a:rPr sz="1250" b="1" i="0" lang="vi-VN" spc="40">
                <a:solidFill>
                  <a:srgbClr val="0A5FA8"/>
                </a:solidFill>
                <a:latin typeface="Arial"/>
                <a:ea typeface="Arial"/>
                <a:cs typeface="Arial"/>
              </a:rPr>
              <a:t>LỘ TRÌNH HOÀN THIỆN HỆ THỐNG · 7 BƯỚC HIỆU CHỈNH</a:t>
            </a:r>
          </a:p>
        </p:txBody>
      </p:sp>
      <p:sp>
        <p:nvSpPr>
          <p:cNvPr id="5" name="!!trk_track"/>
          <p:cNvSpPr/>
          <p:nvPr/>
        </p:nvSpPr>
        <p:spPr>
          <a:xfrm>
            <a:off x="457200" y="1554480"/>
            <a:ext cx="11292840" cy="768096"/>
          </a:xfrm>
          <a:prstGeom prst="roundRect">
            <a:avLst>
              <a:gd name="adj" fmla="val 14285"/>
            </a:avLst>
          </a:prstGeom>
          <a:solidFill>
            <a:srgbClr val="FFFFFF">
              <a:alpha val="85000"/>
            </a:srgbClr>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6" name="!!trk_0"/>
          <p:cNvSpPr/>
          <p:nvPr/>
        </p:nvSpPr>
        <p:spPr>
          <a:xfrm>
            <a:off x="502920" y="1655064"/>
            <a:ext cx="1163117" cy="566928"/>
          </a:xfrm>
          <a:prstGeom prst="roundRect">
            <a:avLst>
              <a:gd name="adj" fmla="val 16129"/>
            </a:avLst>
          </a:prstGeom>
          <a:solidFill>
            <a:srgbClr val="8A99A8"/>
          </a:solidFill>
          <a:ln>
            <a:noFill/>
          </a:ln>
        </p:spPr>
        <p:txBody>
          <a:bodyPr rtlCol="0" anchor="ctr" lIns="36576" tIns="36576" rIns="36576" bIns="36576" wrap="square">
            <a:noAutofit/>
          </a:bodyPr>
          <a:lstStyle/>
          <a:p>
            <a:pPr algn="ctr">
              <a:lnSpc>
                <a:spcPct val="92000"/>
              </a:lnSpc>
            </a:pPr>
            <a:r>
              <a:rPr sz="1200" b="1" i="0" lang="vi-VN">
                <a:solidFill>
                  <a:srgbClr val="FFFFFF"/>
                </a:solidFill>
                <a:latin typeface="Arial"/>
                <a:ea typeface="Arial"/>
                <a:cs typeface="Arial"/>
              </a:rPr>
              <a:t>Cấu hình ban đầu</a:t>
            </a:r>
          </a:p>
        </p:txBody>
      </p:sp>
      <p:sp>
        <p:nvSpPr>
          <p:cNvPr id="7" name="!!trk_1"/>
          <p:cNvSpPr/>
          <p:nvPr/>
        </p:nvSpPr>
        <p:spPr>
          <a:xfrm>
            <a:off x="1757477" y="1655064"/>
            <a:ext cx="1163117" cy="566928"/>
          </a:xfrm>
          <a:prstGeom prst="roundRect">
            <a:avLst>
              <a:gd name="adj" fmla="val 16129"/>
            </a:avLst>
          </a:prstGeom>
          <a:solidFill>
            <a:srgbClr val="EAF3FB"/>
          </a:solidFill>
          <a:ln>
            <a:noFill/>
          </a:ln>
        </p:spPr>
        <p:txBody>
          <a:bodyPr rtlCol="0" anchor="ctr" lIns="36576" tIns="36576" rIns="36576" bIns="36576" wrap="square">
            <a:noAutofit/>
          </a:bodyPr>
          <a:lstStyle/>
          <a:p>
            <a:pPr algn="ctr">
              <a:lnSpc>
                <a:spcPct val="92000"/>
              </a:lnSpc>
            </a:pPr>
            <a:r>
              <a:rPr sz="1200" b="1" i="0" lang="vi-VN">
                <a:solidFill>
                  <a:srgbClr val="0B2545"/>
                </a:solidFill>
                <a:latin typeface="Arial"/>
                <a:ea typeface="Arial"/>
                <a:cs typeface="Arial"/>
              </a:rPr>
              <a:t>Hiệu chỉnh cascade</a:t>
            </a:r>
          </a:p>
        </p:txBody>
      </p:sp>
      <p:sp>
        <p:nvSpPr>
          <p:cNvPr id="8" name="!!trk_2"/>
          <p:cNvSpPr/>
          <p:nvPr/>
        </p:nvSpPr>
        <p:spPr>
          <a:xfrm>
            <a:off x="3012034" y="1655064"/>
            <a:ext cx="1163117" cy="566928"/>
          </a:xfrm>
          <a:prstGeom prst="roundRect">
            <a:avLst>
              <a:gd name="adj" fmla="val 16129"/>
            </a:avLst>
          </a:prstGeom>
          <a:solidFill>
            <a:srgbClr val="EAF3FB"/>
          </a:solidFill>
          <a:ln>
            <a:noFill/>
          </a:ln>
        </p:spPr>
        <p:txBody>
          <a:bodyPr rtlCol="0" anchor="ctr" lIns="36576" tIns="36576" rIns="36576" bIns="36576" wrap="square">
            <a:noAutofit/>
          </a:bodyPr>
          <a:lstStyle/>
          <a:p>
            <a:pPr algn="ctr">
              <a:lnSpc>
                <a:spcPct val="92000"/>
              </a:lnSpc>
            </a:pPr>
            <a:r>
              <a:rPr sz="1200" b="1" i="0" lang="vi-VN">
                <a:solidFill>
                  <a:srgbClr val="0B2545"/>
                </a:solidFill>
                <a:latin typeface="Arial"/>
                <a:ea typeface="Arial"/>
                <a:cs typeface="Arial"/>
              </a:rPr>
              <a:t>Bù IMU2</a:t>
            </a:r>
          </a:p>
        </p:txBody>
      </p:sp>
      <p:sp>
        <p:nvSpPr>
          <p:cNvPr id="9" name="!!trk_3"/>
          <p:cNvSpPr/>
          <p:nvPr/>
        </p:nvSpPr>
        <p:spPr>
          <a:xfrm>
            <a:off x="4266590" y="1655064"/>
            <a:ext cx="1163117" cy="566928"/>
          </a:xfrm>
          <a:prstGeom prst="roundRect">
            <a:avLst>
              <a:gd name="adj" fmla="val 16129"/>
            </a:avLst>
          </a:prstGeom>
          <a:solidFill>
            <a:srgbClr val="EAF3FB"/>
          </a:solidFill>
          <a:ln>
            <a:noFill/>
          </a:ln>
        </p:spPr>
        <p:txBody>
          <a:bodyPr rtlCol="0" anchor="ctr" lIns="36576" tIns="36576" rIns="36576" bIns="36576" wrap="square">
            <a:noAutofit/>
          </a:bodyPr>
          <a:lstStyle/>
          <a:p>
            <a:pPr algn="ctr">
              <a:lnSpc>
                <a:spcPct val="92000"/>
              </a:lnSpc>
            </a:pPr>
            <a:r>
              <a:rPr sz="1200" b="1" i="0" lang="vi-VN">
                <a:solidFill>
                  <a:srgbClr val="0B2545"/>
                </a:solidFill>
                <a:latin typeface="Arial"/>
                <a:ea typeface="Arial"/>
                <a:cs typeface="Arial"/>
              </a:rPr>
              <a:t>Ngoại suy bù trễ</a:t>
            </a:r>
          </a:p>
        </p:txBody>
      </p:sp>
      <p:sp>
        <p:nvSpPr>
          <p:cNvPr id="10" name="!!trk_4"/>
          <p:cNvSpPr/>
          <p:nvPr/>
        </p:nvSpPr>
        <p:spPr>
          <a:xfrm>
            <a:off x="5521147" y="1655064"/>
            <a:ext cx="1163117" cy="566928"/>
          </a:xfrm>
          <a:prstGeom prst="roundRect">
            <a:avLst>
              <a:gd name="adj" fmla="val 16129"/>
            </a:avLst>
          </a:prstGeom>
          <a:solidFill>
            <a:srgbClr val="EAF3FB"/>
          </a:solidFill>
          <a:ln>
            <a:noFill/>
          </a:ln>
        </p:spPr>
        <p:txBody>
          <a:bodyPr rtlCol="0" anchor="ctr" lIns="36576" tIns="36576" rIns="36576" bIns="36576" wrap="square">
            <a:noAutofit/>
          </a:bodyPr>
          <a:lstStyle/>
          <a:p>
            <a:pPr algn="ctr">
              <a:lnSpc>
                <a:spcPct val="92000"/>
              </a:lnSpc>
            </a:pPr>
            <a:r>
              <a:rPr sz="1200" b="1" i="0" lang="vi-VN">
                <a:solidFill>
                  <a:srgbClr val="0B2545"/>
                </a:solidFill>
                <a:latin typeface="Arial"/>
                <a:ea typeface="Arial"/>
                <a:cs typeface="Arial"/>
              </a:rPr>
              <a:t>Giới hạn lệnh động</a:t>
            </a:r>
          </a:p>
        </p:txBody>
      </p:sp>
      <p:sp>
        <p:nvSpPr>
          <p:cNvPr id="11" name="!!trk_5"/>
          <p:cNvSpPr/>
          <p:nvPr/>
        </p:nvSpPr>
        <p:spPr>
          <a:xfrm>
            <a:off x="6775704" y="1655064"/>
            <a:ext cx="1163117" cy="566928"/>
          </a:xfrm>
          <a:prstGeom prst="roundRect">
            <a:avLst>
              <a:gd name="adj" fmla="val 16129"/>
            </a:avLst>
          </a:prstGeom>
          <a:solidFill>
            <a:srgbClr val="EAF3FB"/>
          </a:solidFill>
          <a:ln>
            <a:noFill/>
          </a:ln>
        </p:spPr>
        <p:txBody>
          <a:bodyPr rtlCol="0" anchor="ctr" lIns="36576" tIns="36576" rIns="36576" bIns="36576" wrap="square">
            <a:noAutofit/>
          </a:bodyPr>
          <a:lstStyle/>
          <a:p>
            <a:pPr algn="ctr">
              <a:lnSpc>
                <a:spcPct val="92000"/>
              </a:lnSpc>
            </a:pPr>
            <a:r>
              <a:rPr sz="1200" b="1" i="0" lang="vi-VN">
                <a:solidFill>
                  <a:srgbClr val="0B2545"/>
                </a:solidFill>
                <a:latin typeface="Arial"/>
                <a:ea typeface="Arial"/>
                <a:cs typeface="Arial"/>
              </a:rPr>
              <a:t>Xử lý đảo chiều và dừng</a:t>
            </a:r>
          </a:p>
        </p:txBody>
      </p:sp>
      <p:sp>
        <p:nvSpPr>
          <p:cNvPr id="12" name="!!trk_6"/>
          <p:cNvSpPr/>
          <p:nvPr/>
        </p:nvSpPr>
        <p:spPr>
          <a:xfrm>
            <a:off x="8030261" y="1655064"/>
            <a:ext cx="1163117" cy="566928"/>
          </a:xfrm>
          <a:prstGeom prst="roundRect">
            <a:avLst>
              <a:gd name="adj" fmla="val 16129"/>
            </a:avLst>
          </a:prstGeom>
          <a:solidFill>
            <a:srgbClr val="EAF3FB"/>
          </a:solidFill>
          <a:ln>
            <a:noFill/>
          </a:ln>
        </p:spPr>
        <p:txBody>
          <a:bodyPr rtlCol="0" anchor="ctr" lIns="36576" tIns="36576" rIns="36576" bIns="36576" wrap="square">
            <a:noAutofit/>
          </a:bodyPr>
          <a:lstStyle/>
          <a:p>
            <a:pPr algn="ctr">
              <a:lnSpc>
                <a:spcPct val="92000"/>
              </a:lnSpc>
            </a:pPr>
            <a:r>
              <a:rPr sz="1200" b="1" i="0" lang="vi-VN">
                <a:solidFill>
                  <a:srgbClr val="0B2545"/>
                </a:solidFill>
                <a:latin typeface="Arial"/>
                <a:ea typeface="Arial"/>
                <a:cs typeface="Arial"/>
              </a:rPr>
              <a:t>Tạo dạng lệnh</a:t>
            </a:r>
          </a:p>
        </p:txBody>
      </p:sp>
      <p:sp>
        <p:nvSpPr>
          <p:cNvPr id="13" name="!!trk_7"/>
          <p:cNvSpPr/>
          <p:nvPr/>
        </p:nvSpPr>
        <p:spPr>
          <a:xfrm>
            <a:off x="9284818" y="1655064"/>
            <a:ext cx="1163117" cy="566928"/>
          </a:xfrm>
          <a:prstGeom prst="roundRect">
            <a:avLst>
              <a:gd name="adj" fmla="val 16129"/>
            </a:avLst>
          </a:prstGeom>
          <a:solidFill>
            <a:srgbClr val="EAF3FB"/>
          </a:solidFill>
          <a:ln>
            <a:noFill/>
          </a:ln>
        </p:spPr>
        <p:txBody>
          <a:bodyPr rtlCol="0" anchor="ctr" lIns="36576" tIns="36576" rIns="36576" bIns="36576" wrap="square">
            <a:noAutofit/>
          </a:bodyPr>
          <a:lstStyle/>
          <a:p>
            <a:pPr algn="ctr">
              <a:lnSpc>
                <a:spcPct val="92000"/>
              </a:lnSpc>
            </a:pPr>
            <a:r>
              <a:rPr sz="1200" b="1" i="0" lang="vi-VN">
                <a:solidFill>
                  <a:srgbClr val="0B2545"/>
                </a:solidFill>
                <a:latin typeface="Arial"/>
                <a:ea typeface="Arial"/>
                <a:cs typeface="Arial"/>
              </a:rPr>
              <a:t>Hoàn thiện lịch RS485</a:t>
            </a:r>
          </a:p>
        </p:txBody>
      </p:sp>
      <p:sp>
        <p:nvSpPr>
          <p:cNvPr id="14" name="!!trk_8"/>
          <p:cNvSpPr/>
          <p:nvPr/>
        </p:nvSpPr>
        <p:spPr>
          <a:xfrm>
            <a:off x="10539374" y="1655064"/>
            <a:ext cx="1163117" cy="566928"/>
          </a:xfrm>
          <a:prstGeom prst="roundRect">
            <a:avLst>
              <a:gd name="adj" fmla="val 16129"/>
            </a:avLst>
          </a:prstGeom>
          <a:solidFill>
            <a:srgbClr val="E8710A"/>
          </a:solidFill>
          <a:ln>
            <a:noFill/>
          </a:ln>
        </p:spPr>
        <p:txBody>
          <a:bodyPr rtlCol="0" anchor="ctr" lIns="36576" tIns="36576" rIns="36576" bIns="36576" wrap="square">
            <a:noAutofit/>
          </a:bodyPr>
          <a:lstStyle/>
          <a:p>
            <a:pPr algn="ctr">
              <a:lnSpc>
                <a:spcPct val="92000"/>
              </a:lnSpc>
            </a:pPr>
            <a:r>
              <a:rPr sz="1200" b="1" i="0" lang="vi-VN">
                <a:solidFill>
                  <a:srgbClr val="FFFFFF"/>
                </a:solidFill>
                <a:latin typeface="Arial"/>
                <a:ea typeface="Arial"/>
                <a:cs typeface="Arial"/>
              </a:rPr>
              <a:t>Cấu hình hoàn thiện</a:t>
            </a:r>
          </a:p>
        </p:txBody>
      </p:sp>
      <p:grpSp>
        <p:nvGrpSpPr>
          <p:cNvPr id="15" name="Group 14"/>
          <p:cNvGrpSpPr/>
          <p:nvPr/>
        </p:nvGrpSpPr>
        <p:grpSpPr>
          <a:xfrm>
            <a:off x="502920" y="2468880"/>
            <a:ext cx="3840480" cy="3584448"/>
            <a:chOff x="502920" y="2468880"/>
            <a:chExt cx="3840480" cy="3584448"/>
          </a:xfrm>
        </p:grpSpPr>
        <p:sp>
          <p:nvSpPr>
            <p:cNvPr id="16" name="Rounded Rectangle 15"/>
            <p:cNvSpPr/>
            <p:nvPr/>
          </p:nvSpPr>
          <p:spPr>
            <a:xfrm>
              <a:off x="502920" y="2468880"/>
              <a:ext cx="3840480" cy="3584448"/>
            </a:xfrm>
            <a:prstGeom prst="roundRect">
              <a:avLst>
                <a:gd name="adj" fmla="val 255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7" name="Picture 16" descr="route_0A5FA8.png"/>
            <p:cNvPicPr>
              <a:picLocks noChangeAspect="1"/>
            </p:cNvPicPr>
            <p:nvPr/>
          </p:nvPicPr>
          <p:blipFill>
            <a:blip r:embed="rId2"/>
            <a:stretch>
              <a:fillRect/>
            </a:stretch>
          </p:blipFill>
          <p:spPr>
            <a:xfrm>
              <a:off x="640080" y="2551176"/>
              <a:ext cx="237744" cy="237744"/>
            </a:xfrm>
            <a:prstGeom prst="rect">
              <a:avLst/>
            </a:prstGeom>
          </p:spPr>
        </p:pic>
        <p:sp>
          <p:nvSpPr>
            <p:cNvPr id="18" name="TextBox 17"/>
            <p:cNvSpPr txBox="1"/>
            <p:nvPr/>
          </p:nvSpPr>
          <p:spPr>
            <a:xfrm>
              <a:off x="969264" y="2523744"/>
              <a:ext cx="332841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QUY TRÌNH MỖI BƯỚC</a:t>
              </a:r>
            </a:p>
          </p:txBody>
        </p:sp>
      </p:grpSp>
      <p:grpSp>
        <p:nvGrpSpPr>
          <p:cNvPr id="19" name="Group 18"/>
          <p:cNvGrpSpPr/>
          <p:nvPr/>
        </p:nvGrpSpPr>
        <p:grpSpPr>
          <a:xfrm>
            <a:off x="685800" y="2862072"/>
            <a:ext cx="3547872" cy="347472"/>
            <a:chOff x="685800" y="2862072"/>
            <a:chExt cx="3547872" cy="347472"/>
          </a:xfrm>
        </p:grpSpPr>
        <p:grpSp>
          <p:nvGrpSpPr>
            <p:cNvPr id="20" name="Group 19"/>
            <p:cNvGrpSpPr/>
            <p:nvPr/>
          </p:nvGrpSpPr>
          <p:grpSpPr>
            <a:xfrm>
              <a:off x="685800" y="2871216"/>
              <a:ext cx="329184" cy="329184"/>
              <a:chOff x="685800" y="2871216"/>
              <a:chExt cx="329184" cy="329184"/>
            </a:xfrm>
          </p:grpSpPr>
          <p:sp>
            <p:nvSpPr>
              <p:cNvPr id="21" name="Oval 20"/>
              <p:cNvSpPr/>
              <p:nvPr/>
            </p:nvSpPr>
            <p:spPr>
              <a:xfrm>
                <a:off x="685800" y="2871216"/>
                <a:ext cx="329184" cy="329184"/>
              </a:xfrm>
              <a:prstGeom prst="ellipse">
                <a:avLst/>
              </a:prstGeom>
              <a:solidFill>
                <a:srgbClr val="C62828"/>
              </a:solidFill>
              <a:ln>
                <a:noFill/>
              </a:ln>
            </p:spPr>
            <p:txBody>
              <a:bodyPr rtlCol="0" anchor="ctr" lIns="54864" tIns="54864" rIns="54864" bIns="54864" wrap="square">
                <a:noAutofit/>
              </a:bodyPr>
              <a:lstStyle/>
              <a:p>
                <a:pPr algn="ctr"/>
              </a:p>
            </p:txBody>
          </p:sp>
          <p:pic>
            <p:nvPicPr>
              <p:cNvPr id="22" name="Picture 21" descr="warning.png"/>
              <p:cNvPicPr>
                <a:picLocks noChangeAspect="1"/>
              </p:cNvPicPr>
              <p:nvPr/>
            </p:nvPicPr>
            <p:blipFill>
              <a:blip r:embed="rId3"/>
              <a:stretch>
                <a:fillRect/>
              </a:stretch>
            </p:blipFill>
            <p:spPr>
              <a:xfrm>
                <a:off x="759866" y="2945282"/>
                <a:ext cx="181051" cy="181051"/>
              </a:xfrm>
              <a:prstGeom prst="rect">
                <a:avLst/>
              </a:prstGeom>
            </p:spPr>
          </p:pic>
        </p:grpSp>
        <p:sp>
          <p:nvSpPr>
            <p:cNvPr id="23" name="TextBox 22"/>
            <p:cNvSpPr txBox="1"/>
            <p:nvPr/>
          </p:nvSpPr>
          <p:spPr>
            <a:xfrm>
              <a:off x="1124712" y="2862072"/>
              <a:ext cx="3108960" cy="347472"/>
            </a:xfrm>
            <a:prstGeom prst="rect">
              <a:avLst/>
            </a:prstGeom>
            <a:noFill/>
          </p:spPr>
          <p:txBody>
            <a:bodyPr wrap="square" lIns="0" tIns="0" rIns="0" bIns="0" anchor="ctr">
              <a:noAutofit/>
            </a:bodyPr>
            <a:lstStyle/>
            <a:p>
              <a:pPr algn="l"/>
              <a:r>
                <a:rPr sz="1450" b="1" i="0" lang="vi-VN">
                  <a:solidFill>
                    <a:srgbClr val="1E2B3A"/>
                  </a:solidFill>
                  <a:latin typeface="Arial"/>
                  <a:ea typeface="Arial"/>
                  <a:cs typeface="Arial"/>
                </a:rPr>
                <a:t>Vấn đề hiện tại</a:t>
              </a:r>
            </a:p>
          </p:txBody>
        </p:sp>
      </p:grpSp>
      <p:grpSp>
        <p:nvGrpSpPr>
          <p:cNvPr id="24" name="Group 23"/>
          <p:cNvGrpSpPr/>
          <p:nvPr/>
        </p:nvGrpSpPr>
        <p:grpSpPr>
          <a:xfrm>
            <a:off x="685800" y="3255264"/>
            <a:ext cx="3547872" cy="347472"/>
            <a:chOff x="685800" y="3255264"/>
            <a:chExt cx="3547872" cy="347472"/>
          </a:xfrm>
        </p:grpSpPr>
        <p:grpSp>
          <p:nvGrpSpPr>
            <p:cNvPr id="25" name="Group 24"/>
            <p:cNvGrpSpPr/>
            <p:nvPr/>
          </p:nvGrpSpPr>
          <p:grpSpPr>
            <a:xfrm>
              <a:off x="685800" y="3264408"/>
              <a:ext cx="329184" cy="329184"/>
              <a:chOff x="685800" y="3264408"/>
              <a:chExt cx="329184" cy="329184"/>
            </a:xfrm>
          </p:grpSpPr>
          <p:sp>
            <p:nvSpPr>
              <p:cNvPr id="26" name="Oval 25"/>
              <p:cNvSpPr/>
              <p:nvPr/>
            </p:nvSpPr>
            <p:spPr>
              <a:xfrm>
                <a:off x="685800" y="3264408"/>
                <a:ext cx="329184" cy="329184"/>
              </a:xfrm>
              <a:prstGeom prst="ellipse">
                <a:avLst/>
              </a:prstGeom>
              <a:solidFill>
                <a:srgbClr val="0A5FA8"/>
              </a:solidFill>
              <a:ln>
                <a:noFill/>
              </a:ln>
            </p:spPr>
            <p:txBody>
              <a:bodyPr rtlCol="0" anchor="ctr" lIns="54864" tIns="54864" rIns="54864" bIns="54864" wrap="square">
                <a:noAutofit/>
              </a:bodyPr>
              <a:lstStyle/>
              <a:p>
                <a:pPr algn="ctr"/>
              </a:p>
            </p:txBody>
          </p:sp>
          <p:pic>
            <p:nvPicPr>
              <p:cNvPr id="27" name="Picture 26" descr="flask.png"/>
              <p:cNvPicPr>
                <a:picLocks noChangeAspect="1"/>
              </p:cNvPicPr>
              <p:nvPr/>
            </p:nvPicPr>
            <p:blipFill>
              <a:blip r:embed="rId4"/>
              <a:stretch>
                <a:fillRect/>
              </a:stretch>
            </p:blipFill>
            <p:spPr>
              <a:xfrm>
                <a:off x="759866" y="3338474"/>
                <a:ext cx="181051" cy="181051"/>
              </a:xfrm>
              <a:prstGeom prst="rect">
                <a:avLst/>
              </a:prstGeom>
            </p:spPr>
          </p:pic>
        </p:grpSp>
        <p:sp>
          <p:nvSpPr>
            <p:cNvPr id="28" name="TextBox 27"/>
            <p:cNvSpPr txBox="1"/>
            <p:nvPr/>
          </p:nvSpPr>
          <p:spPr>
            <a:xfrm>
              <a:off x="1124712" y="3255264"/>
              <a:ext cx="3108960" cy="347472"/>
            </a:xfrm>
            <a:prstGeom prst="rect">
              <a:avLst/>
            </a:prstGeom>
            <a:noFill/>
          </p:spPr>
          <p:txBody>
            <a:bodyPr wrap="square" lIns="0" tIns="0" rIns="0" bIns="0" anchor="ctr">
              <a:noAutofit/>
            </a:bodyPr>
            <a:lstStyle/>
            <a:p>
              <a:pPr algn="l"/>
              <a:r>
                <a:rPr sz="1450" b="0" i="0" lang="vi-VN">
                  <a:solidFill>
                    <a:srgbClr val="1E2B3A"/>
                  </a:solidFill>
                  <a:latin typeface="Arial"/>
                  <a:ea typeface="Arial"/>
                  <a:cs typeface="Arial"/>
                </a:rPr>
                <a:t>Mô phỏng khảo sát</a:t>
              </a:r>
            </a:p>
          </p:txBody>
        </p:sp>
      </p:grpSp>
      <p:grpSp>
        <p:nvGrpSpPr>
          <p:cNvPr id="29" name="Group 28"/>
          <p:cNvGrpSpPr/>
          <p:nvPr/>
        </p:nvGrpSpPr>
        <p:grpSpPr>
          <a:xfrm>
            <a:off x="685800" y="3648456"/>
            <a:ext cx="3547872" cy="347472"/>
            <a:chOff x="685800" y="3648456"/>
            <a:chExt cx="3547872" cy="347472"/>
          </a:xfrm>
        </p:grpSpPr>
        <p:grpSp>
          <p:nvGrpSpPr>
            <p:cNvPr id="30" name="Group 29"/>
            <p:cNvGrpSpPr/>
            <p:nvPr/>
          </p:nvGrpSpPr>
          <p:grpSpPr>
            <a:xfrm>
              <a:off x="685800" y="3657600"/>
              <a:ext cx="329184" cy="329184"/>
              <a:chOff x="685800" y="3657600"/>
              <a:chExt cx="329184" cy="329184"/>
            </a:xfrm>
          </p:grpSpPr>
          <p:sp>
            <p:nvSpPr>
              <p:cNvPr id="31" name="Oval 30"/>
              <p:cNvSpPr/>
              <p:nvPr/>
            </p:nvSpPr>
            <p:spPr>
              <a:xfrm>
                <a:off x="685800" y="3657600"/>
                <a:ext cx="329184" cy="329184"/>
              </a:xfrm>
              <a:prstGeom prst="ellipse">
                <a:avLst/>
              </a:prstGeom>
              <a:solidFill>
                <a:srgbClr val="0A5FA8"/>
              </a:solidFill>
              <a:ln>
                <a:noFill/>
              </a:ln>
            </p:spPr>
            <p:txBody>
              <a:bodyPr rtlCol="0" anchor="ctr" lIns="54864" tIns="54864" rIns="54864" bIns="54864" wrap="square">
                <a:noAutofit/>
              </a:bodyPr>
              <a:lstStyle/>
              <a:p>
                <a:pPr algn="ctr"/>
              </a:p>
            </p:txBody>
          </p:sp>
          <p:pic>
            <p:nvPicPr>
              <p:cNvPr id="32" name="Picture 31" descr="sliders.png"/>
              <p:cNvPicPr>
                <a:picLocks noChangeAspect="1"/>
              </p:cNvPicPr>
              <p:nvPr/>
            </p:nvPicPr>
            <p:blipFill>
              <a:blip r:embed="rId5"/>
              <a:stretch>
                <a:fillRect/>
              </a:stretch>
            </p:blipFill>
            <p:spPr>
              <a:xfrm>
                <a:off x="759866" y="3731666"/>
                <a:ext cx="181051" cy="181051"/>
              </a:xfrm>
              <a:prstGeom prst="rect">
                <a:avLst/>
              </a:prstGeom>
            </p:spPr>
          </p:pic>
        </p:grpSp>
        <p:sp>
          <p:nvSpPr>
            <p:cNvPr id="33" name="TextBox 32"/>
            <p:cNvSpPr txBox="1"/>
            <p:nvPr/>
          </p:nvSpPr>
          <p:spPr>
            <a:xfrm>
              <a:off x="1124712" y="3648456"/>
              <a:ext cx="3108960" cy="347472"/>
            </a:xfrm>
            <a:prstGeom prst="rect">
              <a:avLst/>
            </a:prstGeom>
            <a:noFill/>
          </p:spPr>
          <p:txBody>
            <a:bodyPr wrap="square" lIns="0" tIns="0" rIns="0" bIns="0" anchor="ctr">
              <a:noAutofit/>
            </a:bodyPr>
            <a:lstStyle/>
            <a:p>
              <a:pPr algn="l"/>
              <a:r>
                <a:rPr sz="1450" b="0" i="0" lang="vi-VN">
                  <a:solidFill>
                    <a:srgbClr val="1E2B3A"/>
                  </a:solidFill>
                  <a:latin typeface="Arial"/>
                  <a:ea typeface="Arial"/>
                  <a:cs typeface="Arial"/>
                </a:rPr>
                <a:t>Các phương án, tham số</a:t>
              </a:r>
            </a:p>
          </p:txBody>
        </p:sp>
      </p:grpSp>
      <p:grpSp>
        <p:nvGrpSpPr>
          <p:cNvPr id="34" name="Group 33"/>
          <p:cNvGrpSpPr/>
          <p:nvPr/>
        </p:nvGrpSpPr>
        <p:grpSpPr>
          <a:xfrm>
            <a:off x="685800" y="4041648"/>
            <a:ext cx="3547872" cy="347472"/>
            <a:chOff x="685800" y="4041648"/>
            <a:chExt cx="3547872" cy="347472"/>
          </a:xfrm>
        </p:grpSpPr>
        <p:grpSp>
          <p:nvGrpSpPr>
            <p:cNvPr id="35" name="Group 34"/>
            <p:cNvGrpSpPr/>
            <p:nvPr/>
          </p:nvGrpSpPr>
          <p:grpSpPr>
            <a:xfrm>
              <a:off x="685800" y="4050792"/>
              <a:ext cx="329184" cy="329184"/>
              <a:chOff x="685800" y="4050792"/>
              <a:chExt cx="329184" cy="329184"/>
            </a:xfrm>
          </p:grpSpPr>
          <p:sp>
            <p:nvSpPr>
              <p:cNvPr id="36" name="Oval 35"/>
              <p:cNvSpPr/>
              <p:nvPr/>
            </p:nvSpPr>
            <p:spPr>
              <a:xfrm>
                <a:off x="685800" y="4050792"/>
                <a:ext cx="329184" cy="329184"/>
              </a:xfrm>
              <a:prstGeom prst="ellipse">
                <a:avLst/>
              </a:prstGeom>
              <a:solidFill>
                <a:srgbClr val="0A5FA8"/>
              </a:solidFill>
              <a:ln>
                <a:noFill/>
              </a:ln>
            </p:spPr>
            <p:txBody>
              <a:bodyPr rtlCol="0" anchor="ctr" lIns="54864" tIns="54864" rIns="54864" bIns="54864" wrap="square">
                <a:noAutofit/>
              </a:bodyPr>
              <a:lstStyle/>
              <a:p>
                <a:pPr algn="ctr"/>
              </a:p>
            </p:txBody>
          </p:sp>
          <p:pic>
            <p:nvPicPr>
              <p:cNvPr id="37" name="Picture 36" descr="check.png"/>
              <p:cNvPicPr>
                <a:picLocks noChangeAspect="1"/>
              </p:cNvPicPr>
              <p:nvPr/>
            </p:nvPicPr>
            <p:blipFill>
              <a:blip r:embed="rId6"/>
              <a:stretch>
                <a:fillRect/>
              </a:stretch>
            </p:blipFill>
            <p:spPr>
              <a:xfrm>
                <a:off x="759866" y="4124858"/>
                <a:ext cx="181051" cy="181051"/>
              </a:xfrm>
              <a:prstGeom prst="rect">
                <a:avLst/>
              </a:prstGeom>
            </p:spPr>
          </p:pic>
        </p:grpSp>
        <p:sp>
          <p:nvSpPr>
            <p:cNvPr id="38" name="TextBox 37"/>
            <p:cNvSpPr txBox="1"/>
            <p:nvPr/>
          </p:nvSpPr>
          <p:spPr>
            <a:xfrm>
              <a:off x="1124712" y="4041648"/>
              <a:ext cx="3108960" cy="347472"/>
            </a:xfrm>
            <a:prstGeom prst="rect">
              <a:avLst/>
            </a:prstGeom>
            <a:noFill/>
          </p:spPr>
          <p:txBody>
            <a:bodyPr wrap="square" lIns="0" tIns="0" rIns="0" bIns="0" anchor="ctr">
              <a:noAutofit/>
            </a:bodyPr>
            <a:lstStyle/>
            <a:p>
              <a:pPr algn="l"/>
              <a:r>
                <a:rPr sz="1450" b="0" i="0" lang="vi-VN">
                  <a:solidFill>
                    <a:srgbClr val="1E2B3A"/>
                  </a:solidFill>
                  <a:latin typeface="Arial"/>
                  <a:ea typeface="Arial"/>
                  <a:cs typeface="Arial"/>
                </a:rPr>
                <a:t>Lựa chọn tham số</a:t>
              </a:r>
            </a:p>
          </p:txBody>
        </p:sp>
      </p:grpSp>
      <p:grpSp>
        <p:nvGrpSpPr>
          <p:cNvPr id="39" name="Group 38"/>
          <p:cNvGrpSpPr/>
          <p:nvPr/>
        </p:nvGrpSpPr>
        <p:grpSpPr>
          <a:xfrm>
            <a:off x="685800" y="4434840"/>
            <a:ext cx="3547872" cy="347472"/>
            <a:chOff x="685800" y="4434840"/>
            <a:chExt cx="3547872" cy="347472"/>
          </a:xfrm>
        </p:grpSpPr>
        <p:grpSp>
          <p:nvGrpSpPr>
            <p:cNvPr id="40" name="Group 39"/>
            <p:cNvGrpSpPr/>
            <p:nvPr/>
          </p:nvGrpSpPr>
          <p:grpSpPr>
            <a:xfrm>
              <a:off x="685800" y="4443984"/>
              <a:ext cx="329184" cy="329184"/>
              <a:chOff x="685800" y="4443984"/>
              <a:chExt cx="329184" cy="329184"/>
            </a:xfrm>
          </p:grpSpPr>
          <p:sp>
            <p:nvSpPr>
              <p:cNvPr id="41" name="Oval 40"/>
              <p:cNvSpPr/>
              <p:nvPr/>
            </p:nvSpPr>
            <p:spPr>
              <a:xfrm>
                <a:off x="685800" y="4443984"/>
                <a:ext cx="329184" cy="329184"/>
              </a:xfrm>
              <a:prstGeom prst="ellipse">
                <a:avLst/>
              </a:prstGeom>
              <a:solidFill>
                <a:srgbClr val="0A5FA8"/>
              </a:solidFill>
              <a:ln>
                <a:noFill/>
              </a:ln>
            </p:spPr>
            <p:txBody>
              <a:bodyPr rtlCol="0" anchor="ctr" lIns="54864" tIns="54864" rIns="54864" bIns="54864" wrap="square">
                <a:noAutofit/>
              </a:bodyPr>
              <a:lstStyle/>
              <a:p>
                <a:pPr algn="ctr"/>
              </a:p>
            </p:txBody>
          </p:sp>
          <p:pic>
            <p:nvPicPr>
              <p:cNvPr id="42" name="Picture 41" descr="cogs.png"/>
              <p:cNvPicPr>
                <a:picLocks noChangeAspect="1"/>
              </p:cNvPicPr>
              <p:nvPr/>
            </p:nvPicPr>
            <p:blipFill>
              <a:blip r:embed="rId7"/>
              <a:stretch>
                <a:fillRect/>
              </a:stretch>
            </p:blipFill>
            <p:spPr>
              <a:xfrm>
                <a:off x="759866" y="4518050"/>
                <a:ext cx="181051" cy="181051"/>
              </a:xfrm>
              <a:prstGeom prst="rect">
                <a:avLst/>
              </a:prstGeom>
            </p:spPr>
          </p:pic>
        </p:grpSp>
        <p:sp>
          <p:nvSpPr>
            <p:cNvPr id="43" name="TextBox 42"/>
            <p:cNvSpPr txBox="1"/>
            <p:nvPr/>
          </p:nvSpPr>
          <p:spPr>
            <a:xfrm>
              <a:off x="1124712" y="4434840"/>
              <a:ext cx="3108960" cy="347472"/>
            </a:xfrm>
            <a:prstGeom prst="rect">
              <a:avLst/>
            </a:prstGeom>
            <a:noFill/>
          </p:spPr>
          <p:txBody>
            <a:bodyPr wrap="square" lIns="0" tIns="0" rIns="0" bIns="0" anchor="ctr">
              <a:noAutofit/>
            </a:bodyPr>
            <a:lstStyle/>
            <a:p>
              <a:pPr algn="l"/>
              <a:r>
                <a:rPr sz="1450" b="0" i="0" lang="vi-VN">
                  <a:solidFill>
                    <a:srgbClr val="1E2B3A"/>
                  </a:solidFill>
                  <a:latin typeface="Arial"/>
                  <a:ea typeface="Arial"/>
                  <a:cs typeface="Arial"/>
                </a:rPr>
                <a:t>Áp dụng lên hệ thật</a:t>
              </a:r>
            </a:p>
          </p:txBody>
        </p:sp>
      </p:grpSp>
      <p:grpSp>
        <p:nvGrpSpPr>
          <p:cNvPr id="44" name="Group 43"/>
          <p:cNvGrpSpPr/>
          <p:nvPr/>
        </p:nvGrpSpPr>
        <p:grpSpPr>
          <a:xfrm>
            <a:off x="685800" y="4828032"/>
            <a:ext cx="3547872" cy="347472"/>
            <a:chOff x="685800" y="4828032"/>
            <a:chExt cx="3547872" cy="347472"/>
          </a:xfrm>
        </p:grpSpPr>
        <p:grpSp>
          <p:nvGrpSpPr>
            <p:cNvPr id="45" name="Group 44"/>
            <p:cNvGrpSpPr/>
            <p:nvPr/>
          </p:nvGrpSpPr>
          <p:grpSpPr>
            <a:xfrm>
              <a:off x="685800" y="4837176"/>
              <a:ext cx="329184" cy="329184"/>
              <a:chOff x="685800" y="4837176"/>
              <a:chExt cx="329184" cy="329184"/>
            </a:xfrm>
          </p:grpSpPr>
          <p:sp>
            <p:nvSpPr>
              <p:cNvPr id="46" name="Oval 45"/>
              <p:cNvSpPr/>
              <p:nvPr/>
            </p:nvSpPr>
            <p:spPr>
              <a:xfrm>
                <a:off x="685800" y="4837176"/>
                <a:ext cx="329184" cy="329184"/>
              </a:xfrm>
              <a:prstGeom prst="ellipse">
                <a:avLst/>
              </a:prstGeom>
              <a:solidFill>
                <a:srgbClr val="0A5FA8"/>
              </a:solidFill>
              <a:ln>
                <a:noFill/>
              </a:ln>
            </p:spPr>
            <p:txBody>
              <a:bodyPr rtlCol="0" anchor="ctr" lIns="54864" tIns="54864" rIns="54864" bIns="54864" wrap="square">
                <a:noAutofit/>
              </a:bodyPr>
              <a:lstStyle/>
              <a:p>
                <a:pPr algn="ctr"/>
              </a:p>
            </p:txBody>
          </p:sp>
          <p:pic>
            <p:nvPicPr>
              <p:cNvPr id="47" name="Picture 46" descr="balance.png"/>
              <p:cNvPicPr>
                <a:picLocks noChangeAspect="1"/>
              </p:cNvPicPr>
              <p:nvPr/>
            </p:nvPicPr>
            <p:blipFill>
              <a:blip r:embed="rId8"/>
              <a:stretch>
                <a:fillRect/>
              </a:stretch>
            </p:blipFill>
            <p:spPr>
              <a:xfrm>
                <a:off x="759866" y="4911242"/>
                <a:ext cx="181051" cy="181051"/>
              </a:xfrm>
              <a:prstGeom prst="rect">
                <a:avLst/>
              </a:prstGeom>
            </p:spPr>
          </p:pic>
        </p:grpSp>
        <p:sp>
          <p:nvSpPr>
            <p:cNvPr id="48" name="TextBox 47"/>
            <p:cNvSpPr txBox="1"/>
            <p:nvPr/>
          </p:nvSpPr>
          <p:spPr>
            <a:xfrm>
              <a:off x="1124712" y="4828032"/>
              <a:ext cx="3108960" cy="347472"/>
            </a:xfrm>
            <a:prstGeom prst="rect">
              <a:avLst/>
            </a:prstGeom>
            <a:noFill/>
          </p:spPr>
          <p:txBody>
            <a:bodyPr wrap="square" lIns="0" tIns="0" rIns="0" bIns="0" anchor="ctr">
              <a:noAutofit/>
            </a:bodyPr>
            <a:lstStyle/>
            <a:p>
              <a:pPr algn="l"/>
              <a:r>
                <a:rPr sz="1450" b="0" i="0" lang="vi-VN">
                  <a:solidFill>
                    <a:srgbClr val="1E2B3A"/>
                  </a:solidFill>
                  <a:latin typeface="Arial"/>
                  <a:ea typeface="Arial"/>
                  <a:cs typeface="Arial"/>
                </a:rPr>
                <a:t>So sánh trước / sau</a:t>
              </a:r>
            </a:p>
          </p:txBody>
        </p:sp>
      </p:grpSp>
      <p:grpSp>
        <p:nvGrpSpPr>
          <p:cNvPr id="49" name="Group 48"/>
          <p:cNvGrpSpPr/>
          <p:nvPr/>
        </p:nvGrpSpPr>
        <p:grpSpPr>
          <a:xfrm>
            <a:off x="685800" y="5221224"/>
            <a:ext cx="3547872" cy="347472"/>
            <a:chOff x="685800" y="5221224"/>
            <a:chExt cx="3547872" cy="347472"/>
          </a:xfrm>
        </p:grpSpPr>
        <p:grpSp>
          <p:nvGrpSpPr>
            <p:cNvPr id="50" name="Group 49"/>
            <p:cNvGrpSpPr/>
            <p:nvPr/>
          </p:nvGrpSpPr>
          <p:grpSpPr>
            <a:xfrm>
              <a:off x="685800" y="5230368"/>
              <a:ext cx="329184" cy="329184"/>
              <a:chOff x="685800" y="5230368"/>
              <a:chExt cx="329184" cy="329184"/>
            </a:xfrm>
          </p:grpSpPr>
          <p:sp>
            <p:nvSpPr>
              <p:cNvPr id="51" name="Oval 50"/>
              <p:cNvSpPr/>
              <p:nvPr/>
            </p:nvSpPr>
            <p:spPr>
              <a:xfrm>
                <a:off x="685800" y="5230368"/>
                <a:ext cx="329184" cy="329184"/>
              </a:xfrm>
              <a:prstGeom prst="ellipse">
                <a:avLst/>
              </a:prstGeom>
              <a:solidFill>
                <a:srgbClr val="E8710A"/>
              </a:solidFill>
              <a:ln>
                <a:noFill/>
              </a:ln>
            </p:spPr>
            <p:txBody>
              <a:bodyPr rtlCol="0" anchor="ctr" lIns="54864" tIns="54864" rIns="54864" bIns="54864" wrap="square">
                <a:noAutofit/>
              </a:bodyPr>
              <a:lstStyle/>
              <a:p>
                <a:pPr algn="ctr"/>
              </a:p>
            </p:txBody>
          </p:sp>
          <p:pic>
            <p:nvPicPr>
              <p:cNvPr id="52" name="Picture 51" descr="chartline.png"/>
              <p:cNvPicPr>
                <a:picLocks noChangeAspect="1"/>
              </p:cNvPicPr>
              <p:nvPr/>
            </p:nvPicPr>
            <p:blipFill>
              <a:blip r:embed="rId9"/>
              <a:stretch>
                <a:fillRect/>
              </a:stretch>
            </p:blipFill>
            <p:spPr>
              <a:xfrm>
                <a:off x="759866" y="5304434"/>
                <a:ext cx="181051" cy="181051"/>
              </a:xfrm>
              <a:prstGeom prst="rect">
                <a:avLst/>
              </a:prstGeom>
            </p:spPr>
          </p:pic>
        </p:grpSp>
        <p:sp>
          <p:nvSpPr>
            <p:cNvPr id="53" name="TextBox 52"/>
            <p:cNvSpPr txBox="1"/>
            <p:nvPr/>
          </p:nvSpPr>
          <p:spPr>
            <a:xfrm>
              <a:off x="1124712" y="5221224"/>
              <a:ext cx="3108960" cy="347472"/>
            </a:xfrm>
            <a:prstGeom prst="rect">
              <a:avLst/>
            </a:prstGeom>
            <a:noFill/>
          </p:spPr>
          <p:txBody>
            <a:bodyPr wrap="square" lIns="0" tIns="0" rIns="0" bIns="0" anchor="ctr">
              <a:noAutofit/>
            </a:bodyPr>
            <a:lstStyle/>
            <a:p>
              <a:pPr algn="l"/>
              <a:r>
                <a:rPr sz="1450" b="1" i="0" lang="vi-VN">
                  <a:solidFill>
                    <a:srgbClr val="1E2B3A"/>
                  </a:solidFill>
                  <a:latin typeface="Arial"/>
                  <a:ea typeface="Arial"/>
                  <a:cs typeface="Arial"/>
                </a:rPr>
                <a:t>Mức cải thiện · Yaw và Pitch</a:t>
              </a:r>
            </a:p>
          </p:txBody>
        </p:sp>
      </p:grpSp>
      <p:sp>
        <p:nvSpPr>
          <p:cNvPr id="54" name="TextBox 53"/>
          <p:cNvSpPr txBox="1"/>
          <p:nvPr/>
        </p:nvSpPr>
        <p:spPr>
          <a:xfrm>
            <a:off x="640080" y="5641848"/>
            <a:ext cx="3611880" cy="365760"/>
          </a:xfrm>
          <a:prstGeom prst="rect">
            <a:avLst/>
          </a:prstGeom>
          <a:noFill/>
        </p:spPr>
        <p:txBody>
          <a:bodyPr wrap="square" lIns="0" tIns="0" rIns="0" bIns="0" anchor="ctr">
            <a:noAutofit/>
          </a:bodyPr>
          <a:lstStyle/>
          <a:p>
            <a:pPr algn="l"/>
            <a:r>
              <a:rPr sz="1200" b="0" i="1" lang="vi-VN">
                <a:solidFill>
                  <a:srgbClr val="5B6B7B"/>
                </a:solidFill>
                <a:latin typeface="Arial"/>
                <a:ea typeface="Arial"/>
                <a:cs typeface="Arial"/>
              </a:rPr>
              <a:t>Cấu hình sau mỗi bước = đối chứng của bước tiếp theo</a:t>
            </a:r>
          </a:p>
        </p:txBody>
      </p:sp>
      <p:sp>
        <p:nvSpPr>
          <p:cNvPr id="55" name="Rounded Rectangle 54"/>
          <p:cNvSpPr/>
          <p:nvPr/>
        </p:nvSpPr>
        <p:spPr>
          <a:xfrm>
            <a:off x="4526280" y="2468880"/>
            <a:ext cx="7178040" cy="3584448"/>
          </a:xfrm>
          <a:prstGeom prst="roundRect">
            <a:avLst>
              <a:gd name="adj" fmla="val 255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56" name="Picture 55" descr="flask_0A5FA8.png"/>
          <p:cNvPicPr>
            <a:picLocks noChangeAspect="1"/>
          </p:cNvPicPr>
          <p:nvPr/>
        </p:nvPicPr>
        <p:blipFill>
          <a:blip r:embed="rId10"/>
          <a:stretch>
            <a:fillRect/>
          </a:stretch>
        </p:blipFill>
        <p:spPr>
          <a:xfrm>
            <a:off x="4663440" y="2551176"/>
            <a:ext cx="237744" cy="237744"/>
          </a:xfrm>
          <a:prstGeom prst="rect">
            <a:avLst/>
          </a:prstGeom>
        </p:spPr>
      </p:pic>
      <p:sp>
        <p:nvSpPr>
          <p:cNvPr id="57" name="TextBox 56"/>
          <p:cNvSpPr txBox="1"/>
          <p:nvPr/>
        </p:nvSpPr>
        <p:spPr>
          <a:xfrm>
            <a:off x="4992624" y="2523744"/>
            <a:ext cx="332841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MÔ HÌNH MÔ PHỎNG (3.1)</a:t>
            </a:r>
          </a:p>
        </p:txBody>
      </p:sp>
      <p:grpSp>
        <p:nvGrpSpPr>
          <p:cNvPr id="58" name="Group 57"/>
          <p:cNvGrpSpPr/>
          <p:nvPr/>
        </p:nvGrpSpPr>
        <p:grpSpPr>
          <a:xfrm>
            <a:off x="4663440" y="2834640"/>
            <a:ext cx="6949440" cy="530352"/>
            <a:chOff x="4663440" y="2834640"/>
            <a:chExt cx="6949440" cy="530352"/>
          </a:xfrm>
        </p:grpSpPr>
        <p:sp>
          <p:nvSpPr>
            <p:cNvPr id="59" name="TextBox 58"/>
            <p:cNvSpPr txBox="1"/>
            <p:nvPr/>
          </p:nvSpPr>
          <p:spPr>
            <a:xfrm>
              <a:off x="4663440" y="2852928"/>
              <a:ext cx="3383280" cy="475488"/>
            </a:xfrm>
            <a:prstGeom prst="rect">
              <a:avLst/>
            </a:prstGeom>
            <a:noFill/>
          </p:spPr>
          <p:txBody>
            <a:bodyPr wrap="square" lIns="0" tIns="0" rIns="0" bIns="0" anchor="ctr">
              <a:noAutofit/>
            </a:bodyPr>
            <a:lstStyle/>
            <a:p>
              <a:pPr algn="l"/>
              <a:r>
                <a:rPr sz="1900" b="0" i="1" lang="vi-VN">
                  <a:solidFill>
                    <a:srgbClr val="0B2545"/>
                  </a:solidFill>
                  <a:latin typeface="Cambria"/>
                  <a:ea typeface="Cambria"/>
                  <a:cs typeface="Cambria"/>
                </a:rPr>
                <a:t>G</a:t>
              </a:r>
              <a:r>
                <a:rPr sz="1900" b="0" i="0" lang="vi-VN" baseline="-25000">
                  <a:solidFill>
                    <a:srgbClr val="0B2545"/>
                  </a:solidFill>
                  <a:latin typeface="Cambria"/>
                  <a:ea typeface="Cambria"/>
                  <a:cs typeface="Cambria"/>
                </a:rPr>
                <a:t>m</a:t>
              </a:r>
              <a:r>
                <a:rPr sz="1900" b="0" i="0" lang="vi-VN">
                  <a:solidFill>
                    <a:srgbClr val="0B2545"/>
                  </a:solidFill>
                  <a:latin typeface="Cambria"/>
                  <a:ea typeface="Cambria"/>
                  <a:cs typeface="Cambria"/>
                </a:rPr>
                <a:t>(</a:t>
              </a:r>
              <a:r>
                <a:rPr sz="1900" b="0" i="1" lang="vi-VN">
                  <a:solidFill>
                    <a:srgbClr val="0B2545"/>
                  </a:solidFill>
                  <a:latin typeface="Cambria"/>
                  <a:ea typeface="Cambria"/>
                  <a:cs typeface="Cambria"/>
                </a:rPr>
                <a:t>s</a:t>
              </a:r>
              <a:r>
                <a:rPr sz="1900" b="0" i="0" lang="vi-VN">
                  <a:solidFill>
                    <a:srgbClr val="0B2545"/>
                  </a:solidFill>
                  <a:latin typeface="Cambria"/>
                  <a:ea typeface="Cambria"/>
                  <a:cs typeface="Cambria"/>
                </a:rPr>
                <a:t>) = exp(−</a:t>
              </a:r>
              <a:r>
                <a:rPr sz="1900" b="0" i="1" lang="vi-VN">
                  <a:solidFill>
                    <a:srgbClr val="0B2545"/>
                  </a:solidFill>
                  <a:latin typeface="Cambria"/>
                  <a:ea typeface="Cambria"/>
                  <a:cs typeface="Cambria"/>
                </a:rPr>
                <a:t>τ</a:t>
              </a:r>
              <a:r>
                <a:rPr sz="1900" b="0" i="0" lang="vi-VN" baseline="-25000">
                  <a:solidFill>
                    <a:srgbClr val="0B2545"/>
                  </a:solidFill>
                  <a:latin typeface="Cambria"/>
                  <a:ea typeface="Cambria"/>
                  <a:cs typeface="Cambria"/>
                </a:rPr>
                <a:t>d</a:t>
              </a:r>
              <a:r>
                <a:rPr sz="1900" b="0" i="1" lang="vi-VN">
                  <a:solidFill>
                    <a:srgbClr val="0B2545"/>
                  </a:solidFill>
                  <a:latin typeface="Cambria"/>
                  <a:ea typeface="Cambria"/>
                  <a:cs typeface="Cambria"/>
                </a:rPr>
                <a:t>s</a:t>
              </a:r>
              <a:r>
                <a:rPr sz="1900" b="0" i="0" lang="vi-VN">
                  <a:solidFill>
                    <a:srgbClr val="0B2545"/>
                  </a:solidFill>
                  <a:latin typeface="Cambria"/>
                  <a:ea typeface="Cambria"/>
                  <a:cs typeface="Cambria"/>
                </a:rPr>
                <a:t>) / (</a:t>
              </a:r>
              <a:r>
                <a:rPr sz="1900" b="0" i="1" lang="vi-VN">
                  <a:solidFill>
                    <a:srgbClr val="0B2545"/>
                  </a:solidFill>
                  <a:latin typeface="Cambria"/>
                  <a:ea typeface="Cambria"/>
                  <a:cs typeface="Cambria"/>
                </a:rPr>
                <a:t>T</a:t>
              </a:r>
              <a:r>
                <a:rPr sz="1900" b="0" i="0" lang="vi-VN" baseline="-25000">
                  <a:solidFill>
                    <a:srgbClr val="0B2545"/>
                  </a:solidFill>
                  <a:latin typeface="Cambria"/>
                  <a:ea typeface="Cambria"/>
                  <a:cs typeface="Cambria"/>
                </a:rPr>
                <a:t>m</a:t>
              </a:r>
              <a:r>
                <a:rPr sz="1900" b="0" i="1" lang="vi-VN">
                  <a:solidFill>
                    <a:srgbClr val="0B2545"/>
                  </a:solidFill>
                  <a:latin typeface="Cambria"/>
                  <a:ea typeface="Cambria"/>
                  <a:cs typeface="Cambria"/>
                </a:rPr>
                <a:t>s</a:t>
              </a:r>
              <a:r>
                <a:rPr sz="1900" b="0" i="0" lang="vi-VN">
                  <a:solidFill>
                    <a:srgbClr val="0B2545"/>
                  </a:solidFill>
                  <a:latin typeface="Cambria"/>
                  <a:ea typeface="Cambria"/>
                  <a:cs typeface="Cambria"/>
                </a:rPr>
                <a:t> + 1)</a:t>
              </a:r>
            </a:p>
          </p:txBody>
        </p:sp>
        <p:sp>
          <p:nvSpPr>
            <p:cNvPr id="60" name="TextBox 59"/>
            <p:cNvSpPr txBox="1"/>
            <p:nvPr/>
          </p:nvSpPr>
          <p:spPr>
            <a:xfrm>
              <a:off x="8138160" y="2834640"/>
              <a:ext cx="3474720" cy="530352"/>
            </a:xfrm>
            <a:prstGeom prst="rect">
              <a:avLst/>
            </a:prstGeom>
            <a:noFill/>
          </p:spPr>
          <p:txBody>
            <a:bodyPr wrap="square" lIns="0" tIns="0" rIns="0" bIns="0" anchor="ctr">
              <a:noAutofit/>
            </a:bodyPr>
            <a:lstStyle/>
            <a:p>
              <a:pPr algn="l">
                <a:lnSpc>
                  <a:spcPct val="95000"/>
                </a:lnSpc>
              </a:pPr>
              <a:r>
                <a:rPr sz="1250" b="0" i="1" lang="vi-VN">
                  <a:solidFill>
                    <a:srgbClr val="1E2B3A"/>
                  </a:solidFill>
                  <a:latin typeface="Cambria"/>
                  <a:ea typeface="Cambria"/>
                  <a:cs typeface="Cambria"/>
                </a:rPr>
                <a:t>τ</a:t>
              </a:r>
              <a:r>
                <a:rPr sz="1250" b="0" i="0" lang="vi-VN" baseline="-25000">
                  <a:solidFill>
                    <a:srgbClr val="1E2B3A"/>
                  </a:solidFill>
                  <a:latin typeface="Cambria"/>
                  <a:ea typeface="Cambria"/>
                  <a:cs typeface="Cambria"/>
                </a:rPr>
                <a:t>d</a:t>
              </a:r>
              <a:r>
                <a:rPr sz="1250" b="0" i="0" lang="vi-VN">
                  <a:solidFill>
                    <a:srgbClr val="1E2B3A"/>
                  </a:solidFill>
                  <a:latin typeface="Arial"/>
                  <a:ea typeface="Arial"/>
                  <a:cs typeface="Arial"/>
                </a:rPr>
                <a:t> = 12 ms, bước tính 2 ms · </a:t>
              </a:r>
              <a:r>
                <a:rPr sz="1250" b="0" i="1" lang="vi-VN">
                  <a:solidFill>
                    <a:srgbClr val="1E2B3A"/>
                  </a:solidFill>
                  <a:latin typeface="Cambria"/>
                  <a:ea typeface="Cambria"/>
                  <a:cs typeface="Cambria"/>
                </a:rPr>
                <a:t>T</a:t>
              </a:r>
              <a:r>
                <a:rPr sz="1250" b="0" i="0" lang="vi-VN" baseline="-25000">
                  <a:solidFill>
                    <a:srgbClr val="1E2B3A"/>
                  </a:solidFill>
                  <a:latin typeface="Cambria"/>
                  <a:ea typeface="Cambria"/>
                  <a:cs typeface="Cambria"/>
                </a:rPr>
                <a:t>m</a:t>
              </a:r>
              <a:r>
                <a:rPr sz="1250" b="0" i="0" lang="vi-VN">
                  <a:solidFill>
                    <a:srgbClr val="1E2B3A"/>
                  </a:solidFill>
                  <a:latin typeface="Arial"/>
                  <a:ea typeface="Arial"/>
                  <a:cs typeface="Arial"/>
                </a:rPr>
                <a:t> = 13 ms (Yaw), 4 ms (Pitch)</a:t>
              </a:r>
            </a:p>
          </p:txBody>
        </p:sp>
      </p:grpSp>
      <p:pic>
        <p:nvPicPr>
          <p:cNvPr id="61" name="Picture 60" descr="fig_model.png"/>
          <p:cNvPicPr>
            <a:picLocks noChangeAspect="1"/>
          </p:cNvPicPr>
          <p:nvPr/>
        </p:nvPicPr>
        <p:blipFill>
          <a:blip r:embed="rId11"/>
          <a:stretch>
            <a:fillRect/>
          </a:stretch>
        </p:blipFill>
        <p:spPr>
          <a:xfrm>
            <a:off x="4681728" y="3346704"/>
            <a:ext cx="6858000" cy="2714625"/>
          </a:xfrm>
          <a:prstGeom prst="rect">
            <a:avLst/>
          </a:prstGeom>
        </p:spPr>
      </p:pic>
      <p:sp>
        <p:nvSpPr>
          <p:cNvPr id="62" name="Rounded Rectangle 61"/>
          <p:cNvSpPr/>
          <p:nvPr/>
        </p:nvSpPr>
        <p:spPr>
          <a:xfrm>
            <a:off x="8046720" y="2523744"/>
            <a:ext cx="3566160" cy="310896"/>
          </a:xfrm>
          <a:prstGeom prst="roundRect">
            <a:avLst>
              <a:gd name="adj" fmla="val 50000"/>
            </a:avLst>
          </a:prstGeom>
          <a:solidFill>
            <a:srgbClr val="E8710A"/>
          </a:solidFill>
          <a:ln>
            <a:noFill/>
          </a:ln>
        </p:spPr>
        <p:txBody>
          <a:bodyPr rtlCol="0" anchor="ctr" lIns="73152" tIns="18288" rIns="73152" bIns="18288" wrap="square">
            <a:noAutofit/>
          </a:bodyPr>
          <a:lstStyle/>
          <a:p>
            <a:pPr algn="ctr"/>
            <a:r>
              <a:rPr sz="1200" b="1" i="0" lang="vi-VN">
                <a:solidFill>
                  <a:srgbClr val="FFFFFF"/>
                </a:solidFill>
                <a:latin typeface="Arial"/>
                <a:ea typeface="Arial"/>
                <a:cs typeface="Arial"/>
              </a:rPr>
              <a:t>Sai lệch dạng sóng: Yaw 2,4 % · Pitch 2,2 %</a:t>
            </a:r>
          </a:p>
        </p:txBody>
      </p:sp>
      <p:sp>
        <p:nvSpPr>
          <p:cNvPr id="132"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18</a:t>
            </a:fl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par>
                          <p:cTn id="8" fill="hold">
                            <p:stCondLst>
                              <p:cond delay="3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60"/>
                                        <p:tgtEl>
                                          <p:spTgt spid="6"/>
                                        </p:tgtEl>
                                      </p:cBhvr>
                                    </p:animEffect>
                                    <p:anim calcmode="lin" valueType="num">
                                      <p:cBhvr>
                                        <p:cTn id="12" dur="260" fill="hold"/>
                                        <p:tgtEl>
                                          <p:spTgt spid="6"/>
                                        </p:tgtEl>
                                        <p:attrNameLst>
                                          <p:attrName>ppt_w</p:attrName>
                                        </p:attrNameLst>
                                      </p:cBhvr>
                                      <p:tavLst>
                                        <p:tav tm="0">
                                          <p:val>
                                            <p:strVal val="0"/>
                                          </p:val>
                                        </p:tav>
                                        <p:tav tm="100000">
                                          <p:val>
                                            <p:strVal val="#ppt_w"/>
                                          </p:val>
                                        </p:tav>
                                      </p:tavLst>
                                    </p:anim>
                                    <p:anim calcmode="lin" valueType="num">
                                      <p:cBhvr>
                                        <p:cTn id="13" dur="260" fill="hold"/>
                                        <p:tgtEl>
                                          <p:spTgt spid="6"/>
                                        </p:tgtEl>
                                        <p:attrNameLst>
                                          <p:attrName>ppt_h</p:attrName>
                                        </p:attrNameLst>
                                      </p:cBhvr>
                                      <p:tavLst>
                                        <p:tav tm="0">
                                          <p:val>
                                            <p:strVal val="0"/>
                                          </p:val>
                                        </p:tav>
                                        <p:tav tm="100000">
                                          <p:val>
                                            <p:strVal val="#ppt_h"/>
                                          </p:val>
                                        </p:tav>
                                      </p:tavLst>
                                    </p:anim>
                                  </p:childTnLst>
                                </p:cTn>
                              </p:par>
                            </p:childTnLst>
                          </p:cTn>
                        </p:par>
                        <p:par>
                          <p:cTn id="14" fill="hold">
                            <p:stCondLst>
                              <p:cond delay="560"/>
                            </p:stCondLst>
                            <p:childTnLst>
                              <p:par>
                                <p:cTn id="15" presetID="5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60"/>
                                        <p:tgtEl>
                                          <p:spTgt spid="7"/>
                                        </p:tgtEl>
                                      </p:cBhvr>
                                    </p:animEffect>
                                    <p:anim calcmode="lin" valueType="num">
                                      <p:cBhvr>
                                        <p:cTn id="18" dur="260" fill="hold"/>
                                        <p:tgtEl>
                                          <p:spTgt spid="7"/>
                                        </p:tgtEl>
                                        <p:attrNameLst>
                                          <p:attrName>ppt_w</p:attrName>
                                        </p:attrNameLst>
                                      </p:cBhvr>
                                      <p:tavLst>
                                        <p:tav tm="0">
                                          <p:val>
                                            <p:strVal val="0"/>
                                          </p:val>
                                        </p:tav>
                                        <p:tav tm="100000">
                                          <p:val>
                                            <p:strVal val="#ppt_w"/>
                                          </p:val>
                                        </p:tav>
                                      </p:tavLst>
                                    </p:anim>
                                    <p:anim calcmode="lin" valueType="num">
                                      <p:cBhvr>
                                        <p:cTn id="19" dur="260" fill="hold"/>
                                        <p:tgtEl>
                                          <p:spTgt spid="7"/>
                                        </p:tgtEl>
                                        <p:attrNameLst>
                                          <p:attrName>ppt_h</p:attrName>
                                        </p:attrNameLst>
                                      </p:cBhvr>
                                      <p:tavLst>
                                        <p:tav tm="0">
                                          <p:val>
                                            <p:strVal val="0"/>
                                          </p:val>
                                        </p:tav>
                                        <p:tav tm="100000">
                                          <p:val>
                                            <p:strVal val="#ppt_h"/>
                                          </p:val>
                                        </p:tav>
                                      </p:tavLst>
                                    </p:anim>
                                  </p:childTnLst>
                                </p:cTn>
                              </p:par>
                            </p:childTnLst>
                          </p:cTn>
                        </p:par>
                        <p:par>
                          <p:cTn id="20" fill="hold">
                            <p:stCondLst>
                              <p:cond delay="820"/>
                            </p:stCondLst>
                            <p:childTnLst>
                              <p:par>
                                <p:cTn id="21" presetID="53" presetClass="entr" presetSubtype="16"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60"/>
                                        <p:tgtEl>
                                          <p:spTgt spid="8"/>
                                        </p:tgtEl>
                                      </p:cBhvr>
                                    </p:animEffect>
                                    <p:anim calcmode="lin" valueType="num">
                                      <p:cBhvr>
                                        <p:cTn id="24" dur="260" fill="hold"/>
                                        <p:tgtEl>
                                          <p:spTgt spid="8"/>
                                        </p:tgtEl>
                                        <p:attrNameLst>
                                          <p:attrName>ppt_w</p:attrName>
                                        </p:attrNameLst>
                                      </p:cBhvr>
                                      <p:tavLst>
                                        <p:tav tm="0">
                                          <p:val>
                                            <p:strVal val="0"/>
                                          </p:val>
                                        </p:tav>
                                        <p:tav tm="100000">
                                          <p:val>
                                            <p:strVal val="#ppt_w"/>
                                          </p:val>
                                        </p:tav>
                                      </p:tavLst>
                                    </p:anim>
                                    <p:anim calcmode="lin" valueType="num">
                                      <p:cBhvr>
                                        <p:cTn id="25" dur="260" fill="hold"/>
                                        <p:tgtEl>
                                          <p:spTgt spid="8"/>
                                        </p:tgtEl>
                                        <p:attrNameLst>
                                          <p:attrName>ppt_h</p:attrName>
                                        </p:attrNameLst>
                                      </p:cBhvr>
                                      <p:tavLst>
                                        <p:tav tm="0">
                                          <p:val>
                                            <p:strVal val="0"/>
                                          </p:val>
                                        </p:tav>
                                        <p:tav tm="100000">
                                          <p:val>
                                            <p:strVal val="#ppt_h"/>
                                          </p:val>
                                        </p:tav>
                                      </p:tavLst>
                                    </p:anim>
                                  </p:childTnLst>
                                </p:cTn>
                              </p:par>
                            </p:childTnLst>
                          </p:cTn>
                        </p:par>
                        <p:par>
                          <p:cTn id="26" fill="hold">
                            <p:stCondLst>
                              <p:cond delay="1080"/>
                            </p:stCondLst>
                            <p:childTnLst>
                              <p:par>
                                <p:cTn id="27" presetID="53" presetClass="entr" presetSubtype="16"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60"/>
                                        <p:tgtEl>
                                          <p:spTgt spid="9"/>
                                        </p:tgtEl>
                                      </p:cBhvr>
                                    </p:animEffect>
                                    <p:anim calcmode="lin" valueType="num">
                                      <p:cBhvr>
                                        <p:cTn id="30" dur="260" fill="hold"/>
                                        <p:tgtEl>
                                          <p:spTgt spid="9"/>
                                        </p:tgtEl>
                                        <p:attrNameLst>
                                          <p:attrName>ppt_w</p:attrName>
                                        </p:attrNameLst>
                                      </p:cBhvr>
                                      <p:tavLst>
                                        <p:tav tm="0">
                                          <p:val>
                                            <p:strVal val="0"/>
                                          </p:val>
                                        </p:tav>
                                        <p:tav tm="100000">
                                          <p:val>
                                            <p:strVal val="#ppt_w"/>
                                          </p:val>
                                        </p:tav>
                                      </p:tavLst>
                                    </p:anim>
                                    <p:anim calcmode="lin" valueType="num">
                                      <p:cBhvr>
                                        <p:cTn id="31" dur="260" fill="hold"/>
                                        <p:tgtEl>
                                          <p:spTgt spid="9"/>
                                        </p:tgtEl>
                                        <p:attrNameLst>
                                          <p:attrName>ppt_h</p:attrName>
                                        </p:attrNameLst>
                                      </p:cBhvr>
                                      <p:tavLst>
                                        <p:tav tm="0">
                                          <p:val>
                                            <p:strVal val="0"/>
                                          </p:val>
                                        </p:tav>
                                        <p:tav tm="100000">
                                          <p:val>
                                            <p:strVal val="#ppt_h"/>
                                          </p:val>
                                        </p:tav>
                                      </p:tavLst>
                                    </p:anim>
                                  </p:childTnLst>
                                </p:cTn>
                              </p:par>
                            </p:childTnLst>
                          </p:cTn>
                        </p:par>
                        <p:par>
                          <p:cTn id="32" fill="hold">
                            <p:stCondLst>
                              <p:cond delay="1340"/>
                            </p:stCondLst>
                            <p:childTnLst>
                              <p:par>
                                <p:cTn id="33" presetID="53" presetClass="entr" presetSubtype="16"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260"/>
                                        <p:tgtEl>
                                          <p:spTgt spid="10"/>
                                        </p:tgtEl>
                                      </p:cBhvr>
                                    </p:animEffect>
                                    <p:anim calcmode="lin" valueType="num">
                                      <p:cBhvr>
                                        <p:cTn id="36" dur="260" fill="hold"/>
                                        <p:tgtEl>
                                          <p:spTgt spid="10"/>
                                        </p:tgtEl>
                                        <p:attrNameLst>
                                          <p:attrName>ppt_w</p:attrName>
                                        </p:attrNameLst>
                                      </p:cBhvr>
                                      <p:tavLst>
                                        <p:tav tm="0">
                                          <p:val>
                                            <p:strVal val="0"/>
                                          </p:val>
                                        </p:tav>
                                        <p:tav tm="100000">
                                          <p:val>
                                            <p:strVal val="#ppt_w"/>
                                          </p:val>
                                        </p:tav>
                                      </p:tavLst>
                                    </p:anim>
                                    <p:anim calcmode="lin" valueType="num">
                                      <p:cBhvr>
                                        <p:cTn id="37" dur="260" fill="hold"/>
                                        <p:tgtEl>
                                          <p:spTgt spid="10"/>
                                        </p:tgtEl>
                                        <p:attrNameLst>
                                          <p:attrName>ppt_h</p:attrName>
                                        </p:attrNameLst>
                                      </p:cBhvr>
                                      <p:tavLst>
                                        <p:tav tm="0">
                                          <p:val>
                                            <p:strVal val="0"/>
                                          </p:val>
                                        </p:tav>
                                        <p:tav tm="100000">
                                          <p:val>
                                            <p:strVal val="#ppt_h"/>
                                          </p:val>
                                        </p:tav>
                                      </p:tavLst>
                                    </p:anim>
                                  </p:childTnLst>
                                </p:cTn>
                              </p:par>
                            </p:childTnLst>
                          </p:cTn>
                        </p:par>
                        <p:par>
                          <p:cTn id="38" fill="hold">
                            <p:stCondLst>
                              <p:cond delay="1600"/>
                            </p:stCondLst>
                            <p:childTnLst>
                              <p:par>
                                <p:cTn id="39" presetID="53" presetClass="entr" presetSubtype="16"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260"/>
                                        <p:tgtEl>
                                          <p:spTgt spid="11"/>
                                        </p:tgtEl>
                                      </p:cBhvr>
                                    </p:animEffect>
                                    <p:anim calcmode="lin" valueType="num">
                                      <p:cBhvr>
                                        <p:cTn id="42" dur="260" fill="hold"/>
                                        <p:tgtEl>
                                          <p:spTgt spid="11"/>
                                        </p:tgtEl>
                                        <p:attrNameLst>
                                          <p:attrName>ppt_w</p:attrName>
                                        </p:attrNameLst>
                                      </p:cBhvr>
                                      <p:tavLst>
                                        <p:tav tm="0">
                                          <p:val>
                                            <p:strVal val="0"/>
                                          </p:val>
                                        </p:tav>
                                        <p:tav tm="100000">
                                          <p:val>
                                            <p:strVal val="#ppt_w"/>
                                          </p:val>
                                        </p:tav>
                                      </p:tavLst>
                                    </p:anim>
                                    <p:anim calcmode="lin" valueType="num">
                                      <p:cBhvr>
                                        <p:cTn id="43" dur="260" fill="hold"/>
                                        <p:tgtEl>
                                          <p:spTgt spid="11"/>
                                        </p:tgtEl>
                                        <p:attrNameLst>
                                          <p:attrName>ppt_h</p:attrName>
                                        </p:attrNameLst>
                                      </p:cBhvr>
                                      <p:tavLst>
                                        <p:tav tm="0">
                                          <p:val>
                                            <p:strVal val="0"/>
                                          </p:val>
                                        </p:tav>
                                        <p:tav tm="100000">
                                          <p:val>
                                            <p:strVal val="#ppt_h"/>
                                          </p:val>
                                        </p:tav>
                                      </p:tavLst>
                                    </p:anim>
                                  </p:childTnLst>
                                </p:cTn>
                              </p:par>
                            </p:childTnLst>
                          </p:cTn>
                        </p:par>
                        <p:par>
                          <p:cTn id="44" fill="hold">
                            <p:stCondLst>
                              <p:cond delay="1860"/>
                            </p:stCondLst>
                            <p:childTnLst>
                              <p:par>
                                <p:cTn id="45" presetID="53" presetClass="entr" presetSubtype="16"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260"/>
                                        <p:tgtEl>
                                          <p:spTgt spid="12"/>
                                        </p:tgtEl>
                                      </p:cBhvr>
                                    </p:animEffect>
                                    <p:anim calcmode="lin" valueType="num">
                                      <p:cBhvr>
                                        <p:cTn id="48" dur="260" fill="hold"/>
                                        <p:tgtEl>
                                          <p:spTgt spid="12"/>
                                        </p:tgtEl>
                                        <p:attrNameLst>
                                          <p:attrName>ppt_w</p:attrName>
                                        </p:attrNameLst>
                                      </p:cBhvr>
                                      <p:tavLst>
                                        <p:tav tm="0">
                                          <p:val>
                                            <p:strVal val="0"/>
                                          </p:val>
                                        </p:tav>
                                        <p:tav tm="100000">
                                          <p:val>
                                            <p:strVal val="#ppt_w"/>
                                          </p:val>
                                        </p:tav>
                                      </p:tavLst>
                                    </p:anim>
                                    <p:anim calcmode="lin" valueType="num">
                                      <p:cBhvr>
                                        <p:cTn id="49" dur="260" fill="hold"/>
                                        <p:tgtEl>
                                          <p:spTgt spid="12"/>
                                        </p:tgtEl>
                                        <p:attrNameLst>
                                          <p:attrName>ppt_h</p:attrName>
                                        </p:attrNameLst>
                                      </p:cBhvr>
                                      <p:tavLst>
                                        <p:tav tm="0">
                                          <p:val>
                                            <p:strVal val="0"/>
                                          </p:val>
                                        </p:tav>
                                        <p:tav tm="100000">
                                          <p:val>
                                            <p:strVal val="#ppt_h"/>
                                          </p:val>
                                        </p:tav>
                                      </p:tavLst>
                                    </p:anim>
                                  </p:childTnLst>
                                </p:cTn>
                              </p:par>
                            </p:childTnLst>
                          </p:cTn>
                        </p:par>
                        <p:par>
                          <p:cTn id="50" fill="hold">
                            <p:stCondLst>
                              <p:cond delay="2120"/>
                            </p:stCondLst>
                            <p:childTnLst>
                              <p:par>
                                <p:cTn id="51" presetID="53" presetClass="entr" presetSubtype="16" fill="hold" grpId="0"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260"/>
                                        <p:tgtEl>
                                          <p:spTgt spid="13"/>
                                        </p:tgtEl>
                                      </p:cBhvr>
                                    </p:animEffect>
                                    <p:anim calcmode="lin" valueType="num">
                                      <p:cBhvr>
                                        <p:cTn id="54" dur="260" fill="hold"/>
                                        <p:tgtEl>
                                          <p:spTgt spid="13"/>
                                        </p:tgtEl>
                                        <p:attrNameLst>
                                          <p:attrName>ppt_w</p:attrName>
                                        </p:attrNameLst>
                                      </p:cBhvr>
                                      <p:tavLst>
                                        <p:tav tm="0">
                                          <p:val>
                                            <p:strVal val="0"/>
                                          </p:val>
                                        </p:tav>
                                        <p:tav tm="100000">
                                          <p:val>
                                            <p:strVal val="#ppt_w"/>
                                          </p:val>
                                        </p:tav>
                                      </p:tavLst>
                                    </p:anim>
                                    <p:anim calcmode="lin" valueType="num">
                                      <p:cBhvr>
                                        <p:cTn id="55" dur="260" fill="hold"/>
                                        <p:tgtEl>
                                          <p:spTgt spid="13"/>
                                        </p:tgtEl>
                                        <p:attrNameLst>
                                          <p:attrName>ppt_h</p:attrName>
                                        </p:attrNameLst>
                                      </p:cBhvr>
                                      <p:tavLst>
                                        <p:tav tm="0">
                                          <p:val>
                                            <p:strVal val="0"/>
                                          </p:val>
                                        </p:tav>
                                        <p:tav tm="100000">
                                          <p:val>
                                            <p:strVal val="#ppt_h"/>
                                          </p:val>
                                        </p:tav>
                                      </p:tavLst>
                                    </p:anim>
                                  </p:childTnLst>
                                </p:cTn>
                              </p:par>
                            </p:childTnLst>
                          </p:cTn>
                        </p:par>
                        <p:par>
                          <p:cTn id="56" fill="hold">
                            <p:stCondLst>
                              <p:cond delay="2380"/>
                            </p:stCondLst>
                            <p:childTnLst>
                              <p:par>
                                <p:cTn id="57" presetID="53" presetClass="entr" presetSubtype="16"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260"/>
                                        <p:tgtEl>
                                          <p:spTgt spid="14"/>
                                        </p:tgtEl>
                                      </p:cBhvr>
                                    </p:animEffect>
                                    <p:anim calcmode="lin" valueType="num">
                                      <p:cBhvr>
                                        <p:cTn id="60" dur="260" fill="hold"/>
                                        <p:tgtEl>
                                          <p:spTgt spid="14"/>
                                        </p:tgtEl>
                                        <p:attrNameLst>
                                          <p:attrName>ppt_w</p:attrName>
                                        </p:attrNameLst>
                                      </p:cBhvr>
                                      <p:tavLst>
                                        <p:tav tm="0">
                                          <p:val>
                                            <p:strVal val="0"/>
                                          </p:val>
                                        </p:tav>
                                        <p:tav tm="100000">
                                          <p:val>
                                            <p:strVal val="#ppt_w"/>
                                          </p:val>
                                        </p:tav>
                                      </p:tavLst>
                                    </p:anim>
                                    <p:anim calcmode="lin" valueType="num">
                                      <p:cBhvr>
                                        <p:cTn id="61" dur="260" fill="hold"/>
                                        <p:tgtEl>
                                          <p:spTgt spid="14"/>
                                        </p:tgtEl>
                                        <p:attrNameLst>
                                          <p:attrName>ppt_h</p:attrName>
                                        </p:attrNameLst>
                                      </p:cBhvr>
                                      <p:tavLst>
                                        <p:tav tm="0">
                                          <p:val>
                                            <p:str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300"/>
                                        <p:tgtEl>
                                          <p:spTgt spid="15"/>
                                        </p:tgtEl>
                                      </p:cBhvr>
                                    </p:animEffect>
                                  </p:childTnLst>
                                </p:cTn>
                              </p:par>
                            </p:childTnLst>
                          </p:cTn>
                        </p:par>
                        <p:par>
                          <p:cTn id="67" fill="hold">
                            <p:stCondLst>
                              <p:cond delay="300"/>
                            </p:stCondLst>
                            <p:childTnLst>
                              <p:par>
                                <p:cTn id="68" presetID="42"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280"/>
                                        <p:tgtEl>
                                          <p:spTgt spid="19"/>
                                        </p:tgtEl>
                                      </p:cBhvr>
                                    </p:animEffect>
                                    <p:anim calcmode="lin" valueType="num">
                                      <p:cBhvr>
                                        <p:cTn id="71" dur="280" fill="hold"/>
                                        <p:tgtEl>
                                          <p:spTgt spid="19"/>
                                        </p:tgtEl>
                                        <p:attrNameLst>
                                          <p:attrName>ppt_x</p:attrName>
                                        </p:attrNameLst>
                                      </p:cBhvr>
                                      <p:tavLst>
                                        <p:tav tm="0">
                                          <p:val>
                                            <p:strVal val="#ppt_x"/>
                                          </p:val>
                                        </p:tav>
                                        <p:tav tm="100000">
                                          <p:val>
                                            <p:strVal val="#ppt_x"/>
                                          </p:val>
                                        </p:tav>
                                      </p:tavLst>
                                    </p:anim>
                                    <p:anim calcmode="lin" valueType="num">
                                      <p:cBhvr>
                                        <p:cTn id="72" dur="280" fill="hold"/>
                                        <p:tgtEl>
                                          <p:spTgt spid="19"/>
                                        </p:tgtEl>
                                        <p:attrNameLst>
                                          <p:attrName>ppt_y</p:attrName>
                                        </p:attrNameLst>
                                      </p:cBhvr>
                                      <p:tavLst>
                                        <p:tav tm="0">
                                          <p:val>
                                            <p:strVal val="#ppt_y+.05"/>
                                          </p:val>
                                        </p:tav>
                                        <p:tav tm="100000">
                                          <p:val>
                                            <p:strVal val="#ppt_y"/>
                                          </p:val>
                                        </p:tav>
                                      </p:tavLst>
                                    </p:anim>
                                  </p:childTnLst>
                                </p:cTn>
                              </p:par>
                            </p:childTnLst>
                          </p:cTn>
                        </p:par>
                        <p:par>
                          <p:cTn id="73" fill="hold">
                            <p:stCondLst>
                              <p:cond delay="580"/>
                            </p:stCondLst>
                            <p:childTnLst>
                              <p:par>
                                <p:cTn id="74" presetID="42" presetClass="entr" presetSubtype="0" fill="hold" grpId="0" nodeType="after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280"/>
                                        <p:tgtEl>
                                          <p:spTgt spid="24"/>
                                        </p:tgtEl>
                                      </p:cBhvr>
                                    </p:animEffect>
                                    <p:anim calcmode="lin" valueType="num">
                                      <p:cBhvr>
                                        <p:cTn id="77" dur="280" fill="hold"/>
                                        <p:tgtEl>
                                          <p:spTgt spid="24"/>
                                        </p:tgtEl>
                                        <p:attrNameLst>
                                          <p:attrName>ppt_x</p:attrName>
                                        </p:attrNameLst>
                                      </p:cBhvr>
                                      <p:tavLst>
                                        <p:tav tm="0">
                                          <p:val>
                                            <p:strVal val="#ppt_x"/>
                                          </p:val>
                                        </p:tav>
                                        <p:tav tm="100000">
                                          <p:val>
                                            <p:strVal val="#ppt_x"/>
                                          </p:val>
                                        </p:tav>
                                      </p:tavLst>
                                    </p:anim>
                                    <p:anim calcmode="lin" valueType="num">
                                      <p:cBhvr>
                                        <p:cTn id="78" dur="280" fill="hold"/>
                                        <p:tgtEl>
                                          <p:spTgt spid="24"/>
                                        </p:tgtEl>
                                        <p:attrNameLst>
                                          <p:attrName>ppt_y</p:attrName>
                                        </p:attrNameLst>
                                      </p:cBhvr>
                                      <p:tavLst>
                                        <p:tav tm="0">
                                          <p:val>
                                            <p:strVal val="#ppt_y+.05"/>
                                          </p:val>
                                        </p:tav>
                                        <p:tav tm="100000">
                                          <p:val>
                                            <p:strVal val="#ppt_y"/>
                                          </p:val>
                                        </p:tav>
                                      </p:tavLst>
                                    </p:anim>
                                  </p:childTnLst>
                                </p:cTn>
                              </p:par>
                            </p:childTnLst>
                          </p:cTn>
                        </p:par>
                        <p:par>
                          <p:cTn id="79" fill="hold">
                            <p:stCondLst>
                              <p:cond delay="860"/>
                            </p:stCondLst>
                            <p:childTnLst>
                              <p:par>
                                <p:cTn id="80" presetID="42" presetClass="entr" presetSubtype="0" fill="hold" grpId="0" nodeType="after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280"/>
                                        <p:tgtEl>
                                          <p:spTgt spid="29"/>
                                        </p:tgtEl>
                                      </p:cBhvr>
                                    </p:animEffect>
                                    <p:anim calcmode="lin" valueType="num">
                                      <p:cBhvr>
                                        <p:cTn id="83" dur="280" fill="hold"/>
                                        <p:tgtEl>
                                          <p:spTgt spid="29"/>
                                        </p:tgtEl>
                                        <p:attrNameLst>
                                          <p:attrName>ppt_x</p:attrName>
                                        </p:attrNameLst>
                                      </p:cBhvr>
                                      <p:tavLst>
                                        <p:tav tm="0">
                                          <p:val>
                                            <p:strVal val="#ppt_x"/>
                                          </p:val>
                                        </p:tav>
                                        <p:tav tm="100000">
                                          <p:val>
                                            <p:strVal val="#ppt_x"/>
                                          </p:val>
                                        </p:tav>
                                      </p:tavLst>
                                    </p:anim>
                                    <p:anim calcmode="lin" valueType="num">
                                      <p:cBhvr>
                                        <p:cTn id="84" dur="280" fill="hold"/>
                                        <p:tgtEl>
                                          <p:spTgt spid="29"/>
                                        </p:tgtEl>
                                        <p:attrNameLst>
                                          <p:attrName>ppt_y</p:attrName>
                                        </p:attrNameLst>
                                      </p:cBhvr>
                                      <p:tavLst>
                                        <p:tav tm="0">
                                          <p:val>
                                            <p:strVal val="#ppt_y+.05"/>
                                          </p:val>
                                        </p:tav>
                                        <p:tav tm="100000">
                                          <p:val>
                                            <p:strVal val="#ppt_y"/>
                                          </p:val>
                                        </p:tav>
                                      </p:tavLst>
                                    </p:anim>
                                  </p:childTnLst>
                                </p:cTn>
                              </p:par>
                            </p:childTnLst>
                          </p:cTn>
                        </p:par>
                        <p:par>
                          <p:cTn id="85" fill="hold">
                            <p:stCondLst>
                              <p:cond delay="1140"/>
                            </p:stCondLst>
                            <p:childTnLst>
                              <p:par>
                                <p:cTn id="86" presetID="42" presetClass="entr" presetSubtype="0" fill="hold" grpId="0" nodeType="after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280"/>
                                        <p:tgtEl>
                                          <p:spTgt spid="34"/>
                                        </p:tgtEl>
                                      </p:cBhvr>
                                    </p:animEffect>
                                    <p:anim calcmode="lin" valueType="num">
                                      <p:cBhvr>
                                        <p:cTn id="89" dur="280" fill="hold"/>
                                        <p:tgtEl>
                                          <p:spTgt spid="34"/>
                                        </p:tgtEl>
                                        <p:attrNameLst>
                                          <p:attrName>ppt_x</p:attrName>
                                        </p:attrNameLst>
                                      </p:cBhvr>
                                      <p:tavLst>
                                        <p:tav tm="0">
                                          <p:val>
                                            <p:strVal val="#ppt_x"/>
                                          </p:val>
                                        </p:tav>
                                        <p:tav tm="100000">
                                          <p:val>
                                            <p:strVal val="#ppt_x"/>
                                          </p:val>
                                        </p:tav>
                                      </p:tavLst>
                                    </p:anim>
                                    <p:anim calcmode="lin" valueType="num">
                                      <p:cBhvr>
                                        <p:cTn id="90" dur="280" fill="hold"/>
                                        <p:tgtEl>
                                          <p:spTgt spid="34"/>
                                        </p:tgtEl>
                                        <p:attrNameLst>
                                          <p:attrName>ppt_y</p:attrName>
                                        </p:attrNameLst>
                                      </p:cBhvr>
                                      <p:tavLst>
                                        <p:tav tm="0">
                                          <p:val>
                                            <p:strVal val="#ppt_y+.05"/>
                                          </p:val>
                                        </p:tav>
                                        <p:tav tm="100000">
                                          <p:val>
                                            <p:strVal val="#ppt_y"/>
                                          </p:val>
                                        </p:tav>
                                      </p:tavLst>
                                    </p:anim>
                                  </p:childTnLst>
                                </p:cTn>
                              </p:par>
                            </p:childTnLst>
                          </p:cTn>
                        </p:par>
                        <p:par>
                          <p:cTn id="91" fill="hold">
                            <p:stCondLst>
                              <p:cond delay="1420"/>
                            </p:stCondLst>
                            <p:childTnLst>
                              <p:par>
                                <p:cTn id="92" presetID="42" presetClass="entr" presetSubtype="0" fill="hold" grpId="0" nodeType="after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280"/>
                                        <p:tgtEl>
                                          <p:spTgt spid="39"/>
                                        </p:tgtEl>
                                      </p:cBhvr>
                                    </p:animEffect>
                                    <p:anim calcmode="lin" valueType="num">
                                      <p:cBhvr>
                                        <p:cTn id="95" dur="280" fill="hold"/>
                                        <p:tgtEl>
                                          <p:spTgt spid="39"/>
                                        </p:tgtEl>
                                        <p:attrNameLst>
                                          <p:attrName>ppt_x</p:attrName>
                                        </p:attrNameLst>
                                      </p:cBhvr>
                                      <p:tavLst>
                                        <p:tav tm="0">
                                          <p:val>
                                            <p:strVal val="#ppt_x"/>
                                          </p:val>
                                        </p:tav>
                                        <p:tav tm="100000">
                                          <p:val>
                                            <p:strVal val="#ppt_x"/>
                                          </p:val>
                                        </p:tav>
                                      </p:tavLst>
                                    </p:anim>
                                    <p:anim calcmode="lin" valueType="num">
                                      <p:cBhvr>
                                        <p:cTn id="96" dur="280" fill="hold"/>
                                        <p:tgtEl>
                                          <p:spTgt spid="39"/>
                                        </p:tgtEl>
                                        <p:attrNameLst>
                                          <p:attrName>ppt_y</p:attrName>
                                        </p:attrNameLst>
                                      </p:cBhvr>
                                      <p:tavLst>
                                        <p:tav tm="0">
                                          <p:val>
                                            <p:strVal val="#ppt_y+.05"/>
                                          </p:val>
                                        </p:tav>
                                        <p:tav tm="100000">
                                          <p:val>
                                            <p:strVal val="#ppt_y"/>
                                          </p:val>
                                        </p:tav>
                                      </p:tavLst>
                                    </p:anim>
                                  </p:childTnLst>
                                </p:cTn>
                              </p:par>
                            </p:childTnLst>
                          </p:cTn>
                        </p:par>
                        <p:par>
                          <p:cTn id="97" fill="hold">
                            <p:stCondLst>
                              <p:cond delay="1700"/>
                            </p:stCondLst>
                            <p:childTnLst>
                              <p:par>
                                <p:cTn id="98" presetID="42" presetClass="entr" presetSubtype="0" fill="hold" grpId="0" nodeType="after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280"/>
                                        <p:tgtEl>
                                          <p:spTgt spid="44"/>
                                        </p:tgtEl>
                                      </p:cBhvr>
                                    </p:animEffect>
                                    <p:anim calcmode="lin" valueType="num">
                                      <p:cBhvr>
                                        <p:cTn id="101" dur="280" fill="hold"/>
                                        <p:tgtEl>
                                          <p:spTgt spid="44"/>
                                        </p:tgtEl>
                                        <p:attrNameLst>
                                          <p:attrName>ppt_x</p:attrName>
                                        </p:attrNameLst>
                                      </p:cBhvr>
                                      <p:tavLst>
                                        <p:tav tm="0">
                                          <p:val>
                                            <p:strVal val="#ppt_x"/>
                                          </p:val>
                                        </p:tav>
                                        <p:tav tm="100000">
                                          <p:val>
                                            <p:strVal val="#ppt_x"/>
                                          </p:val>
                                        </p:tav>
                                      </p:tavLst>
                                    </p:anim>
                                    <p:anim calcmode="lin" valueType="num">
                                      <p:cBhvr>
                                        <p:cTn id="102" dur="280" fill="hold"/>
                                        <p:tgtEl>
                                          <p:spTgt spid="44"/>
                                        </p:tgtEl>
                                        <p:attrNameLst>
                                          <p:attrName>ppt_y</p:attrName>
                                        </p:attrNameLst>
                                      </p:cBhvr>
                                      <p:tavLst>
                                        <p:tav tm="0">
                                          <p:val>
                                            <p:strVal val="#ppt_y+.05"/>
                                          </p:val>
                                        </p:tav>
                                        <p:tav tm="100000">
                                          <p:val>
                                            <p:strVal val="#ppt_y"/>
                                          </p:val>
                                        </p:tav>
                                      </p:tavLst>
                                    </p:anim>
                                  </p:childTnLst>
                                </p:cTn>
                              </p:par>
                            </p:childTnLst>
                          </p:cTn>
                        </p:par>
                        <p:par>
                          <p:cTn id="103" fill="hold">
                            <p:stCondLst>
                              <p:cond delay="1980"/>
                            </p:stCondLst>
                            <p:childTnLst>
                              <p:par>
                                <p:cTn id="104" presetID="42" presetClass="entr" presetSubtype="0" fill="hold" grpId="0" nodeType="after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fade">
                                      <p:cBhvr>
                                        <p:cTn id="106" dur="280"/>
                                        <p:tgtEl>
                                          <p:spTgt spid="49"/>
                                        </p:tgtEl>
                                      </p:cBhvr>
                                    </p:animEffect>
                                    <p:anim calcmode="lin" valueType="num">
                                      <p:cBhvr>
                                        <p:cTn id="107" dur="280" fill="hold"/>
                                        <p:tgtEl>
                                          <p:spTgt spid="49"/>
                                        </p:tgtEl>
                                        <p:attrNameLst>
                                          <p:attrName>ppt_x</p:attrName>
                                        </p:attrNameLst>
                                      </p:cBhvr>
                                      <p:tavLst>
                                        <p:tav tm="0">
                                          <p:val>
                                            <p:strVal val="#ppt_x"/>
                                          </p:val>
                                        </p:tav>
                                        <p:tav tm="100000">
                                          <p:val>
                                            <p:strVal val="#ppt_x"/>
                                          </p:val>
                                        </p:tav>
                                      </p:tavLst>
                                    </p:anim>
                                    <p:anim calcmode="lin" valueType="num">
                                      <p:cBhvr>
                                        <p:cTn id="108" dur="280" fill="hold"/>
                                        <p:tgtEl>
                                          <p:spTgt spid="49"/>
                                        </p:tgtEl>
                                        <p:attrNameLst>
                                          <p:attrName>ppt_y</p:attrName>
                                        </p:attrNameLst>
                                      </p:cBhvr>
                                      <p:tavLst>
                                        <p:tav tm="0">
                                          <p:val>
                                            <p:strVal val="#ppt_y+.05"/>
                                          </p:val>
                                        </p:tav>
                                        <p:tav tm="100000">
                                          <p:val>
                                            <p:strVal val="#ppt_y"/>
                                          </p:val>
                                        </p:tav>
                                      </p:tavLst>
                                    </p:anim>
                                  </p:childTnLst>
                                </p:cTn>
                              </p:par>
                            </p:childTnLst>
                          </p:cTn>
                        </p:par>
                        <p:par>
                          <p:cTn id="109" fill="hold">
                            <p:stCondLst>
                              <p:cond delay="2260"/>
                            </p:stCondLst>
                            <p:childTnLst>
                              <p:par>
                                <p:cTn id="110" presetID="10" presetClass="entr" presetSubtype="0" fill="hold" grpId="0" nodeType="afterEffect">
                                  <p:stCondLst>
                                    <p:cond delay="0"/>
                                  </p:stCondLst>
                                  <p:childTnLst>
                                    <p:set>
                                      <p:cBhvr>
                                        <p:cTn id="111" dur="1" fill="hold">
                                          <p:stCondLst>
                                            <p:cond delay="0"/>
                                          </p:stCondLst>
                                        </p:cTn>
                                        <p:tgtEl>
                                          <p:spTgt spid="54"/>
                                        </p:tgtEl>
                                        <p:attrNameLst>
                                          <p:attrName>style.visibility</p:attrName>
                                        </p:attrNameLst>
                                      </p:cBhvr>
                                      <p:to>
                                        <p:strVal val="visible"/>
                                      </p:to>
                                    </p:set>
                                    <p:animEffect transition="in" filter="fade">
                                      <p:cBhvr>
                                        <p:cTn id="112" dur="300"/>
                                        <p:tgtEl>
                                          <p:spTgt spid="54"/>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58"/>
                                        </p:tgtEl>
                                        <p:attrNameLst>
                                          <p:attrName>style.visibility</p:attrName>
                                        </p:attrNameLst>
                                      </p:cBhvr>
                                      <p:to>
                                        <p:strVal val="visible"/>
                                      </p:to>
                                    </p:set>
                                    <p:animEffect transition="in" filter="fade">
                                      <p:cBhvr>
                                        <p:cTn id="117" dur="450"/>
                                        <p:tgtEl>
                                          <p:spTgt spid="58"/>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61"/>
                                        </p:tgtEl>
                                        <p:attrNameLst>
                                          <p:attrName>style.visibility</p:attrName>
                                        </p:attrNameLst>
                                      </p:cBhvr>
                                      <p:to>
                                        <p:strVal val="visible"/>
                                      </p:to>
                                    </p:set>
                                    <p:animEffect transition="in" filter="fade">
                                      <p:cBhvr>
                                        <p:cTn id="122" dur="600"/>
                                        <p:tgtEl>
                                          <p:spTgt spid="61"/>
                                        </p:tgtEl>
                                      </p:cBhvr>
                                    </p:animEffect>
                                  </p:childTnLst>
                                </p:cTn>
                              </p:par>
                            </p:childTnLst>
                          </p:cTn>
                        </p:par>
                        <p:par>
                          <p:cTn id="123" fill="hold">
                            <p:stCondLst>
                              <p:cond delay="600"/>
                            </p:stCondLst>
                            <p:childTnLst>
                              <p:par>
                                <p:cTn id="124" presetID="53" presetClass="entr" presetSubtype="16" fill="hold" grpId="0" nodeType="afterEffect">
                                  <p:stCondLst>
                                    <p:cond delay="0"/>
                                  </p:stCondLst>
                                  <p:childTnLst>
                                    <p:set>
                                      <p:cBhvr>
                                        <p:cTn id="125" dur="1" fill="hold">
                                          <p:stCondLst>
                                            <p:cond delay="0"/>
                                          </p:stCondLst>
                                        </p:cTn>
                                        <p:tgtEl>
                                          <p:spTgt spid="62"/>
                                        </p:tgtEl>
                                        <p:attrNameLst>
                                          <p:attrName>style.visibility</p:attrName>
                                        </p:attrNameLst>
                                      </p:cBhvr>
                                      <p:to>
                                        <p:strVal val="visible"/>
                                      </p:to>
                                    </p:set>
                                    <p:animEffect transition="in" filter="fade">
                                      <p:cBhvr>
                                        <p:cTn id="126" dur="400"/>
                                        <p:tgtEl>
                                          <p:spTgt spid="62"/>
                                        </p:tgtEl>
                                      </p:cBhvr>
                                    </p:animEffect>
                                    <p:anim calcmode="lin" valueType="num">
                                      <p:cBhvr>
                                        <p:cTn id="127" dur="400" fill="hold"/>
                                        <p:tgtEl>
                                          <p:spTgt spid="62"/>
                                        </p:tgtEl>
                                        <p:attrNameLst>
                                          <p:attrName>ppt_w</p:attrName>
                                        </p:attrNameLst>
                                      </p:cBhvr>
                                      <p:tavLst>
                                        <p:tav tm="0">
                                          <p:val>
                                            <p:strVal val="0"/>
                                          </p:val>
                                        </p:tav>
                                        <p:tav tm="100000">
                                          <p:val>
                                            <p:strVal val="#ppt_w"/>
                                          </p:val>
                                        </p:tav>
                                      </p:tavLst>
                                    </p:anim>
                                    <p:anim calcmode="lin" valueType="num">
                                      <p:cBhvr>
                                        <p:cTn id="128" dur="400" fill="hold"/>
                                        <p:tgtEl>
                                          <p:spTgt spid="62"/>
                                        </p:tgtEl>
                                        <p:attrNameLst>
                                          <p:attrName>ppt_h</p:attrName>
                                        </p:attrNameLst>
                                      </p:cBhvr>
                                      <p:tavLst>
                                        <p:tav tm="0">
                                          <p:val>
                                            <p:strVal val="0"/>
                                          </p:val>
                                        </p:tav>
                                        <p:tav tm="100000">
                                          <p:val>
                                            <p:strVal val="#ppt_h"/>
                                          </p:val>
                                        </p:tav>
                                      </p:tavLst>
                                    </p:anim>
                                  </p:childTnLst>
                                </p:cTn>
                              </p:par>
                            </p:childTnLst>
                          </p:cTn>
                        </p:par>
                        <p:par>
                          <p:cTn id="129" fill="hold">
                            <p:stCondLst>
                              <p:cond delay="1000"/>
                            </p:stCondLst>
                            <p:childTnLst>
                              <p:par>
                                <p:cTn id="130" presetID="6" presetClass="emph" presetSubtype="0" fill="hold" grpId="1" nodeType="afterEffect">
                                  <p:stCondLst>
                                    <p:cond delay="0"/>
                                  </p:stCondLst>
                                  <p:childTnLst>
                                    <p:animScale>
                                      <p:cBhvr>
                                        <p:cTn id="131" dur="280" autoRev="1" fill="hold"/>
                                        <p:tgtEl>
                                          <p:spTgt spid="6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54" grpId="0" animBg="1"/>
      <p:bldP spid="62" grpId="0" animBg="1"/>
      <p:bldP spid="62" grpId="1"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k_track"/>
          <p:cNvSpPr/>
          <p:nvPr/>
        </p:nvSpPr>
        <p:spPr>
          <a:xfrm>
            <a:off x="457200" y="146304"/>
            <a:ext cx="11292840" cy="402336"/>
          </a:xfrm>
          <a:prstGeom prst="roundRect">
            <a:avLst>
              <a:gd name="adj" fmla="val 27272"/>
            </a:avLst>
          </a:prstGeom>
          <a:solidFill>
            <a:srgbClr val="FFFFFF">
              <a:alpha val="78000"/>
            </a:srgbClr>
          </a:solidFill>
          <a:ln>
            <a:noFill/>
          </a:ln>
        </p:spPr>
        <p:txBody>
          <a:bodyPr rtlCol="0" anchor="ctr" lIns="54864" tIns="54864" rIns="54864" bIns="54864" wrap="square">
            <a:noAutofit/>
          </a:bodyPr>
          <a:lstStyle/>
          <a:p>
            <a:pPr algn="ctr"/>
          </a:p>
        </p:txBody>
      </p:sp>
      <p:sp>
        <p:nvSpPr>
          <p:cNvPr id="3" name="!!trk_hl"/>
          <p:cNvSpPr/>
          <p:nvPr/>
        </p:nvSpPr>
        <p:spPr>
          <a:xfrm>
            <a:off x="1757477" y="182880"/>
            <a:ext cx="1163117" cy="329184"/>
          </a:xfrm>
          <a:prstGeom prst="roundRect">
            <a:avLst>
              <a:gd name="adj" fmla="val 27777"/>
            </a:avLst>
          </a:prstGeom>
          <a:solidFill>
            <a:srgbClr val="E8710A"/>
          </a:solidFill>
          <a:ln>
            <a:noFill/>
          </a:ln>
        </p:spPr>
        <p:txBody>
          <a:bodyPr rtlCol="0" anchor="ctr" lIns="54864" tIns="54864" rIns="54864" bIns="54864" wrap="square">
            <a:noAutofit/>
          </a:bodyPr>
          <a:lstStyle/>
          <a:p>
            <a:pPr algn="ctr"/>
          </a:p>
        </p:txBody>
      </p:sp>
      <p:sp>
        <p:nvSpPr>
          <p:cNvPr id="4" name="!!trk_0"/>
          <p:cNvSpPr txBox="1"/>
          <p:nvPr/>
        </p:nvSpPr>
        <p:spPr>
          <a:xfrm>
            <a:off x="50292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Ban đầu</a:t>
            </a:r>
          </a:p>
        </p:txBody>
      </p:sp>
      <p:sp>
        <p:nvSpPr>
          <p:cNvPr id="5" name="!!trk_1"/>
          <p:cNvSpPr txBox="1"/>
          <p:nvPr/>
        </p:nvSpPr>
        <p:spPr>
          <a:xfrm>
            <a:off x="1757477" y="182880"/>
            <a:ext cx="1163117" cy="329184"/>
          </a:xfrm>
          <a:prstGeom prst="rect">
            <a:avLst/>
          </a:prstGeom>
          <a:noFill/>
        </p:spPr>
        <p:txBody>
          <a:bodyPr wrap="square" lIns="0" tIns="0" rIns="0" bIns="0" anchor="ctr">
            <a:noAutofit/>
          </a:bodyPr>
          <a:lstStyle/>
          <a:p>
            <a:pPr algn="ctr"/>
            <a:r>
              <a:rPr sz="1050" b="1" i="0" lang="vi-VN">
                <a:solidFill>
                  <a:srgbClr val="FFFFFF"/>
                </a:solidFill>
                <a:latin typeface="Arial"/>
                <a:ea typeface="Arial"/>
                <a:cs typeface="Arial"/>
              </a:rPr>
              <a:t>Cascade</a:t>
            </a:r>
          </a:p>
        </p:txBody>
      </p:sp>
      <p:sp>
        <p:nvSpPr>
          <p:cNvPr id="6" name="!!trk_2"/>
          <p:cNvSpPr txBox="1"/>
          <p:nvPr/>
        </p:nvSpPr>
        <p:spPr>
          <a:xfrm>
            <a:off x="301203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Bù IMU2</a:t>
            </a:r>
          </a:p>
        </p:txBody>
      </p:sp>
      <p:sp>
        <p:nvSpPr>
          <p:cNvPr id="7" name="!!trk_3"/>
          <p:cNvSpPr txBox="1"/>
          <p:nvPr/>
        </p:nvSpPr>
        <p:spPr>
          <a:xfrm>
            <a:off x="4266590"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Ngoại suy</a:t>
            </a:r>
          </a:p>
        </p:txBody>
      </p:sp>
      <p:sp>
        <p:nvSpPr>
          <p:cNvPr id="8" name="!!trk_4"/>
          <p:cNvSpPr txBox="1"/>
          <p:nvPr/>
        </p:nvSpPr>
        <p:spPr>
          <a:xfrm>
            <a:off x="5521147"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Giới hạn động</a:t>
            </a:r>
          </a:p>
        </p:txBody>
      </p:sp>
      <p:sp>
        <p:nvSpPr>
          <p:cNvPr id="9" name="!!trk_5"/>
          <p:cNvSpPr txBox="1"/>
          <p:nvPr/>
        </p:nvSpPr>
        <p:spPr>
          <a:xfrm>
            <a:off x="677570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Đảo chiều/dừng</a:t>
            </a:r>
          </a:p>
        </p:txBody>
      </p:sp>
      <p:sp>
        <p:nvSpPr>
          <p:cNvPr id="10" name="!!trk_6"/>
          <p:cNvSpPr txBox="1"/>
          <p:nvPr/>
        </p:nvSpPr>
        <p:spPr>
          <a:xfrm>
            <a:off x="8030261"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Tạo dạng lệnh</a:t>
            </a:r>
          </a:p>
        </p:txBody>
      </p:sp>
      <p:sp>
        <p:nvSpPr>
          <p:cNvPr id="11" name="!!trk_7"/>
          <p:cNvSpPr txBox="1"/>
          <p:nvPr/>
        </p:nvSpPr>
        <p:spPr>
          <a:xfrm>
            <a:off x="9284818"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Lịch RS485</a:t>
            </a:r>
          </a:p>
        </p:txBody>
      </p:sp>
      <p:sp>
        <p:nvSpPr>
          <p:cNvPr id="12" name="!!trk_8"/>
          <p:cNvSpPr txBox="1"/>
          <p:nvPr/>
        </p:nvSpPr>
        <p:spPr>
          <a:xfrm>
            <a:off x="1053937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Hoàn thiện</a:t>
            </a:r>
          </a:p>
        </p:txBody>
      </p:sp>
      <p:sp>
        <p:nvSpPr>
          <p:cNvPr id="13" name="Title"/>
          <p:cNvSpPr txBox="1"/>
          <p:nvPr/>
        </p:nvSpPr>
        <p:spPr>
          <a:xfrm>
            <a:off x="502920" y="603504"/>
            <a:ext cx="11201400" cy="530352"/>
          </a:xfrm>
          <a:prstGeom prst="rect">
            <a:avLst/>
          </a:prstGeom>
          <a:noFill/>
        </p:spPr>
        <p:txBody>
          <a:bodyPr wrap="square" lIns="0" tIns="0" rIns="0" bIns="0" anchor="ctr">
            <a:noAutofit/>
          </a:bodyPr>
          <a:lstStyle/>
          <a:p>
            <a:pPr algn="l"/>
            <a:r>
              <a:rPr sz="2500" b="1" i="0" lang="vi-VN">
                <a:solidFill>
                  <a:srgbClr val="0B2545"/>
                </a:solidFill>
                <a:latin typeface="Arial"/>
                <a:ea typeface="Arial"/>
                <a:cs typeface="Arial"/>
              </a:rPr>
              <a:t>B1 · Hiệu chỉnh cascade: </a:t>
            </a:r>
            <a:r>
              <a:rPr sz="2500" b="1" i="1" lang="vi-VN">
                <a:solidFill>
                  <a:srgbClr val="0B2545"/>
                </a:solidFill>
                <a:latin typeface="Cambria"/>
                <a:ea typeface="Cambria"/>
                <a:cs typeface="Cambria"/>
              </a:rPr>
              <a:t>K</a:t>
            </a:r>
            <a:r>
              <a:rPr sz="2500" b="1" i="0" lang="vi-VN" baseline="-25000">
                <a:solidFill>
                  <a:srgbClr val="0B2545"/>
                </a:solidFill>
                <a:latin typeface="Cambria"/>
                <a:ea typeface="Cambria"/>
                <a:cs typeface="Cambria"/>
              </a:rPr>
              <a:t>p</a:t>
            </a:r>
            <a:r>
              <a:rPr sz="2500" b="1" i="0" lang="vi-VN" baseline="30000">
                <a:solidFill>
                  <a:srgbClr val="0B2545"/>
                </a:solidFill>
                <a:latin typeface="Cambria"/>
                <a:ea typeface="Cambria"/>
                <a:cs typeface="Cambria"/>
              </a:rPr>
              <a:t>θ</a:t>
            </a:r>
            <a:r>
              <a:rPr sz="2500" b="1" i="0" lang="vi-VN">
                <a:solidFill>
                  <a:srgbClr val="0B2545"/>
                </a:solidFill>
                <a:latin typeface="Arial"/>
                <a:ea typeface="Arial"/>
                <a:cs typeface="Arial"/>
              </a:rPr>
              <a:t> = 9,5 s</a:t>
            </a:r>
            <a:r>
              <a:rPr sz="2500" b="1" i="0" lang="vi-VN" baseline="30000">
                <a:solidFill>
                  <a:srgbClr val="0B2545"/>
                </a:solidFill>
                <a:latin typeface="Arial"/>
                <a:ea typeface="Arial"/>
                <a:cs typeface="Arial"/>
              </a:rPr>
              <a:t>−1</a:t>
            </a:r>
            <a:r>
              <a:rPr sz="2500" b="1" i="0" lang="vi-VN">
                <a:solidFill>
                  <a:srgbClr val="0B2545"/>
                </a:solidFill>
                <a:latin typeface="Arial"/>
                <a:ea typeface="Arial"/>
                <a:cs typeface="Arial"/>
              </a:rPr>
              <a:t> bám nhanh, còn dự trữ lệnh</a:t>
            </a:r>
          </a:p>
        </p:txBody>
      </p:sp>
      <p:grpSp>
        <p:nvGrpSpPr>
          <p:cNvPr id="14" name="Group 13"/>
          <p:cNvGrpSpPr/>
          <p:nvPr/>
        </p:nvGrpSpPr>
        <p:grpSpPr>
          <a:xfrm>
            <a:off x="502920" y="1261872"/>
            <a:ext cx="3931920" cy="1024128"/>
            <a:chOff x="502920" y="1261872"/>
            <a:chExt cx="3931920" cy="1024128"/>
          </a:xfrm>
        </p:grpSpPr>
        <p:sp>
          <p:nvSpPr>
            <p:cNvPr id="15" name="Rounded Rectangle 14"/>
            <p:cNvSpPr/>
            <p:nvPr/>
          </p:nvSpPr>
          <p:spPr>
            <a:xfrm>
              <a:off x="502920" y="1261872"/>
              <a:ext cx="393192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6" name="Picture 15" descr="warning_C62828.png"/>
            <p:cNvPicPr>
              <a:picLocks noChangeAspect="1"/>
            </p:cNvPicPr>
            <p:nvPr/>
          </p:nvPicPr>
          <p:blipFill>
            <a:blip r:embed="rId2"/>
            <a:stretch>
              <a:fillRect/>
            </a:stretch>
          </p:blipFill>
          <p:spPr>
            <a:xfrm>
              <a:off x="640080" y="1335024"/>
              <a:ext cx="237744" cy="237744"/>
            </a:xfrm>
            <a:prstGeom prst="rect">
              <a:avLst/>
            </a:prstGeom>
          </p:spPr>
        </p:pic>
        <p:sp>
          <p:nvSpPr>
            <p:cNvPr id="17" name="TextBox 16"/>
            <p:cNvSpPr txBox="1"/>
            <p:nvPr/>
          </p:nvSpPr>
          <p:spPr>
            <a:xfrm>
              <a:off x="969264" y="1307592"/>
              <a:ext cx="332841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VẤN ĐỀ</a:t>
              </a:r>
            </a:p>
          </p:txBody>
        </p:sp>
        <p:sp>
          <p:nvSpPr>
            <p:cNvPr id="18" name="TextBox 17"/>
            <p:cNvSpPr txBox="1"/>
            <p:nvPr/>
          </p:nvSpPr>
          <p:spPr>
            <a:xfrm>
              <a:off x="667512" y="1609344"/>
              <a:ext cx="3639312" cy="658368"/>
            </a:xfrm>
            <a:prstGeom prst="rect">
              <a:avLst/>
            </a:prstGeom>
            <a:noFill/>
          </p:spPr>
          <p:txBody>
            <a:bodyPr wrap="square" lIns="0" tIns="0" rIns="0" bIns="0" anchor="t">
              <a:noAutofit/>
            </a:bodyPr>
            <a:lstStyle/>
            <a:p>
              <a:pPr algn="l">
                <a:lnSpc>
                  <a:spcPct val="98000"/>
                </a:lnSpc>
              </a:pPr>
              <a:r>
                <a:rPr sz="1350" b="0" i="0" lang="vi-VN">
                  <a:solidFill>
                    <a:srgbClr val="1E2B3A"/>
                  </a:solidFill>
                  <a:latin typeface="Arial"/>
                  <a:ea typeface="Arial"/>
                  <a:cs typeface="Arial"/>
                </a:rPr>
                <a:t>Cần bộ hệ số vừa bám nhanh, vọt lố nhỏ, vừa còn dự trữ lệnh cho các khâu bù</a:t>
              </a:r>
            </a:p>
          </p:txBody>
        </p:sp>
      </p:grpSp>
      <p:grpSp>
        <p:nvGrpSpPr>
          <p:cNvPr id="19" name="Group 18"/>
          <p:cNvGrpSpPr/>
          <p:nvPr/>
        </p:nvGrpSpPr>
        <p:grpSpPr>
          <a:xfrm>
            <a:off x="502920" y="2395728"/>
            <a:ext cx="3931920" cy="2560320"/>
            <a:chOff x="502920" y="2395728"/>
            <a:chExt cx="3931920" cy="2560320"/>
          </a:xfrm>
        </p:grpSpPr>
        <p:sp>
          <p:nvSpPr>
            <p:cNvPr id="20" name="Rounded Rectangle 19"/>
            <p:cNvSpPr/>
            <p:nvPr/>
          </p:nvSpPr>
          <p:spPr>
            <a:xfrm>
              <a:off x="502920" y="2395728"/>
              <a:ext cx="3931920" cy="2560320"/>
            </a:xfrm>
            <a:prstGeom prst="roundRect">
              <a:avLst>
                <a:gd name="adj" fmla="val 357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1" name="Picture 20" descr="flask_0A5FA8.png"/>
            <p:cNvPicPr>
              <a:picLocks noChangeAspect="1"/>
            </p:cNvPicPr>
            <p:nvPr/>
          </p:nvPicPr>
          <p:blipFill>
            <a:blip r:embed="rId3"/>
            <a:stretch>
              <a:fillRect/>
            </a:stretch>
          </p:blipFill>
          <p:spPr>
            <a:xfrm>
              <a:off x="640080" y="2468880"/>
              <a:ext cx="237744" cy="237744"/>
            </a:xfrm>
            <a:prstGeom prst="rect">
              <a:avLst/>
            </a:prstGeom>
          </p:spPr>
        </p:pic>
        <p:sp>
          <p:nvSpPr>
            <p:cNvPr id="22" name="TextBox 21"/>
            <p:cNvSpPr txBox="1"/>
            <p:nvPr/>
          </p:nvSpPr>
          <p:spPr>
            <a:xfrm>
              <a:off x="969264" y="2441448"/>
              <a:ext cx="337413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MÔ PHỎNG · BẬC THANG TRỤC YAW</a:t>
              </a:r>
            </a:p>
          </p:txBody>
        </p:sp>
      </p:grpSp>
      <p:grpSp>
        <p:nvGrpSpPr>
          <p:cNvPr id="23" name="Group 22"/>
          <p:cNvGrpSpPr/>
          <p:nvPr/>
        </p:nvGrpSpPr>
        <p:grpSpPr>
          <a:xfrm>
            <a:off x="612648" y="2788920"/>
            <a:ext cx="3712464" cy="457200"/>
            <a:chOff x="612648" y="2788920"/>
            <a:chExt cx="3712464" cy="457200"/>
          </a:xfrm>
        </p:grpSpPr>
        <p:sp>
          <p:nvSpPr>
            <p:cNvPr id="24" name="Rectangle 23"/>
            <p:cNvSpPr/>
            <p:nvPr/>
          </p:nvSpPr>
          <p:spPr>
            <a:xfrm>
              <a:off x="612648" y="2788920"/>
              <a:ext cx="3712464" cy="457200"/>
            </a:xfrm>
            <a:prstGeom prst="rect">
              <a:avLst/>
            </a:prstGeom>
            <a:solidFill>
              <a:srgbClr val="0B2545"/>
            </a:solidFill>
            <a:ln>
              <a:noFill/>
            </a:ln>
          </p:spPr>
          <p:txBody>
            <a:bodyPr rtlCol="0" anchor="ctr" lIns="54864" tIns="54864" rIns="54864" bIns="54864" wrap="square">
              <a:noAutofit/>
            </a:bodyPr>
            <a:lstStyle/>
            <a:p>
              <a:pPr algn="ctr"/>
            </a:p>
          </p:txBody>
        </p:sp>
        <p:sp>
          <p:nvSpPr>
            <p:cNvPr id="25" name="TextBox 24"/>
            <p:cNvSpPr txBox="1"/>
            <p:nvPr/>
          </p:nvSpPr>
          <p:spPr>
            <a:xfrm>
              <a:off x="667512" y="2788920"/>
              <a:ext cx="859536" cy="457200"/>
            </a:xfrm>
            <a:prstGeom prst="rect">
              <a:avLst/>
            </a:prstGeom>
            <a:noFill/>
          </p:spPr>
          <p:txBody>
            <a:bodyPr wrap="square" lIns="0" tIns="0" rIns="0" bIns="0" anchor="ctr">
              <a:noAutofit/>
            </a:bodyPr>
            <a:lstStyle/>
            <a:p>
              <a:pPr algn="l">
                <a:lnSpc>
                  <a:spcPct val="95000"/>
                </a:lnSpc>
              </a:pPr>
              <a:r>
                <a:rPr sz="1300" b="1" i="1" lang="vi-VN">
                  <a:solidFill>
                    <a:srgbClr val="FFFFFF"/>
                  </a:solidFill>
                  <a:latin typeface="Cambria"/>
                  <a:ea typeface="Cambria"/>
                  <a:cs typeface="Cambria"/>
                </a:rPr>
                <a:t>K</a:t>
              </a:r>
              <a:r>
                <a:rPr sz="1300" b="1" i="0" lang="vi-VN" baseline="-25000">
                  <a:solidFill>
                    <a:srgbClr val="FFFFFF"/>
                  </a:solidFill>
                  <a:latin typeface="Cambria"/>
                  <a:ea typeface="Cambria"/>
                  <a:cs typeface="Cambria"/>
                </a:rPr>
                <a:t>p</a:t>
              </a:r>
              <a:r>
                <a:rPr sz="1300" b="1" i="0" lang="vi-VN" baseline="30000">
                  <a:solidFill>
                    <a:srgbClr val="FFFFFF"/>
                  </a:solidFill>
                  <a:latin typeface="Cambria"/>
                  <a:ea typeface="Cambria"/>
                  <a:cs typeface="Cambria"/>
                </a:rPr>
                <a:t>θ</a:t>
              </a:r>
              <a:r>
                <a:rPr sz="1300" b="1" i="0" lang="vi-VN">
                  <a:solidFill>
                    <a:srgbClr val="FFFFFF"/>
                  </a:solidFill>
                  <a:latin typeface="Arial"/>
                  <a:ea typeface="Arial"/>
                  <a:cs typeface="Arial"/>
                </a:rPr>
                <a:t> (s</a:t>
              </a:r>
              <a:r>
                <a:rPr sz="1300" b="1" i="0" lang="vi-VN" baseline="30000">
                  <a:solidFill>
                    <a:srgbClr val="FFFFFF"/>
                  </a:solidFill>
                  <a:latin typeface="Arial"/>
                  <a:ea typeface="Arial"/>
                  <a:cs typeface="Arial"/>
                </a:rPr>
                <a:t>−1</a:t>
              </a:r>
              <a:r>
                <a:rPr sz="1300" b="1" i="0" lang="vi-VN">
                  <a:solidFill>
                    <a:srgbClr val="FFFFFF"/>
                  </a:solidFill>
                  <a:latin typeface="Arial"/>
                  <a:ea typeface="Arial"/>
                  <a:cs typeface="Arial"/>
                </a:rPr>
                <a:t>)</a:t>
              </a:r>
            </a:p>
          </p:txBody>
        </p:sp>
        <p:sp>
          <p:nvSpPr>
            <p:cNvPr id="26" name="TextBox 25"/>
            <p:cNvSpPr txBox="1"/>
            <p:nvPr/>
          </p:nvSpPr>
          <p:spPr>
            <a:xfrm>
              <a:off x="1636776" y="2788920"/>
              <a:ext cx="758952" cy="457200"/>
            </a:xfrm>
            <a:prstGeom prst="rect">
              <a:avLst/>
            </a:prstGeom>
            <a:noFill/>
          </p:spPr>
          <p:txBody>
            <a:bodyPr wrap="square" lIns="0" tIns="0" rIns="0" bIns="0" anchor="ctr">
              <a:noAutofit/>
            </a:bodyPr>
            <a:lstStyle/>
            <a:p>
              <a:pPr algn="ctr">
                <a:lnSpc>
                  <a:spcPct val="95000"/>
                </a:lnSpc>
              </a:pPr>
              <a:r>
                <a:rPr sz="1300" b="1" i="1" lang="vi-VN">
                  <a:solidFill>
                    <a:srgbClr val="FFFFFF"/>
                  </a:solidFill>
                  <a:latin typeface="Cambria"/>
                  <a:ea typeface="Cambria"/>
                  <a:cs typeface="Cambria"/>
                </a:rPr>
                <a:t>t</a:t>
              </a:r>
              <a:r>
                <a:rPr sz="1300" b="1" i="0" lang="vi-VN" baseline="-25000">
                  <a:solidFill>
                    <a:srgbClr val="FFFFFF"/>
                  </a:solidFill>
                  <a:latin typeface="Cambria"/>
                  <a:ea typeface="Cambria"/>
                  <a:cs typeface="Cambria"/>
                </a:rPr>
                <a:t>r</a:t>
              </a:r>
              <a:r>
                <a:rPr sz="1300" b="1" i="0" lang="vi-VN">
                  <a:solidFill>
                    <a:srgbClr val="FFFFFF"/>
                  </a:solidFill>
                  <a:latin typeface="Arial"/>
                  <a:ea typeface="Arial"/>
                  <a:cs typeface="Arial"/>
                </a:rPr>
                <a:t> (ms)</a:t>
              </a:r>
            </a:p>
          </p:txBody>
        </p:sp>
        <p:sp>
          <p:nvSpPr>
            <p:cNvPr id="27" name="TextBox 26"/>
            <p:cNvSpPr txBox="1"/>
            <p:nvPr/>
          </p:nvSpPr>
          <p:spPr>
            <a:xfrm>
              <a:off x="2505456" y="2788920"/>
              <a:ext cx="758952" cy="457200"/>
            </a:xfrm>
            <a:prstGeom prst="rect">
              <a:avLst/>
            </a:prstGeom>
            <a:noFill/>
          </p:spPr>
          <p:txBody>
            <a:bodyPr wrap="square" lIns="0" tIns="0" rIns="0" bIns="0" anchor="ctr">
              <a:noAutofit/>
            </a:bodyPr>
            <a:lstStyle/>
            <a:p>
              <a:pPr algn="ctr">
                <a:lnSpc>
                  <a:spcPct val="95000"/>
                </a:lnSpc>
              </a:pPr>
              <a:r>
                <a:rPr sz="1300" b="1" i="1" lang="vi-VN">
                  <a:solidFill>
                    <a:srgbClr val="FFFFFF"/>
                  </a:solidFill>
                  <a:latin typeface="Cambria"/>
                  <a:ea typeface="Cambria"/>
                  <a:cs typeface="Cambria"/>
                </a:rPr>
                <a:t>t</a:t>
              </a:r>
              <a:r>
                <a:rPr sz="1300" b="1" i="0" lang="vi-VN" baseline="-25000">
                  <a:solidFill>
                    <a:srgbClr val="FFFFFF"/>
                  </a:solidFill>
                  <a:latin typeface="Cambria"/>
                  <a:ea typeface="Cambria"/>
                  <a:cs typeface="Cambria"/>
                </a:rPr>
                <a:t>s</a:t>
              </a:r>
              <a:r>
                <a:rPr sz="1300" b="1" i="0" lang="vi-VN">
                  <a:solidFill>
                    <a:srgbClr val="FFFFFF"/>
                  </a:solidFill>
                  <a:latin typeface="Arial"/>
                  <a:ea typeface="Arial"/>
                  <a:cs typeface="Arial"/>
                </a:rPr>
                <a:t> (ms)</a:t>
              </a:r>
            </a:p>
          </p:txBody>
        </p:sp>
        <p:sp>
          <p:nvSpPr>
            <p:cNvPr id="28" name="TextBox 27"/>
            <p:cNvSpPr txBox="1"/>
            <p:nvPr/>
          </p:nvSpPr>
          <p:spPr>
            <a:xfrm>
              <a:off x="3374136" y="2788920"/>
              <a:ext cx="896112" cy="457200"/>
            </a:xfrm>
            <a:prstGeom prst="rect">
              <a:avLst/>
            </a:prstGeom>
            <a:noFill/>
          </p:spPr>
          <p:txBody>
            <a:bodyPr wrap="square" lIns="0" tIns="0" rIns="0" bIns="0" anchor="ctr">
              <a:noAutofit/>
            </a:bodyPr>
            <a:lstStyle/>
            <a:p>
              <a:pPr algn="ctr">
                <a:lnSpc>
                  <a:spcPct val="95000"/>
                </a:lnSpc>
              </a:pPr>
              <a:r>
                <a:rPr sz="1300" b="1" i="0" lang="vi-VN">
                  <a:solidFill>
                    <a:srgbClr val="FFFFFF"/>
                  </a:solidFill>
                  <a:latin typeface="Arial"/>
                  <a:ea typeface="Arial"/>
                  <a:cs typeface="Arial"/>
                </a:rPr>
                <a:t>Lệnh / giới hạn</a:t>
              </a:r>
            </a:p>
          </p:txBody>
        </p:sp>
      </p:grpSp>
      <p:grpSp>
        <p:nvGrpSpPr>
          <p:cNvPr id="29" name="Group 28"/>
          <p:cNvGrpSpPr/>
          <p:nvPr/>
        </p:nvGrpSpPr>
        <p:grpSpPr>
          <a:xfrm>
            <a:off x="612648" y="3246120"/>
            <a:ext cx="3712464" cy="384048"/>
            <a:chOff x="612648" y="3246120"/>
            <a:chExt cx="3712464" cy="384048"/>
          </a:xfrm>
        </p:grpSpPr>
        <p:sp>
          <p:nvSpPr>
            <p:cNvPr id="30" name="Rectangle 29"/>
            <p:cNvSpPr/>
            <p:nvPr/>
          </p:nvSpPr>
          <p:spPr>
            <a:xfrm>
              <a:off x="612648" y="3246120"/>
              <a:ext cx="3712464" cy="384048"/>
            </a:xfrm>
            <a:prstGeom prst="rect">
              <a:avLst/>
            </a:prstGeom>
            <a:solidFill>
              <a:srgbClr val="FFFFFF"/>
            </a:solidFill>
            <a:ln>
              <a:noFill/>
            </a:ln>
          </p:spPr>
          <p:txBody>
            <a:bodyPr rtlCol="0" anchor="ctr" lIns="54864" tIns="54864" rIns="54864" bIns="54864" wrap="square">
              <a:noAutofit/>
            </a:bodyPr>
            <a:lstStyle/>
            <a:p>
              <a:pPr algn="ctr"/>
            </a:p>
          </p:txBody>
        </p:sp>
        <p:sp>
          <p:nvSpPr>
            <p:cNvPr id="31" name="TextBox 30"/>
            <p:cNvSpPr txBox="1"/>
            <p:nvPr/>
          </p:nvSpPr>
          <p:spPr>
            <a:xfrm>
              <a:off x="667512" y="3246120"/>
              <a:ext cx="859536" cy="384048"/>
            </a:xfrm>
            <a:prstGeom prst="rect">
              <a:avLst/>
            </a:prstGeom>
            <a:noFill/>
          </p:spPr>
          <p:txBody>
            <a:bodyPr wrap="square" lIns="0" tIns="0" rIns="0" bIns="0" anchor="ctr">
              <a:noAutofit/>
            </a:bodyPr>
            <a:lstStyle/>
            <a:p>
              <a:pPr algn="l">
                <a:lnSpc>
                  <a:spcPct val="95000"/>
                </a:lnSpc>
              </a:pPr>
              <a:r>
                <a:rPr sz="1350" b="0" i="0" lang="vi-VN">
                  <a:solidFill>
                    <a:srgbClr val="1E2B3A"/>
                  </a:solidFill>
                  <a:latin typeface="Arial"/>
                  <a:ea typeface="Arial"/>
                  <a:cs typeface="Arial"/>
                </a:rPr>
                <a:t>6</a:t>
              </a:r>
            </a:p>
          </p:txBody>
        </p:sp>
        <p:sp>
          <p:nvSpPr>
            <p:cNvPr id="32" name="TextBox 31"/>
            <p:cNvSpPr txBox="1"/>
            <p:nvPr/>
          </p:nvSpPr>
          <p:spPr>
            <a:xfrm>
              <a:off x="1636776" y="3246120"/>
              <a:ext cx="758952" cy="384048"/>
            </a:xfrm>
            <a:prstGeom prst="rect">
              <a:avLst/>
            </a:prstGeom>
            <a:noFill/>
          </p:spPr>
          <p:txBody>
            <a:bodyPr wrap="square" lIns="0" tIns="0" rIns="0" bIns="0" anchor="ctr">
              <a:noAutofit/>
            </a:bodyPr>
            <a:lstStyle/>
            <a:p>
              <a:pPr algn="ctr">
                <a:lnSpc>
                  <a:spcPct val="95000"/>
                </a:lnSpc>
              </a:pPr>
              <a:r>
                <a:rPr sz="1350" b="0" i="0" lang="vi-VN">
                  <a:solidFill>
                    <a:srgbClr val="1E2B3A"/>
                  </a:solidFill>
                  <a:latin typeface="Arial"/>
                  <a:ea typeface="Arial"/>
                  <a:cs typeface="Arial"/>
                </a:rPr>
                <a:t>299,6</a:t>
              </a:r>
            </a:p>
          </p:txBody>
        </p:sp>
        <p:sp>
          <p:nvSpPr>
            <p:cNvPr id="33" name="TextBox 32"/>
            <p:cNvSpPr txBox="1"/>
            <p:nvPr/>
          </p:nvSpPr>
          <p:spPr>
            <a:xfrm>
              <a:off x="2505456" y="3246120"/>
              <a:ext cx="758952" cy="384048"/>
            </a:xfrm>
            <a:prstGeom prst="rect">
              <a:avLst/>
            </a:prstGeom>
            <a:noFill/>
          </p:spPr>
          <p:txBody>
            <a:bodyPr wrap="square" lIns="0" tIns="0" rIns="0" bIns="0" anchor="ctr">
              <a:noAutofit/>
            </a:bodyPr>
            <a:lstStyle/>
            <a:p>
              <a:pPr algn="ctr">
                <a:lnSpc>
                  <a:spcPct val="95000"/>
                </a:lnSpc>
              </a:pPr>
              <a:r>
                <a:rPr sz="1350" b="0" i="0" lang="vi-VN">
                  <a:solidFill>
                    <a:srgbClr val="1E2B3A"/>
                  </a:solidFill>
                  <a:latin typeface="Arial"/>
                  <a:ea typeface="Arial"/>
                  <a:cs typeface="Arial"/>
                </a:rPr>
                <a:t>566</a:t>
              </a:r>
            </a:p>
          </p:txBody>
        </p:sp>
        <p:sp>
          <p:nvSpPr>
            <p:cNvPr id="34" name="TextBox 33"/>
            <p:cNvSpPr txBox="1"/>
            <p:nvPr/>
          </p:nvSpPr>
          <p:spPr>
            <a:xfrm>
              <a:off x="3374136" y="3246120"/>
              <a:ext cx="896112" cy="384048"/>
            </a:xfrm>
            <a:prstGeom prst="rect">
              <a:avLst/>
            </a:prstGeom>
            <a:noFill/>
          </p:spPr>
          <p:txBody>
            <a:bodyPr wrap="square" lIns="0" tIns="0" rIns="0" bIns="0" anchor="ctr">
              <a:noAutofit/>
            </a:bodyPr>
            <a:lstStyle/>
            <a:p>
              <a:pPr algn="ctr">
                <a:lnSpc>
                  <a:spcPct val="95000"/>
                </a:lnSpc>
              </a:pPr>
              <a:r>
                <a:rPr sz="1350" b="0" i="0" lang="vi-VN">
                  <a:solidFill>
                    <a:srgbClr val="1E2B3A"/>
                  </a:solidFill>
                  <a:latin typeface="Arial"/>
                  <a:ea typeface="Arial"/>
                  <a:cs typeface="Arial"/>
                </a:rPr>
                <a:t>35 %</a:t>
              </a:r>
            </a:p>
          </p:txBody>
        </p:sp>
      </p:grpSp>
      <p:grpSp>
        <p:nvGrpSpPr>
          <p:cNvPr id="35" name="Group 34"/>
          <p:cNvGrpSpPr/>
          <p:nvPr/>
        </p:nvGrpSpPr>
        <p:grpSpPr>
          <a:xfrm>
            <a:off x="612648" y="3630168"/>
            <a:ext cx="3712464" cy="384048"/>
            <a:chOff x="612648" y="3630168"/>
            <a:chExt cx="3712464" cy="384048"/>
          </a:xfrm>
        </p:grpSpPr>
        <p:sp>
          <p:nvSpPr>
            <p:cNvPr id="36" name="Rectangle 35"/>
            <p:cNvSpPr/>
            <p:nvPr/>
          </p:nvSpPr>
          <p:spPr>
            <a:xfrm>
              <a:off x="612648" y="3630168"/>
              <a:ext cx="3712464" cy="384048"/>
            </a:xfrm>
            <a:prstGeom prst="rect">
              <a:avLst/>
            </a:prstGeom>
            <a:solidFill>
              <a:srgbClr val="FFF1E6"/>
            </a:solidFill>
            <a:ln w="19050">
              <a:solidFill>
                <a:srgbClr val="E8710A"/>
              </a:solidFill>
            </a:ln>
          </p:spPr>
          <p:txBody>
            <a:bodyPr rtlCol="0" anchor="ctr" lIns="54864" tIns="54864" rIns="54864" bIns="54864" wrap="square">
              <a:noAutofit/>
            </a:bodyPr>
            <a:lstStyle/>
            <a:p>
              <a:pPr algn="ctr"/>
            </a:p>
          </p:txBody>
        </p:sp>
        <p:sp>
          <p:nvSpPr>
            <p:cNvPr id="37" name="TextBox 36"/>
            <p:cNvSpPr txBox="1"/>
            <p:nvPr/>
          </p:nvSpPr>
          <p:spPr>
            <a:xfrm>
              <a:off x="667512" y="3630168"/>
              <a:ext cx="859536" cy="384048"/>
            </a:xfrm>
            <a:prstGeom prst="rect">
              <a:avLst/>
            </a:prstGeom>
            <a:noFill/>
          </p:spPr>
          <p:txBody>
            <a:bodyPr wrap="square" lIns="0" tIns="0" rIns="0" bIns="0" anchor="ctr">
              <a:noAutofit/>
            </a:bodyPr>
            <a:lstStyle/>
            <a:p>
              <a:pPr algn="l">
                <a:lnSpc>
                  <a:spcPct val="95000"/>
                </a:lnSpc>
              </a:pPr>
              <a:r>
                <a:rPr sz="1350" b="1" i="0" lang="vi-VN">
                  <a:solidFill>
                    <a:srgbClr val="1E2B3A"/>
                  </a:solidFill>
                  <a:latin typeface="Arial"/>
                  <a:ea typeface="Arial"/>
                  <a:cs typeface="Arial"/>
                </a:rPr>
                <a:t>9,5</a:t>
              </a:r>
            </a:p>
          </p:txBody>
        </p:sp>
        <p:sp>
          <p:nvSpPr>
            <p:cNvPr id="38" name="TextBox 37"/>
            <p:cNvSpPr txBox="1"/>
            <p:nvPr/>
          </p:nvSpPr>
          <p:spPr>
            <a:xfrm>
              <a:off x="1636776" y="3630168"/>
              <a:ext cx="758952" cy="384048"/>
            </a:xfrm>
            <a:prstGeom prst="rect">
              <a:avLst/>
            </a:prstGeom>
            <a:noFill/>
          </p:spPr>
          <p:txBody>
            <a:bodyPr wrap="square" lIns="0" tIns="0" rIns="0" bIns="0" anchor="ctr">
              <a:noAutofit/>
            </a:bodyPr>
            <a:lstStyle/>
            <a:p>
              <a:pPr algn="ctr">
                <a:lnSpc>
                  <a:spcPct val="95000"/>
                </a:lnSpc>
              </a:pPr>
              <a:r>
                <a:rPr sz="1350" b="1" i="0" lang="vi-VN">
                  <a:solidFill>
                    <a:srgbClr val="1E2B3A"/>
                  </a:solidFill>
                  <a:latin typeface="Arial"/>
                  <a:ea typeface="Arial"/>
                  <a:cs typeface="Arial"/>
                </a:rPr>
                <a:t>162,7</a:t>
              </a:r>
            </a:p>
          </p:txBody>
        </p:sp>
        <p:sp>
          <p:nvSpPr>
            <p:cNvPr id="39" name="TextBox 38"/>
            <p:cNvSpPr txBox="1"/>
            <p:nvPr/>
          </p:nvSpPr>
          <p:spPr>
            <a:xfrm>
              <a:off x="2505456" y="3630168"/>
              <a:ext cx="758952" cy="384048"/>
            </a:xfrm>
            <a:prstGeom prst="rect">
              <a:avLst/>
            </a:prstGeom>
            <a:noFill/>
          </p:spPr>
          <p:txBody>
            <a:bodyPr wrap="square" lIns="0" tIns="0" rIns="0" bIns="0" anchor="ctr">
              <a:noAutofit/>
            </a:bodyPr>
            <a:lstStyle/>
            <a:p>
              <a:pPr algn="ctr">
                <a:lnSpc>
                  <a:spcPct val="95000"/>
                </a:lnSpc>
              </a:pPr>
              <a:r>
                <a:rPr sz="1350" b="1" i="0" lang="vi-VN">
                  <a:solidFill>
                    <a:srgbClr val="1E2B3A"/>
                  </a:solidFill>
                  <a:latin typeface="Arial"/>
                  <a:ea typeface="Arial"/>
                  <a:cs typeface="Arial"/>
                </a:rPr>
                <a:t>318</a:t>
              </a:r>
            </a:p>
          </p:txBody>
        </p:sp>
        <p:sp>
          <p:nvSpPr>
            <p:cNvPr id="40" name="TextBox 39"/>
            <p:cNvSpPr txBox="1"/>
            <p:nvPr/>
          </p:nvSpPr>
          <p:spPr>
            <a:xfrm>
              <a:off x="3374136" y="3630168"/>
              <a:ext cx="896112" cy="384048"/>
            </a:xfrm>
            <a:prstGeom prst="rect">
              <a:avLst/>
            </a:prstGeom>
            <a:noFill/>
          </p:spPr>
          <p:txBody>
            <a:bodyPr wrap="square" lIns="0" tIns="0" rIns="0" bIns="0" anchor="ctr">
              <a:noAutofit/>
            </a:bodyPr>
            <a:lstStyle/>
            <a:p>
              <a:pPr algn="ctr">
                <a:lnSpc>
                  <a:spcPct val="95000"/>
                </a:lnSpc>
              </a:pPr>
              <a:r>
                <a:rPr sz="1350" b="1" i="0" lang="vi-VN">
                  <a:solidFill>
                    <a:srgbClr val="1E2B3A"/>
                  </a:solidFill>
                  <a:latin typeface="Arial"/>
                  <a:ea typeface="Arial"/>
                  <a:cs typeface="Arial"/>
                </a:rPr>
                <a:t>56 %</a:t>
              </a:r>
            </a:p>
          </p:txBody>
        </p:sp>
      </p:grpSp>
      <p:grpSp>
        <p:nvGrpSpPr>
          <p:cNvPr id="41" name="Group 40"/>
          <p:cNvGrpSpPr/>
          <p:nvPr/>
        </p:nvGrpSpPr>
        <p:grpSpPr>
          <a:xfrm>
            <a:off x="612648" y="4014216"/>
            <a:ext cx="3712464" cy="384048"/>
            <a:chOff x="612648" y="4014216"/>
            <a:chExt cx="3712464" cy="384048"/>
          </a:xfrm>
        </p:grpSpPr>
        <p:sp>
          <p:nvSpPr>
            <p:cNvPr id="42" name="Rectangle 41"/>
            <p:cNvSpPr/>
            <p:nvPr/>
          </p:nvSpPr>
          <p:spPr>
            <a:xfrm>
              <a:off x="612648" y="4014216"/>
              <a:ext cx="3712464" cy="384048"/>
            </a:xfrm>
            <a:prstGeom prst="rect">
              <a:avLst/>
            </a:prstGeom>
            <a:solidFill>
              <a:srgbClr val="FFFFFF"/>
            </a:solidFill>
            <a:ln>
              <a:noFill/>
            </a:ln>
          </p:spPr>
          <p:txBody>
            <a:bodyPr rtlCol="0" anchor="ctr" lIns="54864" tIns="54864" rIns="54864" bIns="54864" wrap="square">
              <a:noAutofit/>
            </a:bodyPr>
            <a:lstStyle/>
            <a:p>
              <a:pPr algn="ctr"/>
            </a:p>
          </p:txBody>
        </p:sp>
        <p:sp>
          <p:nvSpPr>
            <p:cNvPr id="43" name="TextBox 42"/>
            <p:cNvSpPr txBox="1"/>
            <p:nvPr/>
          </p:nvSpPr>
          <p:spPr>
            <a:xfrm>
              <a:off x="667512" y="4014216"/>
              <a:ext cx="859536" cy="384048"/>
            </a:xfrm>
            <a:prstGeom prst="rect">
              <a:avLst/>
            </a:prstGeom>
            <a:noFill/>
          </p:spPr>
          <p:txBody>
            <a:bodyPr wrap="square" lIns="0" tIns="0" rIns="0" bIns="0" anchor="ctr">
              <a:noAutofit/>
            </a:bodyPr>
            <a:lstStyle/>
            <a:p>
              <a:pPr algn="l">
                <a:lnSpc>
                  <a:spcPct val="95000"/>
                </a:lnSpc>
              </a:pPr>
              <a:r>
                <a:rPr sz="1350" b="0" i="0" lang="vi-VN">
                  <a:solidFill>
                    <a:srgbClr val="1E2B3A"/>
                  </a:solidFill>
                  <a:latin typeface="Arial"/>
                  <a:ea typeface="Arial"/>
                  <a:cs typeface="Arial"/>
                </a:rPr>
                <a:t>13</a:t>
              </a:r>
            </a:p>
          </p:txBody>
        </p:sp>
        <p:sp>
          <p:nvSpPr>
            <p:cNvPr id="44" name="TextBox 43"/>
            <p:cNvSpPr txBox="1"/>
            <p:nvPr/>
          </p:nvSpPr>
          <p:spPr>
            <a:xfrm>
              <a:off x="1636776" y="4014216"/>
              <a:ext cx="758952" cy="384048"/>
            </a:xfrm>
            <a:prstGeom prst="rect">
              <a:avLst/>
            </a:prstGeom>
            <a:noFill/>
          </p:spPr>
          <p:txBody>
            <a:bodyPr wrap="square" lIns="0" tIns="0" rIns="0" bIns="0" anchor="ctr">
              <a:noAutofit/>
            </a:bodyPr>
            <a:lstStyle/>
            <a:p>
              <a:pPr algn="ctr">
                <a:lnSpc>
                  <a:spcPct val="95000"/>
                </a:lnSpc>
              </a:pPr>
              <a:r>
                <a:rPr sz="1350" b="0" i="0" lang="vi-VN">
                  <a:solidFill>
                    <a:srgbClr val="1E2B3A"/>
                  </a:solidFill>
                  <a:latin typeface="Arial"/>
                  <a:ea typeface="Arial"/>
                  <a:cs typeface="Arial"/>
                </a:rPr>
                <a:t>97,1</a:t>
              </a:r>
            </a:p>
          </p:txBody>
        </p:sp>
        <p:sp>
          <p:nvSpPr>
            <p:cNvPr id="45" name="TextBox 44"/>
            <p:cNvSpPr txBox="1"/>
            <p:nvPr/>
          </p:nvSpPr>
          <p:spPr>
            <a:xfrm>
              <a:off x="2505456" y="4014216"/>
              <a:ext cx="758952" cy="384048"/>
            </a:xfrm>
            <a:prstGeom prst="rect">
              <a:avLst/>
            </a:prstGeom>
            <a:noFill/>
          </p:spPr>
          <p:txBody>
            <a:bodyPr wrap="square" lIns="0" tIns="0" rIns="0" bIns="0" anchor="ctr">
              <a:noAutofit/>
            </a:bodyPr>
            <a:lstStyle/>
            <a:p>
              <a:pPr algn="ctr">
                <a:lnSpc>
                  <a:spcPct val="95000"/>
                </a:lnSpc>
              </a:pPr>
              <a:r>
                <a:rPr sz="1350" b="0" i="0" lang="vi-VN">
                  <a:solidFill>
                    <a:srgbClr val="1E2B3A"/>
                  </a:solidFill>
                  <a:latin typeface="Arial"/>
                  <a:ea typeface="Arial"/>
                  <a:cs typeface="Arial"/>
                </a:rPr>
                <a:t>196</a:t>
              </a:r>
            </a:p>
          </p:txBody>
        </p:sp>
        <p:sp>
          <p:nvSpPr>
            <p:cNvPr id="46" name="TextBox 45"/>
            <p:cNvSpPr txBox="1"/>
            <p:nvPr/>
          </p:nvSpPr>
          <p:spPr>
            <a:xfrm>
              <a:off x="3374136" y="4014216"/>
              <a:ext cx="896112" cy="384048"/>
            </a:xfrm>
            <a:prstGeom prst="rect">
              <a:avLst/>
            </a:prstGeom>
            <a:noFill/>
          </p:spPr>
          <p:txBody>
            <a:bodyPr wrap="square" lIns="0" tIns="0" rIns="0" bIns="0" anchor="ctr">
              <a:noAutofit/>
            </a:bodyPr>
            <a:lstStyle/>
            <a:p>
              <a:pPr algn="ctr">
                <a:lnSpc>
                  <a:spcPct val="95000"/>
                </a:lnSpc>
              </a:pPr>
              <a:r>
                <a:rPr sz="1350" b="0" i="0" lang="vi-VN">
                  <a:solidFill>
                    <a:srgbClr val="1E2B3A"/>
                  </a:solidFill>
                  <a:latin typeface="Arial"/>
                  <a:ea typeface="Arial"/>
                  <a:cs typeface="Arial"/>
                </a:rPr>
                <a:t>76 %</a:t>
              </a:r>
            </a:p>
          </p:txBody>
        </p:sp>
      </p:grpSp>
      <p:sp>
        <p:nvSpPr>
          <p:cNvPr id="47" name="TextBox 46"/>
          <p:cNvSpPr txBox="1"/>
          <p:nvPr/>
        </p:nvSpPr>
        <p:spPr>
          <a:xfrm>
            <a:off x="612648" y="4471416"/>
            <a:ext cx="3712464" cy="365760"/>
          </a:xfrm>
          <a:prstGeom prst="rect">
            <a:avLst/>
          </a:prstGeom>
          <a:noFill/>
        </p:spPr>
        <p:txBody>
          <a:bodyPr wrap="square" lIns="0" tIns="0" rIns="0" bIns="0" anchor="ctr">
            <a:noAutofit/>
          </a:bodyPr>
          <a:lstStyle/>
          <a:p>
            <a:pPr algn="l"/>
            <a:r>
              <a:rPr sz="1300" b="0" i="1" lang="vi-VN">
                <a:solidFill>
                  <a:srgbClr val="1E2B3A"/>
                </a:solidFill>
                <a:latin typeface="Cambria"/>
                <a:ea typeface="Cambria"/>
                <a:cs typeface="Cambria"/>
              </a:rPr>
              <a:t>K</a:t>
            </a:r>
            <a:r>
              <a:rPr sz="1300" b="0" i="0" lang="vi-VN" baseline="-25000">
                <a:solidFill>
                  <a:srgbClr val="1E2B3A"/>
                </a:solidFill>
                <a:latin typeface="Cambria"/>
                <a:ea typeface="Cambria"/>
                <a:cs typeface="Cambria"/>
              </a:rPr>
              <a:t>i</a:t>
            </a:r>
            <a:r>
              <a:rPr sz="1300" b="0" i="0" lang="vi-VN" baseline="30000">
                <a:solidFill>
                  <a:srgbClr val="1E2B3A"/>
                </a:solidFill>
                <a:latin typeface="Cambria"/>
                <a:ea typeface="Cambria"/>
                <a:cs typeface="Cambria"/>
              </a:rPr>
              <a:t>ω</a:t>
            </a:r>
            <a:r>
              <a:rPr sz="1300" b="0" i="0" lang="vi-VN">
                <a:solidFill>
                  <a:srgbClr val="1E2B3A"/>
                </a:solidFill>
                <a:latin typeface="Arial"/>
                <a:ea typeface="Arial"/>
                <a:cs typeface="Arial"/>
              </a:rPr>
              <a:t> = 1,0 → </a:t>
            </a:r>
            <a:r>
              <a:rPr sz="1300" b="0" i="1" lang="vi-VN">
                <a:solidFill>
                  <a:srgbClr val="1E2B3A"/>
                </a:solidFill>
                <a:latin typeface="Cambria"/>
                <a:ea typeface="Cambria"/>
                <a:cs typeface="Cambria"/>
              </a:rPr>
              <a:t>J</a:t>
            </a:r>
            <a:r>
              <a:rPr sz="1300" b="0" i="0" lang="vi-VN" baseline="-25000">
                <a:solidFill>
                  <a:srgbClr val="1E2B3A"/>
                </a:solidFill>
                <a:latin typeface="Cambria"/>
                <a:ea typeface="Cambria"/>
                <a:cs typeface="Cambria"/>
              </a:rPr>
              <a:t>e</a:t>
            </a:r>
            <a:r>
              <a:rPr sz="1300" b="0" i="0" lang="vi-VN">
                <a:solidFill>
                  <a:srgbClr val="1E2B3A"/>
                </a:solidFill>
                <a:latin typeface="Arial"/>
                <a:ea typeface="Arial"/>
                <a:cs typeface="Arial"/>
              </a:rPr>
              <a:t> giảm </a:t>
            </a:r>
            <a:r>
              <a:rPr sz="1300" b="1" i="0" lang="vi-VN">
                <a:solidFill>
                  <a:srgbClr val="1E2B3A"/>
                </a:solidFill>
                <a:latin typeface="Arial"/>
                <a:ea typeface="Arial"/>
                <a:cs typeface="Arial"/>
              </a:rPr>
              <a:t>85,7 %</a:t>
            </a:r>
          </a:p>
        </p:txBody>
      </p:sp>
      <p:grpSp>
        <p:nvGrpSpPr>
          <p:cNvPr id="48" name="Group 47"/>
          <p:cNvGrpSpPr/>
          <p:nvPr/>
        </p:nvGrpSpPr>
        <p:grpSpPr>
          <a:xfrm>
            <a:off x="502920" y="5065776"/>
            <a:ext cx="3931920" cy="987552"/>
            <a:chOff x="502920" y="5065776"/>
            <a:chExt cx="3931920" cy="987552"/>
          </a:xfrm>
        </p:grpSpPr>
        <p:sp>
          <p:nvSpPr>
            <p:cNvPr id="49" name="Rounded Rectangle 48"/>
            <p:cNvSpPr/>
            <p:nvPr/>
          </p:nvSpPr>
          <p:spPr>
            <a:xfrm>
              <a:off x="502920" y="5065776"/>
              <a:ext cx="3931920" cy="987552"/>
            </a:xfrm>
            <a:prstGeom prst="roundRect">
              <a:avLst>
                <a:gd name="adj" fmla="val 9259"/>
              </a:avLst>
            </a:prstGeom>
            <a:solidFill>
              <a:srgbClr val="FFF1E6"/>
            </a:solidFill>
            <a:ln w="19050">
              <a:solidFill>
                <a:srgbClr val="E8710A"/>
              </a:solidFill>
            </a:ln>
          </p:spPr>
          <p:txBody>
            <a:bodyPr rtlCol="0" anchor="ctr" lIns="54864" tIns="54864" rIns="54864" bIns="54864" wrap="square">
              <a:noAutofit/>
            </a:bodyPr>
            <a:lstStyle/>
            <a:p>
              <a:pPr algn="ctr"/>
            </a:p>
          </p:txBody>
        </p:sp>
        <p:pic>
          <p:nvPicPr>
            <p:cNvPr id="50" name="Picture 49" descr="check_B45309.png"/>
            <p:cNvPicPr>
              <a:picLocks noChangeAspect="1"/>
            </p:cNvPicPr>
            <p:nvPr/>
          </p:nvPicPr>
          <p:blipFill>
            <a:blip r:embed="rId4"/>
            <a:stretch>
              <a:fillRect/>
            </a:stretch>
          </p:blipFill>
          <p:spPr>
            <a:xfrm>
              <a:off x="640080" y="5120640"/>
              <a:ext cx="237744" cy="237744"/>
            </a:xfrm>
            <a:prstGeom prst="rect">
              <a:avLst/>
            </a:prstGeom>
          </p:spPr>
        </p:pic>
        <p:sp>
          <p:nvSpPr>
            <p:cNvPr id="51" name="TextBox 50"/>
            <p:cNvSpPr txBox="1"/>
            <p:nvPr/>
          </p:nvSpPr>
          <p:spPr>
            <a:xfrm>
              <a:off x="969264" y="5093208"/>
              <a:ext cx="3328416" cy="292608"/>
            </a:xfrm>
            <a:prstGeom prst="rect">
              <a:avLst/>
            </a:prstGeom>
            <a:noFill/>
          </p:spPr>
          <p:txBody>
            <a:bodyPr wrap="square" lIns="0" tIns="0" rIns="0" bIns="0" anchor="ctr">
              <a:noAutofit/>
            </a:bodyPr>
            <a:lstStyle/>
            <a:p>
              <a:pPr algn="l"/>
              <a:r>
                <a:rPr sz="1250" b="1" i="0" lang="vi-VN" spc="40">
                  <a:solidFill>
                    <a:srgbClr val="B45309"/>
                  </a:solidFill>
                  <a:latin typeface="Arial"/>
                  <a:ea typeface="Arial"/>
                  <a:cs typeface="Arial"/>
                </a:rPr>
                <a:t>LỰA CHỌN</a:t>
              </a:r>
            </a:p>
          </p:txBody>
        </p:sp>
        <p:sp>
          <p:nvSpPr>
            <p:cNvPr id="52" name="TextBox 51"/>
            <p:cNvSpPr txBox="1"/>
            <p:nvPr/>
          </p:nvSpPr>
          <p:spPr>
            <a:xfrm>
              <a:off x="667512" y="5376672"/>
              <a:ext cx="3639312" cy="658368"/>
            </a:xfrm>
            <a:prstGeom prst="rect">
              <a:avLst/>
            </a:prstGeom>
            <a:noFill/>
          </p:spPr>
          <p:txBody>
            <a:bodyPr wrap="square" lIns="0" tIns="0" rIns="0" bIns="0" anchor="t">
              <a:noAutofit/>
            </a:bodyPr>
            <a:lstStyle/>
            <a:p>
              <a:pPr algn="l">
                <a:lnSpc>
                  <a:spcPct val="96000"/>
                </a:lnSpc>
              </a:pPr>
              <a:r>
                <a:rPr sz="1350" b="1" i="0" lang="vi-VN">
                  <a:solidFill>
                    <a:srgbClr val="1E2B3A"/>
                  </a:solidFill>
                  <a:latin typeface="Arial"/>
                  <a:ea typeface="Arial"/>
                  <a:cs typeface="Arial"/>
                </a:rPr>
                <a:t>Yaw: </a:t>
              </a:r>
              <a:r>
                <a:rPr sz="1350" b="1" i="1" lang="vi-VN">
                  <a:solidFill>
                    <a:srgbClr val="1E2B3A"/>
                  </a:solidFill>
                  <a:latin typeface="Cambria"/>
                  <a:ea typeface="Cambria"/>
                  <a:cs typeface="Cambria"/>
                </a:rPr>
                <a:t>K</a:t>
              </a:r>
              <a:r>
                <a:rPr sz="1350" b="1" i="0" lang="vi-VN" baseline="-25000">
                  <a:solidFill>
                    <a:srgbClr val="1E2B3A"/>
                  </a:solidFill>
                  <a:latin typeface="Cambria"/>
                  <a:ea typeface="Cambria"/>
                  <a:cs typeface="Cambria"/>
                </a:rPr>
                <a:t>p</a:t>
              </a:r>
              <a:r>
                <a:rPr sz="1350" b="1" i="0" lang="vi-VN" baseline="30000">
                  <a:solidFill>
                    <a:srgbClr val="1E2B3A"/>
                  </a:solidFill>
                  <a:latin typeface="Cambria"/>
                  <a:ea typeface="Cambria"/>
                  <a:cs typeface="Cambria"/>
                </a:rPr>
                <a:t>θ</a:t>
              </a:r>
              <a:r>
                <a:rPr sz="1350" b="1" i="0" lang="vi-VN">
                  <a:solidFill>
                    <a:srgbClr val="1E2B3A"/>
                  </a:solidFill>
                  <a:latin typeface="Arial"/>
                  <a:ea typeface="Arial"/>
                  <a:cs typeface="Arial"/>
                </a:rPr>
                <a:t> 9,5 · </a:t>
              </a:r>
              <a:r>
                <a:rPr sz="1350" b="1" i="1" lang="vi-VN">
                  <a:solidFill>
                    <a:srgbClr val="1E2B3A"/>
                  </a:solidFill>
                  <a:latin typeface="Cambria"/>
                  <a:ea typeface="Cambria"/>
                  <a:cs typeface="Cambria"/>
                </a:rPr>
                <a:t>K</a:t>
              </a:r>
              <a:r>
                <a:rPr sz="1350" b="1" i="0" lang="vi-VN" baseline="-25000">
                  <a:solidFill>
                    <a:srgbClr val="1E2B3A"/>
                  </a:solidFill>
                  <a:latin typeface="Cambria"/>
                  <a:ea typeface="Cambria"/>
                  <a:cs typeface="Cambria"/>
                </a:rPr>
                <a:t>p</a:t>
              </a:r>
              <a:r>
                <a:rPr sz="1350" b="1" i="0" lang="vi-VN" baseline="30000">
                  <a:solidFill>
                    <a:srgbClr val="1E2B3A"/>
                  </a:solidFill>
                  <a:latin typeface="Cambria"/>
                  <a:ea typeface="Cambria"/>
                  <a:cs typeface="Cambria"/>
                </a:rPr>
                <a:t>ω</a:t>
              </a:r>
              <a:r>
                <a:rPr sz="1350" b="1" i="0" lang="vi-VN">
                  <a:solidFill>
                    <a:srgbClr val="1E2B3A"/>
                  </a:solidFill>
                  <a:latin typeface="Arial"/>
                  <a:ea typeface="Arial"/>
                  <a:cs typeface="Arial"/>
                </a:rPr>
                <a:t> 0,28 · </a:t>
              </a:r>
              <a:r>
                <a:rPr sz="1350" b="1" i="1" lang="vi-VN">
                  <a:solidFill>
                    <a:srgbClr val="1E2B3A"/>
                  </a:solidFill>
                  <a:latin typeface="Cambria"/>
                  <a:ea typeface="Cambria"/>
                  <a:cs typeface="Cambria"/>
                </a:rPr>
                <a:t>K</a:t>
              </a:r>
              <a:r>
                <a:rPr sz="1350" b="1" i="0" lang="vi-VN" baseline="-25000">
                  <a:solidFill>
                    <a:srgbClr val="1E2B3A"/>
                  </a:solidFill>
                  <a:latin typeface="Cambria"/>
                  <a:ea typeface="Cambria"/>
                  <a:cs typeface="Cambria"/>
                </a:rPr>
                <a:t>i</a:t>
              </a:r>
              <a:r>
                <a:rPr sz="1350" b="1" i="0" lang="vi-VN" baseline="30000">
                  <a:solidFill>
                    <a:srgbClr val="1E2B3A"/>
                  </a:solidFill>
                  <a:latin typeface="Cambria"/>
                  <a:ea typeface="Cambria"/>
                  <a:cs typeface="Cambria"/>
                </a:rPr>
                <a:t>ω</a:t>
              </a:r>
              <a:r>
                <a:rPr sz="1350" b="1" i="0" lang="vi-VN">
                  <a:solidFill>
                    <a:srgbClr val="1E2B3A"/>
                  </a:solidFill>
                  <a:latin typeface="Arial"/>
                  <a:ea typeface="Arial"/>
                  <a:cs typeface="Arial"/>
                </a:rPr>
                <a:t> 1,0</a:t>
              </a:r>
            </a:p>
            <a:p>
              <a:pPr algn="l">
                <a:lnSpc>
                  <a:spcPct val="96000"/>
                </a:lnSpc>
              </a:pPr>
              <a:r>
                <a:rPr sz="1350" b="1" i="0" lang="vi-VN">
                  <a:solidFill>
                    <a:srgbClr val="1E2B3A"/>
                  </a:solidFill>
                  <a:latin typeface="Arial"/>
                  <a:ea typeface="Arial"/>
                  <a:cs typeface="Arial"/>
                </a:rPr>
                <a:t>Pitch: 38,0 · 0,15 · 0,5 (quán tính nhỏ hơn)</a:t>
              </a:r>
            </a:p>
          </p:txBody>
        </p:sp>
      </p:grpSp>
      <p:grpSp>
        <p:nvGrpSpPr>
          <p:cNvPr id="53" name="Group 52"/>
          <p:cNvGrpSpPr/>
          <p:nvPr/>
        </p:nvGrpSpPr>
        <p:grpSpPr>
          <a:xfrm>
            <a:off x="4617720" y="1261872"/>
            <a:ext cx="7086600" cy="3657600"/>
            <a:chOff x="4617720" y="1261872"/>
            <a:chExt cx="7086600" cy="3657600"/>
          </a:xfrm>
        </p:grpSpPr>
        <p:sp>
          <p:nvSpPr>
            <p:cNvPr id="54" name="Rounded Rectangle 53"/>
            <p:cNvSpPr/>
            <p:nvPr/>
          </p:nvSpPr>
          <p:spPr>
            <a:xfrm>
              <a:off x="4617720" y="1261872"/>
              <a:ext cx="7086600" cy="3657600"/>
            </a:xfrm>
            <a:prstGeom prst="roundRect">
              <a:avLst>
                <a:gd name="adj" fmla="val 250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55" name="Picture 54" descr="cogs_0B2545.png"/>
            <p:cNvPicPr>
              <a:picLocks noChangeAspect="1"/>
            </p:cNvPicPr>
            <p:nvPr/>
          </p:nvPicPr>
          <p:blipFill>
            <a:blip r:embed="rId5"/>
            <a:stretch>
              <a:fillRect/>
            </a:stretch>
          </p:blipFill>
          <p:spPr>
            <a:xfrm>
              <a:off x="4754880" y="1335024"/>
              <a:ext cx="237744" cy="237744"/>
            </a:xfrm>
            <a:prstGeom prst="rect">
              <a:avLst/>
            </a:prstGeom>
          </p:spPr>
        </p:pic>
        <p:sp>
          <p:nvSpPr>
            <p:cNvPr id="56" name="TextBox 55"/>
            <p:cNvSpPr txBox="1"/>
            <p:nvPr/>
          </p:nvSpPr>
          <p:spPr>
            <a:xfrm>
              <a:off x="5084064" y="1307592"/>
              <a:ext cx="4791456" cy="292608"/>
            </a:xfrm>
            <a:prstGeom prst="rect">
              <a:avLst/>
            </a:prstGeom>
            <a:noFill/>
          </p:spPr>
          <p:txBody>
            <a:bodyPr wrap="square" lIns="0" tIns="0" rIns="0" bIns="0" anchor="ctr">
              <a:noAutofit/>
            </a:bodyPr>
            <a:lstStyle/>
            <a:p>
              <a:pPr algn="l"/>
              <a:r>
                <a:rPr sz="1250" b="1" i="0" lang="vi-VN" spc="40">
                  <a:solidFill>
                    <a:srgbClr val="0B2545"/>
                  </a:solidFill>
                  <a:latin typeface="Arial"/>
                  <a:ea typeface="Arial"/>
                  <a:cs typeface="Arial"/>
                </a:rPr>
                <a:t>HỆ THẬT · BẬC THANG (HÌNH 3.7)</a:t>
              </a:r>
            </a:p>
          </p:txBody>
        </p:sp>
      </p:grpSp>
      <p:pic>
        <p:nvPicPr>
          <p:cNvPr id="57" name="Picture 56" descr="fig_step.png"/>
          <p:cNvPicPr>
            <a:picLocks noChangeAspect="1"/>
          </p:cNvPicPr>
          <p:nvPr/>
        </p:nvPicPr>
        <p:blipFill>
          <a:blip r:embed="rId6"/>
          <a:srcRect l="51500"/>
          <a:stretch>
            <a:fillRect/>
          </a:stretch>
        </p:blipFill>
        <p:spPr>
          <a:xfrm>
            <a:off x="4956048" y="1755648"/>
            <a:ext cx="3657600" cy="2970277"/>
          </a:xfrm>
          <a:prstGeom prst="rect">
            <a:avLst/>
          </a:prstGeom>
        </p:spPr>
      </p:pic>
      <p:sp>
        <p:nvSpPr>
          <p:cNvPr id="58" name="TextBox 57"/>
          <p:cNvSpPr txBox="1"/>
          <p:nvPr/>
        </p:nvSpPr>
        <p:spPr>
          <a:xfrm rot="16200000">
            <a:off x="3456432" y="3121915"/>
            <a:ext cx="2743200" cy="237744"/>
          </a:xfrm>
          <a:prstGeom prst="rect">
            <a:avLst/>
          </a:prstGeom>
          <a:noFill/>
        </p:spPr>
        <p:txBody>
          <a:bodyPr wrap="square" lIns="0" tIns="0" rIns="0" bIns="0" anchor="t">
            <a:noAutofit/>
          </a:bodyPr>
          <a:lstStyle/>
          <a:p>
            <a:pPr algn="ctr"/>
            <a:r>
              <a:rPr sz="1100" b="0" i="1" lang="vi-VN">
                <a:solidFill>
                  <a:srgbClr val="5B6B7B"/>
                </a:solidFill>
                <a:latin typeface="Arial"/>
                <a:ea typeface="Arial"/>
                <a:cs typeface="Arial"/>
              </a:rPr>
              <a:t>đáp ứng chuẩn hóa (%)</a:t>
            </a:r>
          </a:p>
        </p:txBody>
      </p:sp>
      <p:grpSp>
        <p:nvGrpSpPr>
          <p:cNvPr id="59" name="Group 58"/>
          <p:cNvGrpSpPr/>
          <p:nvPr/>
        </p:nvGrpSpPr>
        <p:grpSpPr>
          <a:xfrm>
            <a:off x="8686800" y="2020824"/>
            <a:ext cx="3008376" cy="512064"/>
            <a:chOff x="8686800" y="2020824"/>
            <a:chExt cx="3008376" cy="512064"/>
          </a:xfrm>
        </p:grpSpPr>
        <p:sp>
          <p:nvSpPr>
            <p:cNvPr id="60" name="Rectangle 59"/>
            <p:cNvSpPr/>
            <p:nvPr/>
          </p:nvSpPr>
          <p:spPr>
            <a:xfrm>
              <a:off x="8686800" y="2020824"/>
              <a:ext cx="3008376" cy="512064"/>
            </a:xfrm>
            <a:prstGeom prst="rect">
              <a:avLst/>
            </a:prstGeom>
            <a:solidFill>
              <a:srgbClr val="0B2545"/>
            </a:solidFill>
            <a:ln>
              <a:noFill/>
            </a:ln>
          </p:spPr>
          <p:txBody>
            <a:bodyPr rtlCol="0" anchor="ctr" lIns="54864" tIns="54864" rIns="54864" bIns="54864" wrap="square">
              <a:noAutofit/>
            </a:bodyPr>
            <a:lstStyle/>
            <a:p>
              <a:pPr algn="ctr"/>
            </a:p>
          </p:txBody>
        </p:sp>
        <p:sp>
          <p:nvSpPr>
            <p:cNvPr id="61" name="TextBox 60"/>
            <p:cNvSpPr txBox="1"/>
            <p:nvPr/>
          </p:nvSpPr>
          <p:spPr>
            <a:xfrm>
              <a:off x="8741664" y="2020824"/>
              <a:ext cx="941832" cy="512064"/>
            </a:xfrm>
            <a:prstGeom prst="rect">
              <a:avLst/>
            </a:prstGeom>
            <a:noFill/>
          </p:spPr>
          <p:txBody>
            <a:bodyPr wrap="square" lIns="0" tIns="0" rIns="0" bIns="0" anchor="ctr">
              <a:noAutofit/>
            </a:bodyPr>
            <a:lstStyle/>
            <a:p>
              <a:pPr algn="l">
                <a:lnSpc>
                  <a:spcPct val="95000"/>
                </a:lnSpc>
              </a:pPr>
              <a:r>
                <a:rPr sz="1350" b="1" i="0" lang="vi-VN">
                  <a:solidFill>
                    <a:srgbClr val="FFFFFF"/>
                  </a:solidFill>
                  <a:latin typeface="Arial"/>
                  <a:ea typeface="Arial"/>
                  <a:cs typeface="Arial"/>
                </a:rPr>
                <a:t>Hệ thật</a:t>
              </a:r>
            </a:p>
          </p:txBody>
        </p:sp>
        <p:sp>
          <p:nvSpPr>
            <p:cNvPr id="62" name="TextBox 61"/>
            <p:cNvSpPr txBox="1"/>
            <p:nvPr/>
          </p:nvSpPr>
          <p:spPr>
            <a:xfrm>
              <a:off x="9793224" y="2020824"/>
              <a:ext cx="868680" cy="512064"/>
            </a:xfrm>
            <a:prstGeom prst="rect">
              <a:avLst/>
            </a:prstGeom>
            <a:noFill/>
          </p:spPr>
          <p:txBody>
            <a:bodyPr wrap="square" lIns="0" tIns="0" rIns="0" bIns="0" anchor="ctr">
              <a:noAutofit/>
            </a:bodyPr>
            <a:lstStyle/>
            <a:p>
              <a:pPr algn="ctr">
                <a:lnSpc>
                  <a:spcPct val="95000"/>
                </a:lnSpc>
              </a:pPr>
              <a:r>
                <a:rPr sz="1350" b="1" i="0" lang="vi-VN">
                  <a:solidFill>
                    <a:srgbClr val="FFFFFF"/>
                  </a:solidFill>
                  <a:latin typeface="Arial"/>
                  <a:ea typeface="Arial"/>
                  <a:cs typeface="Arial"/>
                </a:rPr>
                <a:t>● Yaw</a:t>
              </a:r>
            </a:p>
          </p:txBody>
        </p:sp>
        <p:sp>
          <p:nvSpPr>
            <p:cNvPr id="63" name="TextBox 62"/>
            <p:cNvSpPr txBox="1"/>
            <p:nvPr/>
          </p:nvSpPr>
          <p:spPr>
            <a:xfrm>
              <a:off x="10771632" y="2020824"/>
              <a:ext cx="868680" cy="512064"/>
            </a:xfrm>
            <a:prstGeom prst="rect">
              <a:avLst/>
            </a:prstGeom>
            <a:noFill/>
          </p:spPr>
          <p:txBody>
            <a:bodyPr wrap="square" lIns="0" tIns="0" rIns="0" bIns="0" anchor="ctr">
              <a:noAutofit/>
            </a:bodyPr>
            <a:lstStyle/>
            <a:p>
              <a:pPr algn="ctr">
                <a:lnSpc>
                  <a:spcPct val="95000"/>
                </a:lnSpc>
              </a:pPr>
              <a:r>
                <a:rPr sz="1350" b="1" i="0" lang="vi-VN">
                  <a:solidFill>
                    <a:srgbClr val="FFFFFF"/>
                  </a:solidFill>
                  <a:latin typeface="Arial"/>
                  <a:ea typeface="Arial"/>
                  <a:cs typeface="Arial"/>
                </a:rPr>
                <a:t>■ Pitch</a:t>
              </a:r>
            </a:p>
          </p:txBody>
        </p:sp>
      </p:grpSp>
      <p:grpSp>
        <p:nvGrpSpPr>
          <p:cNvPr id="64" name="Group 63"/>
          <p:cNvGrpSpPr/>
          <p:nvPr/>
        </p:nvGrpSpPr>
        <p:grpSpPr>
          <a:xfrm>
            <a:off x="8686800" y="2532888"/>
            <a:ext cx="3008376" cy="512064"/>
            <a:chOff x="8686800" y="2532888"/>
            <a:chExt cx="3008376" cy="512064"/>
          </a:xfrm>
        </p:grpSpPr>
        <p:sp>
          <p:nvSpPr>
            <p:cNvPr id="65" name="Rectangle 64"/>
            <p:cNvSpPr/>
            <p:nvPr/>
          </p:nvSpPr>
          <p:spPr>
            <a:xfrm>
              <a:off x="8686800" y="2532888"/>
              <a:ext cx="3008376" cy="512064"/>
            </a:xfrm>
            <a:prstGeom prst="rect">
              <a:avLst/>
            </a:prstGeom>
            <a:solidFill>
              <a:srgbClr val="FFFFFF"/>
            </a:solidFill>
            <a:ln>
              <a:noFill/>
            </a:ln>
          </p:spPr>
          <p:txBody>
            <a:bodyPr rtlCol="0" anchor="ctr" lIns="54864" tIns="54864" rIns="54864" bIns="54864" wrap="square">
              <a:noAutofit/>
            </a:bodyPr>
            <a:lstStyle/>
            <a:p>
              <a:pPr algn="ctr"/>
            </a:p>
          </p:txBody>
        </p:sp>
        <p:sp>
          <p:nvSpPr>
            <p:cNvPr id="66" name="TextBox 65"/>
            <p:cNvSpPr txBox="1"/>
            <p:nvPr/>
          </p:nvSpPr>
          <p:spPr>
            <a:xfrm>
              <a:off x="8741664" y="2532888"/>
              <a:ext cx="941832" cy="512064"/>
            </a:xfrm>
            <a:prstGeom prst="rect">
              <a:avLst/>
            </a:prstGeom>
            <a:noFill/>
          </p:spPr>
          <p:txBody>
            <a:bodyPr wrap="square" lIns="0" tIns="0" rIns="0" bIns="0" anchor="ctr">
              <a:noAutofit/>
            </a:bodyPr>
            <a:lstStyle/>
            <a:p>
              <a:pPr algn="l">
                <a:lnSpc>
                  <a:spcPct val="95000"/>
                </a:lnSpc>
              </a:pPr>
              <a:r>
                <a:rPr sz="1400" b="0" i="1" lang="vi-VN">
                  <a:solidFill>
                    <a:srgbClr val="1E2B3A"/>
                  </a:solidFill>
                  <a:latin typeface="Cambria"/>
                  <a:ea typeface="Cambria"/>
                  <a:cs typeface="Cambria"/>
                </a:rPr>
                <a:t>t</a:t>
              </a:r>
              <a:r>
                <a:rPr sz="1400" b="0" i="0" lang="vi-VN" baseline="-25000">
                  <a:solidFill>
                    <a:srgbClr val="1E2B3A"/>
                  </a:solidFill>
                  <a:latin typeface="Cambria"/>
                  <a:ea typeface="Cambria"/>
                  <a:cs typeface="Cambria"/>
                </a:rPr>
                <a:t>r</a:t>
              </a:r>
            </a:p>
          </p:txBody>
        </p:sp>
        <p:sp>
          <p:nvSpPr>
            <p:cNvPr id="67" name="TextBox 66"/>
            <p:cNvSpPr txBox="1"/>
            <p:nvPr/>
          </p:nvSpPr>
          <p:spPr>
            <a:xfrm>
              <a:off x="9793224" y="2532888"/>
              <a:ext cx="868680" cy="512064"/>
            </a:xfrm>
            <a:prstGeom prst="rect">
              <a:avLst/>
            </a:prstGeom>
            <a:noFill/>
          </p:spPr>
          <p:txBody>
            <a:bodyPr wrap="square" lIns="0" tIns="0" rIns="0" bIns="0" anchor="ctr">
              <a:noAutofit/>
            </a:bodyPr>
            <a:lstStyle/>
            <a:p>
              <a:pPr algn="ctr">
                <a:lnSpc>
                  <a:spcPct val="95000"/>
                </a:lnSpc>
              </a:pPr>
              <a:r>
                <a:rPr sz="1400" b="0" i="0" lang="vi-VN">
                  <a:solidFill>
                    <a:srgbClr val="1E2B3A"/>
                  </a:solidFill>
                  <a:latin typeface="Arial"/>
                  <a:ea typeface="Arial"/>
                  <a:cs typeface="Arial"/>
                </a:rPr>
                <a:t>224,5 ms</a:t>
              </a:r>
            </a:p>
          </p:txBody>
        </p:sp>
        <p:sp>
          <p:nvSpPr>
            <p:cNvPr id="68" name="TextBox 67"/>
            <p:cNvSpPr txBox="1"/>
            <p:nvPr/>
          </p:nvSpPr>
          <p:spPr>
            <a:xfrm>
              <a:off x="10771632" y="2532888"/>
              <a:ext cx="868680" cy="512064"/>
            </a:xfrm>
            <a:prstGeom prst="rect">
              <a:avLst/>
            </a:prstGeom>
            <a:noFill/>
          </p:spPr>
          <p:txBody>
            <a:bodyPr wrap="square" lIns="0" tIns="0" rIns="0" bIns="0" anchor="ctr">
              <a:noAutofit/>
            </a:bodyPr>
            <a:lstStyle/>
            <a:p>
              <a:pPr algn="ctr">
                <a:lnSpc>
                  <a:spcPct val="95000"/>
                </a:lnSpc>
              </a:pPr>
              <a:r>
                <a:rPr sz="1400" b="0" i="0" lang="vi-VN">
                  <a:solidFill>
                    <a:srgbClr val="1E2B3A"/>
                  </a:solidFill>
                  <a:latin typeface="Arial"/>
                  <a:ea typeface="Arial"/>
                  <a:cs typeface="Arial"/>
                </a:rPr>
                <a:t>108,6 ms</a:t>
              </a:r>
            </a:p>
          </p:txBody>
        </p:sp>
      </p:grpSp>
      <p:grpSp>
        <p:nvGrpSpPr>
          <p:cNvPr id="69" name="Group 68"/>
          <p:cNvGrpSpPr/>
          <p:nvPr/>
        </p:nvGrpSpPr>
        <p:grpSpPr>
          <a:xfrm>
            <a:off x="8686800" y="3044952"/>
            <a:ext cx="3008376" cy="512064"/>
            <a:chOff x="8686800" y="3044952"/>
            <a:chExt cx="3008376" cy="512064"/>
          </a:xfrm>
        </p:grpSpPr>
        <p:sp>
          <p:nvSpPr>
            <p:cNvPr id="70" name="Rectangle 69"/>
            <p:cNvSpPr/>
            <p:nvPr/>
          </p:nvSpPr>
          <p:spPr>
            <a:xfrm>
              <a:off x="8686800" y="3044952"/>
              <a:ext cx="3008376" cy="512064"/>
            </a:xfrm>
            <a:prstGeom prst="rect">
              <a:avLst/>
            </a:prstGeom>
            <a:solidFill>
              <a:srgbClr val="F4F8FC"/>
            </a:solidFill>
            <a:ln>
              <a:noFill/>
            </a:ln>
          </p:spPr>
          <p:txBody>
            <a:bodyPr rtlCol="0" anchor="ctr" lIns="54864" tIns="54864" rIns="54864" bIns="54864" wrap="square">
              <a:noAutofit/>
            </a:bodyPr>
            <a:lstStyle/>
            <a:p>
              <a:pPr algn="ctr"/>
            </a:p>
          </p:txBody>
        </p:sp>
        <p:sp>
          <p:nvSpPr>
            <p:cNvPr id="71" name="TextBox 70"/>
            <p:cNvSpPr txBox="1"/>
            <p:nvPr/>
          </p:nvSpPr>
          <p:spPr>
            <a:xfrm>
              <a:off x="8741664" y="3044952"/>
              <a:ext cx="941832" cy="512064"/>
            </a:xfrm>
            <a:prstGeom prst="rect">
              <a:avLst/>
            </a:prstGeom>
            <a:noFill/>
          </p:spPr>
          <p:txBody>
            <a:bodyPr wrap="square" lIns="0" tIns="0" rIns="0" bIns="0" anchor="ctr">
              <a:noAutofit/>
            </a:bodyPr>
            <a:lstStyle/>
            <a:p>
              <a:pPr algn="l">
                <a:lnSpc>
                  <a:spcPct val="95000"/>
                </a:lnSpc>
              </a:pPr>
              <a:r>
                <a:rPr sz="1400" b="0" i="1" lang="vi-VN">
                  <a:solidFill>
                    <a:srgbClr val="1E2B3A"/>
                  </a:solidFill>
                  <a:latin typeface="Cambria"/>
                  <a:ea typeface="Cambria"/>
                  <a:cs typeface="Cambria"/>
                </a:rPr>
                <a:t>t</a:t>
              </a:r>
              <a:r>
                <a:rPr sz="1400" b="0" i="0" lang="vi-VN" baseline="-25000">
                  <a:solidFill>
                    <a:srgbClr val="1E2B3A"/>
                  </a:solidFill>
                  <a:latin typeface="Cambria"/>
                  <a:ea typeface="Cambria"/>
                  <a:cs typeface="Cambria"/>
                </a:rPr>
                <a:t>s</a:t>
              </a:r>
            </a:p>
          </p:txBody>
        </p:sp>
        <p:sp>
          <p:nvSpPr>
            <p:cNvPr id="72" name="TextBox 71"/>
            <p:cNvSpPr txBox="1"/>
            <p:nvPr/>
          </p:nvSpPr>
          <p:spPr>
            <a:xfrm>
              <a:off x="9793224" y="3044952"/>
              <a:ext cx="868680" cy="512064"/>
            </a:xfrm>
            <a:prstGeom prst="rect">
              <a:avLst/>
            </a:prstGeom>
            <a:noFill/>
          </p:spPr>
          <p:txBody>
            <a:bodyPr wrap="square" lIns="0" tIns="0" rIns="0" bIns="0" anchor="ctr">
              <a:noAutofit/>
            </a:bodyPr>
            <a:lstStyle/>
            <a:p>
              <a:pPr algn="ctr">
                <a:lnSpc>
                  <a:spcPct val="95000"/>
                </a:lnSpc>
              </a:pPr>
              <a:r>
                <a:rPr sz="1400" b="0" i="0" lang="vi-VN">
                  <a:solidFill>
                    <a:srgbClr val="1E2B3A"/>
                  </a:solidFill>
                  <a:latin typeface="Arial"/>
                  <a:ea typeface="Arial"/>
                  <a:cs typeface="Arial"/>
                </a:rPr>
                <a:t>520 ms</a:t>
              </a:r>
            </a:p>
          </p:txBody>
        </p:sp>
        <p:sp>
          <p:nvSpPr>
            <p:cNvPr id="73" name="TextBox 72"/>
            <p:cNvSpPr txBox="1"/>
            <p:nvPr/>
          </p:nvSpPr>
          <p:spPr>
            <a:xfrm>
              <a:off x="10771632" y="3044952"/>
              <a:ext cx="868680" cy="512064"/>
            </a:xfrm>
            <a:prstGeom prst="rect">
              <a:avLst/>
            </a:prstGeom>
            <a:noFill/>
          </p:spPr>
          <p:txBody>
            <a:bodyPr wrap="square" lIns="0" tIns="0" rIns="0" bIns="0" anchor="ctr">
              <a:noAutofit/>
            </a:bodyPr>
            <a:lstStyle/>
            <a:p>
              <a:pPr algn="ctr">
                <a:lnSpc>
                  <a:spcPct val="95000"/>
                </a:lnSpc>
              </a:pPr>
              <a:r>
                <a:rPr sz="1400" b="0" i="0" lang="vi-VN">
                  <a:solidFill>
                    <a:srgbClr val="1E2B3A"/>
                  </a:solidFill>
                  <a:latin typeface="Arial"/>
                  <a:ea typeface="Arial"/>
                  <a:cs typeface="Arial"/>
                </a:rPr>
                <a:t>265 ms</a:t>
              </a:r>
            </a:p>
          </p:txBody>
        </p:sp>
      </p:grpSp>
      <p:grpSp>
        <p:nvGrpSpPr>
          <p:cNvPr id="74" name="Group 73"/>
          <p:cNvGrpSpPr/>
          <p:nvPr/>
        </p:nvGrpSpPr>
        <p:grpSpPr>
          <a:xfrm>
            <a:off x="8686800" y="3557016"/>
            <a:ext cx="3008376" cy="512064"/>
            <a:chOff x="8686800" y="3557016"/>
            <a:chExt cx="3008376" cy="512064"/>
          </a:xfrm>
        </p:grpSpPr>
        <p:sp>
          <p:nvSpPr>
            <p:cNvPr id="75" name="Rectangle 74"/>
            <p:cNvSpPr/>
            <p:nvPr/>
          </p:nvSpPr>
          <p:spPr>
            <a:xfrm>
              <a:off x="8686800" y="3557016"/>
              <a:ext cx="3008376" cy="512064"/>
            </a:xfrm>
            <a:prstGeom prst="rect">
              <a:avLst/>
            </a:prstGeom>
            <a:solidFill>
              <a:srgbClr val="FFFFFF"/>
            </a:solidFill>
            <a:ln>
              <a:noFill/>
            </a:ln>
          </p:spPr>
          <p:txBody>
            <a:bodyPr rtlCol="0" anchor="ctr" lIns="54864" tIns="54864" rIns="54864" bIns="54864" wrap="square">
              <a:noAutofit/>
            </a:bodyPr>
            <a:lstStyle/>
            <a:p>
              <a:pPr algn="ctr"/>
            </a:p>
          </p:txBody>
        </p:sp>
        <p:sp>
          <p:nvSpPr>
            <p:cNvPr id="76" name="TextBox 75"/>
            <p:cNvSpPr txBox="1"/>
            <p:nvPr/>
          </p:nvSpPr>
          <p:spPr>
            <a:xfrm>
              <a:off x="8741664" y="3557016"/>
              <a:ext cx="941832" cy="512064"/>
            </a:xfrm>
            <a:prstGeom prst="rect">
              <a:avLst/>
            </a:prstGeom>
            <a:noFill/>
          </p:spPr>
          <p:txBody>
            <a:bodyPr wrap="square" lIns="0" tIns="0" rIns="0" bIns="0" anchor="ctr">
              <a:noAutofit/>
            </a:bodyPr>
            <a:lstStyle/>
            <a:p>
              <a:pPr algn="l">
                <a:lnSpc>
                  <a:spcPct val="95000"/>
                </a:lnSpc>
              </a:pPr>
              <a:r>
                <a:rPr sz="1400" b="0" i="0" lang="vi-VN">
                  <a:solidFill>
                    <a:srgbClr val="1E2B3A"/>
                  </a:solidFill>
                  <a:latin typeface="Arial"/>
                  <a:ea typeface="Arial"/>
                  <a:cs typeface="Arial"/>
                </a:rPr>
                <a:t>Độ vọt lố</a:t>
              </a:r>
            </a:p>
          </p:txBody>
        </p:sp>
        <p:sp>
          <p:nvSpPr>
            <p:cNvPr id="77" name="TextBox 76"/>
            <p:cNvSpPr txBox="1"/>
            <p:nvPr/>
          </p:nvSpPr>
          <p:spPr>
            <a:xfrm>
              <a:off x="9793224" y="3557016"/>
              <a:ext cx="868680" cy="512064"/>
            </a:xfrm>
            <a:prstGeom prst="rect">
              <a:avLst/>
            </a:prstGeom>
            <a:noFill/>
          </p:spPr>
          <p:txBody>
            <a:bodyPr wrap="square" lIns="0" tIns="0" rIns="0" bIns="0" anchor="ctr">
              <a:noAutofit/>
            </a:bodyPr>
            <a:lstStyle/>
            <a:p>
              <a:pPr algn="ctr">
                <a:lnSpc>
                  <a:spcPct val="95000"/>
                </a:lnSpc>
              </a:pPr>
              <a:r>
                <a:rPr sz="1400" b="0" i="0" lang="vi-VN">
                  <a:solidFill>
                    <a:srgbClr val="1E2B3A"/>
                  </a:solidFill>
                  <a:latin typeface="Arial"/>
                  <a:ea typeface="Arial"/>
                  <a:cs typeface="Arial"/>
                </a:rPr>
                <a:t>0,398 %</a:t>
              </a:r>
            </a:p>
          </p:txBody>
        </p:sp>
        <p:sp>
          <p:nvSpPr>
            <p:cNvPr id="78" name="TextBox 77"/>
            <p:cNvSpPr txBox="1"/>
            <p:nvPr/>
          </p:nvSpPr>
          <p:spPr>
            <a:xfrm>
              <a:off x="10771632" y="3557016"/>
              <a:ext cx="868680" cy="512064"/>
            </a:xfrm>
            <a:prstGeom prst="rect">
              <a:avLst/>
            </a:prstGeom>
            <a:noFill/>
          </p:spPr>
          <p:txBody>
            <a:bodyPr wrap="square" lIns="0" tIns="0" rIns="0" bIns="0" anchor="ctr">
              <a:noAutofit/>
            </a:bodyPr>
            <a:lstStyle/>
            <a:p>
              <a:pPr algn="ctr">
                <a:lnSpc>
                  <a:spcPct val="95000"/>
                </a:lnSpc>
              </a:pPr>
              <a:r>
                <a:rPr sz="1400" b="0" i="0" lang="vi-VN">
                  <a:solidFill>
                    <a:srgbClr val="1E2B3A"/>
                  </a:solidFill>
                  <a:latin typeface="Arial"/>
                  <a:ea typeface="Arial"/>
                  <a:cs typeface="Arial"/>
                </a:rPr>
                <a:t>0,716 %</a:t>
              </a:r>
            </a:p>
          </p:txBody>
        </p:sp>
      </p:grpSp>
      <p:grpSp>
        <p:nvGrpSpPr>
          <p:cNvPr id="79" name="Group 78"/>
          <p:cNvGrpSpPr/>
          <p:nvPr/>
        </p:nvGrpSpPr>
        <p:grpSpPr>
          <a:xfrm>
            <a:off x="8686800" y="4069080"/>
            <a:ext cx="3008376" cy="512064"/>
            <a:chOff x="8686800" y="4069080"/>
            <a:chExt cx="3008376" cy="512064"/>
          </a:xfrm>
        </p:grpSpPr>
        <p:sp>
          <p:nvSpPr>
            <p:cNvPr id="80" name="Rectangle 79"/>
            <p:cNvSpPr/>
            <p:nvPr/>
          </p:nvSpPr>
          <p:spPr>
            <a:xfrm>
              <a:off x="8686800" y="4069080"/>
              <a:ext cx="3008376" cy="512064"/>
            </a:xfrm>
            <a:prstGeom prst="rect">
              <a:avLst/>
            </a:prstGeom>
            <a:solidFill>
              <a:srgbClr val="F4F8FC"/>
            </a:solidFill>
            <a:ln>
              <a:noFill/>
            </a:ln>
          </p:spPr>
          <p:txBody>
            <a:bodyPr rtlCol="0" anchor="ctr" lIns="54864" tIns="54864" rIns="54864" bIns="54864" wrap="square">
              <a:noAutofit/>
            </a:bodyPr>
            <a:lstStyle/>
            <a:p>
              <a:pPr algn="ctr"/>
            </a:p>
          </p:txBody>
        </p:sp>
        <p:sp>
          <p:nvSpPr>
            <p:cNvPr id="81" name="TextBox 80"/>
            <p:cNvSpPr txBox="1"/>
            <p:nvPr/>
          </p:nvSpPr>
          <p:spPr>
            <a:xfrm>
              <a:off x="8741664" y="4069080"/>
              <a:ext cx="941832" cy="512064"/>
            </a:xfrm>
            <a:prstGeom prst="rect">
              <a:avLst/>
            </a:prstGeom>
            <a:noFill/>
          </p:spPr>
          <p:txBody>
            <a:bodyPr wrap="square" lIns="0" tIns="0" rIns="0" bIns="0" anchor="ctr">
              <a:noAutofit/>
            </a:bodyPr>
            <a:lstStyle/>
            <a:p>
              <a:pPr algn="l">
                <a:lnSpc>
                  <a:spcPct val="95000"/>
                </a:lnSpc>
              </a:pPr>
              <a:r>
                <a:rPr sz="1400" b="0" i="0" lang="vi-VN">
                  <a:solidFill>
                    <a:srgbClr val="1E2B3A"/>
                  </a:solidFill>
                  <a:latin typeface="Arial"/>
                  <a:ea typeface="Arial"/>
                  <a:cs typeface="Arial"/>
                </a:rPr>
                <a:t>σ giữ tĩnh</a:t>
              </a:r>
            </a:p>
          </p:txBody>
        </p:sp>
        <p:sp>
          <p:nvSpPr>
            <p:cNvPr id="82" name="TextBox 81"/>
            <p:cNvSpPr txBox="1"/>
            <p:nvPr/>
          </p:nvSpPr>
          <p:spPr>
            <a:xfrm>
              <a:off x="9793224" y="4069080"/>
              <a:ext cx="868680" cy="512064"/>
            </a:xfrm>
            <a:prstGeom prst="rect">
              <a:avLst/>
            </a:prstGeom>
            <a:noFill/>
          </p:spPr>
          <p:txBody>
            <a:bodyPr wrap="square" lIns="0" tIns="0" rIns="0" bIns="0" anchor="ctr">
              <a:noAutofit/>
            </a:bodyPr>
            <a:lstStyle/>
            <a:p>
              <a:pPr algn="ctr">
                <a:lnSpc>
                  <a:spcPct val="95000"/>
                </a:lnSpc>
              </a:pPr>
              <a:r>
                <a:rPr sz="1400" b="0" i="0" lang="vi-VN">
                  <a:solidFill>
                    <a:srgbClr val="1E2B3A"/>
                  </a:solidFill>
                  <a:latin typeface="Arial"/>
                  <a:ea typeface="Arial"/>
                  <a:cs typeface="Arial"/>
                </a:rPr>
                <a:t>0,0205°</a:t>
              </a:r>
            </a:p>
          </p:txBody>
        </p:sp>
        <p:sp>
          <p:nvSpPr>
            <p:cNvPr id="83" name="TextBox 82"/>
            <p:cNvSpPr txBox="1"/>
            <p:nvPr/>
          </p:nvSpPr>
          <p:spPr>
            <a:xfrm>
              <a:off x="10771632" y="4069080"/>
              <a:ext cx="868680" cy="512064"/>
            </a:xfrm>
            <a:prstGeom prst="rect">
              <a:avLst/>
            </a:prstGeom>
            <a:noFill/>
          </p:spPr>
          <p:txBody>
            <a:bodyPr wrap="square" lIns="0" tIns="0" rIns="0" bIns="0" anchor="ctr">
              <a:noAutofit/>
            </a:bodyPr>
            <a:lstStyle/>
            <a:p>
              <a:pPr algn="ctr">
                <a:lnSpc>
                  <a:spcPct val="95000"/>
                </a:lnSpc>
              </a:pPr>
              <a:r>
                <a:rPr sz="1400" b="0" i="0" lang="vi-VN">
                  <a:solidFill>
                    <a:srgbClr val="1E2B3A"/>
                  </a:solidFill>
                  <a:latin typeface="Arial"/>
                  <a:ea typeface="Arial"/>
                  <a:cs typeface="Arial"/>
                </a:rPr>
                <a:t>0,0068°</a:t>
              </a:r>
            </a:p>
          </p:txBody>
        </p:sp>
      </p:grpSp>
      <p:grpSp>
        <p:nvGrpSpPr>
          <p:cNvPr id="84" name="Group 83"/>
          <p:cNvGrpSpPr/>
          <p:nvPr/>
        </p:nvGrpSpPr>
        <p:grpSpPr>
          <a:xfrm>
            <a:off x="4617720" y="5029200"/>
            <a:ext cx="1668780" cy="1024128"/>
            <a:chOff x="4617720" y="5029200"/>
            <a:chExt cx="1668780" cy="1024128"/>
          </a:xfrm>
        </p:grpSpPr>
        <p:sp>
          <p:nvSpPr>
            <p:cNvPr id="85" name="Rounded Rectangle 84"/>
            <p:cNvSpPr/>
            <p:nvPr/>
          </p:nvSpPr>
          <p:spPr>
            <a:xfrm>
              <a:off x="461772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86" name="TextBox 85"/>
            <p:cNvSpPr txBox="1"/>
            <p:nvPr/>
          </p:nvSpPr>
          <p:spPr>
            <a:xfrm>
              <a:off x="467258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−45,7 %</a:t>
              </a:r>
            </a:p>
          </p:txBody>
        </p:sp>
        <p:sp>
          <p:nvSpPr>
            <p:cNvPr id="87" name="TextBox 86"/>
            <p:cNvSpPr txBox="1"/>
            <p:nvPr/>
          </p:nvSpPr>
          <p:spPr>
            <a:xfrm>
              <a:off x="469087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t</a:t>
              </a:r>
              <a:r>
                <a:rPr sz="1200" b="0" i="0" lang="vi-VN" baseline="-25000">
                  <a:solidFill>
                    <a:srgbClr val="1E2B3A"/>
                  </a:solidFill>
                  <a:latin typeface="Cambria"/>
                  <a:ea typeface="Cambria"/>
                  <a:cs typeface="Cambria"/>
                </a:rPr>
                <a:t>r</a:t>
              </a:r>
              <a:r>
                <a:rPr sz="1200" b="0" i="0" lang="vi-VN">
                  <a:solidFill>
                    <a:srgbClr val="1E2B3A"/>
                  </a:solidFill>
                  <a:latin typeface="Arial"/>
                  <a:ea typeface="Arial"/>
                  <a:cs typeface="Arial"/>
                </a:rPr>
                <a:t> so với </a:t>
              </a:r>
              <a:r>
                <a:rPr sz="1200" b="0" i="1" lang="vi-VN">
                  <a:solidFill>
                    <a:srgbClr val="1E2B3A"/>
                  </a:solidFill>
                  <a:latin typeface="Cambria"/>
                  <a:ea typeface="Cambria"/>
                  <a:cs typeface="Cambria"/>
                </a:rPr>
                <a:t>K</a:t>
              </a:r>
              <a:r>
                <a:rPr sz="1200" b="0" i="0" lang="vi-VN" baseline="-25000">
                  <a:solidFill>
                    <a:srgbClr val="1E2B3A"/>
                  </a:solidFill>
                  <a:latin typeface="Cambria"/>
                  <a:ea typeface="Cambria"/>
                  <a:cs typeface="Cambria"/>
                </a:rPr>
                <a:t>p</a:t>
              </a:r>
              <a:r>
                <a:rPr sz="1200" b="0" i="0" lang="vi-VN" baseline="30000">
                  <a:solidFill>
                    <a:srgbClr val="1E2B3A"/>
                  </a:solidFill>
                  <a:latin typeface="Cambria"/>
                  <a:ea typeface="Cambria"/>
                  <a:cs typeface="Cambria"/>
                </a:rPr>
                <a:t>θ</a:t>
              </a:r>
              <a:r>
                <a:rPr sz="1200" b="0" i="0" lang="vi-VN">
                  <a:solidFill>
                    <a:srgbClr val="1E2B3A"/>
                  </a:solidFill>
                  <a:latin typeface="Arial"/>
                  <a:ea typeface="Arial"/>
                  <a:cs typeface="Arial"/>
                </a:rPr>
                <a:t> = 6 (mô phỏng)</a:t>
              </a:r>
            </a:p>
          </p:txBody>
        </p:sp>
      </p:grpSp>
      <p:grpSp>
        <p:nvGrpSpPr>
          <p:cNvPr id="88" name="Group 87"/>
          <p:cNvGrpSpPr/>
          <p:nvPr/>
        </p:nvGrpSpPr>
        <p:grpSpPr>
          <a:xfrm>
            <a:off x="6423660" y="5029200"/>
            <a:ext cx="1668780" cy="1024128"/>
            <a:chOff x="6423660" y="5029200"/>
            <a:chExt cx="1668780" cy="1024128"/>
          </a:xfrm>
        </p:grpSpPr>
        <p:sp>
          <p:nvSpPr>
            <p:cNvPr id="89" name="Rounded Rectangle 88"/>
            <p:cNvSpPr/>
            <p:nvPr/>
          </p:nvSpPr>
          <p:spPr>
            <a:xfrm>
              <a:off x="642366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90" name="TextBox 89"/>
            <p:cNvSpPr txBox="1"/>
            <p:nvPr/>
          </p:nvSpPr>
          <p:spPr>
            <a:xfrm>
              <a:off x="647852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−85,7 %</a:t>
              </a:r>
            </a:p>
          </p:txBody>
        </p:sp>
        <p:sp>
          <p:nvSpPr>
            <p:cNvPr id="91" name="TextBox 90"/>
            <p:cNvSpPr txBox="1"/>
            <p:nvPr/>
          </p:nvSpPr>
          <p:spPr>
            <a:xfrm>
              <a:off x="649681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J</a:t>
              </a:r>
              <a:r>
                <a:rPr sz="1200" b="0" i="0" lang="vi-VN" baseline="-25000">
                  <a:solidFill>
                    <a:srgbClr val="1E2B3A"/>
                  </a:solidFill>
                  <a:latin typeface="Cambria"/>
                  <a:ea typeface="Cambria"/>
                  <a:cs typeface="Cambria"/>
                </a:rPr>
                <a:t>e</a:t>
              </a:r>
              <a:r>
                <a:rPr sz="1200" b="0" i="0" lang="vi-VN">
                  <a:solidFill>
                    <a:srgbClr val="1E2B3A"/>
                  </a:solidFill>
                  <a:latin typeface="Arial"/>
                  <a:ea typeface="Arial"/>
                  <a:cs typeface="Arial"/>
                </a:rPr>
                <a:t> nhờ </a:t>
              </a:r>
              <a:r>
                <a:rPr sz="1200" b="0" i="1" lang="vi-VN">
                  <a:solidFill>
                    <a:srgbClr val="1E2B3A"/>
                  </a:solidFill>
                  <a:latin typeface="Cambria"/>
                  <a:ea typeface="Cambria"/>
                  <a:cs typeface="Cambria"/>
                </a:rPr>
                <a:t>K</a:t>
              </a:r>
              <a:r>
                <a:rPr sz="1200" b="0" i="0" lang="vi-VN" baseline="-25000">
                  <a:solidFill>
                    <a:srgbClr val="1E2B3A"/>
                  </a:solidFill>
                  <a:latin typeface="Cambria"/>
                  <a:ea typeface="Cambria"/>
                  <a:cs typeface="Cambria"/>
                </a:rPr>
                <a:t>i</a:t>
              </a:r>
              <a:r>
                <a:rPr sz="1200" b="0" i="0" lang="vi-VN" baseline="30000">
                  <a:solidFill>
                    <a:srgbClr val="1E2B3A"/>
                  </a:solidFill>
                  <a:latin typeface="Cambria"/>
                  <a:ea typeface="Cambria"/>
                  <a:cs typeface="Cambria"/>
                </a:rPr>
                <a:t>ω</a:t>
              </a:r>
              <a:r>
                <a:rPr sz="1200" b="0" i="0" lang="vi-VN">
                  <a:solidFill>
                    <a:srgbClr val="1E2B3A"/>
                  </a:solidFill>
                  <a:latin typeface="Arial"/>
                  <a:ea typeface="Arial"/>
                  <a:cs typeface="Arial"/>
                </a:rPr>
                <a:t> = 1,0 (mô phỏng)</a:t>
              </a:r>
            </a:p>
          </p:txBody>
        </p:sp>
      </p:grpSp>
      <p:grpSp>
        <p:nvGrpSpPr>
          <p:cNvPr id="92" name="Group 91"/>
          <p:cNvGrpSpPr/>
          <p:nvPr/>
        </p:nvGrpSpPr>
        <p:grpSpPr>
          <a:xfrm>
            <a:off x="8229600" y="5029200"/>
            <a:ext cx="1668780" cy="1024128"/>
            <a:chOff x="8229600" y="5029200"/>
            <a:chExt cx="1668780" cy="1024128"/>
          </a:xfrm>
        </p:grpSpPr>
        <p:sp>
          <p:nvSpPr>
            <p:cNvPr id="93" name="Rounded Rectangle 92"/>
            <p:cNvSpPr/>
            <p:nvPr/>
          </p:nvSpPr>
          <p:spPr>
            <a:xfrm>
              <a:off x="822960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94" name="TextBox 93"/>
            <p:cNvSpPr txBox="1"/>
            <p:nvPr/>
          </p:nvSpPr>
          <p:spPr>
            <a:xfrm>
              <a:off x="8284464" y="5065776"/>
              <a:ext cx="1559052" cy="566928"/>
            </a:xfrm>
            <a:prstGeom prst="rect">
              <a:avLst/>
            </a:prstGeom>
            <a:noFill/>
          </p:spPr>
          <p:txBody>
            <a:bodyPr wrap="square" lIns="0" tIns="0" rIns="0" bIns="0" anchor="ctr">
              <a:noAutofit/>
            </a:bodyPr>
            <a:lstStyle/>
            <a:p>
              <a:pPr algn="ctr">
                <a:lnSpc>
                  <a:spcPct val="92000"/>
                </a:lnSpc>
              </a:pPr>
              <a:r>
                <a:rPr sz="1500" b="1" i="0" lang="vi-VN">
                  <a:solidFill>
                    <a:srgbClr val="1F5FAF"/>
                  </a:solidFill>
                  <a:latin typeface="Arial"/>
                  <a:ea typeface="Arial"/>
                  <a:cs typeface="Arial"/>
                </a:rPr>
                <a:t>●</a:t>
              </a:r>
              <a:r>
                <a:rPr sz="1500" b="1" i="0" lang="vi-VN">
                  <a:solidFill>
                    <a:srgbClr val="1E7B34"/>
                  </a:solidFill>
                  <a:latin typeface="Arial"/>
                  <a:ea typeface="Arial"/>
                  <a:cs typeface="Arial"/>
                </a:rPr>
                <a:t> 0,40 %</a:t>
              </a:r>
            </a:p>
            <a:p>
              <a:pPr algn="ctr">
                <a:lnSpc>
                  <a:spcPct val="92000"/>
                </a:lnSpc>
              </a:pPr>
              <a:r>
                <a:rPr sz="1500" b="1" i="0" lang="vi-VN">
                  <a:solidFill>
                    <a:srgbClr val="2E8B57"/>
                  </a:solidFill>
                  <a:latin typeface="Arial"/>
                  <a:ea typeface="Arial"/>
                  <a:cs typeface="Arial"/>
                </a:rPr>
                <a:t>■</a:t>
              </a:r>
              <a:r>
                <a:rPr sz="1500" b="1" i="0" lang="vi-VN">
                  <a:solidFill>
                    <a:srgbClr val="1E7B34"/>
                  </a:solidFill>
                  <a:latin typeface="Arial"/>
                  <a:ea typeface="Arial"/>
                  <a:cs typeface="Arial"/>
                </a:rPr>
                <a:t> 0,72 %</a:t>
              </a:r>
            </a:p>
          </p:txBody>
        </p:sp>
        <p:sp>
          <p:nvSpPr>
            <p:cNvPr id="95" name="TextBox 94"/>
            <p:cNvSpPr txBox="1"/>
            <p:nvPr/>
          </p:nvSpPr>
          <p:spPr>
            <a:xfrm>
              <a:off x="8302752" y="5650992"/>
              <a:ext cx="1522476" cy="384048"/>
            </a:xfrm>
            <a:prstGeom prst="rect">
              <a:avLst/>
            </a:prstGeom>
            <a:noFill/>
          </p:spPr>
          <p:txBody>
            <a:bodyPr wrap="square" lIns="0" tIns="0" rIns="0" bIns="0" anchor="t">
              <a:noAutofit/>
            </a:bodyPr>
            <a:lstStyle/>
            <a:p>
              <a:pPr algn="ctr">
                <a:lnSpc>
                  <a:spcPct val="92000"/>
                </a:lnSpc>
              </a:pPr>
              <a:r>
                <a:rPr sz="1150" b="0" i="0" lang="vi-VN">
                  <a:solidFill>
                    <a:srgbClr val="1E2B3A"/>
                  </a:solidFill>
                  <a:latin typeface="Arial"/>
                  <a:ea typeface="Arial"/>
                  <a:cs typeface="Arial"/>
                </a:rPr>
                <a:t>độ vọt lố &lt; 1 % (hệ thật)</a:t>
              </a:r>
            </a:p>
          </p:txBody>
        </p:sp>
      </p:grpSp>
      <p:grpSp>
        <p:nvGrpSpPr>
          <p:cNvPr id="96" name="Group 95"/>
          <p:cNvGrpSpPr/>
          <p:nvPr/>
        </p:nvGrpSpPr>
        <p:grpSpPr>
          <a:xfrm>
            <a:off x="10035540" y="5029200"/>
            <a:ext cx="1668780" cy="1024128"/>
            <a:chOff x="10035540" y="5029200"/>
            <a:chExt cx="1668780" cy="1024128"/>
          </a:xfrm>
        </p:grpSpPr>
        <p:sp>
          <p:nvSpPr>
            <p:cNvPr id="97" name="Rounded Rectangle 96"/>
            <p:cNvSpPr/>
            <p:nvPr/>
          </p:nvSpPr>
          <p:spPr>
            <a:xfrm>
              <a:off x="1003554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98" name="TextBox 97"/>
            <p:cNvSpPr txBox="1"/>
            <p:nvPr/>
          </p:nvSpPr>
          <p:spPr>
            <a:xfrm>
              <a:off x="10090404" y="5065776"/>
              <a:ext cx="1559052" cy="566928"/>
            </a:xfrm>
            <a:prstGeom prst="rect">
              <a:avLst/>
            </a:prstGeom>
            <a:noFill/>
          </p:spPr>
          <p:txBody>
            <a:bodyPr wrap="square" lIns="0" tIns="0" rIns="0" bIns="0" anchor="ctr">
              <a:noAutofit/>
            </a:bodyPr>
            <a:lstStyle/>
            <a:p>
              <a:pPr algn="ctr">
                <a:lnSpc>
                  <a:spcPct val="92000"/>
                </a:lnSpc>
              </a:pPr>
              <a:r>
                <a:rPr sz="1500" b="1" i="0" lang="vi-VN">
                  <a:solidFill>
                    <a:srgbClr val="1F5FAF"/>
                  </a:solidFill>
                  <a:latin typeface="Arial"/>
                  <a:ea typeface="Arial"/>
                  <a:cs typeface="Arial"/>
                </a:rPr>
                <a:t>●</a:t>
              </a:r>
              <a:r>
                <a:rPr sz="1500" b="1" i="0" lang="vi-VN">
                  <a:solidFill>
                    <a:srgbClr val="0B2545"/>
                  </a:solidFill>
                  <a:latin typeface="Arial"/>
                  <a:ea typeface="Arial"/>
                  <a:cs typeface="Arial"/>
                </a:rPr>
                <a:t> 20,24°</a:t>
              </a:r>
            </a:p>
            <a:p>
              <a:pPr algn="ctr">
                <a:lnSpc>
                  <a:spcPct val="92000"/>
                </a:lnSpc>
              </a:pPr>
              <a:r>
                <a:rPr sz="1500" b="1" i="0" lang="vi-VN">
                  <a:solidFill>
                    <a:srgbClr val="2E8B57"/>
                  </a:solidFill>
                  <a:latin typeface="Arial"/>
                  <a:ea typeface="Arial"/>
                  <a:cs typeface="Arial"/>
                </a:rPr>
                <a:t>■</a:t>
              </a:r>
              <a:r>
                <a:rPr sz="1500" b="1" i="0" lang="vi-VN">
                  <a:solidFill>
                    <a:srgbClr val="0B2545"/>
                  </a:solidFill>
                  <a:latin typeface="Arial"/>
                  <a:ea typeface="Arial"/>
                  <a:cs typeface="Arial"/>
                </a:rPr>
                <a:t> 13,24°</a:t>
              </a:r>
            </a:p>
          </p:txBody>
        </p:sp>
        <p:sp>
          <p:nvSpPr>
            <p:cNvPr id="99" name="TextBox 98"/>
            <p:cNvSpPr txBox="1"/>
            <p:nvPr/>
          </p:nvSpPr>
          <p:spPr>
            <a:xfrm>
              <a:off x="10108692" y="5650992"/>
              <a:ext cx="1522476" cy="384048"/>
            </a:xfrm>
            <a:prstGeom prst="rect">
              <a:avLst/>
            </a:prstGeom>
            <a:noFill/>
          </p:spPr>
          <p:txBody>
            <a:bodyPr wrap="square" lIns="0" tIns="0" rIns="0" bIns="0" anchor="t">
              <a:noAutofit/>
            </a:bodyPr>
            <a:lstStyle/>
            <a:p>
              <a:pPr algn="ctr">
                <a:lnSpc>
                  <a:spcPct val="92000"/>
                </a:lnSpc>
              </a:pPr>
              <a:r>
                <a:rPr sz="1150" b="0" i="1" lang="vi-VN">
                  <a:solidFill>
                    <a:srgbClr val="1E2B3A"/>
                  </a:solidFill>
                  <a:latin typeface="Cambria"/>
                  <a:ea typeface="Cambria"/>
                  <a:cs typeface="Cambria"/>
                </a:rPr>
                <a:t>e</a:t>
              </a:r>
              <a:r>
                <a:rPr sz="1150" b="0" i="0" lang="vi-VN" baseline="-25000">
                  <a:solidFill>
                    <a:srgbClr val="1E2B3A"/>
                  </a:solidFill>
                  <a:latin typeface="Cambria"/>
                  <a:ea typeface="Cambria"/>
                  <a:cs typeface="Cambria"/>
                </a:rPr>
                <a:t>max</a:t>
              </a:r>
              <a:r>
                <a:rPr sz="1150" b="0" i="0" lang="vi-VN">
                  <a:solidFill>
                    <a:srgbClr val="1E2B3A"/>
                  </a:solidFill>
                  <a:latin typeface="Arial"/>
                  <a:ea typeface="Arial"/>
                  <a:cs typeface="Arial"/>
                </a:rPr>
                <a:t> đối chứng cho các bước sau</a:t>
              </a:r>
            </a:p>
          </p:txBody>
        </p:sp>
      </p:grpSp>
      <p:sp>
        <p:nvSpPr>
          <p:cNvPr id="110"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19</a:t>
            </a:fld>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childTnLst>
                          </p:cTn>
                        </p:par>
                        <p:par>
                          <p:cTn id="13" fill="hold">
                            <p:stCondLst>
                              <p:cond delay="350"/>
                            </p:stCondLst>
                            <p:childTnLst>
                              <p:par>
                                <p:cTn id="14" presetID="22" presetClass="entr" presetSubtype="8"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450"/>
                                        <p:tgtEl>
                                          <p:spTgt spid="23"/>
                                        </p:tgtEl>
                                      </p:cBhvr>
                                    </p:animEffect>
                                  </p:childTnLst>
                                </p:cTn>
                              </p:par>
                            </p:childTnLst>
                          </p:cTn>
                        </p:par>
                        <p:par>
                          <p:cTn id="17" fill="hold">
                            <p:stCondLst>
                              <p:cond delay="800"/>
                            </p:stCondLst>
                            <p:childTnLst>
                              <p:par>
                                <p:cTn id="18" presetID="22" presetClass="entr" presetSubtype="8"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450"/>
                                        <p:tgtEl>
                                          <p:spTgt spid="29"/>
                                        </p:tgtEl>
                                      </p:cBhvr>
                                    </p:animEffect>
                                  </p:childTnLst>
                                </p:cTn>
                              </p:par>
                            </p:childTnLst>
                          </p:cTn>
                        </p:par>
                        <p:par>
                          <p:cTn id="21" fill="hold">
                            <p:stCondLst>
                              <p:cond delay="1250"/>
                            </p:stCondLst>
                            <p:childTnLst>
                              <p:par>
                                <p:cTn id="22" presetID="22" presetClass="entr" presetSubtype="8" fill="hold" grpId="0" nodeType="after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450"/>
                                        <p:tgtEl>
                                          <p:spTgt spid="35"/>
                                        </p:tgtEl>
                                      </p:cBhvr>
                                    </p:animEffect>
                                  </p:childTnLst>
                                </p:cTn>
                              </p:par>
                            </p:childTnLst>
                          </p:cTn>
                        </p:par>
                        <p:par>
                          <p:cTn id="25" fill="hold">
                            <p:stCondLst>
                              <p:cond delay="1700"/>
                            </p:stCondLst>
                            <p:childTnLst>
                              <p:par>
                                <p:cTn id="26" presetID="22" presetClass="entr" presetSubtype="8"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450"/>
                                        <p:tgtEl>
                                          <p:spTgt spid="41"/>
                                        </p:tgtEl>
                                      </p:cBhvr>
                                    </p:animEffect>
                                  </p:childTnLst>
                                </p:cTn>
                              </p:par>
                            </p:childTnLst>
                          </p:cTn>
                        </p:par>
                        <p:par>
                          <p:cTn id="29" fill="hold">
                            <p:stCondLst>
                              <p:cond delay="2150"/>
                            </p:stCondLst>
                            <p:childTnLst>
                              <p:par>
                                <p:cTn id="30" presetID="22" presetClass="entr" presetSubtype="8" fill="hold" grpId="0" nodeType="after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left)">
                                      <p:cBhvr>
                                        <p:cTn id="32" dur="45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400"/>
                                        <p:tgtEl>
                                          <p:spTgt spid="48"/>
                                        </p:tgtEl>
                                      </p:cBhvr>
                                    </p:animEffect>
                                    <p:anim calcmode="lin" valueType="num">
                                      <p:cBhvr>
                                        <p:cTn id="38" dur="400" fill="hold"/>
                                        <p:tgtEl>
                                          <p:spTgt spid="48"/>
                                        </p:tgtEl>
                                        <p:attrNameLst>
                                          <p:attrName>ppt_w</p:attrName>
                                        </p:attrNameLst>
                                      </p:cBhvr>
                                      <p:tavLst>
                                        <p:tav tm="0">
                                          <p:val>
                                            <p:strVal val="0"/>
                                          </p:val>
                                        </p:tav>
                                        <p:tav tm="100000">
                                          <p:val>
                                            <p:strVal val="#ppt_w"/>
                                          </p:val>
                                        </p:tav>
                                      </p:tavLst>
                                    </p:anim>
                                    <p:anim calcmode="lin" valueType="num">
                                      <p:cBhvr>
                                        <p:cTn id="39" dur="400" fill="hold"/>
                                        <p:tgtEl>
                                          <p:spTgt spid="48"/>
                                        </p:tgtEl>
                                        <p:attrNameLst>
                                          <p:attrName>ppt_h</p:attrName>
                                        </p:attrNameLst>
                                      </p:cBhvr>
                                      <p:tavLst>
                                        <p:tav tm="0">
                                          <p:val>
                                            <p:strVal val="0"/>
                                          </p:val>
                                        </p:tav>
                                        <p:tav tm="100000">
                                          <p:val>
                                            <p:strVal val="#ppt_h"/>
                                          </p:val>
                                        </p:tav>
                                      </p:tavLst>
                                    </p:anim>
                                  </p:childTnLst>
                                </p:cTn>
                              </p:par>
                            </p:childTnLst>
                          </p:cTn>
                        </p:par>
                        <p:par>
                          <p:cTn id="40" fill="hold">
                            <p:stCondLst>
                              <p:cond delay="400"/>
                            </p:stCondLst>
                            <p:childTnLst>
                              <p:par>
                                <p:cTn id="41" presetID="6" presetClass="emph" presetSubtype="0" fill="hold" grpId="1" nodeType="afterEffect">
                                  <p:stCondLst>
                                    <p:cond delay="0"/>
                                  </p:stCondLst>
                                  <p:childTnLst>
                                    <p:animScale>
                                      <p:cBhvr>
                                        <p:cTn id="42" dur="250" autoRev="1" fill="hold"/>
                                        <p:tgtEl>
                                          <p:spTgt spid="48"/>
                                        </p:tgtEl>
                                      </p:cBhvr>
                                      <p:by x="112000" y="112000"/>
                                    </p:animScale>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350"/>
                                        <p:tgtEl>
                                          <p:spTgt spid="53"/>
                                        </p:tgtEl>
                                      </p:cBhvr>
                                    </p:animEffect>
                                  </p:childTnLst>
                                </p:cTn>
                              </p:par>
                            </p:childTnLst>
                          </p:cTn>
                        </p:par>
                        <p:par>
                          <p:cTn id="48" fill="hold">
                            <p:stCondLst>
                              <p:cond delay="350"/>
                            </p:stCondLst>
                            <p:childTnLst>
                              <p:par>
                                <p:cTn id="49" presetID="10" presetClass="entr" presetSubtype="0" fill="hold" grpId="0" nodeType="afterEffect">
                                  <p:stCondLst>
                                    <p:cond delay="0"/>
                                  </p:stCondLst>
                                  <p:childTnLst>
                                    <p:set>
                                      <p:cBhvr>
                                        <p:cTn id="50" dur="1" fill="hold">
                                          <p:stCondLst>
                                            <p:cond delay="0"/>
                                          </p:stCondLst>
                                        </p:cTn>
                                        <p:tgtEl>
                                          <p:spTgt spid="57"/>
                                        </p:tgtEl>
                                        <p:attrNameLst>
                                          <p:attrName>style.visibility</p:attrName>
                                        </p:attrNameLst>
                                      </p:cBhvr>
                                      <p:to>
                                        <p:strVal val="visible"/>
                                      </p:to>
                                    </p:set>
                                    <p:animEffect transition="in" filter="fade">
                                      <p:cBhvr>
                                        <p:cTn id="51" dur="450"/>
                                        <p:tgtEl>
                                          <p:spTgt spid="57"/>
                                        </p:tgtEl>
                                      </p:cBhvr>
                                    </p:animEffect>
                                  </p:childTnLst>
                                </p:cTn>
                              </p:par>
                            </p:childTnLst>
                          </p:cTn>
                        </p:par>
                        <p:par>
                          <p:cTn id="52" fill="hold">
                            <p:stCondLst>
                              <p:cond delay="800"/>
                            </p:stCondLst>
                            <p:childTnLst>
                              <p:par>
                                <p:cTn id="53" presetID="10" presetClass="entr" presetSubtype="0" fill="hold" grpId="0" nodeType="after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fade">
                                      <p:cBhvr>
                                        <p:cTn id="55" dur="450"/>
                                        <p:tgtEl>
                                          <p:spTgt spid="5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59"/>
                                        </p:tgtEl>
                                        <p:attrNameLst>
                                          <p:attrName>style.visibility</p:attrName>
                                        </p:attrNameLst>
                                      </p:cBhvr>
                                      <p:to>
                                        <p:strVal val="visible"/>
                                      </p:to>
                                    </p:set>
                                    <p:animEffect transition="in" filter="wipe(left)">
                                      <p:cBhvr>
                                        <p:cTn id="60" dur="700"/>
                                        <p:tgtEl>
                                          <p:spTgt spid="59"/>
                                        </p:tgtEl>
                                      </p:cBhvr>
                                    </p:animEffect>
                                  </p:childTnLst>
                                </p:cTn>
                              </p:par>
                            </p:childTnLst>
                          </p:cTn>
                        </p:par>
                        <p:par>
                          <p:cTn id="61" fill="hold">
                            <p:stCondLst>
                              <p:cond delay="700"/>
                            </p:stCondLst>
                            <p:childTnLst>
                              <p:par>
                                <p:cTn id="62" presetID="53" presetClass="entr" presetSubtype="16" fill="hold" grpId="0" nodeType="afterEffect">
                                  <p:stCondLst>
                                    <p:cond delay="0"/>
                                  </p:stCondLst>
                                  <p:childTnLst>
                                    <p:set>
                                      <p:cBhvr>
                                        <p:cTn id="63" dur="1" fill="hold">
                                          <p:stCondLst>
                                            <p:cond delay="0"/>
                                          </p:stCondLst>
                                        </p:cTn>
                                        <p:tgtEl>
                                          <p:spTgt spid="64"/>
                                        </p:tgtEl>
                                        <p:attrNameLst>
                                          <p:attrName>style.visibility</p:attrName>
                                        </p:attrNameLst>
                                      </p:cBhvr>
                                      <p:to>
                                        <p:strVal val="visible"/>
                                      </p:to>
                                    </p:set>
                                    <p:animEffect transition="in" filter="fade">
                                      <p:cBhvr>
                                        <p:cTn id="64" dur="400"/>
                                        <p:tgtEl>
                                          <p:spTgt spid="64"/>
                                        </p:tgtEl>
                                      </p:cBhvr>
                                    </p:animEffect>
                                    <p:anim calcmode="lin" valueType="num">
                                      <p:cBhvr>
                                        <p:cTn id="65" dur="400" fill="hold"/>
                                        <p:tgtEl>
                                          <p:spTgt spid="64"/>
                                        </p:tgtEl>
                                        <p:attrNameLst>
                                          <p:attrName>ppt_w</p:attrName>
                                        </p:attrNameLst>
                                      </p:cBhvr>
                                      <p:tavLst>
                                        <p:tav tm="0">
                                          <p:val>
                                            <p:strVal val="0"/>
                                          </p:val>
                                        </p:tav>
                                        <p:tav tm="100000">
                                          <p:val>
                                            <p:strVal val="#ppt_w"/>
                                          </p:val>
                                        </p:tav>
                                      </p:tavLst>
                                    </p:anim>
                                    <p:anim calcmode="lin" valueType="num">
                                      <p:cBhvr>
                                        <p:cTn id="66" dur="400" fill="hold"/>
                                        <p:tgtEl>
                                          <p:spTgt spid="64"/>
                                        </p:tgtEl>
                                        <p:attrNameLst>
                                          <p:attrName>ppt_h</p:attrName>
                                        </p:attrNameLst>
                                      </p:cBhvr>
                                      <p:tavLst>
                                        <p:tav tm="0">
                                          <p:val>
                                            <p:strVal val="0"/>
                                          </p:val>
                                        </p:tav>
                                        <p:tav tm="100000">
                                          <p:val>
                                            <p:strVal val="#ppt_h"/>
                                          </p:val>
                                        </p:tav>
                                      </p:tavLst>
                                    </p:anim>
                                  </p:childTnLst>
                                </p:cTn>
                              </p:par>
                            </p:childTnLst>
                          </p:cTn>
                        </p:par>
                        <p:par>
                          <p:cTn id="67" fill="hold">
                            <p:stCondLst>
                              <p:cond delay="1100"/>
                            </p:stCondLst>
                            <p:childTnLst>
                              <p:par>
                                <p:cTn id="68" presetID="53" presetClass="entr" presetSubtype="16" fill="hold" grpId="0" nodeType="after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fade">
                                      <p:cBhvr>
                                        <p:cTn id="70" dur="400"/>
                                        <p:tgtEl>
                                          <p:spTgt spid="69"/>
                                        </p:tgtEl>
                                      </p:cBhvr>
                                    </p:animEffect>
                                    <p:anim calcmode="lin" valueType="num">
                                      <p:cBhvr>
                                        <p:cTn id="71" dur="400" fill="hold"/>
                                        <p:tgtEl>
                                          <p:spTgt spid="69"/>
                                        </p:tgtEl>
                                        <p:attrNameLst>
                                          <p:attrName>ppt_w</p:attrName>
                                        </p:attrNameLst>
                                      </p:cBhvr>
                                      <p:tavLst>
                                        <p:tav tm="0">
                                          <p:val>
                                            <p:strVal val="0"/>
                                          </p:val>
                                        </p:tav>
                                        <p:tav tm="100000">
                                          <p:val>
                                            <p:strVal val="#ppt_w"/>
                                          </p:val>
                                        </p:tav>
                                      </p:tavLst>
                                    </p:anim>
                                    <p:anim calcmode="lin" valueType="num">
                                      <p:cBhvr>
                                        <p:cTn id="72" dur="400" fill="hold"/>
                                        <p:tgtEl>
                                          <p:spTgt spid="69"/>
                                        </p:tgtEl>
                                        <p:attrNameLst>
                                          <p:attrName>ppt_h</p:attrName>
                                        </p:attrNameLst>
                                      </p:cBhvr>
                                      <p:tavLst>
                                        <p:tav tm="0">
                                          <p:val>
                                            <p:strVal val="0"/>
                                          </p:val>
                                        </p:tav>
                                        <p:tav tm="100000">
                                          <p:val>
                                            <p:strVal val="#ppt_h"/>
                                          </p:val>
                                        </p:tav>
                                      </p:tavLst>
                                    </p:anim>
                                  </p:childTnLst>
                                </p:cTn>
                              </p:par>
                            </p:childTnLst>
                          </p:cTn>
                        </p:par>
                        <p:par>
                          <p:cTn id="73" fill="hold">
                            <p:stCondLst>
                              <p:cond delay="1500"/>
                            </p:stCondLst>
                            <p:childTnLst>
                              <p:par>
                                <p:cTn id="74" presetID="53" presetClass="entr" presetSubtype="16" fill="hold" grpId="0" nodeType="afterEffect">
                                  <p:stCondLst>
                                    <p:cond delay="0"/>
                                  </p:stCondLst>
                                  <p:childTnLst>
                                    <p:set>
                                      <p:cBhvr>
                                        <p:cTn id="75" dur="1" fill="hold">
                                          <p:stCondLst>
                                            <p:cond delay="0"/>
                                          </p:stCondLst>
                                        </p:cTn>
                                        <p:tgtEl>
                                          <p:spTgt spid="74"/>
                                        </p:tgtEl>
                                        <p:attrNameLst>
                                          <p:attrName>style.visibility</p:attrName>
                                        </p:attrNameLst>
                                      </p:cBhvr>
                                      <p:to>
                                        <p:strVal val="visible"/>
                                      </p:to>
                                    </p:set>
                                    <p:animEffect transition="in" filter="fade">
                                      <p:cBhvr>
                                        <p:cTn id="76" dur="400"/>
                                        <p:tgtEl>
                                          <p:spTgt spid="74"/>
                                        </p:tgtEl>
                                      </p:cBhvr>
                                    </p:animEffect>
                                    <p:anim calcmode="lin" valueType="num">
                                      <p:cBhvr>
                                        <p:cTn id="77" dur="400" fill="hold"/>
                                        <p:tgtEl>
                                          <p:spTgt spid="74"/>
                                        </p:tgtEl>
                                        <p:attrNameLst>
                                          <p:attrName>ppt_w</p:attrName>
                                        </p:attrNameLst>
                                      </p:cBhvr>
                                      <p:tavLst>
                                        <p:tav tm="0">
                                          <p:val>
                                            <p:strVal val="0"/>
                                          </p:val>
                                        </p:tav>
                                        <p:tav tm="100000">
                                          <p:val>
                                            <p:strVal val="#ppt_w"/>
                                          </p:val>
                                        </p:tav>
                                      </p:tavLst>
                                    </p:anim>
                                    <p:anim calcmode="lin" valueType="num">
                                      <p:cBhvr>
                                        <p:cTn id="78" dur="400" fill="hold"/>
                                        <p:tgtEl>
                                          <p:spTgt spid="74"/>
                                        </p:tgtEl>
                                        <p:attrNameLst>
                                          <p:attrName>ppt_h</p:attrName>
                                        </p:attrNameLst>
                                      </p:cBhvr>
                                      <p:tavLst>
                                        <p:tav tm="0">
                                          <p:val>
                                            <p:strVal val="0"/>
                                          </p:val>
                                        </p:tav>
                                        <p:tav tm="100000">
                                          <p:val>
                                            <p:strVal val="#ppt_h"/>
                                          </p:val>
                                        </p:tav>
                                      </p:tavLst>
                                    </p:anim>
                                  </p:childTnLst>
                                </p:cTn>
                              </p:par>
                            </p:childTnLst>
                          </p:cTn>
                        </p:par>
                        <p:par>
                          <p:cTn id="79" fill="hold">
                            <p:stCondLst>
                              <p:cond delay="1900"/>
                            </p:stCondLst>
                            <p:childTnLst>
                              <p:par>
                                <p:cTn id="80" presetID="53" presetClass="entr" presetSubtype="16" fill="hold" grpId="0" nodeType="afterEffect">
                                  <p:stCondLst>
                                    <p:cond delay="0"/>
                                  </p:stCondLst>
                                  <p:childTnLst>
                                    <p:set>
                                      <p:cBhvr>
                                        <p:cTn id="81" dur="1" fill="hold">
                                          <p:stCondLst>
                                            <p:cond delay="0"/>
                                          </p:stCondLst>
                                        </p:cTn>
                                        <p:tgtEl>
                                          <p:spTgt spid="79"/>
                                        </p:tgtEl>
                                        <p:attrNameLst>
                                          <p:attrName>style.visibility</p:attrName>
                                        </p:attrNameLst>
                                      </p:cBhvr>
                                      <p:to>
                                        <p:strVal val="visible"/>
                                      </p:to>
                                    </p:set>
                                    <p:animEffect transition="in" filter="fade">
                                      <p:cBhvr>
                                        <p:cTn id="82" dur="400"/>
                                        <p:tgtEl>
                                          <p:spTgt spid="79"/>
                                        </p:tgtEl>
                                      </p:cBhvr>
                                    </p:animEffect>
                                    <p:anim calcmode="lin" valueType="num">
                                      <p:cBhvr>
                                        <p:cTn id="83" dur="400" fill="hold"/>
                                        <p:tgtEl>
                                          <p:spTgt spid="79"/>
                                        </p:tgtEl>
                                        <p:attrNameLst>
                                          <p:attrName>ppt_w</p:attrName>
                                        </p:attrNameLst>
                                      </p:cBhvr>
                                      <p:tavLst>
                                        <p:tav tm="0">
                                          <p:val>
                                            <p:strVal val="0"/>
                                          </p:val>
                                        </p:tav>
                                        <p:tav tm="100000">
                                          <p:val>
                                            <p:strVal val="#ppt_w"/>
                                          </p:val>
                                        </p:tav>
                                      </p:tavLst>
                                    </p:anim>
                                    <p:anim calcmode="lin" valueType="num">
                                      <p:cBhvr>
                                        <p:cTn id="84" dur="400" fill="hold"/>
                                        <p:tgtEl>
                                          <p:spTgt spid="79"/>
                                        </p:tgtEl>
                                        <p:attrNameLst>
                                          <p:attrName>ppt_h</p:attrName>
                                        </p:attrNameLst>
                                      </p:cBhvr>
                                      <p:tavLst>
                                        <p:tav tm="0">
                                          <p:val>
                                            <p:str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grpId="0" nodeType="clickEffect">
                                  <p:stCondLst>
                                    <p:cond delay="0"/>
                                  </p:stCondLst>
                                  <p:childTnLst>
                                    <p:set>
                                      <p:cBhvr>
                                        <p:cTn id="88" dur="1" fill="hold">
                                          <p:stCondLst>
                                            <p:cond delay="0"/>
                                          </p:stCondLst>
                                        </p:cTn>
                                        <p:tgtEl>
                                          <p:spTgt spid="84"/>
                                        </p:tgtEl>
                                        <p:attrNameLst>
                                          <p:attrName>style.visibility</p:attrName>
                                        </p:attrNameLst>
                                      </p:cBhvr>
                                      <p:to>
                                        <p:strVal val="visible"/>
                                      </p:to>
                                    </p:set>
                                    <p:animEffect transition="in" filter="fade">
                                      <p:cBhvr>
                                        <p:cTn id="89" dur="380"/>
                                        <p:tgtEl>
                                          <p:spTgt spid="84"/>
                                        </p:tgtEl>
                                      </p:cBhvr>
                                    </p:animEffect>
                                    <p:anim calcmode="lin" valueType="num">
                                      <p:cBhvr>
                                        <p:cTn id="90" dur="380" fill="hold"/>
                                        <p:tgtEl>
                                          <p:spTgt spid="84"/>
                                        </p:tgtEl>
                                        <p:attrNameLst>
                                          <p:attrName>ppt_w</p:attrName>
                                        </p:attrNameLst>
                                      </p:cBhvr>
                                      <p:tavLst>
                                        <p:tav tm="0">
                                          <p:val>
                                            <p:strVal val="0"/>
                                          </p:val>
                                        </p:tav>
                                        <p:tav tm="100000">
                                          <p:val>
                                            <p:strVal val="#ppt_w"/>
                                          </p:val>
                                        </p:tav>
                                      </p:tavLst>
                                    </p:anim>
                                    <p:anim calcmode="lin" valueType="num">
                                      <p:cBhvr>
                                        <p:cTn id="91" dur="380" fill="hold"/>
                                        <p:tgtEl>
                                          <p:spTgt spid="84"/>
                                        </p:tgtEl>
                                        <p:attrNameLst>
                                          <p:attrName>ppt_h</p:attrName>
                                        </p:attrNameLst>
                                      </p:cBhvr>
                                      <p:tavLst>
                                        <p:tav tm="0">
                                          <p:val>
                                            <p:strVal val="0"/>
                                          </p:val>
                                        </p:tav>
                                        <p:tav tm="100000">
                                          <p:val>
                                            <p:strVal val="#ppt_h"/>
                                          </p:val>
                                        </p:tav>
                                      </p:tavLst>
                                    </p:anim>
                                  </p:childTnLst>
                                </p:cTn>
                              </p:par>
                              <p:par>
                                <p:cTn id="92" presetID="53" presetClass="entr" presetSubtype="16" fill="hold" grpId="0" nodeType="withEffect">
                                  <p:stCondLst>
                                    <p:cond delay="140"/>
                                  </p:stCondLst>
                                  <p:childTnLst>
                                    <p:set>
                                      <p:cBhvr>
                                        <p:cTn id="93" dur="1" fill="hold">
                                          <p:stCondLst>
                                            <p:cond delay="0"/>
                                          </p:stCondLst>
                                        </p:cTn>
                                        <p:tgtEl>
                                          <p:spTgt spid="88"/>
                                        </p:tgtEl>
                                        <p:attrNameLst>
                                          <p:attrName>style.visibility</p:attrName>
                                        </p:attrNameLst>
                                      </p:cBhvr>
                                      <p:to>
                                        <p:strVal val="visible"/>
                                      </p:to>
                                    </p:set>
                                    <p:animEffect transition="in" filter="fade">
                                      <p:cBhvr>
                                        <p:cTn id="94" dur="380"/>
                                        <p:tgtEl>
                                          <p:spTgt spid="88"/>
                                        </p:tgtEl>
                                      </p:cBhvr>
                                    </p:animEffect>
                                    <p:anim calcmode="lin" valueType="num">
                                      <p:cBhvr>
                                        <p:cTn id="95" dur="380" fill="hold"/>
                                        <p:tgtEl>
                                          <p:spTgt spid="88"/>
                                        </p:tgtEl>
                                        <p:attrNameLst>
                                          <p:attrName>ppt_w</p:attrName>
                                        </p:attrNameLst>
                                      </p:cBhvr>
                                      <p:tavLst>
                                        <p:tav tm="0">
                                          <p:val>
                                            <p:strVal val="0"/>
                                          </p:val>
                                        </p:tav>
                                        <p:tav tm="100000">
                                          <p:val>
                                            <p:strVal val="#ppt_w"/>
                                          </p:val>
                                        </p:tav>
                                      </p:tavLst>
                                    </p:anim>
                                    <p:anim calcmode="lin" valueType="num">
                                      <p:cBhvr>
                                        <p:cTn id="96" dur="380" fill="hold"/>
                                        <p:tgtEl>
                                          <p:spTgt spid="88"/>
                                        </p:tgtEl>
                                        <p:attrNameLst>
                                          <p:attrName>ppt_h</p:attrName>
                                        </p:attrNameLst>
                                      </p:cBhvr>
                                      <p:tavLst>
                                        <p:tav tm="0">
                                          <p:val>
                                            <p:strVal val="0"/>
                                          </p:val>
                                        </p:tav>
                                        <p:tav tm="100000">
                                          <p:val>
                                            <p:strVal val="#ppt_h"/>
                                          </p:val>
                                        </p:tav>
                                      </p:tavLst>
                                    </p:anim>
                                  </p:childTnLst>
                                </p:cTn>
                              </p:par>
                              <p:par>
                                <p:cTn id="97" presetID="53" presetClass="entr" presetSubtype="16" fill="hold" grpId="0" nodeType="withEffect">
                                  <p:stCondLst>
                                    <p:cond delay="280"/>
                                  </p:stCondLst>
                                  <p:childTnLst>
                                    <p:set>
                                      <p:cBhvr>
                                        <p:cTn id="98" dur="1" fill="hold">
                                          <p:stCondLst>
                                            <p:cond delay="0"/>
                                          </p:stCondLst>
                                        </p:cTn>
                                        <p:tgtEl>
                                          <p:spTgt spid="92"/>
                                        </p:tgtEl>
                                        <p:attrNameLst>
                                          <p:attrName>style.visibility</p:attrName>
                                        </p:attrNameLst>
                                      </p:cBhvr>
                                      <p:to>
                                        <p:strVal val="visible"/>
                                      </p:to>
                                    </p:set>
                                    <p:animEffect transition="in" filter="fade">
                                      <p:cBhvr>
                                        <p:cTn id="99" dur="380"/>
                                        <p:tgtEl>
                                          <p:spTgt spid="92"/>
                                        </p:tgtEl>
                                      </p:cBhvr>
                                    </p:animEffect>
                                    <p:anim calcmode="lin" valueType="num">
                                      <p:cBhvr>
                                        <p:cTn id="100" dur="380" fill="hold"/>
                                        <p:tgtEl>
                                          <p:spTgt spid="92"/>
                                        </p:tgtEl>
                                        <p:attrNameLst>
                                          <p:attrName>ppt_w</p:attrName>
                                        </p:attrNameLst>
                                      </p:cBhvr>
                                      <p:tavLst>
                                        <p:tav tm="0">
                                          <p:val>
                                            <p:strVal val="0"/>
                                          </p:val>
                                        </p:tav>
                                        <p:tav tm="100000">
                                          <p:val>
                                            <p:strVal val="#ppt_w"/>
                                          </p:val>
                                        </p:tav>
                                      </p:tavLst>
                                    </p:anim>
                                    <p:anim calcmode="lin" valueType="num">
                                      <p:cBhvr>
                                        <p:cTn id="101" dur="380" fill="hold"/>
                                        <p:tgtEl>
                                          <p:spTgt spid="92"/>
                                        </p:tgtEl>
                                        <p:attrNameLst>
                                          <p:attrName>ppt_h</p:attrName>
                                        </p:attrNameLst>
                                      </p:cBhvr>
                                      <p:tavLst>
                                        <p:tav tm="0">
                                          <p:val>
                                            <p:strVal val="0"/>
                                          </p:val>
                                        </p:tav>
                                        <p:tav tm="100000">
                                          <p:val>
                                            <p:strVal val="#ppt_h"/>
                                          </p:val>
                                        </p:tav>
                                      </p:tavLst>
                                    </p:anim>
                                  </p:childTnLst>
                                </p:cTn>
                              </p:par>
                              <p:par>
                                <p:cTn id="102" presetID="53" presetClass="entr" presetSubtype="16" fill="hold" grpId="0" nodeType="withEffect">
                                  <p:stCondLst>
                                    <p:cond delay="420"/>
                                  </p:stCondLst>
                                  <p:childTnLst>
                                    <p:set>
                                      <p:cBhvr>
                                        <p:cTn id="103" dur="1" fill="hold">
                                          <p:stCondLst>
                                            <p:cond delay="0"/>
                                          </p:stCondLst>
                                        </p:cTn>
                                        <p:tgtEl>
                                          <p:spTgt spid="96"/>
                                        </p:tgtEl>
                                        <p:attrNameLst>
                                          <p:attrName>style.visibility</p:attrName>
                                        </p:attrNameLst>
                                      </p:cBhvr>
                                      <p:to>
                                        <p:strVal val="visible"/>
                                      </p:to>
                                    </p:set>
                                    <p:animEffect transition="in" filter="fade">
                                      <p:cBhvr>
                                        <p:cTn id="104" dur="380"/>
                                        <p:tgtEl>
                                          <p:spTgt spid="96"/>
                                        </p:tgtEl>
                                      </p:cBhvr>
                                    </p:animEffect>
                                    <p:anim calcmode="lin" valueType="num">
                                      <p:cBhvr>
                                        <p:cTn id="105" dur="380" fill="hold"/>
                                        <p:tgtEl>
                                          <p:spTgt spid="96"/>
                                        </p:tgtEl>
                                        <p:attrNameLst>
                                          <p:attrName>ppt_w</p:attrName>
                                        </p:attrNameLst>
                                      </p:cBhvr>
                                      <p:tavLst>
                                        <p:tav tm="0">
                                          <p:val>
                                            <p:strVal val="0"/>
                                          </p:val>
                                        </p:tav>
                                        <p:tav tm="100000">
                                          <p:val>
                                            <p:strVal val="#ppt_w"/>
                                          </p:val>
                                        </p:tav>
                                      </p:tavLst>
                                    </p:anim>
                                    <p:anim calcmode="lin" valueType="num">
                                      <p:cBhvr>
                                        <p:cTn id="106" dur="380" fill="hold"/>
                                        <p:tgtEl>
                                          <p:spTgt spid="96"/>
                                        </p:tgtEl>
                                        <p:attrNameLst>
                                          <p:attrName>ppt_h</p:attrName>
                                        </p:attrNameLst>
                                      </p:cBhvr>
                                      <p:tavLst>
                                        <p:tav tm="0">
                                          <p:val>
                                            <p:strVal val="0"/>
                                          </p:val>
                                        </p:tav>
                                        <p:tav tm="100000">
                                          <p:val>
                                            <p:strVal val="#ppt_h"/>
                                          </p:val>
                                        </p:tav>
                                      </p:tavLst>
                                    </p:anim>
                                  </p:childTnLst>
                                </p:cTn>
                              </p:par>
                            </p:childTnLst>
                          </p:cTn>
                        </p:par>
                        <p:par>
                          <p:cTn id="107" fill="hold">
                            <p:stCondLst>
                              <p:cond delay="800"/>
                            </p:stCondLst>
                            <p:childTnLst>
                              <p:par>
                                <p:cTn id="108" presetID="6" presetClass="emph" presetSubtype="0" fill="hold" grpId="1" nodeType="afterEffect">
                                  <p:stCondLst>
                                    <p:cond delay="0"/>
                                  </p:stCondLst>
                                  <p:childTnLst>
                                    <p:animScale>
                                      <p:cBhvr>
                                        <p:cTn id="109" dur="280" autoRev="1" fill="hold"/>
                                        <p:tgtEl>
                                          <p:spTgt spid="84"/>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k_track"/>
          <p:cNvSpPr/>
          <p:nvPr/>
        </p:nvSpPr>
        <p:spPr>
          <a:xfrm>
            <a:off x="457200" y="146304"/>
            <a:ext cx="11292840" cy="402336"/>
          </a:xfrm>
          <a:prstGeom prst="roundRect">
            <a:avLst>
              <a:gd name="adj" fmla="val 27272"/>
            </a:avLst>
          </a:prstGeom>
          <a:solidFill>
            <a:srgbClr val="FFFFFF">
              <a:alpha val="78000"/>
            </a:srgbClr>
          </a:solidFill>
          <a:ln>
            <a:noFill/>
          </a:ln>
        </p:spPr>
        <p:txBody>
          <a:bodyPr rtlCol="0" anchor="ctr" lIns="54864" tIns="54864" rIns="54864" bIns="54864" wrap="square">
            <a:noAutofit/>
          </a:bodyPr>
          <a:lstStyle/>
          <a:p>
            <a:pPr algn="ctr"/>
          </a:p>
        </p:txBody>
      </p:sp>
      <p:sp>
        <p:nvSpPr>
          <p:cNvPr id="3" name="!!trk_hl"/>
          <p:cNvSpPr/>
          <p:nvPr/>
        </p:nvSpPr>
        <p:spPr>
          <a:xfrm>
            <a:off x="3012034" y="182880"/>
            <a:ext cx="1163117" cy="329184"/>
          </a:xfrm>
          <a:prstGeom prst="roundRect">
            <a:avLst>
              <a:gd name="adj" fmla="val 27777"/>
            </a:avLst>
          </a:prstGeom>
          <a:solidFill>
            <a:srgbClr val="E8710A"/>
          </a:solidFill>
          <a:ln>
            <a:noFill/>
          </a:ln>
        </p:spPr>
        <p:txBody>
          <a:bodyPr rtlCol="0" anchor="ctr" lIns="54864" tIns="54864" rIns="54864" bIns="54864" wrap="square">
            <a:noAutofit/>
          </a:bodyPr>
          <a:lstStyle/>
          <a:p>
            <a:pPr algn="ctr"/>
          </a:p>
        </p:txBody>
      </p:sp>
      <p:sp>
        <p:nvSpPr>
          <p:cNvPr id="4" name="!!trk_0"/>
          <p:cNvSpPr txBox="1"/>
          <p:nvPr/>
        </p:nvSpPr>
        <p:spPr>
          <a:xfrm>
            <a:off x="50292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Ban đầu</a:t>
            </a:r>
          </a:p>
        </p:txBody>
      </p:sp>
      <p:sp>
        <p:nvSpPr>
          <p:cNvPr id="5" name="!!trk_1"/>
          <p:cNvSpPr txBox="1"/>
          <p:nvPr/>
        </p:nvSpPr>
        <p:spPr>
          <a:xfrm>
            <a:off x="175747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Cascade</a:t>
            </a:r>
          </a:p>
        </p:txBody>
      </p:sp>
      <p:sp>
        <p:nvSpPr>
          <p:cNvPr id="6" name="!!trk_2"/>
          <p:cNvSpPr txBox="1"/>
          <p:nvPr/>
        </p:nvSpPr>
        <p:spPr>
          <a:xfrm>
            <a:off x="3012034" y="182880"/>
            <a:ext cx="1163117" cy="329184"/>
          </a:xfrm>
          <a:prstGeom prst="rect">
            <a:avLst/>
          </a:prstGeom>
          <a:noFill/>
        </p:spPr>
        <p:txBody>
          <a:bodyPr wrap="square" lIns="0" tIns="0" rIns="0" bIns="0" anchor="ctr">
            <a:noAutofit/>
          </a:bodyPr>
          <a:lstStyle/>
          <a:p>
            <a:pPr algn="ctr"/>
            <a:r>
              <a:rPr sz="1050" b="1" i="0" lang="vi-VN">
                <a:solidFill>
                  <a:srgbClr val="FFFFFF"/>
                </a:solidFill>
                <a:latin typeface="Arial"/>
                <a:ea typeface="Arial"/>
                <a:cs typeface="Arial"/>
              </a:rPr>
              <a:t>Bù IMU2</a:t>
            </a:r>
          </a:p>
        </p:txBody>
      </p:sp>
      <p:sp>
        <p:nvSpPr>
          <p:cNvPr id="7" name="!!trk_3"/>
          <p:cNvSpPr txBox="1"/>
          <p:nvPr/>
        </p:nvSpPr>
        <p:spPr>
          <a:xfrm>
            <a:off x="4266590"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Ngoại suy</a:t>
            </a:r>
          </a:p>
        </p:txBody>
      </p:sp>
      <p:sp>
        <p:nvSpPr>
          <p:cNvPr id="8" name="!!trk_4"/>
          <p:cNvSpPr txBox="1"/>
          <p:nvPr/>
        </p:nvSpPr>
        <p:spPr>
          <a:xfrm>
            <a:off x="5521147"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Giới hạn động</a:t>
            </a:r>
          </a:p>
        </p:txBody>
      </p:sp>
      <p:sp>
        <p:nvSpPr>
          <p:cNvPr id="9" name="!!trk_5"/>
          <p:cNvSpPr txBox="1"/>
          <p:nvPr/>
        </p:nvSpPr>
        <p:spPr>
          <a:xfrm>
            <a:off x="677570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Đảo chiều/dừng</a:t>
            </a:r>
          </a:p>
        </p:txBody>
      </p:sp>
      <p:sp>
        <p:nvSpPr>
          <p:cNvPr id="10" name="!!trk_6"/>
          <p:cNvSpPr txBox="1"/>
          <p:nvPr/>
        </p:nvSpPr>
        <p:spPr>
          <a:xfrm>
            <a:off x="8030261"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Tạo dạng lệnh</a:t>
            </a:r>
          </a:p>
        </p:txBody>
      </p:sp>
      <p:sp>
        <p:nvSpPr>
          <p:cNvPr id="11" name="!!trk_7"/>
          <p:cNvSpPr txBox="1"/>
          <p:nvPr/>
        </p:nvSpPr>
        <p:spPr>
          <a:xfrm>
            <a:off x="9284818"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Lịch RS485</a:t>
            </a:r>
          </a:p>
        </p:txBody>
      </p:sp>
      <p:sp>
        <p:nvSpPr>
          <p:cNvPr id="12" name="!!trk_8"/>
          <p:cNvSpPr txBox="1"/>
          <p:nvPr/>
        </p:nvSpPr>
        <p:spPr>
          <a:xfrm>
            <a:off x="1053937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Hoàn thiện</a:t>
            </a:r>
          </a:p>
        </p:txBody>
      </p:sp>
      <p:sp>
        <p:nvSpPr>
          <p:cNvPr id="13" name="Title"/>
          <p:cNvSpPr txBox="1"/>
          <p:nvPr/>
        </p:nvSpPr>
        <p:spPr>
          <a:xfrm>
            <a:off x="502920" y="603504"/>
            <a:ext cx="11201400" cy="530352"/>
          </a:xfrm>
          <a:prstGeom prst="rect">
            <a:avLst/>
          </a:prstGeom>
          <a:noFill/>
        </p:spPr>
        <p:txBody>
          <a:bodyPr wrap="square" lIns="0" tIns="0" rIns="0" bIns="0" anchor="ctr">
            <a:noAutofit/>
          </a:bodyPr>
          <a:lstStyle/>
          <a:p>
            <a:pPr algn="l"/>
            <a:r>
              <a:rPr sz="2500" b="1" i="0" lang="vi-VN">
                <a:solidFill>
                  <a:srgbClr val="0B2545"/>
                </a:solidFill>
                <a:latin typeface="Arial"/>
                <a:ea typeface="Arial"/>
                <a:cs typeface="Arial"/>
              </a:rPr>
              <a:t>B2 · Bù IMU2: </a:t>
            </a:r>
            <a:r>
              <a:rPr sz="2500" b="1" i="1" lang="vi-VN">
                <a:solidFill>
                  <a:srgbClr val="0B2545"/>
                </a:solidFill>
                <a:latin typeface="Cambria"/>
                <a:ea typeface="Cambria"/>
                <a:cs typeface="Cambria"/>
              </a:rPr>
              <a:t>e</a:t>
            </a:r>
            <a:r>
              <a:rPr sz="2500" b="1" i="0" lang="vi-VN" baseline="-25000">
                <a:solidFill>
                  <a:srgbClr val="0B2545"/>
                </a:solidFill>
                <a:latin typeface="Cambria"/>
                <a:ea typeface="Cambria"/>
                <a:cs typeface="Cambria"/>
              </a:rPr>
              <a:t>max</a:t>
            </a:r>
            <a:r>
              <a:rPr sz="2500" b="1" i="0" lang="vi-VN">
                <a:solidFill>
                  <a:srgbClr val="0B2545"/>
                </a:solidFill>
                <a:latin typeface="Arial"/>
                <a:ea typeface="Arial"/>
                <a:cs typeface="Arial"/>
              </a:rPr>
              <a:t> giảm khoảng 10 % trên cả hai trục</a:t>
            </a:r>
          </a:p>
        </p:txBody>
      </p:sp>
      <p:grpSp>
        <p:nvGrpSpPr>
          <p:cNvPr id="14" name="Group 13"/>
          <p:cNvGrpSpPr/>
          <p:nvPr/>
        </p:nvGrpSpPr>
        <p:grpSpPr>
          <a:xfrm>
            <a:off x="502920" y="1261872"/>
            <a:ext cx="3931920" cy="1024128"/>
            <a:chOff x="502920" y="1261872"/>
            <a:chExt cx="3931920" cy="1024128"/>
          </a:xfrm>
        </p:grpSpPr>
        <p:sp>
          <p:nvSpPr>
            <p:cNvPr id="15" name="Rounded Rectangle 14"/>
            <p:cNvSpPr/>
            <p:nvPr/>
          </p:nvSpPr>
          <p:spPr>
            <a:xfrm>
              <a:off x="502920" y="1261872"/>
              <a:ext cx="393192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6" name="Picture 15" descr="warning_C62828.png"/>
            <p:cNvPicPr>
              <a:picLocks noChangeAspect="1"/>
            </p:cNvPicPr>
            <p:nvPr/>
          </p:nvPicPr>
          <p:blipFill>
            <a:blip r:embed="rId2"/>
            <a:stretch>
              <a:fillRect/>
            </a:stretch>
          </p:blipFill>
          <p:spPr>
            <a:xfrm>
              <a:off x="640080" y="1335024"/>
              <a:ext cx="237744" cy="237744"/>
            </a:xfrm>
            <a:prstGeom prst="rect">
              <a:avLst/>
            </a:prstGeom>
          </p:spPr>
        </p:pic>
        <p:sp>
          <p:nvSpPr>
            <p:cNvPr id="17" name="TextBox 16"/>
            <p:cNvSpPr txBox="1"/>
            <p:nvPr/>
          </p:nvSpPr>
          <p:spPr>
            <a:xfrm>
              <a:off x="969264" y="1307592"/>
              <a:ext cx="332841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VẤN ĐỀ</a:t>
              </a:r>
            </a:p>
          </p:txBody>
        </p:sp>
        <p:sp>
          <p:nvSpPr>
            <p:cNvPr id="18" name="TextBox 17"/>
            <p:cNvSpPr txBox="1"/>
            <p:nvPr/>
          </p:nvSpPr>
          <p:spPr>
            <a:xfrm>
              <a:off x="667512" y="1609344"/>
              <a:ext cx="3639312" cy="658368"/>
            </a:xfrm>
            <a:prstGeom prst="rect">
              <a:avLst/>
            </a:prstGeom>
            <a:noFill/>
          </p:spPr>
          <p:txBody>
            <a:bodyPr wrap="square" lIns="0" tIns="0" rIns="0" bIns="0" anchor="t">
              <a:noAutofit/>
            </a:bodyPr>
            <a:lstStyle/>
            <a:p>
              <a:pPr algn="l">
                <a:lnSpc>
                  <a:spcPct val="98000"/>
                </a:lnSpc>
              </a:pPr>
              <a:r>
                <a:rPr sz="1350" b="0" i="0" lang="vi-VN">
                  <a:solidFill>
                    <a:srgbClr val="1E2B3A"/>
                  </a:solidFill>
                  <a:latin typeface="Arial"/>
                  <a:ea typeface="Arial"/>
                  <a:cs typeface="Arial"/>
                </a:rPr>
                <a:t>Phản hồi chỉ tác động khi sai lệch đã xuất hiện; sai lệch tỉ lệ tốc độ khung mang</a:t>
              </a:r>
            </a:p>
          </p:txBody>
        </p:sp>
      </p:grpSp>
      <p:grpSp>
        <p:nvGrpSpPr>
          <p:cNvPr id="19" name="Group 18"/>
          <p:cNvGrpSpPr/>
          <p:nvPr/>
        </p:nvGrpSpPr>
        <p:grpSpPr>
          <a:xfrm>
            <a:off x="502920" y="2395728"/>
            <a:ext cx="3931920" cy="2560320"/>
            <a:chOff x="502920" y="2395728"/>
            <a:chExt cx="3931920" cy="2560320"/>
          </a:xfrm>
        </p:grpSpPr>
        <p:sp>
          <p:nvSpPr>
            <p:cNvPr id="20" name="Rounded Rectangle 19"/>
            <p:cNvSpPr/>
            <p:nvPr/>
          </p:nvSpPr>
          <p:spPr>
            <a:xfrm>
              <a:off x="502920" y="2395728"/>
              <a:ext cx="3931920" cy="2560320"/>
            </a:xfrm>
            <a:prstGeom prst="roundRect">
              <a:avLst>
                <a:gd name="adj" fmla="val 357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1" name="Picture 20" descr="flask_0A5FA8.png"/>
            <p:cNvPicPr>
              <a:picLocks noChangeAspect="1"/>
            </p:cNvPicPr>
            <p:nvPr/>
          </p:nvPicPr>
          <p:blipFill>
            <a:blip r:embed="rId3"/>
            <a:stretch>
              <a:fillRect/>
            </a:stretch>
          </p:blipFill>
          <p:spPr>
            <a:xfrm>
              <a:off x="640080" y="2468880"/>
              <a:ext cx="237744" cy="237744"/>
            </a:xfrm>
            <a:prstGeom prst="rect">
              <a:avLst/>
            </a:prstGeom>
          </p:spPr>
        </p:pic>
        <p:sp>
          <p:nvSpPr>
            <p:cNvPr id="22" name="TextBox 21"/>
            <p:cNvSpPr txBox="1"/>
            <p:nvPr/>
          </p:nvSpPr>
          <p:spPr>
            <a:xfrm>
              <a:off x="969264" y="2441448"/>
              <a:ext cx="337413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MÔ PHỎNG · </a:t>
              </a:r>
              <a:r>
                <a:rPr sz="1250" b="1" i="1" lang="vi-VN" spc="40">
                  <a:solidFill>
                    <a:srgbClr val="0A5FA8"/>
                  </a:solidFill>
                  <a:latin typeface="Cambria"/>
                  <a:ea typeface="Cambria"/>
                  <a:cs typeface="Cambria"/>
                </a:rPr>
                <a:t>e</a:t>
              </a:r>
              <a:r>
                <a:rPr sz="1250" b="1" i="0" lang="vi-VN" baseline="-25000" spc="40">
                  <a:solidFill>
                    <a:srgbClr val="0A5FA8"/>
                  </a:solidFill>
                  <a:latin typeface="Cambria"/>
                  <a:ea typeface="Cambria"/>
                  <a:cs typeface="Cambria"/>
                </a:rPr>
                <a:t>rms</a:t>
              </a:r>
              <a:r>
                <a:rPr sz="1250" b="1" i="0" lang="vi-VN" spc="40">
                  <a:solidFill>
                    <a:srgbClr val="0A5FA8"/>
                  </a:solidFill>
                  <a:latin typeface="Arial"/>
                  <a:ea typeface="Arial"/>
                  <a:cs typeface="Arial"/>
                </a:rPr>
                <a:t>, KHUNG QUAY 240 °/s</a:t>
              </a:r>
            </a:p>
          </p:txBody>
        </p:sp>
      </p:grpSp>
      <p:pic>
        <p:nvPicPr>
          <p:cNvPr id="23" name="Picture 22" descr="s20_sim.png"/>
          <p:cNvPicPr>
            <a:picLocks noChangeAspect="1"/>
          </p:cNvPicPr>
          <p:nvPr/>
        </p:nvPicPr>
        <p:blipFill>
          <a:blip r:embed="rId4"/>
          <a:stretch>
            <a:fillRect/>
          </a:stretch>
        </p:blipFill>
        <p:spPr>
          <a:xfrm>
            <a:off x="612648" y="2788920"/>
            <a:ext cx="3712464" cy="2103120"/>
          </a:xfrm>
          <a:prstGeom prst="rect">
            <a:avLst/>
          </a:prstGeom>
        </p:spPr>
      </p:pic>
      <p:grpSp>
        <p:nvGrpSpPr>
          <p:cNvPr id="24" name="Group 23"/>
          <p:cNvGrpSpPr/>
          <p:nvPr/>
        </p:nvGrpSpPr>
        <p:grpSpPr>
          <a:xfrm>
            <a:off x="502920" y="5065776"/>
            <a:ext cx="3931920" cy="987552"/>
            <a:chOff x="502920" y="5065776"/>
            <a:chExt cx="3931920" cy="987552"/>
          </a:xfrm>
        </p:grpSpPr>
        <p:sp>
          <p:nvSpPr>
            <p:cNvPr id="25" name="Rounded Rectangle 24"/>
            <p:cNvSpPr/>
            <p:nvPr/>
          </p:nvSpPr>
          <p:spPr>
            <a:xfrm>
              <a:off x="502920" y="5065776"/>
              <a:ext cx="3931920" cy="987552"/>
            </a:xfrm>
            <a:prstGeom prst="roundRect">
              <a:avLst>
                <a:gd name="adj" fmla="val 9259"/>
              </a:avLst>
            </a:prstGeom>
            <a:solidFill>
              <a:srgbClr val="FFF1E6"/>
            </a:solidFill>
            <a:ln w="19050">
              <a:solidFill>
                <a:srgbClr val="E8710A"/>
              </a:solidFill>
            </a:ln>
          </p:spPr>
          <p:txBody>
            <a:bodyPr rtlCol="0" anchor="ctr" lIns="54864" tIns="54864" rIns="54864" bIns="54864" wrap="square">
              <a:noAutofit/>
            </a:bodyPr>
            <a:lstStyle/>
            <a:p>
              <a:pPr algn="ctr"/>
            </a:p>
          </p:txBody>
        </p:sp>
        <p:pic>
          <p:nvPicPr>
            <p:cNvPr id="26" name="Picture 25" descr="check_B45309.png"/>
            <p:cNvPicPr>
              <a:picLocks noChangeAspect="1"/>
            </p:cNvPicPr>
            <p:nvPr/>
          </p:nvPicPr>
          <p:blipFill>
            <a:blip r:embed="rId5"/>
            <a:stretch>
              <a:fillRect/>
            </a:stretch>
          </p:blipFill>
          <p:spPr>
            <a:xfrm>
              <a:off x="640080" y="5120640"/>
              <a:ext cx="237744" cy="237744"/>
            </a:xfrm>
            <a:prstGeom prst="rect">
              <a:avLst/>
            </a:prstGeom>
          </p:spPr>
        </p:pic>
        <p:sp>
          <p:nvSpPr>
            <p:cNvPr id="27" name="TextBox 26"/>
            <p:cNvSpPr txBox="1"/>
            <p:nvPr/>
          </p:nvSpPr>
          <p:spPr>
            <a:xfrm>
              <a:off x="969264" y="5093208"/>
              <a:ext cx="3328416" cy="292608"/>
            </a:xfrm>
            <a:prstGeom prst="rect">
              <a:avLst/>
            </a:prstGeom>
            <a:noFill/>
          </p:spPr>
          <p:txBody>
            <a:bodyPr wrap="square" lIns="0" tIns="0" rIns="0" bIns="0" anchor="ctr">
              <a:noAutofit/>
            </a:bodyPr>
            <a:lstStyle/>
            <a:p>
              <a:pPr algn="l"/>
              <a:r>
                <a:rPr sz="1250" b="1" i="0" lang="vi-VN" spc="40">
                  <a:solidFill>
                    <a:srgbClr val="B45309"/>
                  </a:solidFill>
                  <a:latin typeface="Arial"/>
                  <a:ea typeface="Arial"/>
                  <a:cs typeface="Arial"/>
                </a:rPr>
                <a:t>LỰA CHỌN</a:t>
              </a:r>
            </a:p>
          </p:txBody>
        </p:sp>
        <p:sp>
          <p:nvSpPr>
            <p:cNvPr id="28" name="TextBox 27"/>
            <p:cNvSpPr txBox="1"/>
            <p:nvPr/>
          </p:nvSpPr>
          <p:spPr>
            <a:xfrm>
              <a:off x="667512" y="5376672"/>
              <a:ext cx="3639312" cy="658368"/>
            </a:xfrm>
            <a:prstGeom prst="rect">
              <a:avLst/>
            </a:prstGeom>
            <a:noFill/>
          </p:spPr>
          <p:txBody>
            <a:bodyPr wrap="square" lIns="0" tIns="0" rIns="0" bIns="0" anchor="t">
              <a:noAutofit/>
            </a:bodyPr>
            <a:lstStyle/>
            <a:p>
              <a:pPr algn="l">
                <a:lnSpc>
                  <a:spcPct val="96000"/>
                </a:lnSpc>
              </a:pPr>
              <a:r>
                <a:rPr sz="1350" b="1" i="0" lang="vi-VN">
                  <a:solidFill>
                    <a:srgbClr val="1E2B3A"/>
                  </a:solidFill>
                  <a:latin typeface="Arial"/>
                  <a:ea typeface="Arial"/>
                  <a:cs typeface="Arial"/>
                </a:rPr>
                <a:t>Bù theo tốc độ: </a:t>
              </a:r>
              <a:r>
                <a:rPr sz="1350" b="1" i="1" lang="vi-VN">
                  <a:solidFill>
                    <a:srgbClr val="1E2B3A"/>
                  </a:solidFill>
                  <a:latin typeface="Cambria"/>
                  <a:ea typeface="Cambria"/>
                  <a:cs typeface="Cambria"/>
                </a:rPr>
                <a:t>k</a:t>
              </a:r>
              <a:r>
                <a:rPr sz="1350" b="1" i="0" lang="vi-VN">
                  <a:solidFill>
                    <a:srgbClr val="1E2B3A"/>
                  </a:solidFill>
                  <a:latin typeface="Cambria"/>
                  <a:ea typeface="Cambria"/>
                  <a:cs typeface="Cambria"/>
                </a:rPr>
                <a:t>(</a:t>
              </a:r>
              <a:r>
                <a:rPr sz="1350" b="1" i="1" lang="vi-VN">
                  <a:solidFill>
                    <a:srgbClr val="1E2B3A"/>
                  </a:solidFill>
                  <a:latin typeface="Cambria"/>
                  <a:ea typeface="Cambria"/>
                  <a:cs typeface="Cambria"/>
                </a:rPr>
                <a:t>v</a:t>
              </a:r>
              <a:r>
                <a:rPr sz="1350" b="1" i="0" lang="vi-VN">
                  <a:solidFill>
                    <a:srgbClr val="1E2B3A"/>
                  </a:solidFill>
                  <a:latin typeface="Cambria"/>
                  <a:ea typeface="Cambria"/>
                  <a:cs typeface="Cambria"/>
                </a:rPr>
                <a:t>)</a:t>
              </a:r>
              <a:r>
                <a:rPr sz="1350" b="1" i="0" lang="vi-VN">
                  <a:solidFill>
                    <a:srgbClr val="1E2B3A"/>
                  </a:solidFill>
                  <a:latin typeface="Arial"/>
                  <a:ea typeface="Arial"/>
                  <a:cs typeface="Arial"/>
                </a:rPr>
                <a:t> tăng theo vùng (Bảng 2.5), cộng vào đầu ra vòng tốc độ</a:t>
              </a:r>
            </a:p>
          </p:txBody>
        </p:sp>
      </p:grpSp>
      <p:grpSp>
        <p:nvGrpSpPr>
          <p:cNvPr id="29" name="Group 28"/>
          <p:cNvGrpSpPr/>
          <p:nvPr/>
        </p:nvGrpSpPr>
        <p:grpSpPr>
          <a:xfrm>
            <a:off x="4617720" y="1261872"/>
            <a:ext cx="7086600" cy="3657600"/>
            <a:chOff x="4617720" y="1261872"/>
            <a:chExt cx="7086600" cy="3657600"/>
          </a:xfrm>
        </p:grpSpPr>
        <p:sp>
          <p:nvSpPr>
            <p:cNvPr id="30" name="Rounded Rectangle 29"/>
            <p:cNvSpPr/>
            <p:nvPr/>
          </p:nvSpPr>
          <p:spPr>
            <a:xfrm>
              <a:off x="4617720" y="1261872"/>
              <a:ext cx="7086600" cy="3657600"/>
            </a:xfrm>
            <a:prstGeom prst="roundRect">
              <a:avLst>
                <a:gd name="adj" fmla="val 250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31" name="Picture 30" descr="cogs_0B2545.png"/>
            <p:cNvPicPr>
              <a:picLocks noChangeAspect="1"/>
            </p:cNvPicPr>
            <p:nvPr/>
          </p:nvPicPr>
          <p:blipFill>
            <a:blip r:embed="rId6"/>
            <a:stretch>
              <a:fillRect/>
            </a:stretch>
          </p:blipFill>
          <p:spPr>
            <a:xfrm>
              <a:off x="4754880" y="1335024"/>
              <a:ext cx="237744" cy="237744"/>
            </a:xfrm>
            <a:prstGeom prst="rect">
              <a:avLst/>
            </a:prstGeom>
          </p:spPr>
        </p:pic>
        <p:sp>
          <p:nvSpPr>
            <p:cNvPr id="32" name="TextBox 31"/>
            <p:cNvSpPr txBox="1"/>
            <p:nvPr/>
          </p:nvSpPr>
          <p:spPr>
            <a:xfrm>
              <a:off x="5084064" y="1307592"/>
              <a:ext cx="4791456" cy="292608"/>
            </a:xfrm>
            <a:prstGeom prst="rect">
              <a:avLst/>
            </a:prstGeom>
            <a:noFill/>
          </p:spPr>
          <p:txBody>
            <a:bodyPr wrap="square" lIns="0" tIns="0" rIns="0" bIns="0" anchor="ctr">
              <a:noAutofit/>
            </a:bodyPr>
            <a:lstStyle/>
            <a:p>
              <a:pPr algn="l"/>
              <a:r>
                <a:rPr sz="1250" b="1" i="0" lang="vi-VN" spc="40">
                  <a:solidFill>
                    <a:srgbClr val="0B2545"/>
                  </a:solidFill>
                  <a:latin typeface="Arial"/>
                  <a:ea typeface="Arial"/>
                  <a:cs typeface="Arial"/>
                </a:rPr>
                <a:t>HỆ THẬT · BÀI THỬ ĐẢO CHIỀU NHANH 10,1 s</a:t>
              </a:r>
            </a:p>
          </p:txBody>
        </p:sp>
      </p:grpSp>
      <p:grpSp>
        <p:nvGrpSpPr>
          <p:cNvPr id="33" name="Group 32"/>
          <p:cNvGrpSpPr/>
          <p:nvPr/>
        </p:nvGrpSpPr>
        <p:grpSpPr>
          <a:xfrm>
            <a:off x="9893808" y="1298448"/>
            <a:ext cx="1755648" cy="329184"/>
            <a:chOff x="9893808" y="1298448"/>
            <a:chExt cx="1755648" cy="329184"/>
          </a:xfrm>
        </p:grpSpPr>
        <p:sp>
          <p:nvSpPr>
            <p:cNvPr id="34" name="Rounded Rectangle 33"/>
            <p:cNvSpPr/>
            <p:nvPr/>
          </p:nvSpPr>
          <p:spPr>
            <a:xfrm>
              <a:off x="9893808" y="1371600"/>
              <a:ext cx="182880" cy="182880"/>
            </a:xfrm>
            <a:prstGeom prst="roundRect">
              <a:avLst>
                <a:gd name="adj" fmla="val 15000"/>
              </a:avLst>
            </a:prstGeom>
            <a:solidFill>
              <a:srgbClr val="B8C2CC"/>
            </a:solidFill>
            <a:ln>
              <a:noFill/>
            </a:ln>
          </p:spPr>
          <p:txBody>
            <a:bodyPr rtlCol="0" anchor="ctr" lIns="54864" tIns="54864" rIns="54864" bIns="54864" wrap="square">
              <a:noAutofit/>
            </a:bodyPr>
            <a:lstStyle/>
            <a:p>
              <a:pPr algn="ctr"/>
            </a:p>
          </p:txBody>
        </p:sp>
        <p:sp>
          <p:nvSpPr>
            <p:cNvPr id="35" name="TextBox 34"/>
            <p:cNvSpPr txBox="1"/>
            <p:nvPr/>
          </p:nvSpPr>
          <p:spPr>
            <a:xfrm>
              <a:off x="10131552" y="1298448"/>
              <a:ext cx="685800" cy="329184"/>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Trước</a:t>
              </a:r>
            </a:p>
          </p:txBody>
        </p:sp>
        <p:sp>
          <p:nvSpPr>
            <p:cNvPr id="36" name="Rectangle 35"/>
            <p:cNvSpPr/>
            <p:nvPr/>
          </p:nvSpPr>
          <p:spPr>
            <a:xfrm>
              <a:off x="10808208" y="1371600"/>
              <a:ext cx="118872" cy="182880"/>
            </a:xfrm>
            <a:prstGeom prst="rect">
              <a:avLst/>
            </a:prstGeom>
            <a:solidFill>
              <a:srgbClr val="1F5FAF"/>
            </a:solidFill>
            <a:ln>
              <a:noFill/>
            </a:ln>
          </p:spPr>
          <p:txBody>
            <a:bodyPr rtlCol="0" anchor="ctr" lIns="54864" tIns="54864" rIns="54864" bIns="54864" wrap="square">
              <a:noAutofit/>
            </a:bodyPr>
            <a:lstStyle/>
            <a:p>
              <a:pPr algn="ctr"/>
            </a:p>
          </p:txBody>
        </p:sp>
        <p:sp>
          <p:nvSpPr>
            <p:cNvPr id="37" name="Rectangle 36"/>
            <p:cNvSpPr/>
            <p:nvPr/>
          </p:nvSpPr>
          <p:spPr>
            <a:xfrm>
              <a:off x="10927080" y="1371600"/>
              <a:ext cx="118872" cy="182880"/>
            </a:xfrm>
            <a:prstGeom prst="rect">
              <a:avLst/>
            </a:prstGeom>
            <a:solidFill>
              <a:srgbClr val="2E8B57"/>
            </a:solidFill>
            <a:ln>
              <a:noFill/>
            </a:ln>
          </p:spPr>
          <p:txBody>
            <a:bodyPr rtlCol="0" anchor="ctr" lIns="54864" tIns="54864" rIns="54864" bIns="54864" wrap="square">
              <a:noAutofit/>
            </a:bodyPr>
            <a:lstStyle/>
            <a:p>
              <a:pPr algn="ctr"/>
            </a:p>
          </p:txBody>
        </p:sp>
        <p:sp>
          <p:nvSpPr>
            <p:cNvPr id="38" name="TextBox 37"/>
            <p:cNvSpPr txBox="1"/>
            <p:nvPr/>
          </p:nvSpPr>
          <p:spPr>
            <a:xfrm>
              <a:off x="11100816" y="1298448"/>
              <a:ext cx="548640" cy="329184"/>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Sau</a:t>
              </a:r>
            </a:p>
          </p:txBody>
        </p:sp>
      </p:grpSp>
      <p:pic>
        <p:nvPicPr>
          <p:cNvPr id="39" name="Picture 38" descr="s20_real_base.png"/>
          <p:cNvPicPr>
            <a:picLocks noChangeAspect="1"/>
          </p:cNvPicPr>
          <p:nvPr/>
        </p:nvPicPr>
        <p:blipFill>
          <a:blip r:embed="rId7"/>
          <a:stretch>
            <a:fillRect/>
          </a:stretch>
        </p:blipFill>
        <p:spPr>
          <a:xfrm>
            <a:off x="4754880" y="1700784"/>
            <a:ext cx="6766560" cy="3108960"/>
          </a:xfrm>
          <a:prstGeom prst="rect">
            <a:avLst/>
          </a:prstGeom>
        </p:spPr>
      </p:pic>
      <p:pic>
        <p:nvPicPr>
          <p:cNvPr id="40" name="Picture 39" descr="s20_real_after.png"/>
          <p:cNvPicPr>
            <a:picLocks noChangeAspect="1"/>
          </p:cNvPicPr>
          <p:nvPr/>
        </p:nvPicPr>
        <p:blipFill>
          <a:blip r:embed="rId8"/>
          <a:stretch>
            <a:fillRect/>
          </a:stretch>
        </p:blipFill>
        <p:spPr>
          <a:xfrm>
            <a:off x="4754880" y="1700784"/>
            <a:ext cx="6766560" cy="3108960"/>
          </a:xfrm>
          <a:prstGeom prst="rect">
            <a:avLst/>
          </a:prstGeom>
        </p:spPr>
      </p:pic>
      <p:grpSp>
        <p:nvGrpSpPr>
          <p:cNvPr id="41" name="Group 40"/>
          <p:cNvGrpSpPr/>
          <p:nvPr/>
        </p:nvGrpSpPr>
        <p:grpSpPr>
          <a:xfrm>
            <a:off x="4617720" y="5029200"/>
            <a:ext cx="1668780" cy="1024128"/>
            <a:chOff x="4617720" y="5029200"/>
            <a:chExt cx="1668780" cy="1024128"/>
          </a:xfrm>
        </p:grpSpPr>
        <p:sp>
          <p:nvSpPr>
            <p:cNvPr id="42" name="Rounded Rectangle 41"/>
            <p:cNvSpPr/>
            <p:nvPr/>
          </p:nvSpPr>
          <p:spPr>
            <a:xfrm>
              <a:off x="461772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3" name="TextBox 42"/>
            <p:cNvSpPr txBox="1"/>
            <p:nvPr/>
          </p:nvSpPr>
          <p:spPr>
            <a:xfrm>
              <a:off x="467258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−10,3 %</a:t>
              </a:r>
            </a:p>
          </p:txBody>
        </p:sp>
        <p:sp>
          <p:nvSpPr>
            <p:cNvPr id="44" name="TextBox 43"/>
            <p:cNvSpPr txBox="1"/>
            <p:nvPr/>
          </p:nvSpPr>
          <p:spPr>
            <a:xfrm>
              <a:off x="469087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e</a:t>
              </a:r>
              <a:r>
                <a:rPr sz="1200" b="0" i="0" lang="vi-VN" baseline="-25000">
                  <a:solidFill>
                    <a:srgbClr val="1E2B3A"/>
                  </a:solidFill>
                  <a:latin typeface="Cambria"/>
                  <a:ea typeface="Cambria"/>
                  <a:cs typeface="Cambria"/>
                </a:rPr>
                <a:t>max</a:t>
              </a:r>
              <a:r>
                <a:rPr sz="1200" b="0" i="0" lang="vi-VN">
                  <a:solidFill>
                    <a:srgbClr val="1E2B3A"/>
                  </a:solidFill>
                  <a:latin typeface="Arial"/>
                  <a:ea typeface="Arial"/>
                  <a:cs typeface="Arial"/>
                </a:rPr>
                <a:t> · Yaw</a:t>
              </a:r>
            </a:p>
          </p:txBody>
        </p:sp>
      </p:grpSp>
      <p:grpSp>
        <p:nvGrpSpPr>
          <p:cNvPr id="45" name="Group 44"/>
          <p:cNvGrpSpPr/>
          <p:nvPr/>
        </p:nvGrpSpPr>
        <p:grpSpPr>
          <a:xfrm>
            <a:off x="6423660" y="5029200"/>
            <a:ext cx="1668780" cy="1024128"/>
            <a:chOff x="6423660" y="5029200"/>
            <a:chExt cx="1668780" cy="1024128"/>
          </a:xfrm>
        </p:grpSpPr>
        <p:sp>
          <p:nvSpPr>
            <p:cNvPr id="46" name="Rounded Rectangle 45"/>
            <p:cNvSpPr/>
            <p:nvPr/>
          </p:nvSpPr>
          <p:spPr>
            <a:xfrm>
              <a:off x="642366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7" name="TextBox 46"/>
            <p:cNvSpPr txBox="1"/>
            <p:nvPr/>
          </p:nvSpPr>
          <p:spPr>
            <a:xfrm>
              <a:off x="647852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−10,2 %</a:t>
              </a:r>
            </a:p>
          </p:txBody>
        </p:sp>
        <p:sp>
          <p:nvSpPr>
            <p:cNvPr id="48" name="TextBox 47"/>
            <p:cNvSpPr txBox="1"/>
            <p:nvPr/>
          </p:nvSpPr>
          <p:spPr>
            <a:xfrm>
              <a:off x="649681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e</a:t>
              </a:r>
              <a:r>
                <a:rPr sz="1200" b="0" i="0" lang="vi-VN" baseline="-25000">
                  <a:solidFill>
                    <a:srgbClr val="1E2B3A"/>
                  </a:solidFill>
                  <a:latin typeface="Cambria"/>
                  <a:ea typeface="Cambria"/>
                  <a:cs typeface="Cambria"/>
                </a:rPr>
                <a:t>max</a:t>
              </a:r>
              <a:r>
                <a:rPr sz="1200" b="0" i="0" lang="vi-VN">
                  <a:solidFill>
                    <a:srgbClr val="1E2B3A"/>
                  </a:solidFill>
                  <a:latin typeface="Arial"/>
                  <a:ea typeface="Arial"/>
                  <a:cs typeface="Arial"/>
                </a:rPr>
                <a:t> · Pitch</a:t>
              </a:r>
            </a:p>
          </p:txBody>
        </p:sp>
      </p:grpSp>
      <p:grpSp>
        <p:nvGrpSpPr>
          <p:cNvPr id="49" name="Group 48"/>
          <p:cNvGrpSpPr/>
          <p:nvPr/>
        </p:nvGrpSpPr>
        <p:grpSpPr>
          <a:xfrm>
            <a:off x="8229600" y="5029200"/>
            <a:ext cx="1668780" cy="1024128"/>
            <a:chOff x="8229600" y="5029200"/>
            <a:chExt cx="1668780" cy="1024128"/>
          </a:xfrm>
        </p:grpSpPr>
        <p:sp>
          <p:nvSpPr>
            <p:cNvPr id="50" name="Rounded Rectangle 49"/>
            <p:cNvSpPr/>
            <p:nvPr/>
          </p:nvSpPr>
          <p:spPr>
            <a:xfrm>
              <a:off x="822960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1" name="TextBox 50"/>
            <p:cNvSpPr txBox="1"/>
            <p:nvPr/>
          </p:nvSpPr>
          <p:spPr>
            <a:xfrm>
              <a:off x="8284464" y="5065776"/>
              <a:ext cx="1559052" cy="566928"/>
            </a:xfrm>
            <a:prstGeom prst="rect">
              <a:avLst/>
            </a:prstGeom>
            <a:noFill/>
          </p:spPr>
          <p:txBody>
            <a:bodyPr wrap="square" lIns="0" tIns="0" rIns="0" bIns="0" anchor="ctr">
              <a:noAutofit/>
            </a:bodyPr>
            <a:lstStyle/>
            <a:p>
              <a:pPr algn="ctr">
                <a:lnSpc>
                  <a:spcPct val="92000"/>
                </a:lnSpc>
              </a:pPr>
              <a:r>
                <a:rPr sz="1500" b="1" i="0" lang="vi-VN">
                  <a:solidFill>
                    <a:srgbClr val="1F5FAF"/>
                  </a:solidFill>
                  <a:latin typeface="Arial"/>
                  <a:ea typeface="Arial"/>
                  <a:cs typeface="Arial"/>
                </a:rPr>
                <a:t>●</a:t>
              </a:r>
              <a:r>
                <a:rPr sz="1500" b="1" i="0" lang="vi-VN">
                  <a:solidFill>
                    <a:srgbClr val="E8710A"/>
                  </a:solidFill>
                  <a:latin typeface="Arial"/>
                  <a:ea typeface="Arial"/>
                  <a:cs typeface="Arial"/>
                </a:rPr>
                <a:t> −5,7 %</a:t>
              </a:r>
            </a:p>
            <a:p>
              <a:pPr algn="ctr">
                <a:lnSpc>
                  <a:spcPct val="92000"/>
                </a:lnSpc>
              </a:pPr>
              <a:r>
                <a:rPr sz="1500" b="1" i="0" lang="vi-VN">
                  <a:solidFill>
                    <a:srgbClr val="2E8B57"/>
                  </a:solidFill>
                  <a:latin typeface="Arial"/>
                  <a:ea typeface="Arial"/>
                  <a:cs typeface="Arial"/>
                </a:rPr>
                <a:t>■</a:t>
              </a:r>
              <a:r>
                <a:rPr sz="1500" b="1" i="0" lang="vi-VN">
                  <a:solidFill>
                    <a:srgbClr val="E8710A"/>
                  </a:solidFill>
                  <a:latin typeface="Arial"/>
                  <a:ea typeface="Arial"/>
                  <a:cs typeface="Arial"/>
                </a:rPr>
                <a:t> −6,1 %</a:t>
              </a:r>
            </a:p>
          </p:txBody>
        </p:sp>
        <p:sp>
          <p:nvSpPr>
            <p:cNvPr id="52" name="TextBox 51"/>
            <p:cNvSpPr txBox="1"/>
            <p:nvPr/>
          </p:nvSpPr>
          <p:spPr>
            <a:xfrm>
              <a:off x="8302752" y="5650992"/>
              <a:ext cx="1522476" cy="384048"/>
            </a:xfrm>
            <a:prstGeom prst="rect">
              <a:avLst/>
            </a:prstGeom>
            <a:noFill/>
          </p:spPr>
          <p:txBody>
            <a:bodyPr wrap="square" lIns="0" tIns="0" rIns="0" bIns="0" anchor="t">
              <a:noAutofit/>
            </a:bodyPr>
            <a:lstStyle/>
            <a:p>
              <a:pPr algn="ctr">
                <a:lnSpc>
                  <a:spcPct val="92000"/>
                </a:lnSpc>
              </a:pPr>
              <a:r>
                <a:rPr sz="1150" b="0" i="1" lang="vi-VN">
                  <a:solidFill>
                    <a:srgbClr val="1E2B3A"/>
                  </a:solidFill>
                  <a:latin typeface="Cambria"/>
                  <a:ea typeface="Cambria"/>
                  <a:cs typeface="Cambria"/>
                </a:rPr>
                <a:t>e</a:t>
              </a:r>
              <a:r>
                <a:rPr sz="1150" b="0" i="0" lang="vi-VN" baseline="-25000">
                  <a:solidFill>
                    <a:srgbClr val="1E2B3A"/>
                  </a:solidFill>
                  <a:latin typeface="Cambria"/>
                  <a:ea typeface="Cambria"/>
                  <a:cs typeface="Cambria"/>
                </a:rPr>
                <a:t>rms</a:t>
              </a:r>
              <a:r>
                <a:rPr sz="1150" b="0" i="0" lang="vi-VN">
                  <a:solidFill>
                    <a:srgbClr val="1E2B3A"/>
                  </a:solidFill>
                  <a:latin typeface="Arial"/>
                  <a:ea typeface="Arial"/>
                  <a:cs typeface="Arial"/>
                </a:rPr>
                <a:t> Yaw · Pitch</a:t>
              </a:r>
            </a:p>
          </p:txBody>
        </p:sp>
      </p:grpSp>
      <p:grpSp>
        <p:nvGrpSpPr>
          <p:cNvPr id="53" name="Group 52"/>
          <p:cNvGrpSpPr/>
          <p:nvPr/>
        </p:nvGrpSpPr>
        <p:grpSpPr>
          <a:xfrm>
            <a:off x="10035540" y="5029200"/>
            <a:ext cx="1668780" cy="1024128"/>
            <a:chOff x="10035540" y="5029200"/>
            <a:chExt cx="1668780" cy="1024128"/>
          </a:xfrm>
        </p:grpSpPr>
        <p:sp>
          <p:nvSpPr>
            <p:cNvPr id="54" name="Rounded Rectangle 53"/>
            <p:cNvSpPr/>
            <p:nvPr/>
          </p:nvSpPr>
          <p:spPr>
            <a:xfrm>
              <a:off x="1003554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5" name="TextBox 54"/>
            <p:cNvSpPr txBox="1"/>
            <p:nvPr/>
          </p:nvSpPr>
          <p:spPr>
            <a:xfrm>
              <a:off x="10090404" y="5084064"/>
              <a:ext cx="1559052" cy="457200"/>
            </a:xfrm>
            <a:prstGeom prst="rect">
              <a:avLst/>
            </a:prstGeom>
            <a:noFill/>
          </p:spPr>
          <p:txBody>
            <a:bodyPr wrap="square" lIns="0" tIns="0" rIns="0" bIns="0" anchor="ctr">
              <a:noAutofit/>
            </a:bodyPr>
            <a:lstStyle/>
            <a:p>
              <a:pPr algn="ctr"/>
              <a:r>
                <a:rPr sz="2400" b="1" i="0" lang="vi-VN">
                  <a:solidFill>
                    <a:srgbClr val="B7791F"/>
                  </a:solidFill>
                  <a:latin typeface="Arial"/>
                  <a:ea typeface="Arial"/>
                  <a:cs typeface="Arial"/>
                </a:rPr>
                <a:t>+5,6 %</a:t>
              </a:r>
            </a:p>
          </p:txBody>
        </p:sp>
        <p:sp>
          <p:nvSpPr>
            <p:cNvPr id="56" name="TextBox 55"/>
            <p:cNvSpPr txBox="1"/>
            <p:nvPr/>
          </p:nvSpPr>
          <p:spPr>
            <a:xfrm>
              <a:off x="1010869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t</a:t>
              </a:r>
              <a:r>
                <a:rPr sz="1200" b="0" i="0" lang="vi-VN" baseline="-25000">
                  <a:solidFill>
                    <a:srgbClr val="1E2B3A"/>
                  </a:solidFill>
                  <a:latin typeface="Cambria"/>
                  <a:ea typeface="Cambria"/>
                  <a:cs typeface="Cambria"/>
                </a:rPr>
                <a:t>s</a:t>
              </a:r>
              <a:r>
                <a:rPr sz="1200" b="0" i="0" lang="vi-VN">
                  <a:solidFill>
                    <a:srgbClr val="1E2B3A"/>
                  </a:solidFill>
                  <a:latin typeface="Arial"/>
                  <a:ea typeface="Arial"/>
                  <a:cs typeface="Arial"/>
                </a:rPr>
                <a:t> khi khung nhanh (đánh đổi)</a:t>
              </a:r>
            </a:p>
          </p:txBody>
        </p:sp>
      </p:grpSp>
      <p:sp>
        <p:nvSpPr>
          <p:cNvPr id="69"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20</a:t>
            </a:fld>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childTnLst>
                          </p:cTn>
                        </p:par>
                        <p:par>
                          <p:cTn id="13" fill="hold">
                            <p:stCondLst>
                              <p:cond delay="350"/>
                            </p:stCondLst>
                            <p:childTnLst>
                              <p:par>
                                <p:cTn id="14" presetID="22" presetClass="entr" presetSubtype="8"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45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anim calcmode="lin" valueType="num">
                                      <p:cBhvr>
                                        <p:cTn id="22" dur="400" fill="hold"/>
                                        <p:tgtEl>
                                          <p:spTgt spid="24"/>
                                        </p:tgtEl>
                                        <p:attrNameLst>
                                          <p:attrName>ppt_w</p:attrName>
                                        </p:attrNameLst>
                                      </p:cBhvr>
                                      <p:tavLst>
                                        <p:tav tm="0">
                                          <p:val>
                                            <p:strVal val="0"/>
                                          </p:val>
                                        </p:tav>
                                        <p:tav tm="100000">
                                          <p:val>
                                            <p:strVal val="#ppt_w"/>
                                          </p:val>
                                        </p:tav>
                                      </p:tavLst>
                                    </p:anim>
                                    <p:anim calcmode="lin" valueType="num">
                                      <p:cBhvr>
                                        <p:cTn id="23" dur="40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400"/>
                            </p:stCondLst>
                            <p:childTnLst>
                              <p:par>
                                <p:cTn id="25" presetID="6" presetClass="emph" presetSubtype="0" fill="hold" grpId="1" nodeType="afterEffect">
                                  <p:stCondLst>
                                    <p:cond delay="0"/>
                                  </p:stCondLst>
                                  <p:childTnLst>
                                    <p:animScale>
                                      <p:cBhvr>
                                        <p:cTn id="26" dur="250" autoRev="1" fill="hold"/>
                                        <p:tgtEl>
                                          <p:spTgt spid="24"/>
                                        </p:tgtEl>
                                      </p:cBhvr>
                                      <p:by x="112000" y="112000"/>
                                    </p:animScale>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35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300"/>
                                        <p:tgtEl>
                                          <p:spTgt spid="33"/>
                                        </p:tgtEl>
                                      </p:cBhvr>
                                    </p:animEffect>
                                  </p:childTnLst>
                                </p:cTn>
                              </p:par>
                            </p:childTnLst>
                          </p:cTn>
                        </p:par>
                        <p:par>
                          <p:cTn id="35" fill="hold">
                            <p:stCondLst>
                              <p:cond delay="350"/>
                            </p:stCondLst>
                            <p:childTnLst>
                              <p:par>
                                <p:cTn id="36" presetID="10" presetClass="entr" presetSubtype="0" fill="hold" grpId="0" nodeType="after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45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wipe(left)">
                                      <p:cBhvr>
                                        <p:cTn id="43" dur="700"/>
                                        <p:tgtEl>
                                          <p:spTgt spid="4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380"/>
                                        <p:tgtEl>
                                          <p:spTgt spid="41"/>
                                        </p:tgtEl>
                                      </p:cBhvr>
                                    </p:animEffect>
                                    <p:anim calcmode="lin" valueType="num">
                                      <p:cBhvr>
                                        <p:cTn id="49" dur="380" fill="hold"/>
                                        <p:tgtEl>
                                          <p:spTgt spid="41"/>
                                        </p:tgtEl>
                                        <p:attrNameLst>
                                          <p:attrName>ppt_w</p:attrName>
                                        </p:attrNameLst>
                                      </p:cBhvr>
                                      <p:tavLst>
                                        <p:tav tm="0">
                                          <p:val>
                                            <p:strVal val="0"/>
                                          </p:val>
                                        </p:tav>
                                        <p:tav tm="100000">
                                          <p:val>
                                            <p:strVal val="#ppt_w"/>
                                          </p:val>
                                        </p:tav>
                                      </p:tavLst>
                                    </p:anim>
                                    <p:anim calcmode="lin" valueType="num">
                                      <p:cBhvr>
                                        <p:cTn id="50" dur="380" fill="hold"/>
                                        <p:tgtEl>
                                          <p:spTgt spid="41"/>
                                        </p:tgtEl>
                                        <p:attrNameLst>
                                          <p:attrName>ppt_h</p:attrName>
                                        </p:attrNameLst>
                                      </p:cBhvr>
                                      <p:tavLst>
                                        <p:tav tm="0">
                                          <p:val>
                                            <p:strVal val="0"/>
                                          </p:val>
                                        </p:tav>
                                        <p:tav tm="100000">
                                          <p:val>
                                            <p:strVal val="#ppt_h"/>
                                          </p:val>
                                        </p:tav>
                                      </p:tavLst>
                                    </p:anim>
                                  </p:childTnLst>
                                </p:cTn>
                              </p:par>
                              <p:par>
                                <p:cTn id="51" presetID="53" presetClass="entr" presetSubtype="16" fill="hold" grpId="0" nodeType="withEffect">
                                  <p:stCondLst>
                                    <p:cond delay="14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380"/>
                                        <p:tgtEl>
                                          <p:spTgt spid="45"/>
                                        </p:tgtEl>
                                      </p:cBhvr>
                                    </p:animEffect>
                                    <p:anim calcmode="lin" valueType="num">
                                      <p:cBhvr>
                                        <p:cTn id="54" dur="380" fill="hold"/>
                                        <p:tgtEl>
                                          <p:spTgt spid="45"/>
                                        </p:tgtEl>
                                        <p:attrNameLst>
                                          <p:attrName>ppt_w</p:attrName>
                                        </p:attrNameLst>
                                      </p:cBhvr>
                                      <p:tavLst>
                                        <p:tav tm="0">
                                          <p:val>
                                            <p:strVal val="0"/>
                                          </p:val>
                                        </p:tav>
                                        <p:tav tm="100000">
                                          <p:val>
                                            <p:strVal val="#ppt_w"/>
                                          </p:val>
                                        </p:tav>
                                      </p:tavLst>
                                    </p:anim>
                                    <p:anim calcmode="lin" valueType="num">
                                      <p:cBhvr>
                                        <p:cTn id="55" dur="380" fill="hold"/>
                                        <p:tgtEl>
                                          <p:spTgt spid="45"/>
                                        </p:tgtEl>
                                        <p:attrNameLst>
                                          <p:attrName>ppt_h</p:attrName>
                                        </p:attrNameLst>
                                      </p:cBhvr>
                                      <p:tavLst>
                                        <p:tav tm="0">
                                          <p:val>
                                            <p:strVal val="0"/>
                                          </p:val>
                                        </p:tav>
                                        <p:tav tm="100000">
                                          <p:val>
                                            <p:strVal val="#ppt_h"/>
                                          </p:val>
                                        </p:tav>
                                      </p:tavLst>
                                    </p:anim>
                                  </p:childTnLst>
                                </p:cTn>
                              </p:par>
                              <p:par>
                                <p:cTn id="56" presetID="53" presetClass="entr" presetSubtype="16" fill="hold" grpId="0" nodeType="withEffect">
                                  <p:stCondLst>
                                    <p:cond delay="28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380"/>
                                        <p:tgtEl>
                                          <p:spTgt spid="49"/>
                                        </p:tgtEl>
                                      </p:cBhvr>
                                    </p:animEffect>
                                    <p:anim calcmode="lin" valueType="num">
                                      <p:cBhvr>
                                        <p:cTn id="59" dur="380" fill="hold"/>
                                        <p:tgtEl>
                                          <p:spTgt spid="49"/>
                                        </p:tgtEl>
                                        <p:attrNameLst>
                                          <p:attrName>ppt_w</p:attrName>
                                        </p:attrNameLst>
                                      </p:cBhvr>
                                      <p:tavLst>
                                        <p:tav tm="0">
                                          <p:val>
                                            <p:strVal val="0"/>
                                          </p:val>
                                        </p:tav>
                                        <p:tav tm="100000">
                                          <p:val>
                                            <p:strVal val="#ppt_w"/>
                                          </p:val>
                                        </p:tav>
                                      </p:tavLst>
                                    </p:anim>
                                    <p:anim calcmode="lin" valueType="num">
                                      <p:cBhvr>
                                        <p:cTn id="60" dur="380" fill="hold"/>
                                        <p:tgtEl>
                                          <p:spTgt spid="49"/>
                                        </p:tgtEl>
                                        <p:attrNameLst>
                                          <p:attrName>ppt_h</p:attrName>
                                        </p:attrNameLst>
                                      </p:cBhvr>
                                      <p:tavLst>
                                        <p:tav tm="0">
                                          <p:val>
                                            <p:strVal val="0"/>
                                          </p:val>
                                        </p:tav>
                                        <p:tav tm="100000">
                                          <p:val>
                                            <p:strVal val="#ppt_h"/>
                                          </p:val>
                                        </p:tav>
                                      </p:tavLst>
                                    </p:anim>
                                  </p:childTnLst>
                                </p:cTn>
                              </p:par>
                              <p:par>
                                <p:cTn id="61" presetID="53" presetClass="entr" presetSubtype="16" fill="hold" grpId="0" nodeType="withEffect">
                                  <p:stCondLst>
                                    <p:cond delay="42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380"/>
                                        <p:tgtEl>
                                          <p:spTgt spid="53"/>
                                        </p:tgtEl>
                                      </p:cBhvr>
                                    </p:animEffect>
                                    <p:anim calcmode="lin" valueType="num">
                                      <p:cBhvr>
                                        <p:cTn id="64" dur="380" fill="hold"/>
                                        <p:tgtEl>
                                          <p:spTgt spid="53"/>
                                        </p:tgtEl>
                                        <p:attrNameLst>
                                          <p:attrName>ppt_w</p:attrName>
                                        </p:attrNameLst>
                                      </p:cBhvr>
                                      <p:tavLst>
                                        <p:tav tm="0">
                                          <p:val>
                                            <p:strVal val="0"/>
                                          </p:val>
                                        </p:tav>
                                        <p:tav tm="100000">
                                          <p:val>
                                            <p:strVal val="#ppt_w"/>
                                          </p:val>
                                        </p:tav>
                                      </p:tavLst>
                                    </p:anim>
                                    <p:anim calcmode="lin" valueType="num">
                                      <p:cBhvr>
                                        <p:cTn id="65" dur="380" fill="hold"/>
                                        <p:tgtEl>
                                          <p:spTgt spid="53"/>
                                        </p:tgtEl>
                                        <p:attrNameLst>
                                          <p:attrName>ppt_h</p:attrName>
                                        </p:attrNameLst>
                                      </p:cBhvr>
                                      <p:tavLst>
                                        <p:tav tm="0">
                                          <p:val>
                                            <p:strVal val="0"/>
                                          </p:val>
                                        </p:tav>
                                        <p:tav tm="100000">
                                          <p:val>
                                            <p:strVal val="#ppt_h"/>
                                          </p:val>
                                        </p:tav>
                                      </p:tavLst>
                                    </p:anim>
                                  </p:childTnLst>
                                </p:cTn>
                              </p:par>
                            </p:childTnLst>
                          </p:cTn>
                        </p:par>
                        <p:par>
                          <p:cTn id="66" fill="hold">
                            <p:stCondLst>
                              <p:cond delay="800"/>
                            </p:stCondLst>
                            <p:childTnLst>
                              <p:par>
                                <p:cTn id="67" presetID="6" presetClass="emph" presetSubtype="0" fill="hold" grpId="1" nodeType="afterEffect">
                                  <p:stCondLst>
                                    <p:cond delay="0"/>
                                  </p:stCondLst>
                                  <p:childTnLst>
                                    <p:animScale>
                                      <p:cBhvr>
                                        <p:cTn id="68" dur="280" autoRev="1" fill="hold"/>
                                        <p:tgtEl>
                                          <p:spTgt spid="41"/>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k_track"/>
          <p:cNvSpPr/>
          <p:nvPr/>
        </p:nvSpPr>
        <p:spPr>
          <a:xfrm>
            <a:off x="457200" y="146304"/>
            <a:ext cx="11292840" cy="402336"/>
          </a:xfrm>
          <a:prstGeom prst="roundRect">
            <a:avLst>
              <a:gd name="adj" fmla="val 27272"/>
            </a:avLst>
          </a:prstGeom>
          <a:solidFill>
            <a:srgbClr val="FFFFFF">
              <a:alpha val="78000"/>
            </a:srgbClr>
          </a:solidFill>
          <a:ln>
            <a:noFill/>
          </a:ln>
        </p:spPr>
        <p:txBody>
          <a:bodyPr rtlCol="0" anchor="ctr" lIns="54864" tIns="54864" rIns="54864" bIns="54864" wrap="square">
            <a:noAutofit/>
          </a:bodyPr>
          <a:lstStyle/>
          <a:p>
            <a:pPr algn="ctr"/>
          </a:p>
        </p:txBody>
      </p:sp>
      <p:sp>
        <p:nvSpPr>
          <p:cNvPr id="3" name="!!trk_hl"/>
          <p:cNvSpPr/>
          <p:nvPr/>
        </p:nvSpPr>
        <p:spPr>
          <a:xfrm>
            <a:off x="4266590" y="182880"/>
            <a:ext cx="1163117" cy="329184"/>
          </a:xfrm>
          <a:prstGeom prst="roundRect">
            <a:avLst>
              <a:gd name="adj" fmla="val 27777"/>
            </a:avLst>
          </a:prstGeom>
          <a:solidFill>
            <a:srgbClr val="E8710A"/>
          </a:solidFill>
          <a:ln>
            <a:noFill/>
          </a:ln>
        </p:spPr>
        <p:txBody>
          <a:bodyPr rtlCol="0" anchor="ctr" lIns="54864" tIns="54864" rIns="54864" bIns="54864" wrap="square">
            <a:noAutofit/>
          </a:bodyPr>
          <a:lstStyle/>
          <a:p>
            <a:pPr algn="ctr"/>
          </a:p>
        </p:txBody>
      </p:sp>
      <p:sp>
        <p:nvSpPr>
          <p:cNvPr id="4" name="!!trk_0"/>
          <p:cNvSpPr txBox="1"/>
          <p:nvPr/>
        </p:nvSpPr>
        <p:spPr>
          <a:xfrm>
            <a:off x="50292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Ban đầu</a:t>
            </a:r>
          </a:p>
        </p:txBody>
      </p:sp>
      <p:sp>
        <p:nvSpPr>
          <p:cNvPr id="5" name="!!trk_1"/>
          <p:cNvSpPr txBox="1"/>
          <p:nvPr/>
        </p:nvSpPr>
        <p:spPr>
          <a:xfrm>
            <a:off x="175747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Cascade</a:t>
            </a:r>
          </a:p>
        </p:txBody>
      </p:sp>
      <p:sp>
        <p:nvSpPr>
          <p:cNvPr id="6" name="!!trk_2"/>
          <p:cNvSpPr txBox="1"/>
          <p:nvPr/>
        </p:nvSpPr>
        <p:spPr>
          <a:xfrm>
            <a:off x="3012034"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Bù IMU2</a:t>
            </a:r>
          </a:p>
        </p:txBody>
      </p:sp>
      <p:sp>
        <p:nvSpPr>
          <p:cNvPr id="7" name="!!trk_3"/>
          <p:cNvSpPr txBox="1"/>
          <p:nvPr/>
        </p:nvSpPr>
        <p:spPr>
          <a:xfrm>
            <a:off x="4266590" y="182880"/>
            <a:ext cx="1163117" cy="329184"/>
          </a:xfrm>
          <a:prstGeom prst="rect">
            <a:avLst/>
          </a:prstGeom>
          <a:noFill/>
        </p:spPr>
        <p:txBody>
          <a:bodyPr wrap="square" lIns="0" tIns="0" rIns="0" bIns="0" anchor="ctr">
            <a:noAutofit/>
          </a:bodyPr>
          <a:lstStyle/>
          <a:p>
            <a:pPr algn="ctr"/>
            <a:r>
              <a:rPr sz="1050" b="1" i="0" lang="vi-VN">
                <a:solidFill>
                  <a:srgbClr val="FFFFFF"/>
                </a:solidFill>
                <a:latin typeface="Arial"/>
                <a:ea typeface="Arial"/>
                <a:cs typeface="Arial"/>
              </a:rPr>
              <a:t>Ngoại suy</a:t>
            </a:r>
          </a:p>
        </p:txBody>
      </p:sp>
      <p:sp>
        <p:nvSpPr>
          <p:cNvPr id="8" name="!!trk_4"/>
          <p:cNvSpPr txBox="1"/>
          <p:nvPr/>
        </p:nvSpPr>
        <p:spPr>
          <a:xfrm>
            <a:off x="5521147"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Giới hạn động</a:t>
            </a:r>
          </a:p>
        </p:txBody>
      </p:sp>
      <p:sp>
        <p:nvSpPr>
          <p:cNvPr id="9" name="!!trk_5"/>
          <p:cNvSpPr txBox="1"/>
          <p:nvPr/>
        </p:nvSpPr>
        <p:spPr>
          <a:xfrm>
            <a:off x="677570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Đảo chiều/dừng</a:t>
            </a:r>
          </a:p>
        </p:txBody>
      </p:sp>
      <p:sp>
        <p:nvSpPr>
          <p:cNvPr id="10" name="!!trk_6"/>
          <p:cNvSpPr txBox="1"/>
          <p:nvPr/>
        </p:nvSpPr>
        <p:spPr>
          <a:xfrm>
            <a:off x="8030261"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Tạo dạng lệnh</a:t>
            </a:r>
          </a:p>
        </p:txBody>
      </p:sp>
      <p:sp>
        <p:nvSpPr>
          <p:cNvPr id="11" name="!!trk_7"/>
          <p:cNvSpPr txBox="1"/>
          <p:nvPr/>
        </p:nvSpPr>
        <p:spPr>
          <a:xfrm>
            <a:off x="9284818"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Lịch RS485</a:t>
            </a:r>
          </a:p>
        </p:txBody>
      </p:sp>
      <p:sp>
        <p:nvSpPr>
          <p:cNvPr id="12" name="!!trk_8"/>
          <p:cNvSpPr txBox="1"/>
          <p:nvPr/>
        </p:nvSpPr>
        <p:spPr>
          <a:xfrm>
            <a:off x="1053937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Hoàn thiện</a:t>
            </a:r>
          </a:p>
        </p:txBody>
      </p:sp>
      <p:sp>
        <p:nvSpPr>
          <p:cNvPr id="13" name="Title"/>
          <p:cNvSpPr txBox="1"/>
          <p:nvPr/>
        </p:nvSpPr>
        <p:spPr>
          <a:xfrm>
            <a:off x="502920" y="603504"/>
            <a:ext cx="11201400" cy="530352"/>
          </a:xfrm>
          <a:prstGeom prst="rect">
            <a:avLst/>
          </a:prstGeom>
          <a:noFill/>
        </p:spPr>
        <p:txBody>
          <a:bodyPr wrap="square" lIns="0" tIns="0" rIns="0" bIns="0" anchor="ctr">
            <a:noAutofit/>
          </a:bodyPr>
          <a:lstStyle/>
          <a:p>
            <a:pPr algn="l"/>
            <a:r>
              <a:rPr sz="2500" b="1" i="0" lang="vi-VN">
                <a:solidFill>
                  <a:srgbClr val="0B2545"/>
                </a:solidFill>
                <a:latin typeface="Arial"/>
                <a:ea typeface="Arial"/>
                <a:cs typeface="Arial"/>
              </a:rPr>
              <a:t>B3 · Ngoại suy bù trễ </a:t>
            </a:r>
            <a:r>
              <a:rPr sz="2500" b="1" i="1" lang="vi-VN">
                <a:solidFill>
                  <a:srgbClr val="0B2545"/>
                </a:solidFill>
                <a:latin typeface="Cambria"/>
                <a:ea typeface="Cambria"/>
                <a:cs typeface="Cambria"/>
              </a:rPr>
              <a:t>τ</a:t>
            </a:r>
            <a:r>
              <a:rPr sz="2500" b="1" i="0" lang="vi-VN" baseline="-25000">
                <a:solidFill>
                  <a:srgbClr val="0B2545"/>
                </a:solidFill>
                <a:latin typeface="Cambria"/>
                <a:ea typeface="Cambria"/>
                <a:cs typeface="Cambria"/>
              </a:rPr>
              <a:t>p</a:t>
            </a:r>
            <a:r>
              <a:rPr sz="2500" b="1" i="0" lang="vi-VN">
                <a:solidFill>
                  <a:srgbClr val="0B2545"/>
                </a:solidFill>
                <a:latin typeface="Arial"/>
                <a:ea typeface="Arial"/>
                <a:cs typeface="Arial"/>
              </a:rPr>
              <a:t> = 12 ms: bước cải thiện lớn nhất</a:t>
            </a:r>
          </a:p>
        </p:txBody>
      </p:sp>
      <p:grpSp>
        <p:nvGrpSpPr>
          <p:cNvPr id="14" name="Group 13"/>
          <p:cNvGrpSpPr/>
          <p:nvPr/>
        </p:nvGrpSpPr>
        <p:grpSpPr>
          <a:xfrm>
            <a:off x="502920" y="1261872"/>
            <a:ext cx="3931920" cy="1024128"/>
            <a:chOff x="502920" y="1261872"/>
            <a:chExt cx="3931920" cy="1024128"/>
          </a:xfrm>
        </p:grpSpPr>
        <p:sp>
          <p:nvSpPr>
            <p:cNvPr id="15" name="Rounded Rectangle 14"/>
            <p:cNvSpPr/>
            <p:nvPr/>
          </p:nvSpPr>
          <p:spPr>
            <a:xfrm>
              <a:off x="502920" y="1261872"/>
              <a:ext cx="393192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6" name="Picture 15" descr="warning_C62828.png"/>
            <p:cNvPicPr>
              <a:picLocks noChangeAspect="1"/>
            </p:cNvPicPr>
            <p:nvPr/>
          </p:nvPicPr>
          <p:blipFill>
            <a:blip r:embed="rId2"/>
            <a:stretch>
              <a:fillRect/>
            </a:stretch>
          </p:blipFill>
          <p:spPr>
            <a:xfrm>
              <a:off x="640080" y="1335024"/>
              <a:ext cx="237744" cy="237744"/>
            </a:xfrm>
            <a:prstGeom prst="rect">
              <a:avLst/>
            </a:prstGeom>
          </p:spPr>
        </p:pic>
        <p:sp>
          <p:nvSpPr>
            <p:cNvPr id="17" name="TextBox 16"/>
            <p:cNvSpPr txBox="1"/>
            <p:nvPr/>
          </p:nvSpPr>
          <p:spPr>
            <a:xfrm>
              <a:off x="969264" y="1307592"/>
              <a:ext cx="332841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VẤN ĐỀ</a:t>
              </a:r>
            </a:p>
          </p:txBody>
        </p:sp>
        <p:sp>
          <p:nvSpPr>
            <p:cNvPr id="18" name="TextBox 17"/>
            <p:cNvSpPr txBox="1"/>
            <p:nvPr/>
          </p:nvSpPr>
          <p:spPr>
            <a:xfrm>
              <a:off x="667512" y="1609344"/>
              <a:ext cx="3639312" cy="658368"/>
            </a:xfrm>
            <a:prstGeom prst="rect">
              <a:avLst/>
            </a:prstGeom>
            <a:noFill/>
          </p:spPr>
          <p:txBody>
            <a:bodyPr wrap="square" lIns="0" tIns="0" rIns="0" bIns="0" anchor="t">
              <a:noAutofit/>
            </a:bodyPr>
            <a:lstStyle/>
            <a:p>
              <a:pPr algn="l">
                <a:lnSpc>
                  <a:spcPct val="98000"/>
                </a:lnSpc>
              </a:pPr>
              <a:r>
                <a:rPr sz="1350" b="0" i="0" lang="vi-VN">
                  <a:solidFill>
                    <a:srgbClr val="1E2B3A"/>
                  </a:solidFill>
                  <a:latin typeface="Arial"/>
                  <a:ea typeface="Arial"/>
                  <a:cs typeface="Arial"/>
                </a:rPr>
                <a:t>Lệnh bù đến động cơ trễ ≈ 12 ms; khi khung đảo chiều, lượng bù còn ngược dấu</a:t>
              </a:r>
            </a:p>
          </p:txBody>
        </p:sp>
      </p:grpSp>
      <p:grpSp>
        <p:nvGrpSpPr>
          <p:cNvPr id="19" name="Group 18"/>
          <p:cNvGrpSpPr/>
          <p:nvPr/>
        </p:nvGrpSpPr>
        <p:grpSpPr>
          <a:xfrm>
            <a:off x="502920" y="2395728"/>
            <a:ext cx="3931920" cy="2560320"/>
            <a:chOff x="502920" y="2395728"/>
            <a:chExt cx="3931920" cy="2560320"/>
          </a:xfrm>
        </p:grpSpPr>
        <p:sp>
          <p:nvSpPr>
            <p:cNvPr id="20" name="Rounded Rectangle 19"/>
            <p:cNvSpPr/>
            <p:nvPr/>
          </p:nvSpPr>
          <p:spPr>
            <a:xfrm>
              <a:off x="502920" y="2395728"/>
              <a:ext cx="3931920" cy="2560320"/>
            </a:xfrm>
            <a:prstGeom prst="roundRect">
              <a:avLst>
                <a:gd name="adj" fmla="val 357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1" name="Picture 20" descr="flask_0A5FA8.png"/>
            <p:cNvPicPr>
              <a:picLocks noChangeAspect="1"/>
            </p:cNvPicPr>
            <p:nvPr/>
          </p:nvPicPr>
          <p:blipFill>
            <a:blip r:embed="rId3"/>
            <a:stretch>
              <a:fillRect/>
            </a:stretch>
          </p:blipFill>
          <p:spPr>
            <a:xfrm>
              <a:off x="640080" y="2468880"/>
              <a:ext cx="237744" cy="237744"/>
            </a:xfrm>
            <a:prstGeom prst="rect">
              <a:avLst/>
            </a:prstGeom>
          </p:spPr>
        </p:pic>
        <p:sp>
          <p:nvSpPr>
            <p:cNvPr id="22" name="TextBox 21"/>
            <p:cNvSpPr txBox="1"/>
            <p:nvPr/>
          </p:nvSpPr>
          <p:spPr>
            <a:xfrm>
              <a:off x="969264" y="2441448"/>
              <a:ext cx="337413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MÔ PHỎNG · </a:t>
              </a:r>
              <a:r>
                <a:rPr sz="1250" b="1" i="1" lang="vi-VN" spc="40">
                  <a:solidFill>
                    <a:srgbClr val="0A5FA8"/>
                  </a:solidFill>
                  <a:latin typeface="Cambria"/>
                  <a:ea typeface="Cambria"/>
                  <a:cs typeface="Cambria"/>
                </a:rPr>
                <a:t>τ</a:t>
              </a:r>
              <a:r>
                <a:rPr sz="1250" b="1" i="0" lang="vi-VN" baseline="-25000" spc="40">
                  <a:solidFill>
                    <a:srgbClr val="0A5FA8"/>
                  </a:solidFill>
                  <a:latin typeface="Cambria"/>
                  <a:ea typeface="Cambria"/>
                  <a:cs typeface="Cambria"/>
                </a:rPr>
                <a:t>p</a:t>
              </a:r>
              <a:r>
                <a:rPr sz="1250" b="1" i="0" lang="vi-VN" spc="40">
                  <a:solidFill>
                    <a:srgbClr val="0A5FA8"/>
                  </a:solidFill>
                  <a:latin typeface="Arial"/>
                  <a:ea typeface="Arial"/>
                  <a:cs typeface="Arial"/>
                </a:rPr>
                <a:t> = 0 / 8 / 12 / 15 ms</a:t>
              </a:r>
            </a:p>
          </p:txBody>
        </p:sp>
      </p:grpSp>
      <p:pic>
        <p:nvPicPr>
          <p:cNvPr id="23" name="Picture 22" descr="s21_sim.png"/>
          <p:cNvPicPr>
            <a:picLocks noChangeAspect="1"/>
          </p:cNvPicPr>
          <p:nvPr/>
        </p:nvPicPr>
        <p:blipFill>
          <a:blip r:embed="rId4"/>
          <a:stretch>
            <a:fillRect/>
          </a:stretch>
        </p:blipFill>
        <p:spPr>
          <a:xfrm>
            <a:off x="612648" y="2788920"/>
            <a:ext cx="3712464" cy="2103120"/>
          </a:xfrm>
          <a:prstGeom prst="rect">
            <a:avLst/>
          </a:prstGeom>
        </p:spPr>
      </p:pic>
      <p:grpSp>
        <p:nvGrpSpPr>
          <p:cNvPr id="24" name="Group 23"/>
          <p:cNvGrpSpPr/>
          <p:nvPr/>
        </p:nvGrpSpPr>
        <p:grpSpPr>
          <a:xfrm>
            <a:off x="502920" y="5065776"/>
            <a:ext cx="3931920" cy="987552"/>
            <a:chOff x="502920" y="5065776"/>
            <a:chExt cx="3931920" cy="987552"/>
          </a:xfrm>
        </p:grpSpPr>
        <p:sp>
          <p:nvSpPr>
            <p:cNvPr id="25" name="Rounded Rectangle 24"/>
            <p:cNvSpPr/>
            <p:nvPr/>
          </p:nvSpPr>
          <p:spPr>
            <a:xfrm>
              <a:off x="502920" y="5065776"/>
              <a:ext cx="3931920" cy="987552"/>
            </a:xfrm>
            <a:prstGeom prst="roundRect">
              <a:avLst>
                <a:gd name="adj" fmla="val 9259"/>
              </a:avLst>
            </a:prstGeom>
            <a:solidFill>
              <a:srgbClr val="FFF1E6"/>
            </a:solidFill>
            <a:ln w="19050">
              <a:solidFill>
                <a:srgbClr val="E8710A"/>
              </a:solidFill>
            </a:ln>
          </p:spPr>
          <p:txBody>
            <a:bodyPr rtlCol="0" anchor="ctr" lIns="54864" tIns="54864" rIns="54864" bIns="54864" wrap="square">
              <a:noAutofit/>
            </a:bodyPr>
            <a:lstStyle/>
            <a:p>
              <a:pPr algn="ctr"/>
            </a:p>
          </p:txBody>
        </p:sp>
        <p:pic>
          <p:nvPicPr>
            <p:cNvPr id="26" name="Picture 25" descr="check_B45309.png"/>
            <p:cNvPicPr>
              <a:picLocks noChangeAspect="1"/>
            </p:cNvPicPr>
            <p:nvPr/>
          </p:nvPicPr>
          <p:blipFill>
            <a:blip r:embed="rId5"/>
            <a:stretch>
              <a:fillRect/>
            </a:stretch>
          </p:blipFill>
          <p:spPr>
            <a:xfrm>
              <a:off x="640080" y="5120640"/>
              <a:ext cx="237744" cy="237744"/>
            </a:xfrm>
            <a:prstGeom prst="rect">
              <a:avLst/>
            </a:prstGeom>
          </p:spPr>
        </p:pic>
        <p:sp>
          <p:nvSpPr>
            <p:cNvPr id="27" name="TextBox 26"/>
            <p:cNvSpPr txBox="1"/>
            <p:nvPr/>
          </p:nvSpPr>
          <p:spPr>
            <a:xfrm>
              <a:off x="969264" y="5093208"/>
              <a:ext cx="3328416" cy="292608"/>
            </a:xfrm>
            <a:prstGeom prst="rect">
              <a:avLst/>
            </a:prstGeom>
            <a:noFill/>
          </p:spPr>
          <p:txBody>
            <a:bodyPr wrap="square" lIns="0" tIns="0" rIns="0" bIns="0" anchor="ctr">
              <a:noAutofit/>
            </a:bodyPr>
            <a:lstStyle/>
            <a:p>
              <a:pPr algn="l"/>
              <a:r>
                <a:rPr sz="1250" b="1" i="0" lang="vi-VN" spc="40">
                  <a:solidFill>
                    <a:srgbClr val="B45309"/>
                  </a:solidFill>
                  <a:latin typeface="Arial"/>
                  <a:ea typeface="Arial"/>
                  <a:cs typeface="Arial"/>
                </a:rPr>
                <a:t>LỰA CHỌN</a:t>
              </a:r>
            </a:p>
          </p:txBody>
        </p:sp>
        <p:sp>
          <p:nvSpPr>
            <p:cNvPr id="28" name="TextBox 27"/>
            <p:cNvSpPr txBox="1"/>
            <p:nvPr/>
          </p:nvSpPr>
          <p:spPr>
            <a:xfrm>
              <a:off x="667512" y="5376672"/>
              <a:ext cx="3639312" cy="658368"/>
            </a:xfrm>
            <a:prstGeom prst="rect">
              <a:avLst/>
            </a:prstGeom>
            <a:noFill/>
          </p:spPr>
          <p:txBody>
            <a:bodyPr wrap="square" lIns="0" tIns="0" rIns="0" bIns="0" anchor="t">
              <a:noAutofit/>
            </a:bodyPr>
            <a:lstStyle/>
            <a:p>
              <a:pPr algn="l">
                <a:lnSpc>
                  <a:spcPct val="96000"/>
                </a:lnSpc>
              </a:pPr>
              <a:r>
                <a:rPr sz="1350" b="1" i="1" lang="vi-VN">
                  <a:solidFill>
                    <a:srgbClr val="1E2B3A"/>
                  </a:solidFill>
                  <a:latin typeface="Cambria"/>
                  <a:ea typeface="Cambria"/>
                  <a:cs typeface="Cambria"/>
                </a:rPr>
                <a:t>τ</a:t>
              </a:r>
              <a:r>
                <a:rPr sz="1350" b="1" i="0" lang="vi-VN" baseline="-25000">
                  <a:solidFill>
                    <a:srgbClr val="1E2B3A"/>
                  </a:solidFill>
                  <a:latin typeface="Cambria"/>
                  <a:ea typeface="Cambria"/>
                  <a:cs typeface="Cambria"/>
                </a:rPr>
                <a:t>p</a:t>
              </a:r>
              <a:r>
                <a:rPr sz="1350" b="1" i="0" lang="vi-VN">
                  <a:solidFill>
                    <a:srgbClr val="1E2B3A"/>
                  </a:solidFill>
                  <a:latin typeface="Arial"/>
                  <a:ea typeface="Arial"/>
                  <a:cs typeface="Arial"/>
                </a:rPr>
                <a:t> = 12 ms ≈ 80 % lợi ích của 15 ms, ít nhạy nhiễu </a:t>
              </a:r>
              <a:r>
                <a:rPr sz="1350" b="1" i="1" lang="vi-VN">
                  <a:solidFill>
                    <a:srgbClr val="1E2B3A"/>
                  </a:solidFill>
                  <a:latin typeface="Cambria"/>
                  <a:ea typeface="Cambria"/>
                  <a:cs typeface="Cambria"/>
                </a:rPr>
                <a:t>α</a:t>
              </a:r>
              <a:r>
                <a:rPr sz="1350" b="1" i="0" lang="vi-VN" baseline="-25000">
                  <a:solidFill>
                    <a:srgbClr val="1E2B3A"/>
                  </a:solidFill>
                  <a:latin typeface="Cambria"/>
                  <a:ea typeface="Cambria"/>
                  <a:cs typeface="Cambria"/>
                </a:rPr>
                <a:t>b</a:t>
              </a:r>
              <a:r>
                <a:rPr sz="1350" b="1" i="0" lang="vi-VN">
                  <a:solidFill>
                    <a:srgbClr val="1E2B3A"/>
                  </a:solidFill>
                  <a:latin typeface="Arial"/>
                  <a:ea typeface="Arial"/>
                  <a:cs typeface="Arial"/>
                </a:rPr>
                <a:t>; chặn 90 °/s</a:t>
              </a:r>
            </a:p>
          </p:txBody>
        </p:sp>
      </p:grpSp>
      <p:grpSp>
        <p:nvGrpSpPr>
          <p:cNvPr id="29" name="Group 28"/>
          <p:cNvGrpSpPr/>
          <p:nvPr/>
        </p:nvGrpSpPr>
        <p:grpSpPr>
          <a:xfrm>
            <a:off x="4617720" y="1261872"/>
            <a:ext cx="7086600" cy="3657600"/>
            <a:chOff x="4617720" y="1261872"/>
            <a:chExt cx="7086600" cy="3657600"/>
          </a:xfrm>
        </p:grpSpPr>
        <p:sp>
          <p:nvSpPr>
            <p:cNvPr id="30" name="Rounded Rectangle 29"/>
            <p:cNvSpPr/>
            <p:nvPr/>
          </p:nvSpPr>
          <p:spPr>
            <a:xfrm>
              <a:off x="4617720" y="1261872"/>
              <a:ext cx="7086600" cy="3657600"/>
            </a:xfrm>
            <a:prstGeom prst="roundRect">
              <a:avLst>
                <a:gd name="adj" fmla="val 250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31" name="Picture 30" descr="cogs_0B2545.png"/>
            <p:cNvPicPr>
              <a:picLocks noChangeAspect="1"/>
            </p:cNvPicPr>
            <p:nvPr/>
          </p:nvPicPr>
          <p:blipFill>
            <a:blip r:embed="rId6"/>
            <a:stretch>
              <a:fillRect/>
            </a:stretch>
          </p:blipFill>
          <p:spPr>
            <a:xfrm>
              <a:off x="4754880" y="1335024"/>
              <a:ext cx="237744" cy="237744"/>
            </a:xfrm>
            <a:prstGeom prst="rect">
              <a:avLst/>
            </a:prstGeom>
          </p:spPr>
        </p:pic>
        <p:sp>
          <p:nvSpPr>
            <p:cNvPr id="32" name="TextBox 31"/>
            <p:cNvSpPr txBox="1"/>
            <p:nvPr/>
          </p:nvSpPr>
          <p:spPr>
            <a:xfrm>
              <a:off x="5084064" y="1307592"/>
              <a:ext cx="4791456" cy="292608"/>
            </a:xfrm>
            <a:prstGeom prst="rect">
              <a:avLst/>
            </a:prstGeom>
            <a:noFill/>
          </p:spPr>
          <p:txBody>
            <a:bodyPr wrap="square" lIns="0" tIns="0" rIns="0" bIns="0" anchor="ctr">
              <a:noAutofit/>
            </a:bodyPr>
            <a:lstStyle/>
            <a:p>
              <a:pPr algn="l"/>
              <a:r>
                <a:rPr sz="1250" b="1" i="0" lang="vi-VN" spc="40">
                  <a:solidFill>
                    <a:srgbClr val="0B2545"/>
                  </a:solidFill>
                  <a:latin typeface="Arial"/>
                  <a:ea typeface="Arial"/>
                  <a:cs typeface="Arial"/>
                </a:rPr>
                <a:t>HỆ THẬT · BÀI THỬ ĐẢO CHIỀU NHANH 10,1 s</a:t>
              </a:r>
            </a:p>
          </p:txBody>
        </p:sp>
      </p:grpSp>
      <p:grpSp>
        <p:nvGrpSpPr>
          <p:cNvPr id="33" name="Group 32"/>
          <p:cNvGrpSpPr/>
          <p:nvPr/>
        </p:nvGrpSpPr>
        <p:grpSpPr>
          <a:xfrm>
            <a:off x="9893808" y="1298448"/>
            <a:ext cx="1755648" cy="329184"/>
            <a:chOff x="9893808" y="1298448"/>
            <a:chExt cx="1755648" cy="329184"/>
          </a:xfrm>
        </p:grpSpPr>
        <p:sp>
          <p:nvSpPr>
            <p:cNvPr id="34" name="Rounded Rectangle 33"/>
            <p:cNvSpPr/>
            <p:nvPr/>
          </p:nvSpPr>
          <p:spPr>
            <a:xfrm>
              <a:off x="9893808" y="1371600"/>
              <a:ext cx="182880" cy="182880"/>
            </a:xfrm>
            <a:prstGeom prst="roundRect">
              <a:avLst>
                <a:gd name="adj" fmla="val 15000"/>
              </a:avLst>
            </a:prstGeom>
            <a:solidFill>
              <a:srgbClr val="B8C2CC"/>
            </a:solidFill>
            <a:ln>
              <a:noFill/>
            </a:ln>
          </p:spPr>
          <p:txBody>
            <a:bodyPr rtlCol="0" anchor="ctr" lIns="54864" tIns="54864" rIns="54864" bIns="54864" wrap="square">
              <a:noAutofit/>
            </a:bodyPr>
            <a:lstStyle/>
            <a:p>
              <a:pPr algn="ctr"/>
            </a:p>
          </p:txBody>
        </p:sp>
        <p:sp>
          <p:nvSpPr>
            <p:cNvPr id="35" name="TextBox 34"/>
            <p:cNvSpPr txBox="1"/>
            <p:nvPr/>
          </p:nvSpPr>
          <p:spPr>
            <a:xfrm>
              <a:off x="10131552" y="1298448"/>
              <a:ext cx="685800" cy="329184"/>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Trước</a:t>
              </a:r>
            </a:p>
          </p:txBody>
        </p:sp>
        <p:sp>
          <p:nvSpPr>
            <p:cNvPr id="36" name="Rectangle 35"/>
            <p:cNvSpPr/>
            <p:nvPr/>
          </p:nvSpPr>
          <p:spPr>
            <a:xfrm>
              <a:off x="10808208" y="1371600"/>
              <a:ext cx="118872" cy="182880"/>
            </a:xfrm>
            <a:prstGeom prst="rect">
              <a:avLst/>
            </a:prstGeom>
            <a:solidFill>
              <a:srgbClr val="1F5FAF"/>
            </a:solidFill>
            <a:ln>
              <a:noFill/>
            </a:ln>
          </p:spPr>
          <p:txBody>
            <a:bodyPr rtlCol="0" anchor="ctr" lIns="54864" tIns="54864" rIns="54864" bIns="54864" wrap="square">
              <a:noAutofit/>
            </a:bodyPr>
            <a:lstStyle/>
            <a:p>
              <a:pPr algn="ctr"/>
            </a:p>
          </p:txBody>
        </p:sp>
        <p:sp>
          <p:nvSpPr>
            <p:cNvPr id="37" name="Rectangle 36"/>
            <p:cNvSpPr/>
            <p:nvPr/>
          </p:nvSpPr>
          <p:spPr>
            <a:xfrm>
              <a:off x="10927080" y="1371600"/>
              <a:ext cx="118872" cy="182880"/>
            </a:xfrm>
            <a:prstGeom prst="rect">
              <a:avLst/>
            </a:prstGeom>
            <a:solidFill>
              <a:srgbClr val="2E8B57"/>
            </a:solidFill>
            <a:ln>
              <a:noFill/>
            </a:ln>
          </p:spPr>
          <p:txBody>
            <a:bodyPr rtlCol="0" anchor="ctr" lIns="54864" tIns="54864" rIns="54864" bIns="54864" wrap="square">
              <a:noAutofit/>
            </a:bodyPr>
            <a:lstStyle/>
            <a:p>
              <a:pPr algn="ctr"/>
            </a:p>
          </p:txBody>
        </p:sp>
        <p:sp>
          <p:nvSpPr>
            <p:cNvPr id="38" name="TextBox 37"/>
            <p:cNvSpPr txBox="1"/>
            <p:nvPr/>
          </p:nvSpPr>
          <p:spPr>
            <a:xfrm>
              <a:off x="11100816" y="1298448"/>
              <a:ext cx="548640" cy="329184"/>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Sau</a:t>
              </a:r>
            </a:p>
          </p:txBody>
        </p:sp>
      </p:grpSp>
      <p:pic>
        <p:nvPicPr>
          <p:cNvPr id="39" name="Picture 38" descr="s21_real_base.png"/>
          <p:cNvPicPr>
            <a:picLocks noChangeAspect="1"/>
          </p:cNvPicPr>
          <p:nvPr/>
        </p:nvPicPr>
        <p:blipFill>
          <a:blip r:embed="rId7"/>
          <a:stretch>
            <a:fillRect/>
          </a:stretch>
        </p:blipFill>
        <p:spPr>
          <a:xfrm>
            <a:off x="4754880" y="1700784"/>
            <a:ext cx="6766560" cy="3108960"/>
          </a:xfrm>
          <a:prstGeom prst="rect">
            <a:avLst/>
          </a:prstGeom>
        </p:spPr>
      </p:pic>
      <p:pic>
        <p:nvPicPr>
          <p:cNvPr id="40" name="Picture 39" descr="s21_real_after.png"/>
          <p:cNvPicPr>
            <a:picLocks noChangeAspect="1"/>
          </p:cNvPicPr>
          <p:nvPr/>
        </p:nvPicPr>
        <p:blipFill>
          <a:blip r:embed="rId8"/>
          <a:stretch>
            <a:fillRect/>
          </a:stretch>
        </p:blipFill>
        <p:spPr>
          <a:xfrm>
            <a:off x="4754880" y="1700784"/>
            <a:ext cx="6766560" cy="3108960"/>
          </a:xfrm>
          <a:prstGeom prst="rect">
            <a:avLst/>
          </a:prstGeom>
        </p:spPr>
      </p:pic>
      <p:grpSp>
        <p:nvGrpSpPr>
          <p:cNvPr id="41" name="Group 40"/>
          <p:cNvGrpSpPr/>
          <p:nvPr/>
        </p:nvGrpSpPr>
        <p:grpSpPr>
          <a:xfrm>
            <a:off x="4617720" y="5029200"/>
            <a:ext cx="1668780" cy="1024128"/>
            <a:chOff x="4617720" y="5029200"/>
            <a:chExt cx="1668780" cy="1024128"/>
          </a:xfrm>
        </p:grpSpPr>
        <p:sp>
          <p:nvSpPr>
            <p:cNvPr id="42" name="Rounded Rectangle 41"/>
            <p:cNvSpPr/>
            <p:nvPr/>
          </p:nvSpPr>
          <p:spPr>
            <a:xfrm>
              <a:off x="461772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3" name="TextBox 42"/>
            <p:cNvSpPr txBox="1"/>
            <p:nvPr/>
          </p:nvSpPr>
          <p:spPr>
            <a:xfrm>
              <a:off x="467258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−21,8 %</a:t>
              </a:r>
            </a:p>
          </p:txBody>
        </p:sp>
        <p:sp>
          <p:nvSpPr>
            <p:cNvPr id="44" name="TextBox 43"/>
            <p:cNvSpPr txBox="1"/>
            <p:nvPr/>
          </p:nvSpPr>
          <p:spPr>
            <a:xfrm>
              <a:off x="469087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e</a:t>
              </a:r>
              <a:r>
                <a:rPr sz="1200" b="0" i="0" lang="vi-VN" baseline="-25000">
                  <a:solidFill>
                    <a:srgbClr val="1E2B3A"/>
                  </a:solidFill>
                  <a:latin typeface="Cambria"/>
                  <a:ea typeface="Cambria"/>
                  <a:cs typeface="Cambria"/>
                </a:rPr>
                <a:t>max</a:t>
              </a:r>
              <a:r>
                <a:rPr sz="1200" b="0" i="0" lang="vi-VN">
                  <a:solidFill>
                    <a:srgbClr val="1E2B3A"/>
                  </a:solidFill>
                  <a:latin typeface="Arial"/>
                  <a:ea typeface="Arial"/>
                  <a:cs typeface="Arial"/>
                </a:rPr>
                <a:t> · Yaw</a:t>
              </a:r>
            </a:p>
          </p:txBody>
        </p:sp>
      </p:grpSp>
      <p:grpSp>
        <p:nvGrpSpPr>
          <p:cNvPr id="45" name="Group 44"/>
          <p:cNvGrpSpPr/>
          <p:nvPr/>
        </p:nvGrpSpPr>
        <p:grpSpPr>
          <a:xfrm>
            <a:off x="6423660" y="5029200"/>
            <a:ext cx="1668780" cy="1024128"/>
            <a:chOff x="6423660" y="5029200"/>
            <a:chExt cx="1668780" cy="1024128"/>
          </a:xfrm>
        </p:grpSpPr>
        <p:sp>
          <p:nvSpPr>
            <p:cNvPr id="46" name="Rounded Rectangle 45"/>
            <p:cNvSpPr/>
            <p:nvPr/>
          </p:nvSpPr>
          <p:spPr>
            <a:xfrm>
              <a:off x="642366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7" name="TextBox 46"/>
            <p:cNvSpPr txBox="1"/>
            <p:nvPr/>
          </p:nvSpPr>
          <p:spPr>
            <a:xfrm>
              <a:off x="647852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−23,5 %</a:t>
              </a:r>
            </a:p>
          </p:txBody>
        </p:sp>
        <p:sp>
          <p:nvSpPr>
            <p:cNvPr id="48" name="TextBox 47"/>
            <p:cNvSpPr txBox="1"/>
            <p:nvPr/>
          </p:nvSpPr>
          <p:spPr>
            <a:xfrm>
              <a:off x="649681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e</a:t>
              </a:r>
              <a:r>
                <a:rPr sz="1200" b="0" i="0" lang="vi-VN" baseline="-25000">
                  <a:solidFill>
                    <a:srgbClr val="1E2B3A"/>
                  </a:solidFill>
                  <a:latin typeface="Cambria"/>
                  <a:ea typeface="Cambria"/>
                  <a:cs typeface="Cambria"/>
                </a:rPr>
                <a:t>max</a:t>
              </a:r>
              <a:r>
                <a:rPr sz="1200" b="0" i="0" lang="vi-VN">
                  <a:solidFill>
                    <a:srgbClr val="1E2B3A"/>
                  </a:solidFill>
                  <a:latin typeface="Arial"/>
                  <a:ea typeface="Arial"/>
                  <a:cs typeface="Arial"/>
                </a:rPr>
                <a:t> · Pitch</a:t>
              </a:r>
            </a:p>
          </p:txBody>
        </p:sp>
      </p:grpSp>
      <p:grpSp>
        <p:nvGrpSpPr>
          <p:cNvPr id="49" name="Group 48"/>
          <p:cNvGrpSpPr/>
          <p:nvPr/>
        </p:nvGrpSpPr>
        <p:grpSpPr>
          <a:xfrm>
            <a:off x="8229600" y="5029200"/>
            <a:ext cx="1668780" cy="1024128"/>
            <a:chOff x="8229600" y="5029200"/>
            <a:chExt cx="1668780" cy="1024128"/>
          </a:xfrm>
        </p:grpSpPr>
        <p:sp>
          <p:nvSpPr>
            <p:cNvPr id="50" name="Rounded Rectangle 49"/>
            <p:cNvSpPr/>
            <p:nvPr/>
          </p:nvSpPr>
          <p:spPr>
            <a:xfrm>
              <a:off x="822960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1" name="TextBox 50"/>
            <p:cNvSpPr txBox="1"/>
            <p:nvPr/>
          </p:nvSpPr>
          <p:spPr>
            <a:xfrm>
              <a:off x="8284464" y="5065776"/>
              <a:ext cx="1559052" cy="566928"/>
            </a:xfrm>
            <a:prstGeom prst="rect">
              <a:avLst/>
            </a:prstGeom>
            <a:noFill/>
          </p:spPr>
          <p:txBody>
            <a:bodyPr wrap="square" lIns="0" tIns="0" rIns="0" bIns="0" anchor="ctr">
              <a:noAutofit/>
            </a:bodyPr>
            <a:lstStyle/>
            <a:p>
              <a:pPr algn="ctr">
                <a:lnSpc>
                  <a:spcPct val="92000"/>
                </a:lnSpc>
              </a:pPr>
              <a:r>
                <a:rPr sz="1500" b="1" i="0" lang="vi-VN">
                  <a:solidFill>
                    <a:srgbClr val="1F5FAF"/>
                  </a:solidFill>
                  <a:latin typeface="Arial"/>
                  <a:ea typeface="Arial"/>
                  <a:cs typeface="Arial"/>
                </a:rPr>
                <a:t>●</a:t>
              </a:r>
              <a:r>
                <a:rPr sz="1500" b="1" i="0" lang="vi-VN">
                  <a:solidFill>
                    <a:srgbClr val="E8710A"/>
                  </a:solidFill>
                  <a:latin typeface="Arial"/>
                  <a:ea typeface="Arial"/>
                  <a:cs typeface="Arial"/>
                </a:rPr>
                <a:t> −17,2 %</a:t>
              </a:r>
            </a:p>
            <a:p>
              <a:pPr algn="ctr">
                <a:lnSpc>
                  <a:spcPct val="92000"/>
                </a:lnSpc>
              </a:pPr>
              <a:r>
                <a:rPr sz="1500" b="1" i="0" lang="vi-VN">
                  <a:solidFill>
                    <a:srgbClr val="2E8B57"/>
                  </a:solidFill>
                  <a:latin typeface="Arial"/>
                  <a:ea typeface="Arial"/>
                  <a:cs typeface="Arial"/>
                </a:rPr>
                <a:t>■</a:t>
              </a:r>
              <a:r>
                <a:rPr sz="1500" b="1" i="0" lang="vi-VN">
                  <a:solidFill>
                    <a:srgbClr val="E8710A"/>
                  </a:solidFill>
                  <a:latin typeface="Arial"/>
                  <a:ea typeface="Arial"/>
                  <a:cs typeface="Arial"/>
                </a:rPr>
                <a:t> −17,5 %</a:t>
              </a:r>
            </a:p>
          </p:txBody>
        </p:sp>
        <p:sp>
          <p:nvSpPr>
            <p:cNvPr id="52" name="TextBox 51"/>
            <p:cNvSpPr txBox="1"/>
            <p:nvPr/>
          </p:nvSpPr>
          <p:spPr>
            <a:xfrm>
              <a:off x="8302752" y="5650992"/>
              <a:ext cx="1522476" cy="384048"/>
            </a:xfrm>
            <a:prstGeom prst="rect">
              <a:avLst/>
            </a:prstGeom>
            <a:noFill/>
          </p:spPr>
          <p:txBody>
            <a:bodyPr wrap="square" lIns="0" tIns="0" rIns="0" bIns="0" anchor="t">
              <a:noAutofit/>
            </a:bodyPr>
            <a:lstStyle/>
            <a:p>
              <a:pPr algn="ctr">
                <a:lnSpc>
                  <a:spcPct val="92000"/>
                </a:lnSpc>
              </a:pPr>
              <a:r>
                <a:rPr sz="1150" b="0" i="1" lang="vi-VN">
                  <a:solidFill>
                    <a:srgbClr val="1E2B3A"/>
                  </a:solidFill>
                  <a:latin typeface="Cambria"/>
                  <a:ea typeface="Cambria"/>
                  <a:cs typeface="Cambria"/>
                </a:rPr>
                <a:t>e</a:t>
              </a:r>
              <a:r>
                <a:rPr sz="1150" b="0" i="0" lang="vi-VN" baseline="-25000">
                  <a:solidFill>
                    <a:srgbClr val="1E2B3A"/>
                  </a:solidFill>
                  <a:latin typeface="Cambria"/>
                  <a:ea typeface="Cambria"/>
                  <a:cs typeface="Cambria"/>
                </a:rPr>
                <a:t>rms</a:t>
              </a:r>
              <a:r>
                <a:rPr sz="1150" b="0" i="0" lang="vi-VN">
                  <a:solidFill>
                    <a:srgbClr val="1E2B3A"/>
                  </a:solidFill>
                  <a:latin typeface="Arial"/>
                  <a:ea typeface="Arial"/>
                  <a:cs typeface="Arial"/>
                </a:rPr>
                <a:t> Yaw · Pitch</a:t>
              </a:r>
            </a:p>
          </p:txBody>
        </p:sp>
      </p:grpSp>
      <p:grpSp>
        <p:nvGrpSpPr>
          <p:cNvPr id="53" name="Group 52"/>
          <p:cNvGrpSpPr/>
          <p:nvPr/>
        </p:nvGrpSpPr>
        <p:grpSpPr>
          <a:xfrm>
            <a:off x="10035540" y="5029200"/>
            <a:ext cx="1668780" cy="1024128"/>
            <a:chOff x="10035540" y="5029200"/>
            <a:chExt cx="1668780" cy="1024128"/>
          </a:xfrm>
        </p:grpSpPr>
        <p:sp>
          <p:nvSpPr>
            <p:cNvPr id="54" name="Rounded Rectangle 53"/>
            <p:cNvSpPr/>
            <p:nvPr/>
          </p:nvSpPr>
          <p:spPr>
            <a:xfrm>
              <a:off x="1003554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5" name="TextBox 54"/>
            <p:cNvSpPr txBox="1"/>
            <p:nvPr/>
          </p:nvSpPr>
          <p:spPr>
            <a:xfrm>
              <a:off x="10090404" y="5084064"/>
              <a:ext cx="1559052" cy="457200"/>
            </a:xfrm>
            <a:prstGeom prst="rect">
              <a:avLst/>
            </a:prstGeom>
            <a:noFill/>
          </p:spPr>
          <p:txBody>
            <a:bodyPr wrap="square" lIns="0" tIns="0" rIns="0" bIns="0" anchor="ctr">
              <a:noAutofit/>
            </a:bodyPr>
            <a:lstStyle/>
            <a:p>
              <a:pPr algn="ctr"/>
              <a:r>
                <a:rPr sz="2000" b="1" i="0" lang="vi-VN">
                  <a:solidFill>
                    <a:srgbClr val="0B2545"/>
                  </a:solidFill>
                  <a:latin typeface="Arial"/>
                  <a:ea typeface="Arial"/>
                  <a:cs typeface="Arial"/>
                </a:rPr>
                <a:t>4,3 → 2,6 %</a:t>
              </a:r>
            </a:p>
          </p:txBody>
        </p:sp>
        <p:sp>
          <p:nvSpPr>
            <p:cNvPr id="56" name="TextBox 55"/>
            <p:cNvSpPr txBox="1"/>
            <p:nvPr/>
          </p:nvSpPr>
          <p:spPr>
            <a:xfrm>
              <a:off x="1010869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tỉ lệ bão hòa </a:t>
              </a:r>
              <a:r>
                <a:rPr sz="1200" b="0" i="1" lang="vi-VN">
                  <a:solidFill>
                    <a:srgbClr val="1E2B3A"/>
                  </a:solidFill>
                  <a:latin typeface="Cambria"/>
                  <a:ea typeface="Cambria"/>
                  <a:cs typeface="Cambria"/>
                </a:rPr>
                <a:t>ρ</a:t>
              </a:r>
              <a:r>
                <a:rPr sz="1200" b="0" i="0" lang="vi-VN" baseline="-25000">
                  <a:solidFill>
                    <a:srgbClr val="1E2B3A"/>
                  </a:solidFill>
                  <a:latin typeface="Cambria"/>
                  <a:ea typeface="Cambria"/>
                  <a:cs typeface="Cambria"/>
                </a:rPr>
                <a:t>sat</a:t>
              </a:r>
              <a:r>
                <a:rPr sz="1200" b="0" i="0" lang="vi-VN">
                  <a:solidFill>
                    <a:srgbClr val="1E2B3A"/>
                  </a:solidFill>
                  <a:latin typeface="Arial"/>
                  <a:ea typeface="Arial"/>
                  <a:cs typeface="Arial"/>
                </a:rPr>
                <a:t> Yaw</a:t>
              </a:r>
            </a:p>
          </p:txBody>
        </p:sp>
      </p:grpSp>
      <p:sp>
        <p:nvSpPr>
          <p:cNvPr id="69"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21</a:t>
            </a:fld>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childTnLst>
                          </p:cTn>
                        </p:par>
                        <p:par>
                          <p:cTn id="13" fill="hold">
                            <p:stCondLst>
                              <p:cond delay="350"/>
                            </p:stCondLst>
                            <p:childTnLst>
                              <p:par>
                                <p:cTn id="14" presetID="22" presetClass="entr" presetSubtype="8"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45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anim calcmode="lin" valueType="num">
                                      <p:cBhvr>
                                        <p:cTn id="22" dur="400" fill="hold"/>
                                        <p:tgtEl>
                                          <p:spTgt spid="24"/>
                                        </p:tgtEl>
                                        <p:attrNameLst>
                                          <p:attrName>ppt_w</p:attrName>
                                        </p:attrNameLst>
                                      </p:cBhvr>
                                      <p:tavLst>
                                        <p:tav tm="0">
                                          <p:val>
                                            <p:strVal val="0"/>
                                          </p:val>
                                        </p:tav>
                                        <p:tav tm="100000">
                                          <p:val>
                                            <p:strVal val="#ppt_w"/>
                                          </p:val>
                                        </p:tav>
                                      </p:tavLst>
                                    </p:anim>
                                    <p:anim calcmode="lin" valueType="num">
                                      <p:cBhvr>
                                        <p:cTn id="23" dur="40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400"/>
                            </p:stCondLst>
                            <p:childTnLst>
                              <p:par>
                                <p:cTn id="25" presetID="6" presetClass="emph" presetSubtype="0" fill="hold" grpId="1" nodeType="afterEffect">
                                  <p:stCondLst>
                                    <p:cond delay="0"/>
                                  </p:stCondLst>
                                  <p:childTnLst>
                                    <p:animScale>
                                      <p:cBhvr>
                                        <p:cTn id="26" dur="250" autoRev="1" fill="hold"/>
                                        <p:tgtEl>
                                          <p:spTgt spid="24"/>
                                        </p:tgtEl>
                                      </p:cBhvr>
                                      <p:by x="112000" y="112000"/>
                                    </p:animScale>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35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300"/>
                                        <p:tgtEl>
                                          <p:spTgt spid="33"/>
                                        </p:tgtEl>
                                      </p:cBhvr>
                                    </p:animEffect>
                                  </p:childTnLst>
                                </p:cTn>
                              </p:par>
                            </p:childTnLst>
                          </p:cTn>
                        </p:par>
                        <p:par>
                          <p:cTn id="35" fill="hold">
                            <p:stCondLst>
                              <p:cond delay="350"/>
                            </p:stCondLst>
                            <p:childTnLst>
                              <p:par>
                                <p:cTn id="36" presetID="10" presetClass="entr" presetSubtype="0" fill="hold" grpId="0" nodeType="after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45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wipe(left)">
                                      <p:cBhvr>
                                        <p:cTn id="43" dur="700"/>
                                        <p:tgtEl>
                                          <p:spTgt spid="4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380"/>
                                        <p:tgtEl>
                                          <p:spTgt spid="41"/>
                                        </p:tgtEl>
                                      </p:cBhvr>
                                    </p:animEffect>
                                    <p:anim calcmode="lin" valueType="num">
                                      <p:cBhvr>
                                        <p:cTn id="49" dur="380" fill="hold"/>
                                        <p:tgtEl>
                                          <p:spTgt spid="41"/>
                                        </p:tgtEl>
                                        <p:attrNameLst>
                                          <p:attrName>ppt_w</p:attrName>
                                        </p:attrNameLst>
                                      </p:cBhvr>
                                      <p:tavLst>
                                        <p:tav tm="0">
                                          <p:val>
                                            <p:strVal val="0"/>
                                          </p:val>
                                        </p:tav>
                                        <p:tav tm="100000">
                                          <p:val>
                                            <p:strVal val="#ppt_w"/>
                                          </p:val>
                                        </p:tav>
                                      </p:tavLst>
                                    </p:anim>
                                    <p:anim calcmode="lin" valueType="num">
                                      <p:cBhvr>
                                        <p:cTn id="50" dur="380" fill="hold"/>
                                        <p:tgtEl>
                                          <p:spTgt spid="41"/>
                                        </p:tgtEl>
                                        <p:attrNameLst>
                                          <p:attrName>ppt_h</p:attrName>
                                        </p:attrNameLst>
                                      </p:cBhvr>
                                      <p:tavLst>
                                        <p:tav tm="0">
                                          <p:val>
                                            <p:strVal val="0"/>
                                          </p:val>
                                        </p:tav>
                                        <p:tav tm="100000">
                                          <p:val>
                                            <p:strVal val="#ppt_h"/>
                                          </p:val>
                                        </p:tav>
                                      </p:tavLst>
                                    </p:anim>
                                  </p:childTnLst>
                                </p:cTn>
                              </p:par>
                              <p:par>
                                <p:cTn id="51" presetID="53" presetClass="entr" presetSubtype="16" fill="hold" grpId="0" nodeType="withEffect">
                                  <p:stCondLst>
                                    <p:cond delay="14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380"/>
                                        <p:tgtEl>
                                          <p:spTgt spid="45"/>
                                        </p:tgtEl>
                                      </p:cBhvr>
                                    </p:animEffect>
                                    <p:anim calcmode="lin" valueType="num">
                                      <p:cBhvr>
                                        <p:cTn id="54" dur="380" fill="hold"/>
                                        <p:tgtEl>
                                          <p:spTgt spid="45"/>
                                        </p:tgtEl>
                                        <p:attrNameLst>
                                          <p:attrName>ppt_w</p:attrName>
                                        </p:attrNameLst>
                                      </p:cBhvr>
                                      <p:tavLst>
                                        <p:tav tm="0">
                                          <p:val>
                                            <p:strVal val="0"/>
                                          </p:val>
                                        </p:tav>
                                        <p:tav tm="100000">
                                          <p:val>
                                            <p:strVal val="#ppt_w"/>
                                          </p:val>
                                        </p:tav>
                                      </p:tavLst>
                                    </p:anim>
                                    <p:anim calcmode="lin" valueType="num">
                                      <p:cBhvr>
                                        <p:cTn id="55" dur="380" fill="hold"/>
                                        <p:tgtEl>
                                          <p:spTgt spid="45"/>
                                        </p:tgtEl>
                                        <p:attrNameLst>
                                          <p:attrName>ppt_h</p:attrName>
                                        </p:attrNameLst>
                                      </p:cBhvr>
                                      <p:tavLst>
                                        <p:tav tm="0">
                                          <p:val>
                                            <p:strVal val="0"/>
                                          </p:val>
                                        </p:tav>
                                        <p:tav tm="100000">
                                          <p:val>
                                            <p:strVal val="#ppt_h"/>
                                          </p:val>
                                        </p:tav>
                                      </p:tavLst>
                                    </p:anim>
                                  </p:childTnLst>
                                </p:cTn>
                              </p:par>
                              <p:par>
                                <p:cTn id="56" presetID="53" presetClass="entr" presetSubtype="16" fill="hold" grpId="0" nodeType="withEffect">
                                  <p:stCondLst>
                                    <p:cond delay="28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380"/>
                                        <p:tgtEl>
                                          <p:spTgt spid="49"/>
                                        </p:tgtEl>
                                      </p:cBhvr>
                                    </p:animEffect>
                                    <p:anim calcmode="lin" valueType="num">
                                      <p:cBhvr>
                                        <p:cTn id="59" dur="380" fill="hold"/>
                                        <p:tgtEl>
                                          <p:spTgt spid="49"/>
                                        </p:tgtEl>
                                        <p:attrNameLst>
                                          <p:attrName>ppt_w</p:attrName>
                                        </p:attrNameLst>
                                      </p:cBhvr>
                                      <p:tavLst>
                                        <p:tav tm="0">
                                          <p:val>
                                            <p:strVal val="0"/>
                                          </p:val>
                                        </p:tav>
                                        <p:tav tm="100000">
                                          <p:val>
                                            <p:strVal val="#ppt_w"/>
                                          </p:val>
                                        </p:tav>
                                      </p:tavLst>
                                    </p:anim>
                                    <p:anim calcmode="lin" valueType="num">
                                      <p:cBhvr>
                                        <p:cTn id="60" dur="380" fill="hold"/>
                                        <p:tgtEl>
                                          <p:spTgt spid="49"/>
                                        </p:tgtEl>
                                        <p:attrNameLst>
                                          <p:attrName>ppt_h</p:attrName>
                                        </p:attrNameLst>
                                      </p:cBhvr>
                                      <p:tavLst>
                                        <p:tav tm="0">
                                          <p:val>
                                            <p:strVal val="0"/>
                                          </p:val>
                                        </p:tav>
                                        <p:tav tm="100000">
                                          <p:val>
                                            <p:strVal val="#ppt_h"/>
                                          </p:val>
                                        </p:tav>
                                      </p:tavLst>
                                    </p:anim>
                                  </p:childTnLst>
                                </p:cTn>
                              </p:par>
                              <p:par>
                                <p:cTn id="61" presetID="53" presetClass="entr" presetSubtype="16" fill="hold" grpId="0" nodeType="withEffect">
                                  <p:stCondLst>
                                    <p:cond delay="42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380"/>
                                        <p:tgtEl>
                                          <p:spTgt spid="53"/>
                                        </p:tgtEl>
                                      </p:cBhvr>
                                    </p:animEffect>
                                    <p:anim calcmode="lin" valueType="num">
                                      <p:cBhvr>
                                        <p:cTn id="64" dur="380" fill="hold"/>
                                        <p:tgtEl>
                                          <p:spTgt spid="53"/>
                                        </p:tgtEl>
                                        <p:attrNameLst>
                                          <p:attrName>ppt_w</p:attrName>
                                        </p:attrNameLst>
                                      </p:cBhvr>
                                      <p:tavLst>
                                        <p:tav tm="0">
                                          <p:val>
                                            <p:strVal val="0"/>
                                          </p:val>
                                        </p:tav>
                                        <p:tav tm="100000">
                                          <p:val>
                                            <p:strVal val="#ppt_w"/>
                                          </p:val>
                                        </p:tav>
                                      </p:tavLst>
                                    </p:anim>
                                    <p:anim calcmode="lin" valueType="num">
                                      <p:cBhvr>
                                        <p:cTn id="65" dur="380" fill="hold"/>
                                        <p:tgtEl>
                                          <p:spTgt spid="53"/>
                                        </p:tgtEl>
                                        <p:attrNameLst>
                                          <p:attrName>ppt_h</p:attrName>
                                        </p:attrNameLst>
                                      </p:cBhvr>
                                      <p:tavLst>
                                        <p:tav tm="0">
                                          <p:val>
                                            <p:strVal val="0"/>
                                          </p:val>
                                        </p:tav>
                                        <p:tav tm="100000">
                                          <p:val>
                                            <p:strVal val="#ppt_h"/>
                                          </p:val>
                                        </p:tav>
                                      </p:tavLst>
                                    </p:anim>
                                  </p:childTnLst>
                                </p:cTn>
                              </p:par>
                            </p:childTnLst>
                          </p:cTn>
                        </p:par>
                        <p:par>
                          <p:cTn id="66" fill="hold">
                            <p:stCondLst>
                              <p:cond delay="800"/>
                            </p:stCondLst>
                            <p:childTnLst>
                              <p:par>
                                <p:cTn id="67" presetID="6" presetClass="emph" presetSubtype="0" fill="hold" grpId="1" nodeType="afterEffect">
                                  <p:stCondLst>
                                    <p:cond delay="0"/>
                                  </p:stCondLst>
                                  <p:childTnLst>
                                    <p:animScale>
                                      <p:cBhvr>
                                        <p:cTn id="68" dur="280" autoRev="1" fill="hold"/>
                                        <p:tgtEl>
                                          <p:spTgt spid="41"/>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k_track"/>
          <p:cNvSpPr/>
          <p:nvPr/>
        </p:nvSpPr>
        <p:spPr>
          <a:xfrm>
            <a:off x="457200" y="146304"/>
            <a:ext cx="11292840" cy="402336"/>
          </a:xfrm>
          <a:prstGeom prst="roundRect">
            <a:avLst>
              <a:gd name="adj" fmla="val 27272"/>
            </a:avLst>
          </a:prstGeom>
          <a:solidFill>
            <a:srgbClr val="FFFFFF">
              <a:alpha val="78000"/>
            </a:srgbClr>
          </a:solidFill>
          <a:ln>
            <a:noFill/>
          </a:ln>
        </p:spPr>
        <p:txBody>
          <a:bodyPr rtlCol="0" anchor="ctr" lIns="54864" tIns="54864" rIns="54864" bIns="54864" wrap="square">
            <a:noAutofit/>
          </a:bodyPr>
          <a:lstStyle/>
          <a:p>
            <a:pPr algn="ctr"/>
          </a:p>
        </p:txBody>
      </p:sp>
      <p:sp>
        <p:nvSpPr>
          <p:cNvPr id="3" name="!!trk_hl"/>
          <p:cNvSpPr/>
          <p:nvPr/>
        </p:nvSpPr>
        <p:spPr>
          <a:xfrm>
            <a:off x="5521147" y="182880"/>
            <a:ext cx="1163117" cy="329184"/>
          </a:xfrm>
          <a:prstGeom prst="roundRect">
            <a:avLst>
              <a:gd name="adj" fmla="val 27777"/>
            </a:avLst>
          </a:prstGeom>
          <a:solidFill>
            <a:srgbClr val="E8710A"/>
          </a:solidFill>
          <a:ln>
            <a:noFill/>
          </a:ln>
        </p:spPr>
        <p:txBody>
          <a:bodyPr rtlCol="0" anchor="ctr" lIns="54864" tIns="54864" rIns="54864" bIns="54864" wrap="square">
            <a:noAutofit/>
          </a:bodyPr>
          <a:lstStyle/>
          <a:p>
            <a:pPr algn="ctr"/>
          </a:p>
        </p:txBody>
      </p:sp>
      <p:sp>
        <p:nvSpPr>
          <p:cNvPr id="4" name="!!trk_0"/>
          <p:cNvSpPr txBox="1"/>
          <p:nvPr/>
        </p:nvSpPr>
        <p:spPr>
          <a:xfrm>
            <a:off x="50292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Ban đầu</a:t>
            </a:r>
          </a:p>
        </p:txBody>
      </p:sp>
      <p:sp>
        <p:nvSpPr>
          <p:cNvPr id="5" name="!!trk_1"/>
          <p:cNvSpPr txBox="1"/>
          <p:nvPr/>
        </p:nvSpPr>
        <p:spPr>
          <a:xfrm>
            <a:off x="175747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Cascade</a:t>
            </a:r>
          </a:p>
        </p:txBody>
      </p:sp>
      <p:sp>
        <p:nvSpPr>
          <p:cNvPr id="6" name="!!trk_2"/>
          <p:cNvSpPr txBox="1"/>
          <p:nvPr/>
        </p:nvSpPr>
        <p:spPr>
          <a:xfrm>
            <a:off x="3012034"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Bù IMU2</a:t>
            </a:r>
          </a:p>
        </p:txBody>
      </p:sp>
      <p:sp>
        <p:nvSpPr>
          <p:cNvPr id="7" name="!!trk_3"/>
          <p:cNvSpPr txBox="1"/>
          <p:nvPr/>
        </p:nvSpPr>
        <p:spPr>
          <a:xfrm>
            <a:off x="426659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Ngoại suy</a:t>
            </a:r>
          </a:p>
        </p:txBody>
      </p:sp>
      <p:sp>
        <p:nvSpPr>
          <p:cNvPr id="8" name="!!trk_4"/>
          <p:cNvSpPr txBox="1"/>
          <p:nvPr/>
        </p:nvSpPr>
        <p:spPr>
          <a:xfrm>
            <a:off x="5521147" y="182880"/>
            <a:ext cx="1163117" cy="329184"/>
          </a:xfrm>
          <a:prstGeom prst="rect">
            <a:avLst/>
          </a:prstGeom>
          <a:noFill/>
        </p:spPr>
        <p:txBody>
          <a:bodyPr wrap="square" lIns="0" tIns="0" rIns="0" bIns="0" anchor="ctr">
            <a:noAutofit/>
          </a:bodyPr>
          <a:lstStyle/>
          <a:p>
            <a:pPr algn="ctr"/>
            <a:r>
              <a:rPr sz="1050" b="1" i="0" lang="vi-VN">
                <a:solidFill>
                  <a:srgbClr val="FFFFFF"/>
                </a:solidFill>
                <a:latin typeface="Arial"/>
                <a:ea typeface="Arial"/>
                <a:cs typeface="Arial"/>
              </a:rPr>
              <a:t>Giới hạn động</a:t>
            </a:r>
          </a:p>
        </p:txBody>
      </p:sp>
      <p:sp>
        <p:nvSpPr>
          <p:cNvPr id="9" name="!!trk_5"/>
          <p:cNvSpPr txBox="1"/>
          <p:nvPr/>
        </p:nvSpPr>
        <p:spPr>
          <a:xfrm>
            <a:off x="677570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Đảo chiều/dừng</a:t>
            </a:r>
          </a:p>
        </p:txBody>
      </p:sp>
      <p:sp>
        <p:nvSpPr>
          <p:cNvPr id="10" name="!!trk_6"/>
          <p:cNvSpPr txBox="1"/>
          <p:nvPr/>
        </p:nvSpPr>
        <p:spPr>
          <a:xfrm>
            <a:off x="8030261"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Tạo dạng lệnh</a:t>
            </a:r>
          </a:p>
        </p:txBody>
      </p:sp>
      <p:sp>
        <p:nvSpPr>
          <p:cNvPr id="11" name="!!trk_7"/>
          <p:cNvSpPr txBox="1"/>
          <p:nvPr/>
        </p:nvSpPr>
        <p:spPr>
          <a:xfrm>
            <a:off x="9284818"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Lịch RS485</a:t>
            </a:r>
          </a:p>
        </p:txBody>
      </p:sp>
      <p:sp>
        <p:nvSpPr>
          <p:cNvPr id="12" name="!!trk_8"/>
          <p:cNvSpPr txBox="1"/>
          <p:nvPr/>
        </p:nvSpPr>
        <p:spPr>
          <a:xfrm>
            <a:off x="1053937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Hoàn thiện</a:t>
            </a:r>
          </a:p>
        </p:txBody>
      </p:sp>
      <p:sp>
        <p:nvSpPr>
          <p:cNvPr id="13" name="Title"/>
          <p:cNvSpPr txBox="1"/>
          <p:nvPr/>
        </p:nvSpPr>
        <p:spPr>
          <a:xfrm>
            <a:off x="502920" y="603504"/>
            <a:ext cx="11201400" cy="530352"/>
          </a:xfrm>
          <a:prstGeom prst="rect">
            <a:avLst/>
          </a:prstGeom>
          <a:noFill/>
        </p:spPr>
        <p:txBody>
          <a:bodyPr wrap="square" lIns="0" tIns="0" rIns="0" bIns="0" anchor="ctr">
            <a:noAutofit/>
          </a:bodyPr>
          <a:lstStyle/>
          <a:p>
            <a:pPr algn="l"/>
            <a:r>
              <a:rPr sz="2500" b="1" i="0" lang="vi-VN">
                <a:solidFill>
                  <a:srgbClr val="0B2545"/>
                </a:solidFill>
                <a:latin typeface="Arial"/>
                <a:ea typeface="Arial"/>
                <a:cs typeface="Arial"/>
              </a:rPr>
              <a:t>B4 · Giới hạn lệnh động: tỉ lệ bão hòa Yaw giảm từ 2,6 % xuống 0,8 %</a:t>
            </a:r>
          </a:p>
        </p:txBody>
      </p:sp>
      <p:grpSp>
        <p:nvGrpSpPr>
          <p:cNvPr id="14" name="Group 13"/>
          <p:cNvGrpSpPr/>
          <p:nvPr/>
        </p:nvGrpSpPr>
        <p:grpSpPr>
          <a:xfrm>
            <a:off x="502920" y="1261872"/>
            <a:ext cx="3931920" cy="1024128"/>
            <a:chOff x="502920" y="1261872"/>
            <a:chExt cx="3931920" cy="1024128"/>
          </a:xfrm>
        </p:grpSpPr>
        <p:sp>
          <p:nvSpPr>
            <p:cNvPr id="15" name="Rounded Rectangle 14"/>
            <p:cNvSpPr/>
            <p:nvPr/>
          </p:nvSpPr>
          <p:spPr>
            <a:xfrm>
              <a:off x="502920" y="1261872"/>
              <a:ext cx="393192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6" name="Picture 15" descr="warning_C62828.png"/>
            <p:cNvPicPr>
              <a:picLocks noChangeAspect="1"/>
            </p:cNvPicPr>
            <p:nvPr/>
          </p:nvPicPr>
          <p:blipFill>
            <a:blip r:embed="rId2"/>
            <a:stretch>
              <a:fillRect/>
            </a:stretch>
          </p:blipFill>
          <p:spPr>
            <a:xfrm>
              <a:off x="640080" y="1335024"/>
              <a:ext cx="237744" cy="237744"/>
            </a:xfrm>
            <a:prstGeom prst="rect">
              <a:avLst/>
            </a:prstGeom>
          </p:spPr>
        </p:pic>
        <p:sp>
          <p:nvSpPr>
            <p:cNvPr id="17" name="TextBox 16"/>
            <p:cNvSpPr txBox="1"/>
            <p:nvPr/>
          </p:nvSpPr>
          <p:spPr>
            <a:xfrm>
              <a:off x="969264" y="1307592"/>
              <a:ext cx="332841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VẤN ĐỀ</a:t>
              </a:r>
            </a:p>
          </p:txBody>
        </p:sp>
        <p:sp>
          <p:nvSpPr>
            <p:cNvPr id="18" name="TextBox 17"/>
            <p:cNvSpPr txBox="1"/>
            <p:nvPr/>
          </p:nvSpPr>
          <p:spPr>
            <a:xfrm>
              <a:off x="667512" y="1609344"/>
              <a:ext cx="3639312" cy="658368"/>
            </a:xfrm>
            <a:prstGeom prst="rect">
              <a:avLst/>
            </a:prstGeom>
            <a:noFill/>
          </p:spPr>
          <p:txBody>
            <a:bodyPr wrap="square" lIns="0" tIns="0" rIns="0" bIns="0" anchor="t">
              <a:noAutofit/>
            </a:bodyPr>
            <a:lstStyle/>
            <a:p>
              <a:pPr algn="l">
                <a:lnSpc>
                  <a:spcPct val="98000"/>
                </a:lnSpc>
              </a:pPr>
              <a:r>
                <a:rPr sz="1350" b="0" i="0" lang="vi-VN">
                  <a:solidFill>
                    <a:srgbClr val="1E2B3A"/>
                  </a:solidFill>
                  <a:latin typeface="Arial"/>
                  <a:ea typeface="Arial"/>
                  <a:cs typeface="Arial"/>
                </a:rPr>
                <a:t>Giới hạn cố định 135 °/s: 2,6 % mẫu Yaw bị bão hòa; nâng cố định → lệnh lớn khi tĩnh</a:t>
              </a:r>
            </a:p>
          </p:txBody>
        </p:sp>
      </p:grpSp>
      <p:grpSp>
        <p:nvGrpSpPr>
          <p:cNvPr id="19" name="Group 18"/>
          <p:cNvGrpSpPr/>
          <p:nvPr/>
        </p:nvGrpSpPr>
        <p:grpSpPr>
          <a:xfrm>
            <a:off x="502920" y="2395728"/>
            <a:ext cx="3931920" cy="2560320"/>
            <a:chOff x="502920" y="2395728"/>
            <a:chExt cx="3931920" cy="2560320"/>
          </a:xfrm>
        </p:grpSpPr>
        <p:sp>
          <p:nvSpPr>
            <p:cNvPr id="20" name="Rounded Rectangle 19"/>
            <p:cNvSpPr/>
            <p:nvPr/>
          </p:nvSpPr>
          <p:spPr>
            <a:xfrm>
              <a:off x="502920" y="2395728"/>
              <a:ext cx="3931920" cy="2560320"/>
            </a:xfrm>
            <a:prstGeom prst="roundRect">
              <a:avLst>
                <a:gd name="adj" fmla="val 357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1" name="Picture 20" descr="flask_0A5FA8.png"/>
            <p:cNvPicPr>
              <a:picLocks noChangeAspect="1"/>
            </p:cNvPicPr>
            <p:nvPr/>
          </p:nvPicPr>
          <p:blipFill>
            <a:blip r:embed="rId3"/>
            <a:stretch>
              <a:fillRect/>
            </a:stretch>
          </p:blipFill>
          <p:spPr>
            <a:xfrm>
              <a:off x="640080" y="2468880"/>
              <a:ext cx="237744" cy="237744"/>
            </a:xfrm>
            <a:prstGeom prst="rect">
              <a:avLst/>
            </a:prstGeom>
          </p:spPr>
        </p:pic>
        <p:sp>
          <p:nvSpPr>
            <p:cNvPr id="22" name="TextBox 21"/>
            <p:cNvSpPr txBox="1"/>
            <p:nvPr/>
          </p:nvSpPr>
          <p:spPr>
            <a:xfrm>
              <a:off x="969264" y="2441448"/>
              <a:ext cx="337413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MÔ PHỎNG · </a:t>
              </a:r>
              <a:r>
                <a:rPr sz="1250" b="1" i="1" lang="vi-VN" spc="40">
                  <a:solidFill>
                    <a:srgbClr val="0A5FA8"/>
                  </a:solidFill>
                  <a:latin typeface="Cambria"/>
                  <a:ea typeface="Cambria"/>
                  <a:cs typeface="Cambria"/>
                </a:rPr>
                <a:t>e</a:t>
              </a:r>
              <a:r>
                <a:rPr sz="1250" b="1" i="0" lang="vi-VN" baseline="-25000" spc="40">
                  <a:solidFill>
                    <a:srgbClr val="0A5FA8"/>
                  </a:solidFill>
                  <a:latin typeface="Cambria"/>
                  <a:ea typeface="Cambria"/>
                  <a:cs typeface="Cambria"/>
                </a:rPr>
                <a:t>rms</a:t>
              </a:r>
              <a:r>
                <a:rPr sz="1250" b="1" i="0" lang="vi-VN" spc="40">
                  <a:solidFill>
                    <a:srgbClr val="0A5FA8"/>
                  </a:solidFill>
                  <a:latin typeface="Arial"/>
                  <a:ea typeface="Arial"/>
                  <a:cs typeface="Arial"/>
                </a:rPr>
                <a:t>, XUNG 600 °/s</a:t>
              </a:r>
            </a:p>
          </p:txBody>
        </p:sp>
      </p:grpSp>
      <p:pic>
        <p:nvPicPr>
          <p:cNvPr id="23" name="Picture 22" descr="s22_sim.png"/>
          <p:cNvPicPr>
            <a:picLocks noChangeAspect="1"/>
          </p:cNvPicPr>
          <p:nvPr/>
        </p:nvPicPr>
        <p:blipFill>
          <a:blip r:embed="rId4"/>
          <a:stretch>
            <a:fillRect/>
          </a:stretch>
        </p:blipFill>
        <p:spPr>
          <a:xfrm>
            <a:off x="612648" y="2788920"/>
            <a:ext cx="3712464" cy="2103120"/>
          </a:xfrm>
          <a:prstGeom prst="rect">
            <a:avLst/>
          </a:prstGeom>
        </p:spPr>
      </p:pic>
      <p:grpSp>
        <p:nvGrpSpPr>
          <p:cNvPr id="24" name="Group 23"/>
          <p:cNvGrpSpPr/>
          <p:nvPr/>
        </p:nvGrpSpPr>
        <p:grpSpPr>
          <a:xfrm>
            <a:off x="502920" y="5065776"/>
            <a:ext cx="3931920" cy="987552"/>
            <a:chOff x="502920" y="5065776"/>
            <a:chExt cx="3931920" cy="987552"/>
          </a:xfrm>
        </p:grpSpPr>
        <p:sp>
          <p:nvSpPr>
            <p:cNvPr id="25" name="Rounded Rectangle 24"/>
            <p:cNvSpPr/>
            <p:nvPr/>
          </p:nvSpPr>
          <p:spPr>
            <a:xfrm>
              <a:off x="502920" y="5065776"/>
              <a:ext cx="3931920" cy="987552"/>
            </a:xfrm>
            <a:prstGeom prst="roundRect">
              <a:avLst>
                <a:gd name="adj" fmla="val 9259"/>
              </a:avLst>
            </a:prstGeom>
            <a:solidFill>
              <a:srgbClr val="FFF1E6"/>
            </a:solidFill>
            <a:ln w="19050">
              <a:solidFill>
                <a:srgbClr val="E8710A"/>
              </a:solidFill>
            </a:ln>
          </p:spPr>
          <p:txBody>
            <a:bodyPr rtlCol="0" anchor="ctr" lIns="54864" tIns="54864" rIns="54864" bIns="54864" wrap="square">
              <a:noAutofit/>
            </a:bodyPr>
            <a:lstStyle/>
            <a:p>
              <a:pPr algn="ctr"/>
            </a:p>
          </p:txBody>
        </p:sp>
        <p:pic>
          <p:nvPicPr>
            <p:cNvPr id="26" name="Picture 25" descr="check_B45309.png"/>
            <p:cNvPicPr>
              <a:picLocks noChangeAspect="1"/>
            </p:cNvPicPr>
            <p:nvPr/>
          </p:nvPicPr>
          <p:blipFill>
            <a:blip r:embed="rId5"/>
            <a:stretch>
              <a:fillRect/>
            </a:stretch>
          </p:blipFill>
          <p:spPr>
            <a:xfrm>
              <a:off x="640080" y="5120640"/>
              <a:ext cx="237744" cy="237744"/>
            </a:xfrm>
            <a:prstGeom prst="rect">
              <a:avLst/>
            </a:prstGeom>
          </p:spPr>
        </p:pic>
        <p:sp>
          <p:nvSpPr>
            <p:cNvPr id="27" name="TextBox 26"/>
            <p:cNvSpPr txBox="1"/>
            <p:nvPr/>
          </p:nvSpPr>
          <p:spPr>
            <a:xfrm>
              <a:off x="969264" y="5093208"/>
              <a:ext cx="3328416" cy="292608"/>
            </a:xfrm>
            <a:prstGeom prst="rect">
              <a:avLst/>
            </a:prstGeom>
            <a:noFill/>
          </p:spPr>
          <p:txBody>
            <a:bodyPr wrap="square" lIns="0" tIns="0" rIns="0" bIns="0" anchor="ctr">
              <a:noAutofit/>
            </a:bodyPr>
            <a:lstStyle/>
            <a:p>
              <a:pPr algn="l"/>
              <a:r>
                <a:rPr sz="1250" b="1" i="0" lang="vi-VN" spc="40">
                  <a:solidFill>
                    <a:srgbClr val="B45309"/>
                  </a:solidFill>
                  <a:latin typeface="Arial"/>
                  <a:ea typeface="Arial"/>
                  <a:cs typeface="Arial"/>
                </a:rPr>
                <a:t>LỰA CHỌN</a:t>
              </a:r>
            </a:p>
          </p:txBody>
        </p:sp>
        <p:sp>
          <p:nvSpPr>
            <p:cNvPr id="28" name="TextBox 27"/>
            <p:cNvSpPr txBox="1"/>
            <p:nvPr/>
          </p:nvSpPr>
          <p:spPr>
            <a:xfrm>
              <a:off x="667512" y="5376672"/>
              <a:ext cx="3639312" cy="658368"/>
            </a:xfrm>
            <a:prstGeom prst="rect">
              <a:avLst/>
            </a:prstGeom>
            <a:noFill/>
          </p:spPr>
          <p:txBody>
            <a:bodyPr wrap="square" lIns="0" tIns="0" rIns="0" bIns="0" anchor="t">
              <a:noAutofit/>
            </a:bodyPr>
            <a:lstStyle/>
            <a:p>
              <a:pPr algn="l">
                <a:lnSpc>
                  <a:spcPct val="96000"/>
                </a:lnSpc>
              </a:pPr>
              <a:r>
                <a:rPr sz="1350" b="1" i="0" lang="vi-VN">
                  <a:solidFill>
                    <a:srgbClr val="1E2B3A"/>
                  </a:solidFill>
                  <a:latin typeface="Arial"/>
                  <a:ea typeface="Arial"/>
                  <a:cs typeface="Arial"/>
                </a:rPr>
                <a:t>Luật 4 mốc 110 / 135 / 165 °/s; ngưỡng vào Yaw 50 / 140 / 220, Pitch 30 / 90 / 170 °/s</a:t>
              </a:r>
            </a:p>
          </p:txBody>
        </p:sp>
      </p:grpSp>
      <p:grpSp>
        <p:nvGrpSpPr>
          <p:cNvPr id="29" name="Group 28"/>
          <p:cNvGrpSpPr/>
          <p:nvPr/>
        </p:nvGrpSpPr>
        <p:grpSpPr>
          <a:xfrm>
            <a:off x="4617720" y="1261872"/>
            <a:ext cx="7086600" cy="3657600"/>
            <a:chOff x="4617720" y="1261872"/>
            <a:chExt cx="7086600" cy="3657600"/>
          </a:xfrm>
        </p:grpSpPr>
        <p:sp>
          <p:nvSpPr>
            <p:cNvPr id="30" name="Rounded Rectangle 29"/>
            <p:cNvSpPr/>
            <p:nvPr/>
          </p:nvSpPr>
          <p:spPr>
            <a:xfrm>
              <a:off x="4617720" y="1261872"/>
              <a:ext cx="7086600" cy="3657600"/>
            </a:xfrm>
            <a:prstGeom prst="roundRect">
              <a:avLst>
                <a:gd name="adj" fmla="val 250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31" name="Picture 30" descr="cogs_0B2545.png"/>
            <p:cNvPicPr>
              <a:picLocks noChangeAspect="1"/>
            </p:cNvPicPr>
            <p:nvPr/>
          </p:nvPicPr>
          <p:blipFill>
            <a:blip r:embed="rId6"/>
            <a:stretch>
              <a:fillRect/>
            </a:stretch>
          </p:blipFill>
          <p:spPr>
            <a:xfrm>
              <a:off x="4754880" y="1335024"/>
              <a:ext cx="237744" cy="237744"/>
            </a:xfrm>
            <a:prstGeom prst="rect">
              <a:avLst/>
            </a:prstGeom>
          </p:spPr>
        </p:pic>
        <p:sp>
          <p:nvSpPr>
            <p:cNvPr id="32" name="TextBox 31"/>
            <p:cNvSpPr txBox="1"/>
            <p:nvPr/>
          </p:nvSpPr>
          <p:spPr>
            <a:xfrm>
              <a:off x="5084064" y="1307592"/>
              <a:ext cx="4791456" cy="292608"/>
            </a:xfrm>
            <a:prstGeom prst="rect">
              <a:avLst/>
            </a:prstGeom>
            <a:noFill/>
          </p:spPr>
          <p:txBody>
            <a:bodyPr wrap="square" lIns="0" tIns="0" rIns="0" bIns="0" anchor="ctr">
              <a:noAutofit/>
            </a:bodyPr>
            <a:lstStyle/>
            <a:p>
              <a:pPr algn="l"/>
              <a:r>
                <a:rPr sz="1250" b="1" i="0" lang="vi-VN" spc="40">
                  <a:solidFill>
                    <a:srgbClr val="0B2545"/>
                  </a:solidFill>
                  <a:latin typeface="Arial"/>
                  <a:ea typeface="Arial"/>
                  <a:cs typeface="Arial"/>
                </a:rPr>
                <a:t>HỆ THẬT · BÀI THỬ ĐẢO CHIỀU NHANH 10,1 s</a:t>
              </a:r>
            </a:p>
          </p:txBody>
        </p:sp>
      </p:grpSp>
      <p:grpSp>
        <p:nvGrpSpPr>
          <p:cNvPr id="33" name="Group 32"/>
          <p:cNvGrpSpPr/>
          <p:nvPr/>
        </p:nvGrpSpPr>
        <p:grpSpPr>
          <a:xfrm>
            <a:off x="9893808" y="1298448"/>
            <a:ext cx="1755648" cy="329184"/>
            <a:chOff x="9893808" y="1298448"/>
            <a:chExt cx="1755648" cy="329184"/>
          </a:xfrm>
        </p:grpSpPr>
        <p:sp>
          <p:nvSpPr>
            <p:cNvPr id="34" name="Rounded Rectangle 33"/>
            <p:cNvSpPr/>
            <p:nvPr/>
          </p:nvSpPr>
          <p:spPr>
            <a:xfrm>
              <a:off x="9893808" y="1371600"/>
              <a:ext cx="182880" cy="182880"/>
            </a:xfrm>
            <a:prstGeom prst="roundRect">
              <a:avLst>
                <a:gd name="adj" fmla="val 15000"/>
              </a:avLst>
            </a:prstGeom>
            <a:solidFill>
              <a:srgbClr val="B8C2CC"/>
            </a:solidFill>
            <a:ln>
              <a:noFill/>
            </a:ln>
          </p:spPr>
          <p:txBody>
            <a:bodyPr rtlCol="0" anchor="ctr" lIns="54864" tIns="54864" rIns="54864" bIns="54864" wrap="square">
              <a:noAutofit/>
            </a:bodyPr>
            <a:lstStyle/>
            <a:p>
              <a:pPr algn="ctr"/>
            </a:p>
          </p:txBody>
        </p:sp>
        <p:sp>
          <p:nvSpPr>
            <p:cNvPr id="35" name="TextBox 34"/>
            <p:cNvSpPr txBox="1"/>
            <p:nvPr/>
          </p:nvSpPr>
          <p:spPr>
            <a:xfrm>
              <a:off x="10131552" y="1298448"/>
              <a:ext cx="685800" cy="329184"/>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Trước</a:t>
              </a:r>
            </a:p>
          </p:txBody>
        </p:sp>
        <p:sp>
          <p:nvSpPr>
            <p:cNvPr id="36" name="Rectangle 35"/>
            <p:cNvSpPr/>
            <p:nvPr/>
          </p:nvSpPr>
          <p:spPr>
            <a:xfrm>
              <a:off x="10808208" y="1371600"/>
              <a:ext cx="118872" cy="182880"/>
            </a:xfrm>
            <a:prstGeom prst="rect">
              <a:avLst/>
            </a:prstGeom>
            <a:solidFill>
              <a:srgbClr val="1F5FAF"/>
            </a:solidFill>
            <a:ln>
              <a:noFill/>
            </a:ln>
          </p:spPr>
          <p:txBody>
            <a:bodyPr rtlCol="0" anchor="ctr" lIns="54864" tIns="54864" rIns="54864" bIns="54864" wrap="square">
              <a:noAutofit/>
            </a:bodyPr>
            <a:lstStyle/>
            <a:p>
              <a:pPr algn="ctr"/>
            </a:p>
          </p:txBody>
        </p:sp>
        <p:sp>
          <p:nvSpPr>
            <p:cNvPr id="37" name="Rectangle 36"/>
            <p:cNvSpPr/>
            <p:nvPr/>
          </p:nvSpPr>
          <p:spPr>
            <a:xfrm>
              <a:off x="10927080" y="1371600"/>
              <a:ext cx="118872" cy="182880"/>
            </a:xfrm>
            <a:prstGeom prst="rect">
              <a:avLst/>
            </a:prstGeom>
            <a:solidFill>
              <a:srgbClr val="2E8B57"/>
            </a:solidFill>
            <a:ln>
              <a:noFill/>
            </a:ln>
          </p:spPr>
          <p:txBody>
            <a:bodyPr rtlCol="0" anchor="ctr" lIns="54864" tIns="54864" rIns="54864" bIns="54864" wrap="square">
              <a:noAutofit/>
            </a:bodyPr>
            <a:lstStyle/>
            <a:p>
              <a:pPr algn="ctr"/>
            </a:p>
          </p:txBody>
        </p:sp>
        <p:sp>
          <p:nvSpPr>
            <p:cNvPr id="38" name="TextBox 37"/>
            <p:cNvSpPr txBox="1"/>
            <p:nvPr/>
          </p:nvSpPr>
          <p:spPr>
            <a:xfrm>
              <a:off x="11100816" y="1298448"/>
              <a:ext cx="548640" cy="329184"/>
            </a:xfrm>
            <a:prstGeom prst="rect">
              <a:avLst/>
            </a:prstGeom>
            <a:noFill/>
          </p:spPr>
          <p:txBody>
            <a:bodyPr wrap="square" lIns="0" tIns="0" rIns="0" bIns="0" anchor="ctr">
              <a:noAutofit/>
            </a:bodyPr>
            <a:lstStyle/>
            <a:p>
              <a:pPr algn="l"/>
              <a:r>
                <a:rPr sz="1250" b="0" i="0" lang="vi-VN">
                  <a:solidFill>
                    <a:srgbClr val="1E2B3A"/>
                  </a:solidFill>
                  <a:latin typeface="Arial"/>
                  <a:ea typeface="Arial"/>
                  <a:cs typeface="Arial"/>
                </a:rPr>
                <a:t>Sau</a:t>
              </a:r>
            </a:p>
          </p:txBody>
        </p:sp>
      </p:grpSp>
      <p:pic>
        <p:nvPicPr>
          <p:cNvPr id="39" name="Picture 38" descr="s22_real_base.png"/>
          <p:cNvPicPr>
            <a:picLocks noChangeAspect="1"/>
          </p:cNvPicPr>
          <p:nvPr/>
        </p:nvPicPr>
        <p:blipFill>
          <a:blip r:embed="rId7"/>
          <a:stretch>
            <a:fillRect/>
          </a:stretch>
        </p:blipFill>
        <p:spPr>
          <a:xfrm>
            <a:off x="4754880" y="1700784"/>
            <a:ext cx="6766560" cy="3108960"/>
          </a:xfrm>
          <a:prstGeom prst="rect">
            <a:avLst/>
          </a:prstGeom>
        </p:spPr>
      </p:pic>
      <p:pic>
        <p:nvPicPr>
          <p:cNvPr id="40" name="Picture 39" descr="s22_real_after.png"/>
          <p:cNvPicPr>
            <a:picLocks noChangeAspect="1"/>
          </p:cNvPicPr>
          <p:nvPr/>
        </p:nvPicPr>
        <p:blipFill>
          <a:blip r:embed="rId8"/>
          <a:stretch>
            <a:fillRect/>
          </a:stretch>
        </p:blipFill>
        <p:spPr>
          <a:xfrm>
            <a:off x="4754880" y="1700784"/>
            <a:ext cx="6766560" cy="3108960"/>
          </a:xfrm>
          <a:prstGeom prst="rect">
            <a:avLst/>
          </a:prstGeom>
        </p:spPr>
      </p:pic>
      <p:grpSp>
        <p:nvGrpSpPr>
          <p:cNvPr id="41" name="Group 40"/>
          <p:cNvGrpSpPr/>
          <p:nvPr/>
        </p:nvGrpSpPr>
        <p:grpSpPr>
          <a:xfrm>
            <a:off x="4617720" y="5029200"/>
            <a:ext cx="1668780" cy="1024128"/>
            <a:chOff x="4617720" y="5029200"/>
            <a:chExt cx="1668780" cy="1024128"/>
          </a:xfrm>
        </p:grpSpPr>
        <p:sp>
          <p:nvSpPr>
            <p:cNvPr id="42" name="Rounded Rectangle 41"/>
            <p:cNvSpPr/>
            <p:nvPr/>
          </p:nvSpPr>
          <p:spPr>
            <a:xfrm>
              <a:off x="461772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3" name="TextBox 42"/>
            <p:cNvSpPr txBox="1"/>
            <p:nvPr/>
          </p:nvSpPr>
          <p:spPr>
            <a:xfrm>
              <a:off x="467258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−69 %</a:t>
              </a:r>
            </a:p>
          </p:txBody>
        </p:sp>
        <p:sp>
          <p:nvSpPr>
            <p:cNvPr id="44" name="TextBox 43"/>
            <p:cNvSpPr txBox="1"/>
            <p:nvPr/>
          </p:nvSpPr>
          <p:spPr>
            <a:xfrm>
              <a:off x="469087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ρ</a:t>
              </a:r>
              <a:r>
                <a:rPr sz="1200" b="0" i="0" lang="vi-VN" baseline="-25000">
                  <a:solidFill>
                    <a:srgbClr val="1E2B3A"/>
                  </a:solidFill>
                  <a:latin typeface="Cambria"/>
                  <a:ea typeface="Cambria"/>
                  <a:cs typeface="Cambria"/>
                </a:rPr>
                <a:t>sat</a:t>
              </a:r>
              <a:r>
                <a:rPr sz="1200" b="0" i="0" lang="vi-VN">
                  <a:solidFill>
                    <a:srgbClr val="1E2B3A"/>
                  </a:solidFill>
                  <a:latin typeface="Arial"/>
                  <a:ea typeface="Arial"/>
                  <a:cs typeface="Arial"/>
                </a:rPr>
                <a:t> Yaw: 2,6 → 0,8 %</a:t>
              </a:r>
            </a:p>
          </p:txBody>
        </p:sp>
      </p:grpSp>
      <p:grpSp>
        <p:nvGrpSpPr>
          <p:cNvPr id="45" name="Group 44"/>
          <p:cNvGrpSpPr/>
          <p:nvPr/>
        </p:nvGrpSpPr>
        <p:grpSpPr>
          <a:xfrm>
            <a:off x="6423660" y="5029200"/>
            <a:ext cx="1668780" cy="1024128"/>
            <a:chOff x="6423660" y="5029200"/>
            <a:chExt cx="1668780" cy="1024128"/>
          </a:xfrm>
        </p:grpSpPr>
        <p:sp>
          <p:nvSpPr>
            <p:cNvPr id="46" name="Rounded Rectangle 45"/>
            <p:cNvSpPr/>
            <p:nvPr/>
          </p:nvSpPr>
          <p:spPr>
            <a:xfrm>
              <a:off x="642366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7" name="TextBox 46"/>
            <p:cNvSpPr txBox="1"/>
            <p:nvPr/>
          </p:nvSpPr>
          <p:spPr>
            <a:xfrm>
              <a:off x="647852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−4,8 %</a:t>
              </a:r>
            </a:p>
          </p:txBody>
        </p:sp>
        <p:sp>
          <p:nvSpPr>
            <p:cNvPr id="48" name="TextBox 47"/>
            <p:cNvSpPr txBox="1"/>
            <p:nvPr/>
          </p:nvSpPr>
          <p:spPr>
            <a:xfrm>
              <a:off x="649681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e</a:t>
              </a:r>
              <a:r>
                <a:rPr sz="1200" b="0" i="0" lang="vi-VN" baseline="-25000">
                  <a:solidFill>
                    <a:srgbClr val="1E2B3A"/>
                  </a:solidFill>
                  <a:latin typeface="Cambria"/>
                  <a:ea typeface="Cambria"/>
                  <a:cs typeface="Cambria"/>
                </a:rPr>
                <a:t>max</a:t>
              </a:r>
              <a:r>
                <a:rPr sz="1200" b="0" i="0" lang="vi-VN">
                  <a:solidFill>
                    <a:srgbClr val="1E2B3A"/>
                  </a:solidFill>
                  <a:latin typeface="Arial"/>
                  <a:ea typeface="Arial"/>
                  <a:cs typeface="Arial"/>
                </a:rPr>
                <a:t> · Yaw</a:t>
              </a:r>
            </a:p>
          </p:txBody>
        </p:sp>
      </p:grpSp>
      <p:grpSp>
        <p:nvGrpSpPr>
          <p:cNvPr id="49" name="Group 48"/>
          <p:cNvGrpSpPr/>
          <p:nvPr/>
        </p:nvGrpSpPr>
        <p:grpSpPr>
          <a:xfrm>
            <a:off x="8229600" y="5029200"/>
            <a:ext cx="1668780" cy="1024128"/>
            <a:chOff x="8229600" y="5029200"/>
            <a:chExt cx="1668780" cy="1024128"/>
          </a:xfrm>
        </p:grpSpPr>
        <p:sp>
          <p:nvSpPr>
            <p:cNvPr id="50" name="Rounded Rectangle 49"/>
            <p:cNvSpPr/>
            <p:nvPr/>
          </p:nvSpPr>
          <p:spPr>
            <a:xfrm>
              <a:off x="822960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1" name="TextBox 50"/>
            <p:cNvSpPr txBox="1"/>
            <p:nvPr/>
          </p:nvSpPr>
          <p:spPr>
            <a:xfrm>
              <a:off x="8284464" y="5084064"/>
              <a:ext cx="1559052" cy="457200"/>
            </a:xfrm>
            <a:prstGeom prst="rect">
              <a:avLst/>
            </a:prstGeom>
            <a:noFill/>
          </p:spPr>
          <p:txBody>
            <a:bodyPr wrap="square" lIns="0" tIns="0" rIns="0" bIns="0" anchor="ctr">
              <a:noAutofit/>
            </a:bodyPr>
            <a:lstStyle/>
            <a:p>
              <a:pPr algn="ctr"/>
              <a:r>
                <a:rPr sz="2400" b="1" i="0" lang="vi-VN">
                  <a:solidFill>
                    <a:srgbClr val="0B2545"/>
                  </a:solidFill>
                  <a:latin typeface="Arial"/>
                  <a:ea typeface="Arial"/>
                  <a:cs typeface="Arial"/>
                </a:rPr>
                <a:t>−0,2 %</a:t>
              </a:r>
            </a:p>
          </p:txBody>
        </p:sp>
        <p:sp>
          <p:nvSpPr>
            <p:cNvPr id="52" name="TextBox 51"/>
            <p:cNvSpPr txBox="1"/>
            <p:nvPr/>
          </p:nvSpPr>
          <p:spPr>
            <a:xfrm>
              <a:off x="830275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e</a:t>
              </a:r>
              <a:r>
                <a:rPr sz="1200" b="0" i="0" lang="vi-VN" baseline="-25000">
                  <a:solidFill>
                    <a:srgbClr val="1E2B3A"/>
                  </a:solidFill>
                  <a:latin typeface="Cambria"/>
                  <a:ea typeface="Cambria"/>
                  <a:cs typeface="Cambria"/>
                </a:rPr>
                <a:t>max</a:t>
              </a:r>
              <a:r>
                <a:rPr sz="1200" b="0" i="0" lang="vi-VN">
                  <a:solidFill>
                    <a:srgbClr val="1E2B3A"/>
                  </a:solidFill>
                  <a:latin typeface="Arial"/>
                  <a:ea typeface="Arial"/>
                  <a:cs typeface="Arial"/>
                </a:rPr>
                <a:t> · Pitch</a:t>
              </a:r>
            </a:p>
          </p:txBody>
        </p:sp>
      </p:grpSp>
      <p:grpSp>
        <p:nvGrpSpPr>
          <p:cNvPr id="53" name="Group 52"/>
          <p:cNvGrpSpPr/>
          <p:nvPr/>
        </p:nvGrpSpPr>
        <p:grpSpPr>
          <a:xfrm>
            <a:off x="10035540" y="5029200"/>
            <a:ext cx="1668780" cy="1024128"/>
            <a:chOff x="10035540" y="5029200"/>
            <a:chExt cx="1668780" cy="1024128"/>
          </a:xfrm>
        </p:grpSpPr>
        <p:sp>
          <p:nvSpPr>
            <p:cNvPr id="54" name="Rounded Rectangle 53"/>
            <p:cNvSpPr/>
            <p:nvPr/>
          </p:nvSpPr>
          <p:spPr>
            <a:xfrm>
              <a:off x="1003554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5" name="TextBox 54"/>
            <p:cNvSpPr txBox="1"/>
            <p:nvPr/>
          </p:nvSpPr>
          <p:spPr>
            <a:xfrm>
              <a:off x="10090404" y="5084064"/>
              <a:ext cx="1559052" cy="457200"/>
            </a:xfrm>
            <a:prstGeom prst="rect">
              <a:avLst/>
            </a:prstGeom>
            <a:noFill/>
          </p:spPr>
          <p:txBody>
            <a:bodyPr wrap="square" lIns="0" tIns="0" rIns="0" bIns="0" anchor="ctr">
              <a:noAutofit/>
            </a:bodyPr>
            <a:lstStyle/>
            <a:p>
              <a:pPr algn="ctr"/>
              <a:r>
                <a:rPr sz="2000" b="1" i="0" lang="vi-VN">
                  <a:solidFill>
                    <a:srgbClr val="5B6B7B"/>
                  </a:solidFill>
                  <a:latin typeface="Arial"/>
                  <a:ea typeface="Arial"/>
                  <a:cs typeface="Arial"/>
                </a:rPr>
                <a:t>≈ 240 °/s</a:t>
              </a:r>
            </a:p>
          </p:txBody>
        </p:sp>
        <p:sp>
          <p:nvSpPr>
            <p:cNvPr id="56" name="TextBox 55"/>
            <p:cNvSpPr txBox="1"/>
            <p:nvPr/>
          </p:nvSpPr>
          <p:spPr>
            <a:xfrm>
              <a:off x="1010869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giá thử thấp hơn 600 °/s của mô phỏng</a:t>
              </a:r>
            </a:p>
          </p:txBody>
        </p:sp>
      </p:grpSp>
      <p:sp>
        <p:nvSpPr>
          <p:cNvPr id="69"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22</a:t>
            </a:fld>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childTnLst>
                          </p:cTn>
                        </p:par>
                        <p:par>
                          <p:cTn id="13" fill="hold">
                            <p:stCondLst>
                              <p:cond delay="350"/>
                            </p:stCondLst>
                            <p:childTnLst>
                              <p:par>
                                <p:cTn id="14" presetID="22" presetClass="entr" presetSubtype="8"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45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anim calcmode="lin" valueType="num">
                                      <p:cBhvr>
                                        <p:cTn id="22" dur="400" fill="hold"/>
                                        <p:tgtEl>
                                          <p:spTgt spid="24"/>
                                        </p:tgtEl>
                                        <p:attrNameLst>
                                          <p:attrName>ppt_w</p:attrName>
                                        </p:attrNameLst>
                                      </p:cBhvr>
                                      <p:tavLst>
                                        <p:tav tm="0">
                                          <p:val>
                                            <p:strVal val="0"/>
                                          </p:val>
                                        </p:tav>
                                        <p:tav tm="100000">
                                          <p:val>
                                            <p:strVal val="#ppt_w"/>
                                          </p:val>
                                        </p:tav>
                                      </p:tavLst>
                                    </p:anim>
                                    <p:anim calcmode="lin" valueType="num">
                                      <p:cBhvr>
                                        <p:cTn id="23" dur="40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400"/>
                            </p:stCondLst>
                            <p:childTnLst>
                              <p:par>
                                <p:cTn id="25" presetID="6" presetClass="emph" presetSubtype="0" fill="hold" grpId="1" nodeType="afterEffect">
                                  <p:stCondLst>
                                    <p:cond delay="0"/>
                                  </p:stCondLst>
                                  <p:childTnLst>
                                    <p:animScale>
                                      <p:cBhvr>
                                        <p:cTn id="26" dur="250" autoRev="1" fill="hold"/>
                                        <p:tgtEl>
                                          <p:spTgt spid="24"/>
                                        </p:tgtEl>
                                      </p:cBhvr>
                                      <p:by x="112000" y="112000"/>
                                    </p:animScale>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35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300"/>
                                        <p:tgtEl>
                                          <p:spTgt spid="33"/>
                                        </p:tgtEl>
                                      </p:cBhvr>
                                    </p:animEffect>
                                  </p:childTnLst>
                                </p:cTn>
                              </p:par>
                            </p:childTnLst>
                          </p:cTn>
                        </p:par>
                        <p:par>
                          <p:cTn id="35" fill="hold">
                            <p:stCondLst>
                              <p:cond delay="350"/>
                            </p:stCondLst>
                            <p:childTnLst>
                              <p:par>
                                <p:cTn id="36" presetID="10" presetClass="entr" presetSubtype="0" fill="hold" grpId="0" nodeType="after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45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wipe(left)">
                                      <p:cBhvr>
                                        <p:cTn id="43" dur="700"/>
                                        <p:tgtEl>
                                          <p:spTgt spid="4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380"/>
                                        <p:tgtEl>
                                          <p:spTgt spid="41"/>
                                        </p:tgtEl>
                                      </p:cBhvr>
                                    </p:animEffect>
                                    <p:anim calcmode="lin" valueType="num">
                                      <p:cBhvr>
                                        <p:cTn id="49" dur="380" fill="hold"/>
                                        <p:tgtEl>
                                          <p:spTgt spid="41"/>
                                        </p:tgtEl>
                                        <p:attrNameLst>
                                          <p:attrName>ppt_w</p:attrName>
                                        </p:attrNameLst>
                                      </p:cBhvr>
                                      <p:tavLst>
                                        <p:tav tm="0">
                                          <p:val>
                                            <p:strVal val="0"/>
                                          </p:val>
                                        </p:tav>
                                        <p:tav tm="100000">
                                          <p:val>
                                            <p:strVal val="#ppt_w"/>
                                          </p:val>
                                        </p:tav>
                                      </p:tavLst>
                                    </p:anim>
                                    <p:anim calcmode="lin" valueType="num">
                                      <p:cBhvr>
                                        <p:cTn id="50" dur="380" fill="hold"/>
                                        <p:tgtEl>
                                          <p:spTgt spid="41"/>
                                        </p:tgtEl>
                                        <p:attrNameLst>
                                          <p:attrName>ppt_h</p:attrName>
                                        </p:attrNameLst>
                                      </p:cBhvr>
                                      <p:tavLst>
                                        <p:tav tm="0">
                                          <p:val>
                                            <p:strVal val="0"/>
                                          </p:val>
                                        </p:tav>
                                        <p:tav tm="100000">
                                          <p:val>
                                            <p:strVal val="#ppt_h"/>
                                          </p:val>
                                        </p:tav>
                                      </p:tavLst>
                                    </p:anim>
                                  </p:childTnLst>
                                </p:cTn>
                              </p:par>
                              <p:par>
                                <p:cTn id="51" presetID="53" presetClass="entr" presetSubtype="16" fill="hold" grpId="0" nodeType="withEffect">
                                  <p:stCondLst>
                                    <p:cond delay="14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380"/>
                                        <p:tgtEl>
                                          <p:spTgt spid="45"/>
                                        </p:tgtEl>
                                      </p:cBhvr>
                                    </p:animEffect>
                                    <p:anim calcmode="lin" valueType="num">
                                      <p:cBhvr>
                                        <p:cTn id="54" dur="380" fill="hold"/>
                                        <p:tgtEl>
                                          <p:spTgt spid="45"/>
                                        </p:tgtEl>
                                        <p:attrNameLst>
                                          <p:attrName>ppt_w</p:attrName>
                                        </p:attrNameLst>
                                      </p:cBhvr>
                                      <p:tavLst>
                                        <p:tav tm="0">
                                          <p:val>
                                            <p:strVal val="0"/>
                                          </p:val>
                                        </p:tav>
                                        <p:tav tm="100000">
                                          <p:val>
                                            <p:strVal val="#ppt_w"/>
                                          </p:val>
                                        </p:tav>
                                      </p:tavLst>
                                    </p:anim>
                                    <p:anim calcmode="lin" valueType="num">
                                      <p:cBhvr>
                                        <p:cTn id="55" dur="380" fill="hold"/>
                                        <p:tgtEl>
                                          <p:spTgt spid="45"/>
                                        </p:tgtEl>
                                        <p:attrNameLst>
                                          <p:attrName>ppt_h</p:attrName>
                                        </p:attrNameLst>
                                      </p:cBhvr>
                                      <p:tavLst>
                                        <p:tav tm="0">
                                          <p:val>
                                            <p:strVal val="0"/>
                                          </p:val>
                                        </p:tav>
                                        <p:tav tm="100000">
                                          <p:val>
                                            <p:strVal val="#ppt_h"/>
                                          </p:val>
                                        </p:tav>
                                      </p:tavLst>
                                    </p:anim>
                                  </p:childTnLst>
                                </p:cTn>
                              </p:par>
                              <p:par>
                                <p:cTn id="56" presetID="53" presetClass="entr" presetSubtype="16" fill="hold" grpId="0" nodeType="withEffect">
                                  <p:stCondLst>
                                    <p:cond delay="28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380"/>
                                        <p:tgtEl>
                                          <p:spTgt spid="49"/>
                                        </p:tgtEl>
                                      </p:cBhvr>
                                    </p:animEffect>
                                    <p:anim calcmode="lin" valueType="num">
                                      <p:cBhvr>
                                        <p:cTn id="59" dur="380" fill="hold"/>
                                        <p:tgtEl>
                                          <p:spTgt spid="49"/>
                                        </p:tgtEl>
                                        <p:attrNameLst>
                                          <p:attrName>ppt_w</p:attrName>
                                        </p:attrNameLst>
                                      </p:cBhvr>
                                      <p:tavLst>
                                        <p:tav tm="0">
                                          <p:val>
                                            <p:strVal val="0"/>
                                          </p:val>
                                        </p:tav>
                                        <p:tav tm="100000">
                                          <p:val>
                                            <p:strVal val="#ppt_w"/>
                                          </p:val>
                                        </p:tav>
                                      </p:tavLst>
                                    </p:anim>
                                    <p:anim calcmode="lin" valueType="num">
                                      <p:cBhvr>
                                        <p:cTn id="60" dur="380" fill="hold"/>
                                        <p:tgtEl>
                                          <p:spTgt spid="49"/>
                                        </p:tgtEl>
                                        <p:attrNameLst>
                                          <p:attrName>ppt_h</p:attrName>
                                        </p:attrNameLst>
                                      </p:cBhvr>
                                      <p:tavLst>
                                        <p:tav tm="0">
                                          <p:val>
                                            <p:strVal val="0"/>
                                          </p:val>
                                        </p:tav>
                                        <p:tav tm="100000">
                                          <p:val>
                                            <p:strVal val="#ppt_h"/>
                                          </p:val>
                                        </p:tav>
                                      </p:tavLst>
                                    </p:anim>
                                  </p:childTnLst>
                                </p:cTn>
                              </p:par>
                              <p:par>
                                <p:cTn id="61" presetID="53" presetClass="entr" presetSubtype="16" fill="hold" grpId="0" nodeType="withEffect">
                                  <p:stCondLst>
                                    <p:cond delay="42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380"/>
                                        <p:tgtEl>
                                          <p:spTgt spid="53"/>
                                        </p:tgtEl>
                                      </p:cBhvr>
                                    </p:animEffect>
                                    <p:anim calcmode="lin" valueType="num">
                                      <p:cBhvr>
                                        <p:cTn id="64" dur="380" fill="hold"/>
                                        <p:tgtEl>
                                          <p:spTgt spid="53"/>
                                        </p:tgtEl>
                                        <p:attrNameLst>
                                          <p:attrName>ppt_w</p:attrName>
                                        </p:attrNameLst>
                                      </p:cBhvr>
                                      <p:tavLst>
                                        <p:tav tm="0">
                                          <p:val>
                                            <p:strVal val="0"/>
                                          </p:val>
                                        </p:tav>
                                        <p:tav tm="100000">
                                          <p:val>
                                            <p:strVal val="#ppt_w"/>
                                          </p:val>
                                        </p:tav>
                                      </p:tavLst>
                                    </p:anim>
                                    <p:anim calcmode="lin" valueType="num">
                                      <p:cBhvr>
                                        <p:cTn id="65" dur="380" fill="hold"/>
                                        <p:tgtEl>
                                          <p:spTgt spid="53"/>
                                        </p:tgtEl>
                                        <p:attrNameLst>
                                          <p:attrName>ppt_h</p:attrName>
                                        </p:attrNameLst>
                                      </p:cBhvr>
                                      <p:tavLst>
                                        <p:tav tm="0">
                                          <p:val>
                                            <p:strVal val="0"/>
                                          </p:val>
                                        </p:tav>
                                        <p:tav tm="100000">
                                          <p:val>
                                            <p:strVal val="#ppt_h"/>
                                          </p:val>
                                        </p:tav>
                                      </p:tavLst>
                                    </p:anim>
                                  </p:childTnLst>
                                </p:cTn>
                              </p:par>
                            </p:childTnLst>
                          </p:cTn>
                        </p:par>
                        <p:par>
                          <p:cTn id="66" fill="hold">
                            <p:stCondLst>
                              <p:cond delay="800"/>
                            </p:stCondLst>
                            <p:childTnLst>
                              <p:par>
                                <p:cTn id="67" presetID="6" presetClass="emph" presetSubtype="0" fill="hold" grpId="1" nodeType="afterEffect">
                                  <p:stCondLst>
                                    <p:cond delay="0"/>
                                  </p:stCondLst>
                                  <p:childTnLst>
                                    <p:animScale>
                                      <p:cBhvr>
                                        <p:cTn id="68" dur="280" autoRev="1" fill="hold"/>
                                        <p:tgtEl>
                                          <p:spTgt spid="41"/>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k_track"/>
          <p:cNvSpPr/>
          <p:nvPr/>
        </p:nvSpPr>
        <p:spPr>
          <a:xfrm>
            <a:off x="457200" y="146304"/>
            <a:ext cx="11292840" cy="402336"/>
          </a:xfrm>
          <a:prstGeom prst="roundRect">
            <a:avLst>
              <a:gd name="adj" fmla="val 27272"/>
            </a:avLst>
          </a:prstGeom>
          <a:solidFill>
            <a:srgbClr val="FFFFFF">
              <a:alpha val="78000"/>
            </a:srgbClr>
          </a:solidFill>
          <a:ln>
            <a:noFill/>
          </a:ln>
        </p:spPr>
        <p:txBody>
          <a:bodyPr rtlCol="0" anchor="ctr" lIns="54864" tIns="54864" rIns="54864" bIns="54864" wrap="square">
            <a:noAutofit/>
          </a:bodyPr>
          <a:lstStyle/>
          <a:p>
            <a:pPr algn="ctr"/>
          </a:p>
        </p:txBody>
      </p:sp>
      <p:sp>
        <p:nvSpPr>
          <p:cNvPr id="3" name="!!trk_hl"/>
          <p:cNvSpPr/>
          <p:nvPr/>
        </p:nvSpPr>
        <p:spPr>
          <a:xfrm>
            <a:off x="6775704" y="182880"/>
            <a:ext cx="1163117" cy="329184"/>
          </a:xfrm>
          <a:prstGeom prst="roundRect">
            <a:avLst>
              <a:gd name="adj" fmla="val 27777"/>
            </a:avLst>
          </a:prstGeom>
          <a:solidFill>
            <a:srgbClr val="E8710A"/>
          </a:solidFill>
          <a:ln>
            <a:noFill/>
          </a:ln>
        </p:spPr>
        <p:txBody>
          <a:bodyPr rtlCol="0" anchor="ctr" lIns="54864" tIns="54864" rIns="54864" bIns="54864" wrap="square">
            <a:noAutofit/>
          </a:bodyPr>
          <a:lstStyle/>
          <a:p>
            <a:pPr algn="ctr"/>
          </a:p>
        </p:txBody>
      </p:sp>
      <p:sp>
        <p:nvSpPr>
          <p:cNvPr id="4" name="!!trk_0"/>
          <p:cNvSpPr txBox="1"/>
          <p:nvPr/>
        </p:nvSpPr>
        <p:spPr>
          <a:xfrm>
            <a:off x="50292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Ban đầu</a:t>
            </a:r>
          </a:p>
        </p:txBody>
      </p:sp>
      <p:sp>
        <p:nvSpPr>
          <p:cNvPr id="5" name="!!trk_1"/>
          <p:cNvSpPr txBox="1"/>
          <p:nvPr/>
        </p:nvSpPr>
        <p:spPr>
          <a:xfrm>
            <a:off x="175747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Cascade</a:t>
            </a:r>
          </a:p>
        </p:txBody>
      </p:sp>
      <p:sp>
        <p:nvSpPr>
          <p:cNvPr id="6" name="!!trk_2"/>
          <p:cNvSpPr txBox="1"/>
          <p:nvPr/>
        </p:nvSpPr>
        <p:spPr>
          <a:xfrm>
            <a:off x="3012034"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Bù IMU2</a:t>
            </a:r>
          </a:p>
        </p:txBody>
      </p:sp>
      <p:sp>
        <p:nvSpPr>
          <p:cNvPr id="7" name="!!trk_3"/>
          <p:cNvSpPr txBox="1"/>
          <p:nvPr/>
        </p:nvSpPr>
        <p:spPr>
          <a:xfrm>
            <a:off x="426659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Ngoại suy</a:t>
            </a:r>
          </a:p>
        </p:txBody>
      </p:sp>
      <p:sp>
        <p:nvSpPr>
          <p:cNvPr id="8" name="!!trk_4"/>
          <p:cNvSpPr txBox="1"/>
          <p:nvPr/>
        </p:nvSpPr>
        <p:spPr>
          <a:xfrm>
            <a:off x="552114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Giới hạn động</a:t>
            </a:r>
          </a:p>
        </p:txBody>
      </p:sp>
      <p:sp>
        <p:nvSpPr>
          <p:cNvPr id="9" name="!!trk_5"/>
          <p:cNvSpPr txBox="1"/>
          <p:nvPr/>
        </p:nvSpPr>
        <p:spPr>
          <a:xfrm>
            <a:off x="6775704" y="182880"/>
            <a:ext cx="1163117" cy="329184"/>
          </a:xfrm>
          <a:prstGeom prst="rect">
            <a:avLst/>
          </a:prstGeom>
          <a:noFill/>
        </p:spPr>
        <p:txBody>
          <a:bodyPr wrap="square" lIns="0" tIns="0" rIns="0" bIns="0" anchor="ctr">
            <a:noAutofit/>
          </a:bodyPr>
          <a:lstStyle/>
          <a:p>
            <a:pPr algn="ctr"/>
            <a:r>
              <a:rPr sz="1050" b="1" i="0" lang="vi-VN">
                <a:solidFill>
                  <a:srgbClr val="FFFFFF"/>
                </a:solidFill>
                <a:latin typeface="Arial"/>
                <a:ea typeface="Arial"/>
                <a:cs typeface="Arial"/>
              </a:rPr>
              <a:t>Đảo chiều/dừng</a:t>
            </a:r>
          </a:p>
        </p:txBody>
      </p:sp>
      <p:sp>
        <p:nvSpPr>
          <p:cNvPr id="10" name="!!trk_6"/>
          <p:cNvSpPr txBox="1"/>
          <p:nvPr/>
        </p:nvSpPr>
        <p:spPr>
          <a:xfrm>
            <a:off x="8030261"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Tạo dạng lệnh</a:t>
            </a:r>
          </a:p>
        </p:txBody>
      </p:sp>
      <p:sp>
        <p:nvSpPr>
          <p:cNvPr id="11" name="!!trk_7"/>
          <p:cNvSpPr txBox="1"/>
          <p:nvPr/>
        </p:nvSpPr>
        <p:spPr>
          <a:xfrm>
            <a:off x="9284818"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Lịch RS485</a:t>
            </a:r>
          </a:p>
        </p:txBody>
      </p:sp>
      <p:sp>
        <p:nvSpPr>
          <p:cNvPr id="12" name="!!trk_8"/>
          <p:cNvSpPr txBox="1"/>
          <p:nvPr/>
        </p:nvSpPr>
        <p:spPr>
          <a:xfrm>
            <a:off x="1053937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Hoàn thiện</a:t>
            </a:r>
          </a:p>
        </p:txBody>
      </p:sp>
      <p:sp>
        <p:nvSpPr>
          <p:cNvPr id="13" name="Title"/>
          <p:cNvSpPr txBox="1"/>
          <p:nvPr/>
        </p:nvSpPr>
        <p:spPr>
          <a:xfrm>
            <a:off x="502920" y="603504"/>
            <a:ext cx="11201400" cy="530352"/>
          </a:xfrm>
          <a:prstGeom prst="rect">
            <a:avLst/>
          </a:prstGeom>
          <a:noFill/>
        </p:spPr>
        <p:txBody>
          <a:bodyPr wrap="square" lIns="0" tIns="0" rIns="0" bIns="0" anchor="ctr">
            <a:noAutofit/>
          </a:bodyPr>
          <a:lstStyle/>
          <a:p>
            <a:pPr algn="l"/>
            <a:r>
              <a:rPr sz="2500" b="1" i="0" lang="vi-VN">
                <a:solidFill>
                  <a:srgbClr val="0B2545"/>
                </a:solidFill>
                <a:latin typeface="Arial"/>
                <a:ea typeface="Arial"/>
                <a:cs typeface="Arial"/>
              </a:rPr>
              <a:t>B5 · Xử lý đảo chiều và dừng: thời gian phục hồi giảm hơn 50 %</a:t>
            </a:r>
          </a:p>
        </p:txBody>
      </p:sp>
      <p:grpSp>
        <p:nvGrpSpPr>
          <p:cNvPr id="14" name="Group 13"/>
          <p:cNvGrpSpPr/>
          <p:nvPr/>
        </p:nvGrpSpPr>
        <p:grpSpPr>
          <a:xfrm>
            <a:off x="502920" y="1261872"/>
            <a:ext cx="3931920" cy="1024128"/>
            <a:chOff x="502920" y="1261872"/>
            <a:chExt cx="3931920" cy="1024128"/>
          </a:xfrm>
        </p:grpSpPr>
        <p:sp>
          <p:nvSpPr>
            <p:cNvPr id="15" name="Rounded Rectangle 14"/>
            <p:cNvSpPr/>
            <p:nvPr/>
          </p:nvSpPr>
          <p:spPr>
            <a:xfrm>
              <a:off x="502920" y="1261872"/>
              <a:ext cx="393192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6" name="Picture 15" descr="warning_C62828.png"/>
            <p:cNvPicPr>
              <a:picLocks noChangeAspect="1"/>
            </p:cNvPicPr>
            <p:nvPr/>
          </p:nvPicPr>
          <p:blipFill>
            <a:blip r:embed="rId2"/>
            <a:stretch>
              <a:fillRect/>
            </a:stretch>
          </p:blipFill>
          <p:spPr>
            <a:xfrm>
              <a:off x="640080" y="1335024"/>
              <a:ext cx="237744" cy="237744"/>
            </a:xfrm>
            <a:prstGeom prst="rect">
              <a:avLst/>
            </a:prstGeom>
          </p:spPr>
        </p:pic>
        <p:sp>
          <p:nvSpPr>
            <p:cNvPr id="17" name="TextBox 16"/>
            <p:cNvSpPr txBox="1"/>
            <p:nvPr/>
          </p:nvSpPr>
          <p:spPr>
            <a:xfrm>
              <a:off x="969264" y="1307592"/>
              <a:ext cx="332841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VẤN ĐỀ</a:t>
              </a:r>
            </a:p>
          </p:txBody>
        </p:sp>
        <p:sp>
          <p:nvSpPr>
            <p:cNvPr id="18" name="TextBox 17"/>
            <p:cNvSpPr txBox="1"/>
            <p:nvPr/>
          </p:nvSpPr>
          <p:spPr>
            <a:xfrm>
              <a:off x="667512" y="1609344"/>
              <a:ext cx="3639312" cy="658368"/>
            </a:xfrm>
            <a:prstGeom prst="rect">
              <a:avLst/>
            </a:prstGeom>
            <a:noFill/>
          </p:spPr>
          <p:txBody>
            <a:bodyPr wrap="square" lIns="0" tIns="0" rIns="0" bIns="0" anchor="t">
              <a:noAutofit/>
            </a:bodyPr>
            <a:lstStyle/>
            <a:p>
              <a:pPr algn="l">
                <a:lnSpc>
                  <a:spcPct val="98000"/>
                </a:lnSpc>
              </a:pPr>
              <a:r>
                <a:rPr sz="1350" b="0" i="0" lang="vi-VN">
                  <a:solidFill>
                    <a:srgbClr val="1E2B3A"/>
                  </a:solidFill>
                  <a:latin typeface="Arial"/>
                  <a:ea typeface="Arial"/>
                  <a:cs typeface="Arial"/>
                </a:rPr>
                <a:t>Khung dừng đột ngột: bù và tích phân tồn dư kéo camera vượt ngược, phục hồi chậm</a:t>
              </a:r>
            </a:p>
          </p:txBody>
        </p:sp>
      </p:grpSp>
      <p:grpSp>
        <p:nvGrpSpPr>
          <p:cNvPr id="19" name="Group 18"/>
          <p:cNvGrpSpPr/>
          <p:nvPr/>
        </p:nvGrpSpPr>
        <p:grpSpPr>
          <a:xfrm>
            <a:off x="502920" y="2395728"/>
            <a:ext cx="3931920" cy="2560320"/>
            <a:chOff x="502920" y="2395728"/>
            <a:chExt cx="3931920" cy="2560320"/>
          </a:xfrm>
        </p:grpSpPr>
        <p:sp>
          <p:nvSpPr>
            <p:cNvPr id="20" name="Rounded Rectangle 19"/>
            <p:cNvSpPr/>
            <p:nvPr/>
          </p:nvSpPr>
          <p:spPr>
            <a:xfrm>
              <a:off x="502920" y="2395728"/>
              <a:ext cx="3931920" cy="2560320"/>
            </a:xfrm>
            <a:prstGeom prst="roundRect">
              <a:avLst>
                <a:gd name="adj" fmla="val 357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1" name="Picture 20" descr="flask_0A5FA8.png"/>
            <p:cNvPicPr>
              <a:picLocks noChangeAspect="1"/>
            </p:cNvPicPr>
            <p:nvPr/>
          </p:nvPicPr>
          <p:blipFill>
            <a:blip r:embed="rId3"/>
            <a:stretch>
              <a:fillRect/>
            </a:stretch>
          </p:blipFill>
          <p:spPr>
            <a:xfrm>
              <a:off x="640080" y="2468880"/>
              <a:ext cx="237744" cy="237744"/>
            </a:xfrm>
            <a:prstGeom prst="rect">
              <a:avLst/>
            </a:prstGeom>
          </p:spPr>
        </p:pic>
        <p:sp>
          <p:nvSpPr>
            <p:cNvPr id="22" name="TextBox 21"/>
            <p:cNvSpPr txBox="1"/>
            <p:nvPr/>
          </p:nvSpPr>
          <p:spPr>
            <a:xfrm>
              <a:off x="969264" y="2441448"/>
              <a:ext cx="337413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PHƯƠNG ÁN KHẢO SÁT (MÔ PHỎNG)</a:t>
              </a:r>
            </a:p>
          </p:txBody>
        </p:sp>
      </p:grpSp>
      <p:grpSp>
        <p:nvGrpSpPr>
          <p:cNvPr id="23" name="Group 22"/>
          <p:cNvGrpSpPr/>
          <p:nvPr/>
        </p:nvGrpSpPr>
        <p:grpSpPr>
          <a:xfrm>
            <a:off x="612648" y="2788920"/>
            <a:ext cx="1737360" cy="960120"/>
            <a:chOff x="612648" y="2788920"/>
            <a:chExt cx="1737360" cy="960120"/>
          </a:xfrm>
        </p:grpSpPr>
        <p:sp>
          <p:nvSpPr>
            <p:cNvPr id="24" name="Rounded Rectangle 23"/>
            <p:cNvSpPr/>
            <p:nvPr/>
          </p:nvSpPr>
          <p:spPr>
            <a:xfrm>
              <a:off x="612648" y="2788920"/>
              <a:ext cx="1737360" cy="960120"/>
            </a:xfrm>
            <a:prstGeom prst="roundRect">
              <a:avLst>
                <a:gd name="adj" fmla="val 7619"/>
              </a:avLst>
            </a:prstGeom>
            <a:solidFill>
              <a:srgbClr val="F1F4F8"/>
            </a:solidFill>
            <a:ln>
              <a:noFill/>
            </a:ln>
          </p:spPr>
          <p:txBody>
            <a:bodyPr rtlCol="0" anchor="ctr" lIns="54864" tIns="54864" rIns="54864" bIns="54864" wrap="square">
              <a:noAutofit/>
            </a:bodyPr>
            <a:lstStyle/>
            <a:p>
              <a:pPr algn="ctr"/>
              <a:r>
                <a:rPr sz="1350" b="1" i="0" lang="vi-VN">
                  <a:solidFill>
                    <a:srgbClr val="1E2B3A"/>
                  </a:solidFill>
                  <a:latin typeface="Arial"/>
                  <a:ea typeface="Arial"/>
                  <a:cs typeface="Arial"/>
                </a:rPr>
                <a:t>Ngắt bù tức thời</a:t>
              </a:r>
            </a:p>
            <a:p>
              <a:pPr algn="ctr"/>
              <a:r>
                <a:rPr sz="1200" b="0" i="0" lang="vi-VN">
                  <a:solidFill>
                    <a:srgbClr val="5B6B7B"/>
                  </a:solidFill>
                  <a:latin typeface="Arial"/>
                  <a:ea typeface="Arial"/>
                  <a:cs typeface="Arial"/>
                </a:rPr>
                <a:t>bước nhảy lệnh, giật</a:t>
              </a:r>
            </a:p>
          </p:txBody>
        </p:sp>
      </p:grpSp>
      <p:grpSp>
        <p:nvGrpSpPr>
          <p:cNvPr id="25" name="Group 24"/>
          <p:cNvGrpSpPr/>
          <p:nvPr/>
        </p:nvGrpSpPr>
        <p:grpSpPr>
          <a:xfrm>
            <a:off x="2496312" y="2788920"/>
            <a:ext cx="1828800" cy="960120"/>
            <a:chOff x="2496312" y="2788920"/>
            <a:chExt cx="1828800" cy="960120"/>
          </a:xfrm>
        </p:grpSpPr>
        <p:sp>
          <p:nvSpPr>
            <p:cNvPr id="26" name="Rounded Rectangle 25"/>
            <p:cNvSpPr/>
            <p:nvPr/>
          </p:nvSpPr>
          <p:spPr>
            <a:xfrm>
              <a:off x="2496312" y="2788920"/>
              <a:ext cx="1828800" cy="960120"/>
            </a:xfrm>
            <a:prstGeom prst="roundRect">
              <a:avLst>
                <a:gd name="adj" fmla="val 7619"/>
              </a:avLst>
            </a:prstGeom>
            <a:solidFill>
              <a:srgbClr val="FFF1E6"/>
            </a:solidFill>
            <a:ln w="22225">
              <a:solidFill>
                <a:srgbClr val="E8710A"/>
              </a:solidFill>
            </a:ln>
          </p:spPr>
          <p:txBody>
            <a:bodyPr rtlCol="0" anchor="ctr" lIns="54864" tIns="54864" rIns="54864" bIns="54864" wrap="square">
              <a:noAutofit/>
            </a:bodyPr>
            <a:lstStyle/>
            <a:p>
              <a:pPr algn="ctr"/>
              <a:r>
                <a:rPr sz="1350" b="1" i="0" lang="vi-VN">
                  <a:solidFill>
                    <a:srgbClr val="1E2B3A"/>
                  </a:solidFill>
                  <a:latin typeface="Arial"/>
                  <a:ea typeface="Arial"/>
                  <a:cs typeface="Arial"/>
                </a:rPr>
                <a:t>Giảm bù dần</a:t>
              </a:r>
              <a:r>
                <a:rPr sz="1350" b="0" i="0" lang="vi-VN">
                  <a:solidFill>
                    <a:srgbClr val="1E2B3A"/>
                  </a:solidFill>
                  <a:latin typeface="Arial"/>
                  <a:ea typeface="Arial"/>
                  <a:cs typeface="Arial"/>
                </a:rPr>
                <a:t> ★</a:t>
              </a:r>
            </a:p>
            <a:p>
              <a:pPr algn="ctr"/>
              <a:r>
                <a:rPr sz="1200" b="0" i="0" lang="vi-VN">
                  <a:solidFill>
                    <a:srgbClr val="5B6B7B"/>
                  </a:solidFill>
                  <a:latin typeface="Arial"/>
                  <a:ea typeface="Arial"/>
                  <a:cs typeface="Arial"/>
                </a:rPr>
                <a:t>giữ rồi giảm tuyến tính</a:t>
              </a:r>
            </a:p>
          </p:txBody>
        </p:sp>
      </p:grpSp>
      <p:grpSp>
        <p:nvGrpSpPr>
          <p:cNvPr id="27" name="Group 26"/>
          <p:cNvGrpSpPr/>
          <p:nvPr/>
        </p:nvGrpSpPr>
        <p:grpSpPr>
          <a:xfrm>
            <a:off x="612648" y="3886200"/>
            <a:ext cx="3694176" cy="960120"/>
            <a:chOff x="612648" y="3886200"/>
            <a:chExt cx="3694176" cy="960120"/>
          </a:xfrm>
        </p:grpSpPr>
        <p:sp>
          <p:nvSpPr>
            <p:cNvPr id="28" name="Rounded Rectangle 27"/>
            <p:cNvSpPr/>
            <p:nvPr/>
          </p:nvSpPr>
          <p:spPr>
            <a:xfrm>
              <a:off x="612648" y="3886200"/>
              <a:ext cx="1810512" cy="283464"/>
            </a:xfrm>
            <a:prstGeom prst="roundRect">
              <a:avLst>
                <a:gd name="adj" fmla="val 50000"/>
              </a:avLst>
            </a:prstGeom>
            <a:solidFill>
              <a:srgbClr val="EAF3FB"/>
            </a:solidFill>
            <a:ln>
              <a:noFill/>
            </a:ln>
          </p:spPr>
          <p:txBody>
            <a:bodyPr rtlCol="0" anchor="ctr" lIns="73152" tIns="18288" rIns="73152" bIns="18288" wrap="square">
              <a:noAutofit/>
            </a:bodyPr>
            <a:lstStyle/>
            <a:p>
              <a:pPr algn="ctr"/>
              <a:r>
                <a:rPr sz="1200" b="0" i="0" lang="vi-VN">
                  <a:solidFill>
                    <a:srgbClr val="0B2545"/>
                  </a:solidFill>
                  <a:latin typeface="Arial"/>
                  <a:ea typeface="Arial"/>
                  <a:cs typeface="Arial"/>
                </a:rPr>
                <a:t>giữ </a:t>
              </a:r>
              <a:r>
                <a:rPr sz="1200" b="0" i="1" lang="vi-VN">
                  <a:solidFill>
                    <a:srgbClr val="0B2545"/>
                  </a:solidFill>
                  <a:latin typeface="Cambria"/>
                  <a:ea typeface="Cambria"/>
                  <a:cs typeface="Cambria"/>
                </a:rPr>
                <a:t>T</a:t>
              </a:r>
              <a:r>
                <a:rPr sz="1200" b="0" i="0" lang="vi-VN" baseline="-25000">
                  <a:solidFill>
                    <a:srgbClr val="0B2545"/>
                  </a:solidFill>
                  <a:latin typeface="Cambria"/>
                  <a:ea typeface="Cambria"/>
                  <a:cs typeface="Cambria"/>
                </a:rPr>
                <a:t>h</a:t>
              </a:r>
              <a:r>
                <a:rPr sz="1200" b="0" i="0" lang="vi-VN">
                  <a:solidFill>
                    <a:srgbClr val="0B2545"/>
                  </a:solidFill>
                  <a:latin typeface="Arial"/>
                  <a:ea typeface="Arial"/>
                  <a:cs typeface="Arial"/>
                </a:rPr>
                <a:t> = 150 ms</a:t>
              </a:r>
            </a:p>
          </p:txBody>
        </p:sp>
        <p:sp>
          <p:nvSpPr>
            <p:cNvPr id="29" name="Rounded Rectangle 28"/>
            <p:cNvSpPr/>
            <p:nvPr/>
          </p:nvSpPr>
          <p:spPr>
            <a:xfrm>
              <a:off x="2496312" y="3886200"/>
              <a:ext cx="1810512" cy="283464"/>
            </a:xfrm>
            <a:prstGeom prst="roundRect">
              <a:avLst>
                <a:gd name="adj" fmla="val 50000"/>
              </a:avLst>
            </a:prstGeom>
            <a:solidFill>
              <a:srgbClr val="EAF3FB"/>
            </a:solidFill>
            <a:ln>
              <a:noFill/>
            </a:ln>
          </p:spPr>
          <p:txBody>
            <a:bodyPr rtlCol="0" anchor="ctr" lIns="73152" tIns="18288" rIns="73152" bIns="18288" wrap="square">
              <a:noAutofit/>
            </a:bodyPr>
            <a:lstStyle/>
            <a:p>
              <a:pPr algn="ctr"/>
              <a:r>
                <a:rPr sz="1200" b="0" i="0" lang="vi-VN">
                  <a:solidFill>
                    <a:srgbClr val="0B2545"/>
                  </a:solidFill>
                  <a:latin typeface="Arial"/>
                  <a:ea typeface="Arial"/>
                  <a:cs typeface="Arial"/>
                </a:rPr>
                <a:t>giảm </a:t>
              </a:r>
              <a:r>
                <a:rPr sz="1200" b="0" i="1" lang="vi-VN">
                  <a:solidFill>
                    <a:srgbClr val="0B2545"/>
                  </a:solidFill>
                  <a:latin typeface="Cambria"/>
                  <a:ea typeface="Cambria"/>
                  <a:cs typeface="Cambria"/>
                </a:rPr>
                <a:t>T</a:t>
              </a:r>
              <a:r>
                <a:rPr sz="1200" b="0" i="0" lang="vi-VN" baseline="-25000">
                  <a:solidFill>
                    <a:srgbClr val="0B2545"/>
                  </a:solidFill>
                  <a:latin typeface="Cambria"/>
                  <a:ea typeface="Cambria"/>
                  <a:cs typeface="Cambria"/>
                </a:rPr>
                <a:t>r</a:t>
              </a:r>
              <a:r>
                <a:rPr sz="1200" b="0" i="0" lang="vi-VN">
                  <a:solidFill>
                    <a:srgbClr val="0B2545"/>
                  </a:solidFill>
                  <a:latin typeface="Arial"/>
                  <a:ea typeface="Arial"/>
                  <a:cs typeface="Arial"/>
                </a:rPr>
                <a:t> = 50 ms</a:t>
              </a:r>
            </a:p>
          </p:txBody>
        </p:sp>
        <p:sp>
          <p:nvSpPr>
            <p:cNvPr id="30" name="Rounded Rectangle 29"/>
            <p:cNvSpPr/>
            <p:nvPr/>
          </p:nvSpPr>
          <p:spPr>
            <a:xfrm>
              <a:off x="612648" y="4224528"/>
              <a:ext cx="1810512" cy="283464"/>
            </a:xfrm>
            <a:prstGeom prst="roundRect">
              <a:avLst>
                <a:gd name="adj" fmla="val 50000"/>
              </a:avLst>
            </a:prstGeom>
            <a:solidFill>
              <a:srgbClr val="EAF3FB"/>
            </a:solidFill>
            <a:ln>
              <a:noFill/>
            </a:ln>
          </p:spPr>
          <p:txBody>
            <a:bodyPr rtlCol="0" anchor="ctr" lIns="73152" tIns="18288" rIns="73152" bIns="18288" wrap="square">
              <a:noAutofit/>
            </a:bodyPr>
            <a:lstStyle/>
            <a:p>
              <a:pPr algn="ctr"/>
              <a:r>
                <a:rPr sz="1200" b="0" i="1" lang="vi-VN">
                  <a:solidFill>
                    <a:srgbClr val="0B2545"/>
                  </a:solidFill>
                  <a:latin typeface="Cambria"/>
                  <a:ea typeface="Cambria"/>
                  <a:cs typeface="Cambria"/>
                </a:rPr>
                <a:t>ρ</a:t>
              </a:r>
              <a:r>
                <a:rPr sz="1200" b="0" i="0" lang="vi-VN" baseline="-25000">
                  <a:solidFill>
                    <a:srgbClr val="0B2545"/>
                  </a:solidFill>
                  <a:latin typeface="Cambria"/>
                  <a:ea typeface="Cambria"/>
                  <a:cs typeface="Cambria"/>
                </a:rPr>
                <a:t>I</a:t>
              </a:r>
              <a:r>
                <a:rPr sz="1200" b="0" i="0" lang="vi-VN">
                  <a:solidFill>
                    <a:srgbClr val="0B2545"/>
                  </a:solidFill>
                  <a:latin typeface="Arial"/>
                  <a:ea typeface="Arial"/>
                  <a:cs typeface="Arial"/>
                </a:rPr>
                <a:t> = 0,30</a:t>
              </a:r>
            </a:p>
          </p:txBody>
        </p:sp>
        <p:sp>
          <p:nvSpPr>
            <p:cNvPr id="31" name="Rounded Rectangle 30"/>
            <p:cNvSpPr/>
            <p:nvPr/>
          </p:nvSpPr>
          <p:spPr>
            <a:xfrm>
              <a:off x="2496312" y="4224528"/>
              <a:ext cx="1810512" cy="283464"/>
            </a:xfrm>
            <a:prstGeom prst="roundRect">
              <a:avLst>
                <a:gd name="adj" fmla="val 50000"/>
              </a:avLst>
            </a:prstGeom>
            <a:solidFill>
              <a:srgbClr val="EAF3FB"/>
            </a:solidFill>
            <a:ln>
              <a:noFill/>
            </a:ln>
          </p:spPr>
          <p:txBody>
            <a:bodyPr rtlCol="0" anchor="ctr" lIns="73152" tIns="18288" rIns="73152" bIns="18288" wrap="square">
              <a:noAutofit/>
            </a:bodyPr>
            <a:lstStyle/>
            <a:p>
              <a:pPr algn="ctr"/>
              <a:r>
                <a:rPr sz="1200" b="0" i="0" lang="vi-VN">
                  <a:solidFill>
                    <a:srgbClr val="0B2545"/>
                  </a:solidFill>
                  <a:latin typeface="Arial"/>
                  <a:ea typeface="Arial"/>
                  <a:cs typeface="Arial"/>
                </a:rPr>
                <a:t>xác nhận dừng 220 ms</a:t>
              </a:r>
            </a:p>
          </p:txBody>
        </p:sp>
        <p:sp>
          <p:nvSpPr>
            <p:cNvPr id="32" name="Rounded Rectangle 31"/>
            <p:cNvSpPr/>
            <p:nvPr/>
          </p:nvSpPr>
          <p:spPr>
            <a:xfrm>
              <a:off x="612648" y="4562856"/>
              <a:ext cx="1810512" cy="283464"/>
            </a:xfrm>
            <a:prstGeom prst="roundRect">
              <a:avLst>
                <a:gd name="adj" fmla="val 50000"/>
              </a:avLst>
            </a:prstGeom>
            <a:solidFill>
              <a:srgbClr val="EAF3FB"/>
            </a:solidFill>
            <a:ln>
              <a:noFill/>
            </a:ln>
          </p:spPr>
          <p:txBody>
            <a:bodyPr rtlCol="0" anchor="ctr" lIns="73152" tIns="18288" rIns="73152" bIns="18288" wrap="square">
              <a:noAutofit/>
            </a:bodyPr>
            <a:lstStyle/>
            <a:p>
              <a:pPr algn="ctr"/>
              <a:r>
                <a:rPr sz="1200" b="0" i="0" lang="vi-VN">
                  <a:solidFill>
                    <a:srgbClr val="0B2545"/>
                  </a:solidFill>
                  <a:latin typeface="Arial"/>
                  <a:ea typeface="Arial"/>
                  <a:cs typeface="Arial"/>
                </a:rPr>
                <a:t>cửa sổ </a:t>
              </a:r>
              <a:r>
                <a:rPr sz="1200" b="0" i="1" lang="vi-VN">
                  <a:solidFill>
                    <a:srgbClr val="0B2545"/>
                  </a:solidFill>
                  <a:latin typeface="Cambria"/>
                  <a:ea typeface="Cambria"/>
                  <a:cs typeface="Cambria"/>
                </a:rPr>
                <a:t>t</a:t>
              </a:r>
              <a:r>
                <a:rPr sz="1200" b="0" i="0" lang="vi-VN" baseline="-25000">
                  <a:solidFill>
                    <a:srgbClr val="0B2545"/>
                  </a:solidFill>
                  <a:latin typeface="Cambria"/>
                  <a:ea typeface="Cambria"/>
                  <a:cs typeface="Cambria"/>
                </a:rPr>
                <a:t>0</a:t>
              </a:r>
              <a:r>
                <a:rPr sz="1200" b="0" i="0" lang="vi-VN">
                  <a:solidFill>
                    <a:srgbClr val="0B2545"/>
                  </a:solidFill>
                  <a:latin typeface="Arial"/>
                  <a:ea typeface="Arial"/>
                  <a:cs typeface="Arial"/>
                </a:rPr>
                <a:t> ≤ 20 ms</a:t>
              </a:r>
            </a:p>
          </p:txBody>
        </p:sp>
        <p:sp>
          <p:nvSpPr>
            <p:cNvPr id="33" name="Rounded Rectangle 32"/>
            <p:cNvSpPr/>
            <p:nvPr/>
          </p:nvSpPr>
          <p:spPr>
            <a:xfrm>
              <a:off x="2496312" y="4562856"/>
              <a:ext cx="1810512" cy="283464"/>
            </a:xfrm>
            <a:prstGeom prst="roundRect">
              <a:avLst>
                <a:gd name="adj" fmla="val 50000"/>
              </a:avLst>
            </a:prstGeom>
            <a:solidFill>
              <a:srgbClr val="EAF3FB"/>
            </a:solidFill>
            <a:ln>
              <a:noFill/>
            </a:ln>
          </p:spPr>
          <p:txBody>
            <a:bodyPr rtlCol="0" anchor="ctr" lIns="73152" tIns="18288" rIns="73152" bIns="18288" wrap="square">
              <a:noAutofit/>
            </a:bodyPr>
            <a:lstStyle/>
            <a:p>
              <a:pPr algn="ctr"/>
              <a:r>
                <a:rPr sz="1200" b="0" i="0" lang="vi-VN">
                  <a:solidFill>
                    <a:srgbClr val="0B2545"/>
                  </a:solidFill>
                  <a:latin typeface="Arial"/>
                  <a:ea typeface="Arial"/>
                  <a:cs typeface="Arial"/>
                </a:rPr>
                <a:t>xác nhận dấu 2 chu kỳ</a:t>
              </a:r>
            </a:p>
          </p:txBody>
        </p:sp>
      </p:grpSp>
      <p:grpSp>
        <p:nvGrpSpPr>
          <p:cNvPr id="34" name="Group 33"/>
          <p:cNvGrpSpPr/>
          <p:nvPr/>
        </p:nvGrpSpPr>
        <p:grpSpPr>
          <a:xfrm>
            <a:off x="502920" y="5065776"/>
            <a:ext cx="3931920" cy="987552"/>
            <a:chOff x="502920" y="5065776"/>
            <a:chExt cx="3931920" cy="987552"/>
          </a:xfrm>
        </p:grpSpPr>
        <p:sp>
          <p:nvSpPr>
            <p:cNvPr id="35" name="Rounded Rectangle 34"/>
            <p:cNvSpPr/>
            <p:nvPr/>
          </p:nvSpPr>
          <p:spPr>
            <a:xfrm>
              <a:off x="502920" y="5065776"/>
              <a:ext cx="3931920" cy="987552"/>
            </a:xfrm>
            <a:prstGeom prst="roundRect">
              <a:avLst>
                <a:gd name="adj" fmla="val 9259"/>
              </a:avLst>
            </a:prstGeom>
            <a:solidFill>
              <a:srgbClr val="FFF1E6"/>
            </a:solidFill>
            <a:ln w="19050">
              <a:solidFill>
                <a:srgbClr val="E8710A"/>
              </a:solidFill>
            </a:ln>
          </p:spPr>
          <p:txBody>
            <a:bodyPr rtlCol="0" anchor="ctr" lIns="54864" tIns="54864" rIns="54864" bIns="54864" wrap="square">
              <a:noAutofit/>
            </a:bodyPr>
            <a:lstStyle/>
            <a:p>
              <a:pPr algn="ctr"/>
            </a:p>
          </p:txBody>
        </p:sp>
        <p:pic>
          <p:nvPicPr>
            <p:cNvPr id="36" name="Picture 35" descr="check_B45309.png"/>
            <p:cNvPicPr>
              <a:picLocks noChangeAspect="1"/>
            </p:cNvPicPr>
            <p:nvPr/>
          </p:nvPicPr>
          <p:blipFill>
            <a:blip r:embed="rId4"/>
            <a:stretch>
              <a:fillRect/>
            </a:stretch>
          </p:blipFill>
          <p:spPr>
            <a:xfrm>
              <a:off x="640080" y="5120640"/>
              <a:ext cx="237744" cy="237744"/>
            </a:xfrm>
            <a:prstGeom prst="rect">
              <a:avLst/>
            </a:prstGeom>
          </p:spPr>
        </p:pic>
        <p:sp>
          <p:nvSpPr>
            <p:cNvPr id="37" name="TextBox 36"/>
            <p:cNvSpPr txBox="1"/>
            <p:nvPr/>
          </p:nvSpPr>
          <p:spPr>
            <a:xfrm>
              <a:off x="969264" y="5093208"/>
              <a:ext cx="3328416" cy="292608"/>
            </a:xfrm>
            <a:prstGeom prst="rect">
              <a:avLst/>
            </a:prstGeom>
            <a:noFill/>
          </p:spPr>
          <p:txBody>
            <a:bodyPr wrap="square" lIns="0" tIns="0" rIns="0" bIns="0" anchor="ctr">
              <a:noAutofit/>
            </a:bodyPr>
            <a:lstStyle/>
            <a:p>
              <a:pPr algn="l"/>
              <a:r>
                <a:rPr sz="1250" b="1" i="0" lang="vi-VN" spc="40">
                  <a:solidFill>
                    <a:srgbClr val="B45309"/>
                  </a:solidFill>
                  <a:latin typeface="Arial"/>
                  <a:ea typeface="Arial"/>
                  <a:cs typeface="Arial"/>
                </a:rPr>
                <a:t>LỰA CHỌN</a:t>
              </a:r>
            </a:p>
          </p:txBody>
        </p:sp>
        <p:sp>
          <p:nvSpPr>
            <p:cNvPr id="38" name="TextBox 37"/>
            <p:cNvSpPr txBox="1"/>
            <p:nvPr/>
          </p:nvSpPr>
          <p:spPr>
            <a:xfrm>
              <a:off x="667512" y="5376672"/>
              <a:ext cx="3639312" cy="658368"/>
            </a:xfrm>
            <a:prstGeom prst="rect">
              <a:avLst/>
            </a:prstGeom>
            <a:noFill/>
          </p:spPr>
          <p:txBody>
            <a:bodyPr wrap="square" lIns="0" tIns="0" rIns="0" bIns="0" anchor="t">
              <a:noAutofit/>
            </a:bodyPr>
            <a:lstStyle/>
            <a:p>
              <a:pPr algn="l">
                <a:lnSpc>
                  <a:spcPct val="96000"/>
                </a:lnSpc>
              </a:pPr>
              <a:r>
                <a:rPr sz="1350" b="1" i="0" lang="vi-VN">
                  <a:solidFill>
                    <a:srgbClr val="1E2B3A"/>
                  </a:solidFill>
                  <a:latin typeface="Arial"/>
                  <a:ea typeface="Arial"/>
                  <a:cs typeface="Arial"/>
                </a:rPr>
                <a:t>Giảm bù dần (giữ 150 ms, giảm 50 ms); xác nhận dừng 220 ms; đảo chiều xác nhận 2 chu kỳ</a:t>
              </a:r>
            </a:p>
          </p:txBody>
        </p:sp>
      </p:grpSp>
      <p:grpSp>
        <p:nvGrpSpPr>
          <p:cNvPr id="39" name="Group 38"/>
          <p:cNvGrpSpPr/>
          <p:nvPr/>
        </p:nvGrpSpPr>
        <p:grpSpPr>
          <a:xfrm>
            <a:off x="4617720" y="1261872"/>
            <a:ext cx="7086600" cy="3657600"/>
            <a:chOff x="4617720" y="1261872"/>
            <a:chExt cx="7086600" cy="3657600"/>
          </a:xfrm>
        </p:grpSpPr>
        <p:sp>
          <p:nvSpPr>
            <p:cNvPr id="40" name="Rounded Rectangle 39"/>
            <p:cNvSpPr/>
            <p:nvPr/>
          </p:nvSpPr>
          <p:spPr>
            <a:xfrm>
              <a:off x="4617720" y="1261872"/>
              <a:ext cx="7086600" cy="3657600"/>
            </a:xfrm>
            <a:prstGeom prst="roundRect">
              <a:avLst>
                <a:gd name="adj" fmla="val 250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41" name="Picture 40" descr="cogs_0B2545.png"/>
            <p:cNvPicPr>
              <a:picLocks noChangeAspect="1"/>
            </p:cNvPicPr>
            <p:nvPr/>
          </p:nvPicPr>
          <p:blipFill>
            <a:blip r:embed="rId5"/>
            <a:stretch>
              <a:fillRect/>
            </a:stretch>
          </p:blipFill>
          <p:spPr>
            <a:xfrm>
              <a:off x="4754880" y="1335024"/>
              <a:ext cx="237744" cy="237744"/>
            </a:xfrm>
            <a:prstGeom prst="rect">
              <a:avLst/>
            </a:prstGeom>
          </p:spPr>
        </p:pic>
        <p:sp>
          <p:nvSpPr>
            <p:cNvPr id="42" name="TextBox 41"/>
            <p:cNvSpPr txBox="1"/>
            <p:nvPr/>
          </p:nvSpPr>
          <p:spPr>
            <a:xfrm>
              <a:off x="5084064" y="1307592"/>
              <a:ext cx="4791456" cy="292608"/>
            </a:xfrm>
            <a:prstGeom prst="rect">
              <a:avLst/>
            </a:prstGeom>
            <a:noFill/>
          </p:spPr>
          <p:txBody>
            <a:bodyPr wrap="square" lIns="0" tIns="0" rIns="0" bIns="0" anchor="ctr">
              <a:noAutofit/>
            </a:bodyPr>
            <a:lstStyle/>
            <a:p>
              <a:pPr algn="l"/>
              <a:r>
                <a:rPr sz="1250" b="1" i="0" lang="vi-VN" spc="40">
                  <a:solidFill>
                    <a:srgbClr val="0B2545"/>
                  </a:solidFill>
                  <a:latin typeface="Arial"/>
                  <a:ea typeface="Arial"/>
                  <a:cs typeface="Arial"/>
                </a:rPr>
                <a:t>HỆ THẬT · DỪNG ĐỘT NGỘT, 12 LẦN THỬ (HÌNH 3.17)</a:t>
              </a:r>
            </a:p>
          </p:txBody>
        </p:sp>
      </p:grpSp>
      <p:pic>
        <p:nvPicPr>
          <p:cNvPr id="43" name="Picture 42" descr="fig_stop.png"/>
          <p:cNvPicPr>
            <a:picLocks noChangeAspect="1"/>
          </p:cNvPicPr>
          <p:nvPr/>
        </p:nvPicPr>
        <p:blipFill>
          <a:blip r:embed="rId6"/>
          <a:srcRect t="7500"/>
          <a:stretch>
            <a:fillRect/>
          </a:stretch>
        </p:blipFill>
        <p:spPr>
          <a:xfrm>
            <a:off x="4983480" y="1719072"/>
            <a:ext cx="6355080" cy="3127103"/>
          </a:xfrm>
          <a:prstGeom prst="rect">
            <a:avLst/>
          </a:prstGeom>
        </p:spPr>
      </p:pic>
      <p:grpSp>
        <p:nvGrpSpPr>
          <p:cNvPr id="44" name="Group 43"/>
          <p:cNvGrpSpPr/>
          <p:nvPr/>
        </p:nvGrpSpPr>
        <p:grpSpPr>
          <a:xfrm>
            <a:off x="7818120" y="1828800"/>
            <a:ext cx="3538728" cy="566928"/>
            <a:chOff x="7818120" y="1828800"/>
            <a:chExt cx="3538728" cy="566928"/>
          </a:xfrm>
        </p:grpSpPr>
        <p:sp>
          <p:nvSpPr>
            <p:cNvPr id="45" name="Oval 44"/>
            <p:cNvSpPr/>
            <p:nvPr/>
          </p:nvSpPr>
          <p:spPr>
            <a:xfrm>
              <a:off x="7818120" y="1828800"/>
              <a:ext cx="1417320" cy="566928"/>
            </a:xfrm>
            <a:prstGeom prst="ellipse">
              <a:avLst/>
            </a:prstGeom>
            <a:noFill/>
            <a:ln w="31750">
              <a:solidFill>
                <a:srgbClr val="C62828"/>
              </a:solidFill>
            </a:ln>
          </p:spPr>
          <p:txBody>
            <a:bodyPr rtlCol="0" anchor="ctr" lIns="54864" tIns="54864" rIns="54864" bIns="54864" wrap="square">
              <a:noAutofit/>
            </a:bodyPr>
            <a:lstStyle/>
            <a:p>
              <a:pPr algn="ctr"/>
            </a:p>
          </p:txBody>
        </p:sp>
        <p:sp>
          <p:nvSpPr>
            <p:cNvPr id="46" name="Rounded Rectangle 45"/>
            <p:cNvSpPr/>
            <p:nvPr/>
          </p:nvSpPr>
          <p:spPr>
            <a:xfrm>
              <a:off x="9253728" y="1828800"/>
              <a:ext cx="2103120" cy="310896"/>
            </a:xfrm>
            <a:prstGeom prst="roundRect">
              <a:avLst>
                <a:gd name="adj" fmla="val 50000"/>
              </a:avLst>
            </a:prstGeom>
            <a:solidFill>
              <a:srgbClr val="C62828"/>
            </a:solidFill>
            <a:ln>
              <a:noFill/>
            </a:ln>
          </p:spPr>
          <p:txBody>
            <a:bodyPr rtlCol="0" anchor="ctr" lIns="73152" tIns="18288" rIns="73152" bIns="18288" wrap="square">
              <a:noAutofit/>
            </a:bodyPr>
            <a:lstStyle/>
            <a:p>
              <a:pPr algn="ctr"/>
              <a:r>
                <a:rPr sz="1150" b="1" i="0" lang="vi-VN">
                  <a:solidFill>
                    <a:srgbClr val="FFFFFF"/>
                  </a:solidFill>
                  <a:latin typeface="Arial"/>
                  <a:ea typeface="Arial"/>
                  <a:cs typeface="Arial"/>
                </a:rPr>
                <a:t>không xử lý: vượt ngược</a:t>
              </a:r>
            </a:p>
          </p:txBody>
        </p:sp>
      </p:grpSp>
      <p:grpSp>
        <p:nvGrpSpPr>
          <p:cNvPr id="47" name="Group 46"/>
          <p:cNvGrpSpPr/>
          <p:nvPr/>
        </p:nvGrpSpPr>
        <p:grpSpPr>
          <a:xfrm>
            <a:off x="4617720" y="5029200"/>
            <a:ext cx="1668780" cy="1024128"/>
            <a:chOff x="4617720" y="5029200"/>
            <a:chExt cx="1668780" cy="1024128"/>
          </a:xfrm>
        </p:grpSpPr>
        <p:sp>
          <p:nvSpPr>
            <p:cNvPr id="48" name="Rounded Rectangle 47"/>
            <p:cNvSpPr/>
            <p:nvPr/>
          </p:nvSpPr>
          <p:spPr>
            <a:xfrm>
              <a:off x="461772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9" name="TextBox 48"/>
            <p:cNvSpPr txBox="1"/>
            <p:nvPr/>
          </p:nvSpPr>
          <p:spPr>
            <a:xfrm>
              <a:off x="4672584" y="5065776"/>
              <a:ext cx="1559052" cy="566928"/>
            </a:xfrm>
            <a:prstGeom prst="rect">
              <a:avLst/>
            </a:prstGeom>
            <a:noFill/>
          </p:spPr>
          <p:txBody>
            <a:bodyPr wrap="square" lIns="0" tIns="0" rIns="0" bIns="0" anchor="ctr">
              <a:noAutofit/>
            </a:bodyPr>
            <a:lstStyle/>
            <a:p>
              <a:pPr algn="ctr">
                <a:lnSpc>
                  <a:spcPct val="92000"/>
                </a:lnSpc>
              </a:pPr>
              <a:r>
                <a:rPr sz="1500" b="1" i="0" lang="vi-VN">
                  <a:solidFill>
                    <a:srgbClr val="1F5FAF"/>
                  </a:solidFill>
                  <a:latin typeface="Arial"/>
                  <a:ea typeface="Arial"/>
                  <a:cs typeface="Arial"/>
                </a:rPr>
                <a:t>●</a:t>
              </a:r>
              <a:r>
                <a:rPr sz="1500" b="1" i="0" lang="vi-VN">
                  <a:solidFill>
                    <a:srgbClr val="E8710A"/>
                  </a:solidFill>
                  <a:latin typeface="Arial"/>
                  <a:ea typeface="Arial"/>
                  <a:cs typeface="Arial"/>
                </a:rPr>
                <a:t> −52,4 %</a:t>
              </a:r>
            </a:p>
            <a:p>
              <a:pPr algn="ctr">
                <a:lnSpc>
                  <a:spcPct val="92000"/>
                </a:lnSpc>
              </a:pPr>
              <a:r>
                <a:rPr sz="1500" b="1" i="0" lang="vi-VN">
                  <a:solidFill>
                    <a:srgbClr val="2E8B57"/>
                  </a:solidFill>
                  <a:latin typeface="Arial"/>
                  <a:ea typeface="Arial"/>
                  <a:cs typeface="Arial"/>
                </a:rPr>
                <a:t>■</a:t>
              </a:r>
              <a:r>
                <a:rPr sz="1500" b="1" i="0" lang="vi-VN">
                  <a:solidFill>
                    <a:srgbClr val="E8710A"/>
                  </a:solidFill>
                  <a:latin typeface="Arial"/>
                  <a:ea typeface="Arial"/>
                  <a:cs typeface="Arial"/>
                </a:rPr>
                <a:t> −58,7 %</a:t>
              </a:r>
            </a:p>
          </p:txBody>
        </p:sp>
        <p:sp>
          <p:nvSpPr>
            <p:cNvPr id="50" name="TextBox 49"/>
            <p:cNvSpPr txBox="1"/>
            <p:nvPr/>
          </p:nvSpPr>
          <p:spPr>
            <a:xfrm>
              <a:off x="4690872" y="5650992"/>
              <a:ext cx="1522476" cy="384048"/>
            </a:xfrm>
            <a:prstGeom prst="rect">
              <a:avLst/>
            </a:prstGeom>
            <a:noFill/>
          </p:spPr>
          <p:txBody>
            <a:bodyPr wrap="square" lIns="0" tIns="0" rIns="0" bIns="0" anchor="t">
              <a:noAutofit/>
            </a:bodyPr>
            <a:lstStyle/>
            <a:p>
              <a:pPr algn="ctr">
                <a:lnSpc>
                  <a:spcPct val="92000"/>
                </a:lnSpc>
              </a:pPr>
              <a:r>
                <a:rPr sz="1150" b="0" i="0" lang="vi-VN">
                  <a:solidFill>
                    <a:srgbClr val="1E2B3A"/>
                  </a:solidFill>
                  <a:latin typeface="Arial"/>
                  <a:ea typeface="Arial"/>
                  <a:cs typeface="Arial"/>
                </a:rPr>
                <a:t>thời gian phục hồi sau dừng</a:t>
              </a:r>
            </a:p>
          </p:txBody>
        </p:sp>
      </p:grpSp>
      <p:grpSp>
        <p:nvGrpSpPr>
          <p:cNvPr id="51" name="Group 50"/>
          <p:cNvGrpSpPr/>
          <p:nvPr/>
        </p:nvGrpSpPr>
        <p:grpSpPr>
          <a:xfrm>
            <a:off x="6423660" y="5029200"/>
            <a:ext cx="1668780" cy="1024128"/>
            <a:chOff x="6423660" y="5029200"/>
            <a:chExt cx="1668780" cy="1024128"/>
          </a:xfrm>
        </p:grpSpPr>
        <p:sp>
          <p:nvSpPr>
            <p:cNvPr id="52" name="Rounded Rectangle 51"/>
            <p:cNvSpPr/>
            <p:nvPr/>
          </p:nvSpPr>
          <p:spPr>
            <a:xfrm>
              <a:off x="642366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3" name="TextBox 52"/>
            <p:cNvSpPr txBox="1"/>
            <p:nvPr/>
          </p:nvSpPr>
          <p:spPr>
            <a:xfrm>
              <a:off x="6478524" y="5084064"/>
              <a:ext cx="1559052" cy="457200"/>
            </a:xfrm>
            <a:prstGeom prst="rect">
              <a:avLst/>
            </a:prstGeom>
            <a:noFill/>
          </p:spPr>
          <p:txBody>
            <a:bodyPr wrap="square" lIns="0" tIns="0" rIns="0" bIns="0" anchor="ctr">
              <a:noAutofit/>
            </a:bodyPr>
            <a:lstStyle/>
            <a:p>
              <a:pPr algn="ctr"/>
              <a:r>
                <a:rPr sz="2400" b="1" i="0" lang="vi-VN">
                  <a:solidFill>
                    <a:srgbClr val="1E7B34"/>
                  </a:solidFill>
                  <a:latin typeface="Arial"/>
                  <a:ea typeface="Arial"/>
                  <a:cs typeface="Arial"/>
                </a:rPr>
                <a:t>12/12</a:t>
              </a:r>
            </a:p>
          </p:txBody>
        </p:sp>
        <p:sp>
          <p:nvSpPr>
            <p:cNvPr id="54" name="TextBox 53"/>
            <p:cNvSpPr txBox="1"/>
            <p:nvPr/>
          </p:nvSpPr>
          <p:spPr>
            <a:xfrm>
              <a:off x="649681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xác nhận dừng (trước: 7/12, 8/12)</a:t>
              </a:r>
            </a:p>
          </p:txBody>
        </p:sp>
      </p:grpSp>
      <p:grpSp>
        <p:nvGrpSpPr>
          <p:cNvPr id="55" name="Group 54"/>
          <p:cNvGrpSpPr/>
          <p:nvPr/>
        </p:nvGrpSpPr>
        <p:grpSpPr>
          <a:xfrm>
            <a:off x="8229600" y="5029200"/>
            <a:ext cx="1668780" cy="1024128"/>
            <a:chOff x="8229600" y="5029200"/>
            <a:chExt cx="1668780" cy="1024128"/>
          </a:xfrm>
        </p:grpSpPr>
        <p:sp>
          <p:nvSpPr>
            <p:cNvPr id="56" name="Rounded Rectangle 55"/>
            <p:cNvSpPr/>
            <p:nvPr/>
          </p:nvSpPr>
          <p:spPr>
            <a:xfrm>
              <a:off x="822960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7" name="TextBox 56"/>
            <p:cNvSpPr txBox="1"/>
            <p:nvPr/>
          </p:nvSpPr>
          <p:spPr>
            <a:xfrm>
              <a:off x="8284464" y="5065776"/>
              <a:ext cx="1559052" cy="566928"/>
            </a:xfrm>
            <a:prstGeom prst="rect">
              <a:avLst/>
            </a:prstGeom>
            <a:noFill/>
          </p:spPr>
          <p:txBody>
            <a:bodyPr wrap="square" lIns="0" tIns="0" rIns="0" bIns="0" anchor="ctr">
              <a:noAutofit/>
            </a:bodyPr>
            <a:lstStyle/>
            <a:p>
              <a:pPr algn="ctr">
                <a:lnSpc>
                  <a:spcPct val="92000"/>
                </a:lnSpc>
              </a:pPr>
              <a:r>
                <a:rPr sz="1500" b="1" i="0" lang="vi-VN">
                  <a:solidFill>
                    <a:srgbClr val="1F5FAF"/>
                  </a:solidFill>
                  <a:latin typeface="Arial"/>
                  <a:ea typeface="Arial"/>
                  <a:cs typeface="Arial"/>
                </a:rPr>
                <a:t>●</a:t>
              </a:r>
              <a:r>
                <a:rPr sz="1500" b="1" i="0" lang="vi-VN">
                  <a:solidFill>
                    <a:srgbClr val="E8710A"/>
                  </a:solidFill>
                  <a:latin typeface="Arial"/>
                  <a:ea typeface="Arial"/>
                  <a:cs typeface="Arial"/>
                </a:rPr>
                <a:t> −4,1 %</a:t>
              </a:r>
            </a:p>
            <a:p>
              <a:pPr algn="ctr">
                <a:lnSpc>
                  <a:spcPct val="92000"/>
                </a:lnSpc>
              </a:pPr>
              <a:r>
                <a:rPr sz="1500" b="1" i="0" lang="vi-VN">
                  <a:solidFill>
                    <a:srgbClr val="2E8B57"/>
                  </a:solidFill>
                  <a:latin typeface="Arial"/>
                  <a:ea typeface="Arial"/>
                  <a:cs typeface="Arial"/>
                </a:rPr>
                <a:t>■</a:t>
              </a:r>
              <a:r>
                <a:rPr sz="1500" b="1" i="0" lang="vi-VN">
                  <a:solidFill>
                    <a:srgbClr val="E8710A"/>
                  </a:solidFill>
                  <a:latin typeface="Arial"/>
                  <a:ea typeface="Arial"/>
                  <a:cs typeface="Arial"/>
                </a:rPr>
                <a:t> −2,8 %</a:t>
              </a:r>
            </a:p>
          </p:txBody>
        </p:sp>
        <p:sp>
          <p:nvSpPr>
            <p:cNvPr id="58" name="TextBox 57"/>
            <p:cNvSpPr txBox="1"/>
            <p:nvPr/>
          </p:nvSpPr>
          <p:spPr>
            <a:xfrm>
              <a:off x="8302752" y="5650992"/>
              <a:ext cx="1522476" cy="384048"/>
            </a:xfrm>
            <a:prstGeom prst="rect">
              <a:avLst/>
            </a:prstGeom>
            <a:noFill/>
          </p:spPr>
          <p:txBody>
            <a:bodyPr wrap="square" lIns="0" tIns="0" rIns="0" bIns="0" anchor="t">
              <a:noAutofit/>
            </a:bodyPr>
            <a:lstStyle/>
            <a:p>
              <a:pPr algn="ctr">
                <a:lnSpc>
                  <a:spcPct val="92000"/>
                </a:lnSpc>
              </a:pPr>
              <a:r>
                <a:rPr sz="1150" b="0" i="1" lang="vi-VN">
                  <a:solidFill>
                    <a:srgbClr val="1E2B3A"/>
                  </a:solidFill>
                  <a:latin typeface="Cambria"/>
                  <a:ea typeface="Cambria"/>
                  <a:cs typeface="Cambria"/>
                </a:rPr>
                <a:t>e</a:t>
              </a:r>
              <a:r>
                <a:rPr sz="1150" b="0" i="0" lang="vi-VN" baseline="-25000">
                  <a:solidFill>
                    <a:srgbClr val="1E2B3A"/>
                  </a:solidFill>
                  <a:latin typeface="Cambria"/>
                  <a:ea typeface="Cambria"/>
                  <a:cs typeface="Cambria"/>
                </a:rPr>
                <a:t>max</a:t>
              </a:r>
              <a:r>
                <a:rPr sz="1150" b="0" i="0" lang="vi-VN">
                  <a:solidFill>
                    <a:srgbClr val="1E2B3A"/>
                  </a:solidFill>
                  <a:latin typeface="Arial"/>
                  <a:ea typeface="Arial"/>
                  <a:cs typeface="Arial"/>
                </a:rPr>
                <a:t> khi đảo chiều</a:t>
              </a:r>
            </a:p>
          </p:txBody>
        </p:sp>
      </p:grpSp>
      <p:grpSp>
        <p:nvGrpSpPr>
          <p:cNvPr id="59" name="Group 58"/>
          <p:cNvGrpSpPr/>
          <p:nvPr/>
        </p:nvGrpSpPr>
        <p:grpSpPr>
          <a:xfrm>
            <a:off x="10035540" y="5029200"/>
            <a:ext cx="1668780" cy="1024128"/>
            <a:chOff x="10035540" y="5029200"/>
            <a:chExt cx="1668780" cy="1024128"/>
          </a:xfrm>
        </p:grpSpPr>
        <p:sp>
          <p:nvSpPr>
            <p:cNvPr id="60" name="Rounded Rectangle 59"/>
            <p:cNvSpPr/>
            <p:nvPr/>
          </p:nvSpPr>
          <p:spPr>
            <a:xfrm>
              <a:off x="1003554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61" name="TextBox 60"/>
            <p:cNvSpPr txBox="1"/>
            <p:nvPr/>
          </p:nvSpPr>
          <p:spPr>
            <a:xfrm>
              <a:off x="10090404" y="5084064"/>
              <a:ext cx="1559052" cy="457200"/>
            </a:xfrm>
            <a:prstGeom prst="rect">
              <a:avLst/>
            </a:prstGeom>
            <a:noFill/>
          </p:spPr>
          <p:txBody>
            <a:bodyPr wrap="square" lIns="0" tIns="0" rIns="0" bIns="0" anchor="ctr">
              <a:noAutofit/>
            </a:bodyPr>
            <a:lstStyle/>
            <a:p>
              <a:pPr algn="ctr"/>
              <a:r>
                <a:rPr sz="2400" b="1" i="0" lang="vi-VN">
                  <a:solidFill>
                    <a:srgbClr val="0B2545"/>
                  </a:solidFill>
                  <a:latin typeface="Arial"/>
                  <a:ea typeface="Arial"/>
                  <a:cs typeface="Arial"/>
                </a:rPr>
                <a:t>≈ 2,40°</a:t>
              </a:r>
            </a:p>
          </p:txBody>
        </p:sp>
        <p:sp>
          <p:nvSpPr>
            <p:cNvPr id="62" name="TextBox 61"/>
            <p:cNvSpPr txBox="1"/>
            <p:nvPr/>
          </p:nvSpPr>
          <p:spPr>
            <a:xfrm>
              <a:off x="1010869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sai lệch đỉnh không đổi (xảy ra lúc hãm)</a:t>
              </a:r>
            </a:p>
          </p:txBody>
        </p:sp>
      </p:grpSp>
      <p:sp>
        <p:nvSpPr>
          <p:cNvPr id="74"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23</a:t>
            </a:fld>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childTnLst>
                          </p:cTn>
                        </p:par>
                        <p:par>
                          <p:cTn id="13" fill="hold">
                            <p:stCondLst>
                              <p:cond delay="350"/>
                            </p:stCondLst>
                            <p:childTnLst>
                              <p:par>
                                <p:cTn id="14" presetID="22" presetClass="entr" presetSubtype="8"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450"/>
                                        <p:tgtEl>
                                          <p:spTgt spid="23"/>
                                        </p:tgtEl>
                                      </p:cBhvr>
                                    </p:animEffect>
                                  </p:childTnLst>
                                </p:cTn>
                              </p:par>
                            </p:childTnLst>
                          </p:cTn>
                        </p:par>
                        <p:par>
                          <p:cTn id="17" fill="hold">
                            <p:stCondLst>
                              <p:cond delay="800"/>
                            </p:stCondLst>
                            <p:childTnLst>
                              <p:par>
                                <p:cTn id="18" presetID="22" presetClass="entr" presetSubtype="8"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left)">
                                      <p:cBhvr>
                                        <p:cTn id="20" dur="450"/>
                                        <p:tgtEl>
                                          <p:spTgt spid="25"/>
                                        </p:tgtEl>
                                      </p:cBhvr>
                                    </p:animEffect>
                                  </p:childTnLst>
                                </p:cTn>
                              </p:par>
                            </p:childTnLst>
                          </p:cTn>
                        </p:par>
                        <p:par>
                          <p:cTn id="21" fill="hold">
                            <p:stCondLst>
                              <p:cond delay="1250"/>
                            </p:stCondLst>
                            <p:childTnLst>
                              <p:par>
                                <p:cTn id="22" presetID="22" presetClass="entr" presetSubtype="8" fill="hold" grpId="0"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left)">
                                      <p:cBhvr>
                                        <p:cTn id="24" dur="45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400"/>
                                        <p:tgtEl>
                                          <p:spTgt spid="34"/>
                                        </p:tgtEl>
                                      </p:cBhvr>
                                    </p:animEffect>
                                    <p:anim calcmode="lin" valueType="num">
                                      <p:cBhvr>
                                        <p:cTn id="30" dur="400" fill="hold"/>
                                        <p:tgtEl>
                                          <p:spTgt spid="34"/>
                                        </p:tgtEl>
                                        <p:attrNameLst>
                                          <p:attrName>ppt_w</p:attrName>
                                        </p:attrNameLst>
                                      </p:cBhvr>
                                      <p:tavLst>
                                        <p:tav tm="0">
                                          <p:val>
                                            <p:strVal val="0"/>
                                          </p:val>
                                        </p:tav>
                                        <p:tav tm="100000">
                                          <p:val>
                                            <p:strVal val="#ppt_w"/>
                                          </p:val>
                                        </p:tav>
                                      </p:tavLst>
                                    </p:anim>
                                    <p:anim calcmode="lin" valueType="num">
                                      <p:cBhvr>
                                        <p:cTn id="31" dur="400" fill="hold"/>
                                        <p:tgtEl>
                                          <p:spTgt spid="34"/>
                                        </p:tgtEl>
                                        <p:attrNameLst>
                                          <p:attrName>ppt_h</p:attrName>
                                        </p:attrNameLst>
                                      </p:cBhvr>
                                      <p:tavLst>
                                        <p:tav tm="0">
                                          <p:val>
                                            <p:strVal val="0"/>
                                          </p:val>
                                        </p:tav>
                                        <p:tav tm="100000">
                                          <p:val>
                                            <p:strVal val="#ppt_h"/>
                                          </p:val>
                                        </p:tav>
                                      </p:tavLst>
                                    </p:anim>
                                  </p:childTnLst>
                                </p:cTn>
                              </p:par>
                            </p:childTnLst>
                          </p:cTn>
                        </p:par>
                        <p:par>
                          <p:cTn id="32" fill="hold">
                            <p:stCondLst>
                              <p:cond delay="400"/>
                            </p:stCondLst>
                            <p:childTnLst>
                              <p:par>
                                <p:cTn id="33" presetID="6" presetClass="emph" presetSubtype="0" fill="hold" grpId="1" nodeType="afterEffect">
                                  <p:stCondLst>
                                    <p:cond delay="0"/>
                                  </p:stCondLst>
                                  <p:childTnLst>
                                    <p:animScale>
                                      <p:cBhvr>
                                        <p:cTn id="34" dur="250" autoRev="1" fill="hold"/>
                                        <p:tgtEl>
                                          <p:spTgt spid="34"/>
                                        </p:tgtEl>
                                      </p:cBhvr>
                                      <p:by x="112000" y="112000"/>
                                    </p:animScale>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childTnLst>
                          </p:cTn>
                        </p:par>
                        <p:par>
                          <p:cTn id="40" fill="hold">
                            <p:stCondLst>
                              <p:cond delay="350"/>
                            </p:stCondLst>
                            <p:childTnLst>
                              <p:par>
                                <p:cTn id="41" presetID="10" presetClass="entr" presetSubtype="0" fill="hold" grpId="0" nodeType="after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450"/>
                                        <p:tgtEl>
                                          <p:spTgt spid="4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wipe(left)">
                                      <p:cBhvr>
                                        <p:cTn id="48" dur="700"/>
                                        <p:tgtEl>
                                          <p:spTgt spid="44"/>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380"/>
                                        <p:tgtEl>
                                          <p:spTgt spid="47"/>
                                        </p:tgtEl>
                                      </p:cBhvr>
                                    </p:animEffect>
                                    <p:anim calcmode="lin" valueType="num">
                                      <p:cBhvr>
                                        <p:cTn id="54" dur="380" fill="hold"/>
                                        <p:tgtEl>
                                          <p:spTgt spid="47"/>
                                        </p:tgtEl>
                                        <p:attrNameLst>
                                          <p:attrName>ppt_w</p:attrName>
                                        </p:attrNameLst>
                                      </p:cBhvr>
                                      <p:tavLst>
                                        <p:tav tm="0">
                                          <p:val>
                                            <p:strVal val="0"/>
                                          </p:val>
                                        </p:tav>
                                        <p:tav tm="100000">
                                          <p:val>
                                            <p:strVal val="#ppt_w"/>
                                          </p:val>
                                        </p:tav>
                                      </p:tavLst>
                                    </p:anim>
                                    <p:anim calcmode="lin" valueType="num">
                                      <p:cBhvr>
                                        <p:cTn id="55" dur="380" fill="hold"/>
                                        <p:tgtEl>
                                          <p:spTgt spid="47"/>
                                        </p:tgtEl>
                                        <p:attrNameLst>
                                          <p:attrName>ppt_h</p:attrName>
                                        </p:attrNameLst>
                                      </p:cBhvr>
                                      <p:tavLst>
                                        <p:tav tm="0">
                                          <p:val>
                                            <p:strVal val="0"/>
                                          </p:val>
                                        </p:tav>
                                        <p:tav tm="100000">
                                          <p:val>
                                            <p:strVal val="#ppt_h"/>
                                          </p:val>
                                        </p:tav>
                                      </p:tavLst>
                                    </p:anim>
                                  </p:childTnLst>
                                </p:cTn>
                              </p:par>
                              <p:par>
                                <p:cTn id="56" presetID="53" presetClass="entr" presetSubtype="16" fill="hold" grpId="0" nodeType="withEffect">
                                  <p:stCondLst>
                                    <p:cond delay="140"/>
                                  </p:stCondLst>
                                  <p:childTnLst>
                                    <p:set>
                                      <p:cBhvr>
                                        <p:cTn id="57" dur="1" fill="hold">
                                          <p:stCondLst>
                                            <p:cond delay="0"/>
                                          </p:stCondLst>
                                        </p:cTn>
                                        <p:tgtEl>
                                          <p:spTgt spid="51"/>
                                        </p:tgtEl>
                                        <p:attrNameLst>
                                          <p:attrName>style.visibility</p:attrName>
                                        </p:attrNameLst>
                                      </p:cBhvr>
                                      <p:to>
                                        <p:strVal val="visible"/>
                                      </p:to>
                                    </p:set>
                                    <p:animEffect transition="in" filter="fade">
                                      <p:cBhvr>
                                        <p:cTn id="58" dur="380"/>
                                        <p:tgtEl>
                                          <p:spTgt spid="51"/>
                                        </p:tgtEl>
                                      </p:cBhvr>
                                    </p:animEffect>
                                    <p:anim calcmode="lin" valueType="num">
                                      <p:cBhvr>
                                        <p:cTn id="59" dur="380" fill="hold"/>
                                        <p:tgtEl>
                                          <p:spTgt spid="51"/>
                                        </p:tgtEl>
                                        <p:attrNameLst>
                                          <p:attrName>ppt_w</p:attrName>
                                        </p:attrNameLst>
                                      </p:cBhvr>
                                      <p:tavLst>
                                        <p:tav tm="0">
                                          <p:val>
                                            <p:strVal val="0"/>
                                          </p:val>
                                        </p:tav>
                                        <p:tav tm="100000">
                                          <p:val>
                                            <p:strVal val="#ppt_w"/>
                                          </p:val>
                                        </p:tav>
                                      </p:tavLst>
                                    </p:anim>
                                    <p:anim calcmode="lin" valueType="num">
                                      <p:cBhvr>
                                        <p:cTn id="60" dur="380" fill="hold"/>
                                        <p:tgtEl>
                                          <p:spTgt spid="51"/>
                                        </p:tgtEl>
                                        <p:attrNameLst>
                                          <p:attrName>ppt_h</p:attrName>
                                        </p:attrNameLst>
                                      </p:cBhvr>
                                      <p:tavLst>
                                        <p:tav tm="0">
                                          <p:val>
                                            <p:strVal val="0"/>
                                          </p:val>
                                        </p:tav>
                                        <p:tav tm="100000">
                                          <p:val>
                                            <p:strVal val="#ppt_h"/>
                                          </p:val>
                                        </p:tav>
                                      </p:tavLst>
                                    </p:anim>
                                  </p:childTnLst>
                                </p:cTn>
                              </p:par>
                              <p:par>
                                <p:cTn id="61" presetID="53" presetClass="entr" presetSubtype="16" fill="hold" grpId="0" nodeType="withEffect">
                                  <p:stCondLst>
                                    <p:cond delay="280"/>
                                  </p:stCondLst>
                                  <p:childTnLst>
                                    <p:set>
                                      <p:cBhvr>
                                        <p:cTn id="62" dur="1" fill="hold">
                                          <p:stCondLst>
                                            <p:cond delay="0"/>
                                          </p:stCondLst>
                                        </p:cTn>
                                        <p:tgtEl>
                                          <p:spTgt spid="55"/>
                                        </p:tgtEl>
                                        <p:attrNameLst>
                                          <p:attrName>style.visibility</p:attrName>
                                        </p:attrNameLst>
                                      </p:cBhvr>
                                      <p:to>
                                        <p:strVal val="visible"/>
                                      </p:to>
                                    </p:set>
                                    <p:animEffect transition="in" filter="fade">
                                      <p:cBhvr>
                                        <p:cTn id="63" dur="380"/>
                                        <p:tgtEl>
                                          <p:spTgt spid="55"/>
                                        </p:tgtEl>
                                      </p:cBhvr>
                                    </p:animEffect>
                                    <p:anim calcmode="lin" valueType="num">
                                      <p:cBhvr>
                                        <p:cTn id="64" dur="380" fill="hold"/>
                                        <p:tgtEl>
                                          <p:spTgt spid="55"/>
                                        </p:tgtEl>
                                        <p:attrNameLst>
                                          <p:attrName>ppt_w</p:attrName>
                                        </p:attrNameLst>
                                      </p:cBhvr>
                                      <p:tavLst>
                                        <p:tav tm="0">
                                          <p:val>
                                            <p:strVal val="0"/>
                                          </p:val>
                                        </p:tav>
                                        <p:tav tm="100000">
                                          <p:val>
                                            <p:strVal val="#ppt_w"/>
                                          </p:val>
                                        </p:tav>
                                      </p:tavLst>
                                    </p:anim>
                                    <p:anim calcmode="lin" valueType="num">
                                      <p:cBhvr>
                                        <p:cTn id="65" dur="380" fill="hold"/>
                                        <p:tgtEl>
                                          <p:spTgt spid="55"/>
                                        </p:tgtEl>
                                        <p:attrNameLst>
                                          <p:attrName>ppt_h</p:attrName>
                                        </p:attrNameLst>
                                      </p:cBhvr>
                                      <p:tavLst>
                                        <p:tav tm="0">
                                          <p:val>
                                            <p:strVal val="0"/>
                                          </p:val>
                                        </p:tav>
                                        <p:tav tm="100000">
                                          <p:val>
                                            <p:strVal val="#ppt_h"/>
                                          </p:val>
                                        </p:tav>
                                      </p:tavLst>
                                    </p:anim>
                                  </p:childTnLst>
                                </p:cTn>
                              </p:par>
                              <p:par>
                                <p:cTn id="66" presetID="53" presetClass="entr" presetSubtype="16" fill="hold" grpId="0" nodeType="withEffect">
                                  <p:stCondLst>
                                    <p:cond delay="420"/>
                                  </p:stCondLst>
                                  <p:childTnLst>
                                    <p:set>
                                      <p:cBhvr>
                                        <p:cTn id="67" dur="1" fill="hold">
                                          <p:stCondLst>
                                            <p:cond delay="0"/>
                                          </p:stCondLst>
                                        </p:cTn>
                                        <p:tgtEl>
                                          <p:spTgt spid="59"/>
                                        </p:tgtEl>
                                        <p:attrNameLst>
                                          <p:attrName>style.visibility</p:attrName>
                                        </p:attrNameLst>
                                      </p:cBhvr>
                                      <p:to>
                                        <p:strVal val="visible"/>
                                      </p:to>
                                    </p:set>
                                    <p:animEffect transition="in" filter="fade">
                                      <p:cBhvr>
                                        <p:cTn id="68" dur="380"/>
                                        <p:tgtEl>
                                          <p:spTgt spid="59"/>
                                        </p:tgtEl>
                                      </p:cBhvr>
                                    </p:animEffect>
                                    <p:anim calcmode="lin" valueType="num">
                                      <p:cBhvr>
                                        <p:cTn id="69" dur="380" fill="hold"/>
                                        <p:tgtEl>
                                          <p:spTgt spid="59"/>
                                        </p:tgtEl>
                                        <p:attrNameLst>
                                          <p:attrName>ppt_w</p:attrName>
                                        </p:attrNameLst>
                                      </p:cBhvr>
                                      <p:tavLst>
                                        <p:tav tm="0">
                                          <p:val>
                                            <p:strVal val="0"/>
                                          </p:val>
                                        </p:tav>
                                        <p:tav tm="100000">
                                          <p:val>
                                            <p:strVal val="#ppt_w"/>
                                          </p:val>
                                        </p:tav>
                                      </p:tavLst>
                                    </p:anim>
                                    <p:anim calcmode="lin" valueType="num">
                                      <p:cBhvr>
                                        <p:cTn id="70" dur="380" fill="hold"/>
                                        <p:tgtEl>
                                          <p:spTgt spid="59"/>
                                        </p:tgtEl>
                                        <p:attrNameLst>
                                          <p:attrName>ppt_h</p:attrName>
                                        </p:attrNameLst>
                                      </p:cBhvr>
                                      <p:tavLst>
                                        <p:tav tm="0">
                                          <p:val>
                                            <p:strVal val="0"/>
                                          </p:val>
                                        </p:tav>
                                        <p:tav tm="100000">
                                          <p:val>
                                            <p:strVal val="#ppt_h"/>
                                          </p:val>
                                        </p:tav>
                                      </p:tavLst>
                                    </p:anim>
                                  </p:childTnLst>
                                </p:cTn>
                              </p:par>
                            </p:childTnLst>
                          </p:cTn>
                        </p:par>
                        <p:par>
                          <p:cTn id="71" fill="hold">
                            <p:stCondLst>
                              <p:cond delay="800"/>
                            </p:stCondLst>
                            <p:childTnLst>
                              <p:par>
                                <p:cTn id="72" presetID="6" presetClass="emph" presetSubtype="0" fill="hold" grpId="1" nodeType="afterEffect">
                                  <p:stCondLst>
                                    <p:cond delay="0"/>
                                  </p:stCondLst>
                                  <p:childTnLst>
                                    <p:animScale>
                                      <p:cBhvr>
                                        <p:cTn id="73" dur="280" autoRev="1" fill="hold"/>
                                        <p:tgtEl>
                                          <p:spTgt spid="47"/>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k_track"/>
          <p:cNvSpPr/>
          <p:nvPr/>
        </p:nvSpPr>
        <p:spPr>
          <a:xfrm>
            <a:off x="457200" y="146304"/>
            <a:ext cx="11292840" cy="402336"/>
          </a:xfrm>
          <a:prstGeom prst="roundRect">
            <a:avLst>
              <a:gd name="adj" fmla="val 27272"/>
            </a:avLst>
          </a:prstGeom>
          <a:solidFill>
            <a:srgbClr val="FFFFFF">
              <a:alpha val="78000"/>
            </a:srgbClr>
          </a:solidFill>
          <a:ln>
            <a:noFill/>
          </a:ln>
        </p:spPr>
        <p:txBody>
          <a:bodyPr rtlCol="0" anchor="ctr" lIns="54864" tIns="54864" rIns="54864" bIns="54864" wrap="square">
            <a:noAutofit/>
          </a:bodyPr>
          <a:lstStyle/>
          <a:p>
            <a:pPr algn="ctr"/>
          </a:p>
        </p:txBody>
      </p:sp>
      <p:sp>
        <p:nvSpPr>
          <p:cNvPr id="3" name="!!trk_hl"/>
          <p:cNvSpPr/>
          <p:nvPr/>
        </p:nvSpPr>
        <p:spPr>
          <a:xfrm>
            <a:off x="8030261" y="182880"/>
            <a:ext cx="1163117" cy="329184"/>
          </a:xfrm>
          <a:prstGeom prst="roundRect">
            <a:avLst>
              <a:gd name="adj" fmla="val 27777"/>
            </a:avLst>
          </a:prstGeom>
          <a:solidFill>
            <a:srgbClr val="E8710A"/>
          </a:solidFill>
          <a:ln>
            <a:noFill/>
          </a:ln>
        </p:spPr>
        <p:txBody>
          <a:bodyPr rtlCol="0" anchor="ctr" lIns="54864" tIns="54864" rIns="54864" bIns="54864" wrap="square">
            <a:noAutofit/>
          </a:bodyPr>
          <a:lstStyle/>
          <a:p>
            <a:pPr algn="ctr"/>
          </a:p>
        </p:txBody>
      </p:sp>
      <p:sp>
        <p:nvSpPr>
          <p:cNvPr id="4" name="!!trk_0"/>
          <p:cNvSpPr txBox="1"/>
          <p:nvPr/>
        </p:nvSpPr>
        <p:spPr>
          <a:xfrm>
            <a:off x="50292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Ban đầu</a:t>
            </a:r>
          </a:p>
        </p:txBody>
      </p:sp>
      <p:sp>
        <p:nvSpPr>
          <p:cNvPr id="5" name="!!trk_1"/>
          <p:cNvSpPr txBox="1"/>
          <p:nvPr/>
        </p:nvSpPr>
        <p:spPr>
          <a:xfrm>
            <a:off x="175747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Cascade</a:t>
            </a:r>
          </a:p>
        </p:txBody>
      </p:sp>
      <p:sp>
        <p:nvSpPr>
          <p:cNvPr id="6" name="!!trk_2"/>
          <p:cNvSpPr txBox="1"/>
          <p:nvPr/>
        </p:nvSpPr>
        <p:spPr>
          <a:xfrm>
            <a:off x="3012034"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Bù IMU2</a:t>
            </a:r>
          </a:p>
        </p:txBody>
      </p:sp>
      <p:sp>
        <p:nvSpPr>
          <p:cNvPr id="7" name="!!trk_3"/>
          <p:cNvSpPr txBox="1"/>
          <p:nvPr/>
        </p:nvSpPr>
        <p:spPr>
          <a:xfrm>
            <a:off x="426659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Ngoại suy</a:t>
            </a:r>
          </a:p>
        </p:txBody>
      </p:sp>
      <p:sp>
        <p:nvSpPr>
          <p:cNvPr id="8" name="!!trk_4"/>
          <p:cNvSpPr txBox="1"/>
          <p:nvPr/>
        </p:nvSpPr>
        <p:spPr>
          <a:xfrm>
            <a:off x="552114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Giới hạn động</a:t>
            </a:r>
          </a:p>
        </p:txBody>
      </p:sp>
      <p:sp>
        <p:nvSpPr>
          <p:cNvPr id="9" name="!!trk_5"/>
          <p:cNvSpPr txBox="1"/>
          <p:nvPr/>
        </p:nvSpPr>
        <p:spPr>
          <a:xfrm>
            <a:off x="6775704"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Đảo chiều/dừng</a:t>
            </a:r>
          </a:p>
        </p:txBody>
      </p:sp>
      <p:sp>
        <p:nvSpPr>
          <p:cNvPr id="10" name="!!trk_6"/>
          <p:cNvSpPr txBox="1"/>
          <p:nvPr/>
        </p:nvSpPr>
        <p:spPr>
          <a:xfrm>
            <a:off x="8030261" y="182880"/>
            <a:ext cx="1163117" cy="329184"/>
          </a:xfrm>
          <a:prstGeom prst="rect">
            <a:avLst/>
          </a:prstGeom>
          <a:noFill/>
        </p:spPr>
        <p:txBody>
          <a:bodyPr wrap="square" lIns="0" tIns="0" rIns="0" bIns="0" anchor="ctr">
            <a:noAutofit/>
          </a:bodyPr>
          <a:lstStyle/>
          <a:p>
            <a:pPr algn="ctr"/>
            <a:r>
              <a:rPr sz="1050" b="1" i="0" lang="vi-VN">
                <a:solidFill>
                  <a:srgbClr val="FFFFFF"/>
                </a:solidFill>
                <a:latin typeface="Arial"/>
                <a:ea typeface="Arial"/>
                <a:cs typeface="Arial"/>
              </a:rPr>
              <a:t>Tạo dạng lệnh</a:t>
            </a:r>
          </a:p>
        </p:txBody>
      </p:sp>
      <p:sp>
        <p:nvSpPr>
          <p:cNvPr id="11" name="!!trk_7"/>
          <p:cNvSpPr txBox="1"/>
          <p:nvPr/>
        </p:nvSpPr>
        <p:spPr>
          <a:xfrm>
            <a:off x="9284818"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Lịch RS485</a:t>
            </a:r>
          </a:p>
        </p:txBody>
      </p:sp>
      <p:sp>
        <p:nvSpPr>
          <p:cNvPr id="12" name="!!trk_8"/>
          <p:cNvSpPr txBox="1"/>
          <p:nvPr/>
        </p:nvSpPr>
        <p:spPr>
          <a:xfrm>
            <a:off x="1053937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Hoàn thiện</a:t>
            </a:r>
          </a:p>
        </p:txBody>
      </p:sp>
      <p:sp>
        <p:nvSpPr>
          <p:cNvPr id="13" name="Title"/>
          <p:cNvSpPr txBox="1"/>
          <p:nvPr/>
        </p:nvSpPr>
        <p:spPr>
          <a:xfrm>
            <a:off x="502920" y="603504"/>
            <a:ext cx="11201400" cy="530352"/>
          </a:xfrm>
          <a:prstGeom prst="rect">
            <a:avLst/>
          </a:prstGeom>
          <a:noFill/>
        </p:spPr>
        <p:txBody>
          <a:bodyPr wrap="square" lIns="0" tIns="0" rIns="0" bIns="0" anchor="ctr">
            <a:noAutofit/>
          </a:bodyPr>
          <a:lstStyle/>
          <a:p>
            <a:pPr algn="l"/>
            <a:r>
              <a:rPr sz="2500" b="1" i="0" lang="vi-VN">
                <a:solidFill>
                  <a:srgbClr val="0B2545"/>
                </a:solidFill>
                <a:latin typeface="Arial"/>
                <a:ea typeface="Arial"/>
                <a:cs typeface="Arial"/>
              </a:rPr>
              <a:t>B6 · Tạo dạng lệnh: bước lệnh giảm 45 %, dòng </a:t>
            </a:r>
            <a:r>
              <a:rPr sz="2500" b="1" i="1" lang="vi-VN">
                <a:solidFill>
                  <a:srgbClr val="0B2545"/>
                </a:solidFill>
                <a:latin typeface="Cambria"/>
                <a:ea typeface="Cambria"/>
                <a:cs typeface="Cambria"/>
              </a:rPr>
              <a:t>I</a:t>
            </a:r>
            <a:r>
              <a:rPr sz="2500" b="1" i="0" lang="vi-VN" baseline="-25000">
                <a:solidFill>
                  <a:srgbClr val="0B2545"/>
                </a:solidFill>
                <a:latin typeface="Cambria"/>
                <a:ea typeface="Cambria"/>
                <a:cs typeface="Cambria"/>
              </a:rPr>
              <a:t>q</a:t>
            </a:r>
            <a:r>
              <a:rPr sz="2500" b="1" i="0" lang="vi-VN">
                <a:solidFill>
                  <a:srgbClr val="0B2545"/>
                </a:solidFill>
                <a:latin typeface="Arial"/>
                <a:ea typeface="Arial"/>
                <a:cs typeface="Arial"/>
              </a:rPr>
              <a:t> giảm 22,3 %</a:t>
            </a:r>
          </a:p>
        </p:txBody>
      </p:sp>
      <p:grpSp>
        <p:nvGrpSpPr>
          <p:cNvPr id="14" name="Group 13"/>
          <p:cNvGrpSpPr/>
          <p:nvPr/>
        </p:nvGrpSpPr>
        <p:grpSpPr>
          <a:xfrm>
            <a:off x="502920" y="1261872"/>
            <a:ext cx="3931920" cy="1024128"/>
            <a:chOff x="502920" y="1261872"/>
            <a:chExt cx="3931920" cy="1024128"/>
          </a:xfrm>
        </p:grpSpPr>
        <p:sp>
          <p:nvSpPr>
            <p:cNvPr id="15" name="Rounded Rectangle 14"/>
            <p:cNvSpPr/>
            <p:nvPr/>
          </p:nvSpPr>
          <p:spPr>
            <a:xfrm>
              <a:off x="502920" y="1261872"/>
              <a:ext cx="393192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6" name="Picture 15" descr="warning_C62828.png"/>
            <p:cNvPicPr>
              <a:picLocks noChangeAspect="1"/>
            </p:cNvPicPr>
            <p:nvPr/>
          </p:nvPicPr>
          <p:blipFill>
            <a:blip r:embed="rId2"/>
            <a:stretch>
              <a:fillRect/>
            </a:stretch>
          </p:blipFill>
          <p:spPr>
            <a:xfrm>
              <a:off x="640080" y="1335024"/>
              <a:ext cx="237744" cy="237744"/>
            </a:xfrm>
            <a:prstGeom prst="rect">
              <a:avLst/>
            </a:prstGeom>
          </p:spPr>
        </p:pic>
        <p:sp>
          <p:nvSpPr>
            <p:cNvPr id="17" name="TextBox 16"/>
            <p:cNvSpPr txBox="1"/>
            <p:nvPr/>
          </p:nvSpPr>
          <p:spPr>
            <a:xfrm>
              <a:off x="969264" y="1307592"/>
              <a:ext cx="332841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VẤN ĐỀ</a:t>
              </a:r>
            </a:p>
          </p:txBody>
        </p:sp>
        <p:sp>
          <p:nvSpPr>
            <p:cNvPr id="18" name="TextBox 17"/>
            <p:cNvSpPr txBox="1"/>
            <p:nvPr/>
          </p:nvSpPr>
          <p:spPr>
            <a:xfrm>
              <a:off x="667512" y="1609344"/>
              <a:ext cx="3639312" cy="658368"/>
            </a:xfrm>
            <a:prstGeom prst="rect">
              <a:avLst/>
            </a:prstGeom>
            <a:noFill/>
          </p:spPr>
          <p:txBody>
            <a:bodyPr wrap="square" lIns="0" tIns="0" rIns="0" bIns="0" anchor="t">
              <a:noAutofit/>
            </a:bodyPr>
            <a:lstStyle/>
            <a:p>
              <a:pPr algn="l">
                <a:lnSpc>
                  <a:spcPct val="98000"/>
                </a:lnSpc>
              </a:pPr>
              <a:r>
                <a:rPr sz="1350" b="0" i="0" lang="vi-VN">
                  <a:solidFill>
                    <a:srgbClr val="1E2B3A"/>
                  </a:solidFill>
                  <a:latin typeface="Arial"/>
                  <a:ea typeface="Arial"/>
                  <a:cs typeface="Arial"/>
                </a:rPr>
                <a:t>Khi đảo chiều, lệnh nhảy 109 °/s trong một chu kỳ 2 ms → dòng đỉnh, rung cơ khí</a:t>
              </a:r>
            </a:p>
          </p:txBody>
        </p:sp>
      </p:grpSp>
      <p:grpSp>
        <p:nvGrpSpPr>
          <p:cNvPr id="19" name="Group 18"/>
          <p:cNvGrpSpPr/>
          <p:nvPr/>
        </p:nvGrpSpPr>
        <p:grpSpPr>
          <a:xfrm>
            <a:off x="502920" y="2395728"/>
            <a:ext cx="3931920" cy="2560320"/>
            <a:chOff x="502920" y="2395728"/>
            <a:chExt cx="3931920" cy="2560320"/>
          </a:xfrm>
        </p:grpSpPr>
        <p:sp>
          <p:nvSpPr>
            <p:cNvPr id="20" name="Rounded Rectangle 19"/>
            <p:cNvSpPr/>
            <p:nvPr/>
          </p:nvSpPr>
          <p:spPr>
            <a:xfrm>
              <a:off x="502920" y="2395728"/>
              <a:ext cx="3931920" cy="2560320"/>
            </a:xfrm>
            <a:prstGeom prst="roundRect">
              <a:avLst>
                <a:gd name="adj" fmla="val 357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1" name="Picture 20" descr="flask_0A5FA8.png"/>
            <p:cNvPicPr>
              <a:picLocks noChangeAspect="1"/>
            </p:cNvPicPr>
            <p:nvPr/>
          </p:nvPicPr>
          <p:blipFill>
            <a:blip r:embed="rId3"/>
            <a:stretch>
              <a:fillRect/>
            </a:stretch>
          </p:blipFill>
          <p:spPr>
            <a:xfrm>
              <a:off x="640080" y="2468880"/>
              <a:ext cx="237744" cy="237744"/>
            </a:xfrm>
            <a:prstGeom prst="rect">
              <a:avLst/>
            </a:prstGeom>
          </p:spPr>
        </p:pic>
        <p:sp>
          <p:nvSpPr>
            <p:cNvPr id="22" name="TextBox 21"/>
            <p:cNvSpPr txBox="1"/>
            <p:nvPr/>
          </p:nvSpPr>
          <p:spPr>
            <a:xfrm>
              <a:off x="969264" y="2441448"/>
              <a:ext cx="337413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MÔ PHỎNG · BẢNG 3.13</a:t>
              </a:r>
            </a:p>
          </p:txBody>
        </p:sp>
      </p:grpSp>
      <p:grpSp>
        <p:nvGrpSpPr>
          <p:cNvPr id="23" name="Group 22"/>
          <p:cNvGrpSpPr/>
          <p:nvPr/>
        </p:nvGrpSpPr>
        <p:grpSpPr>
          <a:xfrm>
            <a:off x="612648" y="2788920"/>
            <a:ext cx="3712464" cy="457200"/>
            <a:chOff x="612648" y="2788920"/>
            <a:chExt cx="3712464" cy="457200"/>
          </a:xfrm>
        </p:grpSpPr>
        <p:sp>
          <p:nvSpPr>
            <p:cNvPr id="24" name="Rectangle 23"/>
            <p:cNvSpPr/>
            <p:nvPr/>
          </p:nvSpPr>
          <p:spPr>
            <a:xfrm>
              <a:off x="612648" y="2788920"/>
              <a:ext cx="3712464" cy="457200"/>
            </a:xfrm>
            <a:prstGeom prst="rect">
              <a:avLst/>
            </a:prstGeom>
            <a:solidFill>
              <a:srgbClr val="0B2545"/>
            </a:solidFill>
            <a:ln>
              <a:noFill/>
            </a:ln>
          </p:spPr>
          <p:txBody>
            <a:bodyPr rtlCol="0" anchor="ctr" lIns="54864" tIns="54864" rIns="54864" bIns="54864" wrap="square">
              <a:noAutofit/>
            </a:bodyPr>
            <a:lstStyle/>
            <a:p>
              <a:pPr algn="ctr"/>
            </a:p>
          </p:txBody>
        </p:sp>
        <p:sp>
          <p:nvSpPr>
            <p:cNvPr id="25" name="TextBox 24"/>
            <p:cNvSpPr txBox="1"/>
            <p:nvPr/>
          </p:nvSpPr>
          <p:spPr>
            <a:xfrm>
              <a:off x="667512" y="2788920"/>
              <a:ext cx="1188720" cy="457200"/>
            </a:xfrm>
            <a:prstGeom prst="rect">
              <a:avLst/>
            </a:prstGeom>
            <a:noFill/>
          </p:spPr>
          <p:txBody>
            <a:bodyPr wrap="square" lIns="0" tIns="0" rIns="0" bIns="0" anchor="ctr">
              <a:noAutofit/>
            </a:bodyPr>
            <a:lstStyle/>
            <a:p>
              <a:pPr algn="l">
                <a:lnSpc>
                  <a:spcPct val="95000"/>
                </a:lnSpc>
              </a:pPr>
              <a:r>
                <a:rPr sz="1200" b="1" i="1" lang="vi-VN">
                  <a:solidFill>
                    <a:srgbClr val="FFFFFF"/>
                  </a:solidFill>
                  <a:latin typeface="Cambria"/>
                  <a:ea typeface="Cambria"/>
                  <a:cs typeface="Cambria"/>
                </a:rPr>
                <a:t>a</a:t>
              </a:r>
              <a:r>
                <a:rPr sz="1200" b="1" i="0" lang="vi-VN" baseline="-25000">
                  <a:solidFill>
                    <a:srgbClr val="FFFFFF"/>
                  </a:solidFill>
                  <a:latin typeface="Cambria"/>
                  <a:ea typeface="Cambria"/>
                  <a:cs typeface="Cambria"/>
                </a:rPr>
                <a:t>max</a:t>
              </a:r>
              <a:r>
                <a:rPr sz="1200" b="1" i="0" lang="vi-VN">
                  <a:solidFill>
                    <a:srgbClr val="FFFFFF"/>
                  </a:solidFill>
                  <a:latin typeface="Arial"/>
                  <a:ea typeface="Arial"/>
                  <a:cs typeface="Arial"/>
                </a:rPr>
                <a:t> (°/s²)</a:t>
              </a:r>
            </a:p>
          </p:txBody>
        </p:sp>
        <p:sp>
          <p:nvSpPr>
            <p:cNvPr id="26" name="TextBox 25"/>
            <p:cNvSpPr txBox="1"/>
            <p:nvPr/>
          </p:nvSpPr>
          <p:spPr>
            <a:xfrm>
              <a:off x="1965960" y="2788920"/>
              <a:ext cx="676656" cy="457200"/>
            </a:xfrm>
            <a:prstGeom prst="rect">
              <a:avLst/>
            </a:prstGeom>
            <a:noFill/>
          </p:spPr>
          <p:txBody>
            <a:bodyPr wrap="square" lIns="0" tIns="0" rIns="0" bIns="0" anchor="ctr">
              <a:noAutofit/>
            </a:bodyPr>
            <a:lstStyle/>
            <a:p>
              <a:pPr algn="ctr">
                <a:lnSpc>
                  <a:spcPct val="95000"/>
                </a:lnSpc>
              </a:pPr>
              <a:r>
                <a:rPr sz="1200" b="1" i="0" lang="vi-VN">
                  <a:solidFill>
                    <a:srgbClr val="FFFFFF"/>
                  </a:solidFill>
                  <a:latin typeface="Arial"/>
                  <a:ea typeface="Arial"/>
                  <a:cs typeface="Arial"/>
                </a:rPr>
                <a:t>Bước lệnh (°/s)</a:t>
              </a:r>
            </a:p>
          </p:txBody>
        </p:sp>
        <p:sp>
          <p:nvSpPr>
            <p:cNvPr id="27" name="TextBox 26"/>
            <p:cNvSpPr txBox="1"/>
            <p:nvPr/>
          </p:nvSpPr>
          <p:spPr>
            <a:xfrm>
              <a:off x="2752344" y="2788920"/>
              <a:ext cx="640080" cy="457200"/>
            </a:xfrm>
            <a:prstGeom prst="rect">
              <a:avLst/>
            </a:prstGeom>
            <a:noFill/>
          </p:spPr>
          <p:txBody>
            <a:bodyPr wrap="square" lIns="0" tIns="0" rIns="0" bIns="0" anchor="ctr">
              <a:noAutofit/>
            </a:bodyPr>
            <a:lstStyle/>
            <a:p>
              <a:pPr algn="ctr">
                <a:lnSpc>
                  <a:spcPct val="95000"/>
                </a:lnSpc>
              </a:pPr>
              <a:r>
                <a:rPr sz="1200" b="1" i="1" lang="vi-VN">
                  <a:solidFill>
                    <a:srgbClr val="FFFFFF"/>
                  </a:solidFill>
                  <a:latin typeface="Cambria"/>
                  <a:ea typeface="Cambria"/>
                  <a:cs typeface="Cambria"/>
                </a:rPr>
                <a:t>e</a:t>
              </a:r>
              <a:r>
                <a:rPr sz="1200" b="1" i="0" lang="vi-VN" baseline="-25000">
                  <a:solidFill>
                    <a:srgbClr val="FFFFFF"/>
                  </a:solidFill>
                  <a:latin typeface="Cambria"/>
                  <a:ea typeface="Cambria"/>
                  <a:cs typeface="Cambria"/>
                </a:rPr>
                <a:t>max</a:t>
              </a:r>
              <a:r>
                <a:rPr sz="1200" b="1" i="0" lang="vi-VN">
                  <a:solidFill>
                    <a:srgbClr val="FFFFFF"/>
                  </a:solidFill>
                  <a:latin typeface="Arial"/>
                  <a:ea typeface="Arial"/>
                  <a:cs typeface="Arial"/>
                </a:rPr>
                <a:t> (°)</a:t>
              </a:r>
            </a:p>
          </p:txBody>
        </p:sp>
        <p:sp>
          <p:nvSpPr>
            <p:cNvPr id="28" name="TextBox 27"/>
            <p:cNvSpPr txBox="1"/>
            <p:nvPr/>
          </p:nvSpPr>
          <p:spPr>
            <a:xfrm>
              <a:off x="3502152" y="2788920"/>
              <a:ext cx="768096" cy="457200"/>
            </a:xfrm>
            <a:prstGeom prst="rect">
              <a:avLst/>
            </a:prstGeom>
            <a:noFill/>
          </p:spPr>
          <p:txBody>
            <a:bodyPr wrap="square" lIns="0" tIns="0" rIns="0" bIns="0" anchor="ctr">
              <a:noAutofit/>
            </a:bodyPr>
            <a:lstStyle/>
            <a:p>
              <a:pPr algn="ctr">
                <a:lnSpc>
                  <a:spcPct val="95000"/>
                </a:lnSpc>
              </a:pPr>
              <a:r>
                <a:rPr sz="1200" b="1" i="0" lang="vi-VN">
                  <a:solidFill>
                    <a:srgbClr val="FFFFFF"/>
                  </a:solidFill>
                  <a:latin typeface="Arial"/>
                  <a:ea typeface="Arial"/>
                  <a:cs typeface="Arial"/>
                </a:rPr>
                <a:t>Rung 10–30 Hz</a:t>
              </a:r>
            </a:p>
          </p:txBody>
        </p:sp>
      </p:grpSp>
      <p:grpSp>
        <p:nvGrpSpPr>
          <p:cNvPr id="29" name="Group 28"/>
          <p:cNvGrpSpPr/>
          <p:nvPr/>
        </p:nvGrpSpPr>
        <p:grpSpPr>
          <a:xfrm>
            <a:off x="612648" y="3246120"/>
            <a:ext cx="3712464" cy="365760"/>
            <a:chOff x="612648" y="3246120"/>
            <a:chExt cx="3712464" cy="365760"/>
          </a:xfrm>
        </p:grpSpPr>
        <p:sp>
          <p:nvSpPr>
            <p:cNvPr id="30" name="Rectangle 29"/>
            <p:cNvSpPr/>
            <p:nvPr/>
          </p:nvSpPr>
          <p:spPr>
            <a:xfrm>
              <a:off x="612648" y="3246120"/>
              <a:ext cx="3712464" cy="365760"/>
            </a:xfrm>
            <a:prstGeom prst="rect">
              <a:avLst/>
            </a:prstGeom>
            <a:solidFill>
              <a:srgbClr val="FFFFFF"/>
            </a:solidFill>
            <a:ln>
              <a:noFill/>
            </a:ln>
          </p:spPr>
          <p:txBody>
            <a:bodyPr rtlCol="0" anchor="ctr" lIns="54864" tIns="54864" rIns="54864" bIns="54864" wrap="square">
              <a:noAutofit/>
            </a:bodyPr>
            <a:lstStyle/>
            <a:p>
              <a:pPr algn="ctr"/>
            </a:p>
          </p:txBody>
        </p:sp>
        <p:sp>
          <p:nvSpPr>
            <p:cNvPr id="31" name="TextBox 30"/>
            <p:cNvSpPr txBox="1"/>
            <p:nvPr/>
          </p:nvSpPr>
          <p:spPr>
            <a:xfrm>
              <a:off x="667512" y="3246120"/>
              <a:ext cx="1188720" cy="365760"/>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Không giới hạn</a:t>
              </a:r>
            </a:p>
          </p:txBody>
        </p:sp>
        <p:sp>
          <p:nvSpPr>
            <p:cNvPr id="32" name="TextBox 31"/>
            <p:cNvSpPr txBox="1"/>
            <p:nvPr/>
          </p:nvSpPr>
          <p:spPr>
            <a:xfrm>
              <a:off x="1965960" y="3246120"/>
              <a:ext cx="676656" cy="36576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600</a:t>
              </a:r>
            </a:p>
          </p:txBody>
        </p:sp>
        <p:sp>
          <p:nvSpPr>
            <p:cNvPr id="33" name="TextBox 32"/>
            <p:cNvSpPr txBox="1"/>
            <p:nvPr/>
          </p:nvSpPr>
          <p:spPr>
            <a:xfrm>
              <a:off x="2752344" y="3246120"/>
              <a:ext cx="640080" cy="36576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19,87</a:t>
              </a:r>
            </a:p>
          </p:txBody>
        </p:sp>
        <p:sp>
          <p:nvSpPr>
            <p:cNvPr id="34" name="TextBox 33"/>
            <p:cNvSpPr txBox="1"/>
            <p:nvPr/>
          </p:nvSpPr>
          <p:spPr>
            <a:xfrm>
              <a:off x="3502152" y="3246120"/>
              <a:ext cx="768096" cy="36576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100 %</a:t>
              </a:r>
            </a:p>
          </p:txBody>
        </p:sp>
      </p:grpSp>
      <p:grpSp>
        <p:nvGrpSpPr>
          <p:cNvPr id="35" name="Group 34"/>
          <p:cNvGrpSpPr/>
          <p:nvPr/>
        </p:nvGrpSpPr>
        <p:grpSpPr>
          <a:xfrm>
            <a:off x="612648" y="3611880"/>
            <a:ext cx="3712464" cy="365760"/>
            <a:chOff x="612648" y="3611880"/>
            <a:chExt cx="3712464" cy="365760"/>
          </a:xfrm>
        </p:grpSpPr>
        <p:sp>
          <p:nvSpPr>
            <p:cNvPr id="36" name="Rectangle 35"/>
            <p:cNvSpPr/>
            <p:nvPr/>
          </p:nvSpPr>
          <p:spPr>
            <a:xfrm>
              <a:off x="612648" y="3611880"/>
              <a:ext cx="3712464" cy="365760"/>
            </a:xfrm>
            <a:prstGeom prst="rect">
              <a:avLst/>
            </a:prstGeom>
            <a:solidFill>
              <a:srgbClr val="F4F8FC"/>
            </a:solidFill>
            <a:ln>
              <a:noFill/>
            </a:ln>
          </p:spPr>
          <p:txBody>
            <a:bodyPr rtlCol="0" anchor="ctr" lIns="54864" tIns="54864" rIns="54864" bIns="54864" wrap="square">
              <a:noAutofit/>
            </a:bodyPr>
            <a:lstStyle/>
            <a:p>
              <a:pPr algn="ctr"/>
            </a:p>
          </p:txBody>
        </p:sp>
        <p:sp>
          <p:nvSpPr>
            <p:cNvPr id="37" name="TextBox 36"/>
            <p:cNvSpPr txBox="1"/>
            <p:nvPr/>
          </p:nvSpPr>
          <p:spPr>
            <a:xfrm>
              <a:off x="667512" y="3611880"/>
              <a:ext cx="1188720" cy="365760"/>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18 000</a:t>
              </a:r>
            </a:p>
          </p:txBody>
        </p:sp>
        <p:sp>
          <p:nvSpPr>
            <p:cNvPr id="38" name="TextBox 37"/>
            <p:cNvSpPr txBox="1"/>
            <p:nvPr/>
          </p:nvSpPr>
          <p:spPr>
            <a:xfrm>
              <a:off x="1965960" y="3611880"/>
              <a:ext cx="676656" cy="36576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36</a:t>
              </a:r>
            </a:p>
          </p:txBody>
        </p:sp>
        <p:sp>
          <p:nvSpPr>
            <p:cNvPr id="39" name="TextBox 38"/>
            <p:cNvSpPr txBox="1"/>
            <p:nvPr/>
          </p:nvSpPr>
          <p:spPr>
            <a:xfrm>
              <a:off x="2752344" y="3611880"/>
              <a:ext cx="640080" cy="36576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21,40</a:t>
              </a:r>
            </a:p>
          </p:txBody>
        </p:sp>
        <p:sp>
          <p:nvSpPr>
            <p:cNvPr id="40" name="TextBox 39"/>
            <p:cNvSpPr txBox="1"/>
            <p:nvPr/>
          </p:nvSpPr>
          <p:spPr>
            <a:xfrm>
              <a:off x="3502152" y="3611880"/>
              <a:ext cx="768096" cy="36576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21 %</a:t>
              </a:r>
            </a:p>
          </p:txBody>
        </p:sp>
      </p:grpSp>
      <p:grpSp>
        <p:nvGrpSpPr>
          <p:cNvPr id="41" name="Group 40"/>
          <p:cNvGrpSpPr/>
          <p:nvPr/>
        </p:nvGrpSpPr>
        <p:grpSpPr>
          <a:xfrm>
            <a:off x="612648" y="3977640"/>
            <a:ext cx="3712464" cy="365760"/>
            <a:chOff x="612648" y="3977640"/>
            <a:chExt cx="3712464" cy="365760"/>
          </a:xfrm>
        </p:grpSpPr>
        <p:sp>
          <p:nvSpPr>
            <p:cNvPr id="42" name="Rectangle 41"/>
            <p:cNvSpPr/>
            <p:nvPr/>
          </p:nvSpPr>
          <p:spPr>
            <a:xfrm>
              <a:off x="612648" y="3977640"/>
              <a:ext cx="3712464" cy="365760"/>
            </a:xfrm>
            <a:prstGeom prst="rect">
              <a:avLst/>
            </a:prstGeom>
            <a:solidFill>
              <a:srgbClr val="FFFFFF"/>
            </a:solidFill>
            <a:ln>
              <a:noFill/>
            </a:ln>
          </p:spPr>
          <p:txBody>
            <a:bodyPr rtlCol="0" anchor="ctr" lIns="54864" tIns="54864" rIns="54864" bIns="54864" wrap="square">
              <a:noAutofit/>
            </a:bodyPr>
            <a:lstStyle/>
            <a:p>
              <a:pPr algn="ctr"/>
            </a:p>
          </p:txBody>
        </p:sp>
        <p:sp>
          <p:nvSpPr>
            <p:cNvPr id="43" name="TextBox 42"/>
            <p:cNvSpPr txBox="1"/>
            <p:nvPr/>
          </p:nvSpPr>
          <p:spPr>
            <a:xfrm>
              <a:off x="667512" y="3977640"/>
              <a:ext cx="1188720" cy="365760"/>
            </a:xfrm>
            <a:prstGeom prst="rect">
              <a:avLst/>
            </a:prstGeom>
            <a:noFill/>
          </p:spPr>
          <p:txBody>
            <a:bodyPr wrap="square" lIns="0" tIns="0" rIns="0" bIns="0" anchor="ctr">
              <a:noAutofit/>
            </a:bodyPr>
            <a:lstStyle/>
            <a:p>
              <a:pPr algn="l">
                <a:lnSpc>
                  <a:spcPct val="95000"/>
                </a:lnSpc>
              </a:pPr>
              <a:r>
                <a:rPr sz="1250" b="0" i="0" lang="vi-VN">
                  <a:solidFill>
                    <a:srgbClr val="1E2B3A"/>
                  </a:solidFill>
                  <a:latin typeface="Arial"/>
                  <a:ea typeface="Arial"/>
                  <a:cs typeface="Arial"/>
                </a:rPr>
                <a:t>30 000</a:t>
              </a:r>
            </a:p>
          </p:txBody>
        </p:sp>
        <p:sp>
          <p:nvSpPr>
            <p:cNvPr id="44" name="TextBox 43"/>
            <p:cNvSpPr txBox="1"/>
            <p:nvPr/>
          </p:nvSpPr>
          <p:spPr>
            <a:xfrm>
              <a:off x="1965960" y="3977640"/>
              <a:ext cx="676656" cy="36576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60</a:t>
              </a:r>
            </a:p>
          </p:txBody>
        </p:sp>
        <p:sp>
          <p:nvSpPr>
            <p:cNvPr id="45" name="TextBox 44"/>
            <p:cNvSpPr txBox="1"/>
            <p:nvPr/>
          </p:nvSpPr>
          <p:spPr>
            <a:xfrm>
              <a:off x="2752344" y="3977640"/>
              <a:ext cx="640080" cy="36576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20,30</a:t>
              </a:r>
            </a:p>
          </p:txBody>
        </p:sp>
        <p:sp>
          <p:nvSpPr>
            <p:cNvPr id="46" name="TextBox 45"/>
            <p:cNvSpPr txBox="1"/>
            <p:nvPr/>
          </p:nvSpPr>
          <p:spPr>
            <a:xfrm>
              <a:off x="3502152" y="3977640"/>
              <a:ext cx="768096" cy="365760"/>
            </a:xfrm>
            <a:prstGeom prst="rect">
              <a:avLst/>
            </a:prstGeom>
            <a:noFill/>
          </p:spPr>
          <p:txBody>
            <a:bodyPr wrap="square" lIns="0" tIns="0" rIns="0" bIns="0" anchor="ctr">
              <a:noAutofit/>
            </a:bodyPr>
            <a:lstStyle/>
            <a:p>
              <a:pPr algn="ctr">
                <a:lnSpc>
                  <a:spcPct val="95000"/>
                </a:lnSpc>
              </a:pPr>
              <a:r>
                <a:rPr sz="1250" b="0" i="0" lang="vi-VN">
                  <a:solidFill>
                    <a:srgbClr val="1E2B3A"/>
                  </a:solidFill>
                  <a:latin typeface="Arial"/>
                  <a:ea typeface="Arial"/>
                  <a:cs typeface="Arial"/>
                </a:rPr>
                <a:t>38 %</a:t>
              </a:r>
            </a:p>
          </p:txBody>
        </p:sp>
      </p:grpSp>
      <p:grpSp>
        <p:nvGrpSpPr>
          <p:cNvPr id="47" name="Group 46"/>
          <p:cNvGrpSpPr/>
          <p:nvPr/>
        </p:nvGrpSpPr>
        <p:grpSpPr>
          <a:xfrm>
            <a:off x="612648" y="4343400"/>
            <a:ext cx="3712464" cy="365760"/>
            <a:chOff x="612648" y="4343400"/>
            <a:chExt cx="3712464" cy="365760"/>
          </a:xfrm>
        </p:grpSpPr>
        <p:sp>
          <p:nvSpPr>
            <p:cNvPr id="48" name="Rectangle 47"/>
            <p:cNvSpPr/>
            <p:nvPr/>
          </p:nvSpPr>
          <p:spPr>
            <a:xfrm>
              <a:off x="612648" y="4343400"/>
              <a:ext cx="3712464" cy="365760"/>
            </a:xfrm>
            <a:prstGeom prst="rect">
              <a:avLst/>
            </a:prstGeom>
            <a:solidFill>
              <a:srgbClr val="FFF1E6"/>
            </a:solidFill>
            <a:ln w="19050">
              <a:solidFill>
                <a:srgbClr val="E8710A"/>
              </a:solidFill>
            </a:ln>
          </p:spPr>
          <p:txBody>
            <a:bodyPr rtlCol="0" anchor="ctr" lIns="54864" tIns="54864" rIns="54864" bIns="54864" wrap="square">
              <a:noAutofit/>
            </a:bodyPr>
            <a:lstStyle/>
            <a:p>
              <a:pPr algn="ctr"/>
            </a:p>
          </p:txBody>
        </p:sp>
        <p:sp>
          <p:nvSpPr>
            <p:cNvPr id="49" name="TextBox 48"/>
            <p:cNvSpPr txBox="1"/>
            <p:nvPr/>
          </p:nvSpPr>
          <p:spPr>
            <a:xfrm>
              <a:off x="667512" y="4343400"/>
              <a:ext cx="1188720" cy="365760"/>
            </a:xfrm>
            <a:prstGeom prst="rect">
              <a:avLst/>
            </a:prstGeom>
            <a:noFill/>
          </p:spPr>
          <p:txBody>
            <a:bodyPr wrap="square" lIns="0" tIns="0" rIns="0" bIns="0" anchor="ctr">
              <a:noAutofit/>
            </a:bodyPr>
            <a:lstStyle/>
            <a:p>
              <a:pPr algn="l">
                <a:lnSpc>
                  <a:spcPct val="95000"/>
                </a:lnSpc>
              </a:pPr>
              <a:r>
                <a:rPr sz="1250" b="1" i="0" lang="vi-VN">
                  <a:solidFill>
                    <a:srgbClr val="1E2B3A"/>
                  </a:solidFill>
                  <a:latin typeface="Arial"/>
                  <a:ea typeface="Arial"/>
                  <a:cs typeface="Arial"/>
                </a:rPr>
                <a:t>18 000 / 30 000</a:t>
              </a:r>
            </a:p>
          </p:txBody>
        </p:sp>
        <p:sp>
          <p:nvSpPr>
            <p:cNvPr id="50" name="TextBox 49"/>
            <p:cNvSpPr txBox="1"/>
            <p:nvPr/>
          </p:nvSpPr>
          <p:spPr>
            <a:xfrm>
              <a:off x="1965960" y="4343400"/>
              <a:ext cx="676656" cy="365760"/>
            </a:xfrm>
            <a:prstGeom prst="rect">
              <a:avLst/>
            </a:prstGeom>
            <a:noFill/>
          </p:spPr>
          <p:txBody>
            <a:bodyPr wrap="square" lIns="0" tIns="0" rIns="0" bIns="0" anchor="ctr">
              <a:noAutofit/>
            </a:bodyPr>
            <a:lstStyle/>
            <a:p>
              <a:pPr algn="ctr">
                <a:lnSpc>
                  <a:spcPct val="95000"/>
                </a:lnSpc>
              </a:pPr>
              <a:r>
                <a:rPr sz="1250" b="1" i="0" lang="vi-VN">
                  <a:solidFill>
                    <a:srgbClr val="1E2B3A"/>
                  </a:solidFill>
                  <a:latin typeface="Arial"/>
                  <a:ea typeface="Arial"/>
                  <a:cs typeface="Arial"/>
                </a:rPr>
                <a:t>60</a:t>
              </a:r>
            </a:p>
          </p:txBody>
        </p:sp>
        <p:sp>
          <p:nvSpPr>
            <p:cNvPr id="51" name="TextBox 50"/>
            <p:cNvSpPr txBox="1"/>
            <p:nvPr/>
          </p:nvSpPr>
          <p:spPr>
            <a:xfrm>
              <a:off x="2752344" y="4343400"/>
              <a:ext cx="640080" cy="365760"/>
            </a:xfrm>
            <a:prstGeom prst="rect">
              <a:avLst/>
            </a:prstGeom>
            <a:noFill/>
          </p:spPr>
          <p:txBody>
            <a:bodyPr wrap="square" lIns="0" tIns="0" rIns="0" bIns="0" anchor="ctr">
              <a:noAutofit/>
            </a:bodyPr>
            <a:lstStyle/>
            <a:p>
              <a:pPr algn="ctr">
                <a:lnSpc>
                  <a:spcPct val="95000"/>
                </a:lnSpc>
              </a:pPr>
              <a:r>
                <a:rPr sz="1250" b="1" i="0" lang="vi-VN">
                  <a:solidFill>
                    <a:srgbClr val="1E2B3A"/>
                  </a:solidFill>
                  <a:latin typeface="Arial"/>
                  <a:ea typeface="Arial"/>
                  <a:cs typeface="Arial"/>
                </a:rPr>
                <a:t>20,33</a:t>
              </a:r>
            </a:p>
          </p:txBody>
        </p:sp>
        <p:sp>
          <p:nvSpPr>
            <p:cNvPr id="52" name="TextBox 51"/>
            <p:cNvSpPr txBox="1"/>
            <p:nvPr/>
          </p:nvSpPr>
          <p:spPr>
            <a:xfrm>
              <a:off x="3502152" y="4343400"/>
              <a:ext cx="768096" cy="365760"/>
            </a:xfrm>
            <a:prstGeom prst="rect">
              <a:avLst/>
            </a:prstGeom>
            <a:noFill/>
          </p:spPr>
          <p:txBody>
            <a:bodyPr wrap="square" lIns="0" tIns="0" rIns="0" bIns="0" anchor="ctr">
              <a:noAutofit/>
            </a:bodyPr>
            <a:lstStyle/>
            <a:p>
              <a:pPr algn="ctr">
                <a:lnSpc>
                  <a:spcPct val="95000"/>
                </a:lnSpc>
              </a:pPr>
              <a:r>
                <a:rPr sz="1250" b="1" i="0" lang="vi-VN">
                  <a:solidFill>
                    <a:srgbClr val="1E2B3A"/>
                  </a:solidFill>
                  <a:latin typeface="Arial"/>
                  <a:ea typeface="Arial"/>
                  <a:cs typeface="Arial"/>
                </a:rPr>
                <a:t>23 %</a:t>
              </a:r>
            </a:p>
          </p:txBody>
        </p:sp>
      </p:grpSp>
      <p:grpSp>
        <p:nvGrpSpPr>
          <p:cNvPr id="53" name="Group 52"/>
          <p:cNvGrpSpPr/>
          <p:nvPr/>
        </p:nvGrpSpPr>
        <p:grpSpPr>
          <a:xfrm>
            <a:off x="502920" y="5065776"/>
            <a:ext cx="3931920" cy="987552"/>
            <a:chOff x="502920" y="5065776"/>
            <a:chExt cx="3931920" cy="987552"/>
          </a:xfrm>
        </p:grpSpPr>
        <p:sp>
          <p:nvSpPr>
            <p:cNvPr id="54" name="Rounded Rectangle 53"/>
            <p:cNvSpPr/>
            <p:nvPr/>
          </p:nvSpPr>
          <p:spPr>
            <a:xfrm>
              <a:off x="502920" y="5065776"/>
              <a:ext cx="3931920" cy="987552"/>
            </a:xfrm>
            <a:prstGeom prst="roundRect">
              <a:avLst>
                <a:gd name="adj" fmla="val 9259"/>
              </a:avLst>
            </a:prstGeom>
            <a:solidFill>
              <a:srgbClr val="FFF1E6"/>
            </a:solidFill>
            <a:ln w="19050">
              <a:solidFill>
                <a:srgbClr val="E8710A"/>
              </a:solidFill>
            </a:ln>
          </p:spPr>
          <p:txBody>
            <a:bodyPr rtlCol="0" anchor="ctr" lIns="54864" tIns="54864" rIns="54864" bIns="54864" wrap="square">
              <a:noAutofit/>
            </a:bodyPr>
            <a:lstStyle/>
            <a:p>
              <a:pPr algn="ctr"/>
            </a:p>
          </p:txBody>
        </p:sp>
        <p:pic>
          <p:nvPicPr>
            <p:cNvPr id="55" name="Picture 54" descr="check_B45309.png"/>
            <p:cNvPicPr>
              <a:picLocks noChangeAspect="1"/>
            </p:cNvPicPr>
            <p:nvPr/>
          </p:nvPicPr>
          <p:blipFill>
            <a:blip r:embed="rId4"/>
            <a:stretch>
              <a:fillRect/>
            </a:stretch>
          </p:blipFill>
          <p:spPr>
            <a:xfrm>
              <a:off x="640080" y="5120640"/>
              <a:ext cx="237744" cy="237744"/>
            </a:xfrm>
            <a:prstGeom prst="rect">
              <a:avLst/>
            </a:prstGeom>
          </p:spPr>
        </p:pic>
        <p:sp>
          <p:nvSpPr>
            <p:cNvPr id="56" name="TextBox 55"/>
            <p:cNvSpPr txBox="1"/>
            <p:nvPr/>
          </p:nvSpPr>
          <p:spPr>
            <a:xfrm>
              <a:off x="969264" y="5093208"/>
              <a:ext cx="3328416" cy="292608"/>
            </a:xfrm>
            <a:prstGeom prst="rect">
              <a:avLst/>
            </a:prstGeom>
            <a:noFill/>
          </p:spPr>
          <p:txBody>
            <a:bodyPr wrap="square" lIns="0" tIns="0" rIns="0" bIns="0" anchor="ctr">
              <a:noAutofit/>
            </a:bodyPr>
            <a:lstStyle/>
            <a:p>
              <a:pPr algn="l"/>
              <a:r>
                <a:rPr sz="1250" b="1" i="0" lang="vi-VN" spc="40">
                  <a:solidFill>
                    <a:srgbClr val="B45309"/>
                  </a:solidFill>
                  <a:latin typeface="Arial"/>
                  <a:ea typeface="Arial"/>
                  <a:cs typeface="Arial"/>
                </a:rPr>
                <a:t>LỰA CHỌN</a:t>
              </a:r>
            </a:p>
          </p:txBody>
        </p:sp>
        <p:sp>
          <p:nvSpPr>
            <p:cNvPr id="57" name="TextBox 56"/>
            <p:cNvSpPr txBox="1"/>
            <p:nvPr/>
          </p:nvSpPr>
          <p:spPr>
            <a:xfrm>
              <a:off x="667512" y="5376672"/>
              <a:ext cx="3639312" cy="658368"/>
            </a:xfrm>
            <a:prstGeom prst="rect">
              <a:avLst/>
            </a:prstGeom>
            <a:noFill/>
          </p:spPr>
          <p:txBody>
            <a:bodyPr wrap="square" lIns="0" tIns="0" rIns="0" bIns="0" anchor="t">
              <a:noAutofit/>
            </a:bodyPr>
            <a:lstStyle/>
            <a:p>
              <a:pPr algn="l">
                <a:lnSpc>
                  <a:spcPct val="96000"/>
                </a:lnSpc>
              </a:pPr>
              <a:r>
                <a:rPr sz="1350" b="1" i="0" lang="vi-VN">
                  <a:solidFill>
                    <a:srgbClr val="1E2B3A"/>
                  </a:solidFill>
                  <a:latin typeface="Arial"/>
                  <a:ea typeface="Arial"/>
                  <a:cs typeface="Arial"/>
                </a:rPr>
                <a:t>18 000 °/s², nới 30 000 °/s² khi đảo chiều + giới hạn độ giật: rung còn 23 %, </a:t>
              </a:r>
              <a:r>
                <a:rPr sz="1350" b="1" i="1" lang="vi-VN">
                  <a:solidFill>
                    <a:srgbClr val="1E2B3A"/>
                  </a:solidFill>
                  <a:latin typeface="Cambria"/>
                  <a:ea typeface="Cambria"/>
                  <a:cs typeface="Cambria"/>
                </a:rPr>
                <a:t>e</a:t>
              </a:r>
              <a:r>
                <a:rPr sz="1350" b="1" i="0" lang="vi-VN" baseline="-25000">
                  <a:solidFill>
                    <a:srgbClr val="1E2B3A"/>
                  </a:solidFill>
                  <a:latin typeface="Cambria"/>
                  <a:ea typeface="Cambria"/>
                  <a:cs typeface="Cambria"/>
                </a:rPr>
                <a:t>max</a:t>
              </a:r>
              <a:r>
                <a:rPr sz="1350" b="1" i="0" lang="vi-VN">
                  <a:solidFill>
                    <a:srgbClr val="1E2B3A"/>
                  </a:solidFill>
                  <a:latin typeface="Arial"/>
                  <a:ea typeface="Arial"/>
                  <a:cs typeface="Arial"/>
                </a:rPr>
                <a:t> +2,3 %</a:t>
              </a:r>
            </a:p>
          </p:txBody>
        </p:sp>
      </p:grpSp>
      <p:grpSp>
        <p:nvGrpSpPr>
          <p:cNvPr id="58" name="Group 57"/>
          <p:cNvGrpSpPr/>
          <p:nvPr/>
        </p:nvGrpSpPr>
        <p:grpSpPr>
          <a:xfrm>
            <a:off x="4617720" y="1261872"/>
            <a:ext cx="7086600" cy="3657600"/>
            <a:chOff x="4617720" y="1261872"/>
            <a:chExt cx="7086600" cy="3657600"/>
          </a:xfrm>
        </p:grpSpPr>
        <p:sp>
          <p:nvSpPr>
            <p:cNvPr id="59" name="Rounded Rectangle 58"/>
            <p:cNvSpPr/>
            <p:nvPr/>
          </p:nvSpPr>
          <p:spPr>
            <a:xfrm>
              <a:off x="4617720" y="1261872"/>
              <a:ext cx="7086600" cy="3657600"/>
            </a:xfrm>
            <a:prstGeom prst="roundRect">
              <a:avLst>
                <a:gd name="adj" fmla="val 250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60" name="Picture 59" descr="cogs_0B2545.png"/>
            <p:cNvPicPr>
              <a:picLocks noChangeAspect="1"/>
            </p:cNvPicPr>
            <p:nvPr/>
          </p:nvPicPr>
          <p:blipFill>
            <a:blip r:embed="rId5"/>
            <a:stretch>
              <a:fillRect/>
            </a:stretch>
          </p:blipFill>
          <p:spPr>
            <a:xfrm>
              <a:off x="4754880" y="1335024"/>
              <a:ext cx="237744" cy="237744"/>
            </a:xfrm>
            <a:prstGeom prst="rect">
              <a:avLst/>
            </a:prstGeom>
          </p:spPr>
        </p:pic>
        <p:sp>
          <p:nvSpPr>
            <p:cNvPr id="61" name="TextBox 60"/>
            <p:cNvSpPr txBox="1"/>
            <p:nvPr/>
          </p:nvSpPr>
          <p:spPr>
            <a:xfrm>
              <a:off x="5084064" y="1307592"/>
              <a:ext cx="4791456" cy="292608"/>
            </a:xfrm>
            <a:prstGeom prst="rect">
              <a:avLst/>
            </a:prstGeom>
            <a:noFill/>
          </p:spPr>
          <p:txBody>
            <a:bodyPr wrap="square" lIns="0" tIns="0" rIns="0" bIns="0" anchor="ctr">
              <a:noAutofit/>
            </a:bodyPr>
            <a:lstStyle/>
            <a:p>
              <a:pPr algn="l"/>
              <a:r>
                <a:rPr sz="1250" b="1" i="0" lang="vi-VN" spc="40">
                  <a:solidFill>
                    <a:srgbClr val="0B2545"/>
                  </a:solidFill>
                  <a:latin typeface="Arial"/>
                  <a:ea typeface="Arial"/>
                  <a:cs typeface="Arial"/>
                </a:rPr>
                <a:t>HỆ THẬT · LỆNH TRỤC YAW KHI ĐẢO CHIỀU (HÌNH 3.18)</a:t>
              </a:r>
            </a:p>
          </p:txBody>
        </p:sp>
      </p:grpSp>
      <p:pic>
        <p:nvPicPr>
          <p:cNvPr id="62" name="Picture 61" descr="fig_shaping.png"/>
          <p:cNvPicPr>
            <a:picLocks noChangeAspect="1"/>
          </p:cNvPicPr>
          <p:nvPr/>
        </p:nvPicPr>
        <p:blipFill>
          <a:blip r:embed="rId6"/>
          <a:srcRect t="8800"/>
          <a:stretch>
            <a:fillRect/>
          </a:stretch>
        </p:blipFill>
        <p:spPr>
          <a:xfrm>
            <a:off x="4864608" y="1719072"/>
            <a:ext cx="6583680" cy="3075304"/>
          </a:xfrm>
          <a:prstGeom prst="rect">
            <a:avLst/>
          </a:prstGeom>
        </p:spPr>
      </p:pic>
      <p:grpSp>
        <p:nvGrpSpPr>
          <p:cNvPr id="63" name="Group 62"/>
          <p:cNvGrpSpPr/>
          <p:nvPr/>
        </p:nvGrpSpPr>
        <p:grpSpPr>
          <a:xfrm>
            <a:off x="5760720" y="2487168"/>
            <a:ext cx="5120640" cy="786384"/>
            <a:chOff x="5760720" y="2487168"/>
            <a:chExt cx="5120640" cy="786384"/>
          </a:xfrm>
        </p:grpSpPr>
        <p:sp>
          <p:nvSpPr>
            <p:cNvPr id="64" name="Rounded Rectangle 63"/>
            <p:cNvSpPr/>
            <p:nvPr/>
          </p:nvSpPr>
          <p:spPr>
            <a:xfrm>
              <a:off x="5760720" y="2514600"/>
              <a:ext cx="1188720" cy="512064"/>
            </a:xfrm>
            <a:prstGeom prst="roundRect">
              <a:avLst>
                <a:gd name="adj" fmla="val 14285"/>
              </a:avLst>
            </a:prstGeom>
            <a:solidFill>
              <a:srgbClr val="7F8B98"/>
            </a:solidFill>
            <a:ln>
              <a:noFill/>
            </a:ln>
          </p:spPr>
          <p:txBody>
            <a:bodyPr rtlCol="0" anchor="ctr" lIns="73152" tIns="18288" rIns="73152" bIns="18288" wrap="square">
              <a:noAutofit/>
            </a:bodyPr>
            <a:lstStyle/>
            <a:p>
              <a:pPr algn="ctr"/>
              <a:r>
                <a:rPr sz="1150" b="1" i="0" lang="vi-VN">
                  <a:solidFill>
                    <a:srgbClr val="FFFFFF"/>
                  </a:solidFill>
                  <a:latin typeface="Arial"/>
                  <a:ea typeface="Arial"/>
                  <a:cs typeface="Arial"/>
                </a:rPr>
                <a:t>nhảy 109 °/s</a:t>
              </a:r>
            </a:p>
            <a:p>
              <a:pPr algn="ctr"/>
              <a:r>
                <a:rPr sz="1150" b="1" i="0" lang="vi-VN">
                  <a:solidFill>
                    <a:srgbClr val="FFFFFF"/>
                  </a:solidFill>
                  <a:latin typeface="Arial"/>
                  <a:ea typeface="Arial"/>
                  <a:cs typeface="Arial"/>
                </a:rPr>
                <a:t>trong 2 ms</a:t>
              </a:r>
            </a:p>
          </p:txBody>
        </p:sp>
        <p:cxnSp>
          <p:nvCxnSpPr>
            <p:cNvPr id="65" name="Connector 64"/>
            <p:cNvCxnSpPr/>
            <p:nvPr/>
          </p:nvCxnSpPr>
          <p:spPr>
            <a:xfrm flipV="1">
              <a:off x="6949440" y="2487168"/>
              <a:ext cx="256032" cy="210312"/>
            </a:xfrm>
            <a:prstGeom prst="line">
              <a:avLst/>
            </a:prstGeom>
            <a:ln w="22225">
              <a:solidFill>
                <a:srgbClr val="7F8B98"/>
              </a:solidFill>
              <a:tailEnd type="triangle" w="med" len="med"/>
            </a:ln>
          </p:spPr>
        </p:cxnSp>
        <p:sp>
          <p:nvSpPr>
            <p:cNvPr id="66" name="Rounded Rectangle 65"/>
            <p:cNvSpPr/>
            <p:nvPr/>
          </p:nvSpPr>
          <p:spPr>
            <a:xfrm>
              <a:off x="8732520" y="2944368"/>
              <a:ext cx="2148840" cy="329184"/>
            </a:xfrm>
            <a:prstGeom prst="roundRect">
              <a:avLst>
                <a:gd name="adj" fmla="val 22222"/>
              </a:avLst>
            </a:prstGeom>
            <a:solidFill>
              <a:srgbClr val="1F5FAF"/>
            </a:solidFill>
            <a:ln>
              <a:noFill/>
            </a:ln>
          </p:spPr>
          <p:txBody>
            <a:bodyPr rtlCol="0" anchor="ctr" lIns="73152" tIns="18288" rIns="73152" bIns="18288" wrap="square">
              <a:noAutofit/>
            </a:bodyPr>
            <a:lstStyle/>
            <a:p>
              <a:pPr algn="ctr"/>
              <a:r>
                <a:rPr sz="1150" b="1" i="0" lang="vi-VN">
                  <a:solidFill>
                    <a:srgbClr val="FFFFFF"/>
                  </a:solidFill>
                  <a:latin typeface="Arial"/>
                  <a:ea typeface="Arial"/>
                  <a:cs typeface="Arial"/>
                </a:rPr>
                <a:t>≤ 60 °/s mỗi chu kỳ 2 ms</a:t>
              </a:r>
            </a:p>
          </p:txBody>
        </p:sp>
        <p:cxnSp>
          <p:nvCxnSpPr>
            <p:cNvPr id="67" name="Connector 66"/>
            <p:cNvCxnSpPr/>
            <p:nvPr/>
          </p:nvCxnSpPr>
          <p:spPr>
            <a:xfrm flipH="1">
              <a:off x="7991856" y="3108960"/>
              <a:ext cx="740664" cy="109728"/>
            </a:xfrm>
            <a:prstGeom prst="line">
              <a:avLst/>
            </a:prstGeom>
            <a:ln w="22225">
              <a:solidFill>
                <a:srgbClr val="1F5FAF"/>
              </a:solidFill>
              <a:tailEnd type="triangle" w="med" len="med"/>
            </a:ln>
          </p:spPr>
        </p:cxnSp>
      </p:grpSp>
      <p:grpSp>
        <p:nvGrpSpPr>
          <p:cNvPr id="68" name="Group 67"/>
          <p:cNvGrpSpPr/>
          <p:nvPr/>
        </p:nvGrpSpPr>
        <p:grpSpPr>
          <a:xfrm>
            <a:off x="4617720" y="5029200"/>
            <a:ext cx="1668780" cy="1024128"/>
            <a:chOff x="4617720" y="5029200"/>
            <a:chExt cx="1668780" cy="1024128"/>
          </a:xfrm>
        </p:grpSpPr>
        <p:sp>
          <p:nvSpPr>
            <p:cNvPr id="69" name="Rounded Rectangle 68"/>
            <p:cNvSpPr/>
            <p:nvPr/>
          </p:nvSpPr>
          <p:spPr>
            <a:xfrm>
              <a:off x="461772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70" name="TextBox 69"/>
            <p:cNvSpPr txBox="1"/>
            <p:nvPr/>
          </p:nvSpPr>
          <p:spPr>
            <a:xfrm>
              <a:off x="467258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−45,0 %</a:t>
              </a:r>
            </a:p>
          </p:txBody>
        </p:sp>
        <p:sp>
          <p:nvSpPr>
            <p:cNvPr id="71" name="TextBox 70"/>
            <p:cNvSpPr txBox="1"/>
            <p:nvPr/>
          </p:nvSpPr>
          <p:spPr>
            <a:xfrm>
              <a:off x="469087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bước lệnh lớn nhất 109,0 → 59,9 °/s</a:t>
              </a:r>
            </a:p>
          </p:txBody>
        </p:sp>
      </p:grpSp>
      <p:grpSp>
        <p:nvGrpSpPr>
          <p:cNvPr id="72" name="Group 71"/>
          <p:cNvGrpSpPr/>
          <p:nvPr/>
        </p:nvGrpSpPr>
        <p:grpSpPr>
          <a:xfrm>
            <a:off x="6423660" y="5029200"/>
            <a:ext cx="1668780" cy="1024128"/>
            <a:chOff x="6423660" y="5029200"/>
            <a:chExt cx="1668780" cy="1024128"/>
          </a:xfrm>
        </p:grpSpPr>
        <p:sp>
          <p:nvSpPr>
            <p:cNvPr id="73" name="Rounded Rectangle 72"/>
            <p:cNvSpPr/>
            <p:nvPr/>
          </p:nvSpPr>
          <p:spPr>
            <a:xfrm>
              <a:off x="642366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74" name="TextBox 73"/>
            <p:cNvSpPr txBox="1"/>
            <p:nvPr/>
          </p:nvSpPr>
          <p:spPr>
            <a:xfrm>
              <a:off x="647852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−22,3 %</a:t>
              </a:r>
            </a:p>
          </p:txBody>
        </p:sp>
        <p:sp>
          <p:nvSpPr>
            <p:cNvPr id="75" name="TextBox 74"/>
            <p:cNvSpPr txBox="1"/>
            <p:nvPr/>
          </p:nvSpPr>
          <p:spPr>
            <a:xfrm>
              <a:off x="649681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dòng </a:t>
              </a:r>
              <a:r>
                <a:rPr sz="1200" b="0" i="1" lang="vi-VN">
                  <a:solidFill>
                    <a:srgbClr val="1E2B3A"/>
                  </a:solidFill>
                  <a:latin typeface="Cambria"/>
                  <a:ea typeface="Cambria"/>
                  <a:cs typeface="Cambria"/>
                </a:rPr>
                <a:t>I</a:t>
              </a:r>
              <a:r>
                <a:rPr sz="1200" b="0" i="0" lang="vi-VN" baseline="-25000">
                  <a:solidFill>
                    <a:srgbClr val="1E2B3A"/>
                  </a:solidFill>
                  <a:latin typeface="Cambria"/>
                  <a:ea typeface="Cambria"/>
                  <a:cs typeface="Cambria"/>
                </a:rPr>
                <a:t>q</a:t>
              </a:r>
              <a:r>
                <a:rPr sz="1200" b="0" i="0" lang="vi-VN">
                  <a:solidFill>
                    <a:srgbClr val="1E2B3A"/>
                  </a:solidFill>
                  <a:latin typeface="Arial"/>
                  <a:ea typeface="Arial"/>
                  <a:cs typeface="Arial"/>
                </a:rPr>
                <a:t> hiệu dụng</a:t>
              </a:r>
            </a:p>
          </p:txBody>
        </p:sp>
      </p:grpSp>
      <p:grpSp>
        <p:nvGrpSpPr>
          <p:cNvPr id="76" name="Group 75"/>
          <p:cNvGrpSpPr/>
          <p:nvPr/>
        </p:nvGrpSpPr>
        <p:grpSpPr>
          <a:xfrm>
            <a:off x="8229600" y="5029200"/>
            <a:ext cx="1668780" cy="1024128"/>
            <a:chOff x="8229600" y="5029200"/>
            <a:chExt cx="1668780" cy="1024128"/>
          </a:xfrm>
        </p:grpSpPr>
        <p:sp>
          <p:nvSpPr>
            <p:cNvPr id="77" name="Rounded Rectangle 76"/>
            <p:cNvSpPr/>
            <p:nvPr/>
          </p:nvSpPr>
          <p:spPr>
            <a:xfrm>
              <a:off x="822960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78" name="TextBox 77"/>
            <p:cNvSpPr txBox="1"/>
            <p:nvPr/>
          </p:nvSpPr>
          <p:spPr>
            <a:xfrm>
              <a:off x="8284464" y="5084064"/>
              <a:ext cx="1559052" cy="457200"/>
            </a:xfrm>
            <a:prstGeom prst="rect">
              <a:avLst/>
            </a:prstGeom>
            <a:noFill/>
          </p:spPr>
          <p:txBody>
            <a:bodyPr wrap="square" lIns="0" tIns="0" rIns="0" bIns="0" anchor="ctr">
              <a:noAutofit/>
            </a:bodyPr>
            <a:lstStyle/>
            <a:p>
              <a:pPr algn="ctr"/>
              <a:r>
                <a:rPr sz="2000" b="1" i="0" lang="vi-VN">
                  <a:solidFill>
                    <a:srgbClr val="0B2545"/>
                  </a:solidFill>
                  <a:latin typeface="Arial"/>
                  <a:ea typeface="Arial"/>
                  <a:cs typeface="Arial"/>
                </a:rPr>
                <a:t>6 → 12 ms</a:t>
              </a:r>
            </a:p>
          </p:txBody>
        </p:sp>
        <p:sp>
          <p:nvSpPr>
            <p:cNvPr id="79" name="TextBox 78"/>
            <p:cNvSpPr txBox="1"/>
            <p:nvPr/>
          </p:nvSpPr>
          <p:spPr>
            <a:xfrm>
              <a:off x="830275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thời gian đổi dấu lệnh</a:t>
              </a:r>
            </a:p>
          </p:txBody>
        </p:sp>
      </p:grpSp>
      <p:grpSp>
        <p:nvGrpSpPr>
          <p:cNvPr id="80" name="Group 79"/>
          <p:cNvGrpSpPr/>
          <p:nvPr/>
        </p:nvGrpSpPr>
        <p:grpSpPr>
          <a:xfrm>
            <a:off x="10035540" y="5029200"/>
            <a:ext cx="1668780" cy="1024128"/>
            <a:chOff x="10035540" y="5029200"/>
            <a:chExt cx="1668780" cy="1024128"/>
          </a:xfrm>
        </p:grpSpPr>
        <p:sp>
          <p:nvSpPr>
            <p:cNvPr id="81" name="Rounded Rectangle 80"/>
            <p:cNvSpPr/>
            <p:nvPr/>
          </p:nvSpPr>
          <p:spPr>
            <a:xfrm>
              <a:off x="1003554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82" name="TextBox 81"/>
            <p:cNvSpPr txBox="1"/>
            <p:nvPr/>
          </p:nvSpPr>
          <p:spPr>
            <a:xfrm>
              <a:off x="10090404" y="5065776"/>
              <a:ext cx="1559052" cy="566928"/>
            </a:xfrm>
            <a:prstGeom prst="rect">
              <a:avLst/>
            </a:prstGeom>
            <a:noFill/>
          </p:spPr>
          <p:txBody>
            <a:bodyPr wrap="square" lIns="0" tIns="0" rIns="0" bIns="0" anchor="ctr">
              <a:noAutofit/>
            </a:bodyPr>
            <a:lstStyle/>
            <a:p>
              <a:pPr algn="ctr">
                <a:lnSpc>
                  <a:spcPct val="92000"/>
                </a:lnSpc>
              </a:pPr>
              <a:r>
                <a:rPr sz="1500" b="1" i="0" lang="vi-VN">
                  <a:solidFill>
                    <a:srgbClr val="1F5FAF"/>
                  </a:solidFill>
                  <a:latin typeface="Arial"/>
                  <a:ea typeface="Arial"/>
                  <a:cs typeface="Arial"/>
                </a:rPr>
                <a:t>●</a:t>
              </a:r>
              <a:r>
                <a:rPr sz="1500" b="1" i="0" lang="vi-VN">
                  <a:solidFill>
                    <a:srgbClr val="B7791F"/>
                  </a:solidFill>
                  <a:latin typeface="Arial"/>
                  <a:ea typeface="Arial"/>
                  <a:cs typeface="Arial"/>
                </a:rPr>
                <a:t> +1,4 %</a:t>
              </a:r>
            </a:p>
            <a:p>
              <a:pPr algn="ctr">
                <a:lnSpc>
                  <a:spcPct val="92000"/>
                </a:lnSpc>
              </a:pPr>
              <a:r>
                <a:rPr sz="1500" b="1" i="0" lang="vi-VN">
                  <a:solidFill>
                    <a:srgbClr val="2E8B57"/>
                  </a:solidFill>
                  <a:latin typeface="Arial"/>
                  <a:ea typeface="Arial"/>
                  <a:cs typeface="Arial"/>
                </a:rPr>
                <a:t>■</a:t>
              </a:r>
              <a:r>
                <a:rPr sz="1500" b="1" i="0" lang="vi-VN">
                  <a:solidFill>
                    <a:srgbClr val="B7791F"/>
                  </a:solidFill>
                  <a:latin typeface="Arial"/>
                  <a:ea typeface="Arial"/>
                  <a:cs typeface="Arial"/>
                </a:rPr>
                <a:t> +1,1 %</a:t>
              </a:r>
            </a:p>
          </p:txBody>
        </p:sp>
        <p:sp>
          <p:nvSpPr>
            <p:cNvPr id="83" name="TextBox 82"/>
            <p:cNvSpPr txBox="1"/>
            <p:nvPr/>
          </p:nvSpPr>
          <p:spPr>
            <a:xfrm>
              <a:off x="10108692" y="5650992"/>
              <a:ext cx="1522476" cy="384048"/>
            </a:xfrm>
            <a:prstGeom prst="rect">
              <a:avLst/>
            </a:prstGeom>
            <a:noFill/>
          </p:spPr>
          <p:txBody>
            <a:bodyPr wrap="square" lIns="0" tIns="0" rIns="0" bIns="0" anchor="t">
              <a:noAutofit/>
            </a:bodyPr>
            <a:lstStyle/>
            <a:p>
              <a:pPr algn="ctr">
                <a:lnSpc>
                  <a:spcPct val="92000"/>
                </a:lnSpc>
              </a:pPr>
              <a:r>
                <a:rPr sz="1150" b="0" i="1" lang="vi-VN">
                  <a:solidFill>
                    <a:srgbClr val="1E2B3A"/>
                  </a:solidFill>
                  <a:latin typeface="Cambria"/>
                  <a:ea typeface="Cambria"/>
                  <a:cs typeface="Cambria"/>
                </a:rPr>
                <a:t>e</a:t>
              </a:r>
              <a:r>
                <a:rPr sz="1150" b="0" i="0" lang="vi-VN" baseline="-25000">
                  <a:solidFill>
                    <a:srgbClr val="1E2B3A"/>
                  </a:solidFill>
                  <a:latin typeface="Cambria"/>
                  <a:ea typeface="Cambria"/>
                  <a:cs typeface="Cambria"/>
                </a:rPr>
                <a:t>rms</a:t>
              </a:r>
              <a:r>
                <a:rPr sz="1150" b="0" i="0" lang="vi-VN">
                  <a:solidFill>
                    <a:srgbClr val="1E2B3A"/>
                  </a:solidFill>
                  <a:latin typeface="Arial"/>
                  <a:ea typeface="Arial"/>
                  <a:cs typeface="Arial"/>
                </a:rPr>
                <a:t> (đánh đổi có chủ đích)</a:t>
              </a:r>
            </a:p>
          </p:txBody>
        </p:sp>
      </p:grpSp>
      <p:sp>
        <p:nvSpPr>
          <p:cNvPr id="84"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24</a:t>
            </a:fld>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childTnLst>
                          </p:cTn>
                        </p:par>
                        <p:par>
                          <p:cTn id="13" fill="hold">
                            <p:stCondLst>
                              <p:cond delay="350"/>
                            </p:stCondLst>
                            <p:childTnLst>
                              <p:par>
                                <p:cTn id="14" presetID="22" presetClass="entr" presetSubtype="8"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450"/>
                                        <p:tgtEl>
                                          <p:spTgt spid="23"/>
                                        </p:tgtEl>
                                      </p:cBhvr>
                                    </p:animEffect>
                                  </p:childTnLst>
                                </p:cTn>
                              </p:par>
                            </p:childTnLst>
                          </p:cTn>
                        </p:par>
                        <p:par>
                          <p:cTn id="17" fill="hold">
                            <p:stCondLst>
                              <p:cond delay="800"/>
                            </p:stCondLst>
                            <p:childTnLst>
                              <p:par>
                                <p:cTn id="18" presetID="22" presetClass="entr" presetSubtype="8"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450"/>
                                        <p:tgtEl>
                                          <p:spTgt spid="29"/>
                                        </p:tgtEl>
                                      </p:cBhvr>
                                    </p:animEffect>
                                  </p:childTnLst>
                                </p:cTn>
                              </p:par>
                            </p:childTnLst>
                          </p:cTn>
                        </p:par>
                        <p:par>
                          <p:cTn id="21" fill="hold">
                            <p:stCondLst>
                              <p:cond delay="1250"/>
                            </p:stCondLst>
                            <p:childTnLst>
                              <p:par>
                                <p:cTn id="22" presetID="22" presetClass="entr" presetSubtype="8" fill="hold" grpId="0" nodeType="after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450"/>
                                        <p:tgtEl>
                                          <p:spTgt spid="35"/>
                                        </p:tgtEl>
                                      </p:cBhvr>
                                    </p:animEffect>
                                  </p:childTnLst>
                                </p:cTn>
                              </p:par>
                            </p:childTnLst>
                          </p:cTn>
                        </p:par>
                        <p:par>
                          <p:cTn id="25" fill="hold">
                            <p:stCondLst>
                              <p:cond delay="1700"/>
                            </p:stCondLst>
                            <p:childTnLst>
                              <p:par>
                                <p:cTn id="26" presetID="22" presetClass="entr" presetSubtype="8"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450"/>
                                        <p:tgtEl>
                                          <p:spTgt spid="41"/>
                                        </p:tgtEl>
                                      </p:cBhvr>
                                    </p:animEffect>
                                  </p:childTnLst>
                                </p:cTn>
                              </p:par>
                            </p:childTnLst>
                          </p:cTn>
                        </p:par>
                        <p:par>
                          <p:cTn id="29" fill="hold">
                            <p:stCondLst>
                              <p:cond delay="2150"/>
                            </p:stCondLst>
                            <p:childTnLst>
                              <p:par>
                                <p:cTn id="30" presetID="22" presetClass="entr" presetSubtype="8" fill="hold" grpId="0" nodeType="after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left)">
                                      <p:cBhvr>
                                        <p:cTn id="32" dur="45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400"/>
                                        <p:tgtEl>
                                          <p:spTgt spid="53"/>
                                        </p:tgtEl>
                                      </p:cBhvr>
                                    </p:animEffect>
                                    <p:anim calcmode="lin" valueType="num">
                                      <p:cBhvr>
                                        <p:cTn id="38" dur="400" fill="hold"/>
                                        <p:tgtEl>
                                          <p:spTgt spid="53"/>
                                        </p:tgtEl>
                                        <p:attrNameLst>
                                          <p:attrName>ppt_w</p:attrName>
                                        </p:attrNameLst>
                                      </p:cBhvr>
                                      <p:tavLst>
                                        <p:tav tm="0">
                                          <p:val>
                                            <p:strVal val="0"/>
                                          </p:val>
                                        </p:tav>
                                        <p:tav tm="100000">
                                          <p:val>
                                            <p:strVal val="#ppt_w"/>
                                          </p:val>
                                        </p:tav>
                                      </p:tavLst>
                                    </p:anim>
                                    <p:anim calcmode="lin" valueType="num">
                                      <p:cBhvr>
                                        <p:cTn id="39" dur="400" fill="hold"/>
                                        <p:tgtEl>
                                          <p:spTgt spid="53"/>
                                        </p:tgtEl>
                                        <p:attrNameLst>
                                          <p:attrName>ppt_h</p:attrName>
                                        </p:attrNameLst>
                                      </p:cBhvr>
                                      <p:tavLst>
                                        <p:tav tm="0">
                                          <p:val>
                                            <p:strVal val="0"/>
                                          </p:val>
                                        </p:tav>
                                        <p:tav tm="100000">
                                          <p:val>
                                            <p:strVal val="#ppt_h"/>
                                          </p:val>
                                        </p:tav>
                                      </p:tavLst>
                                    </p:anim>
                                  </p:childTnLst>
                                </p:cTn>
                              </p:par>
                            </p:childTnLst>
                          </p:cTn>
                        </p:par>
                        <p:par>
                          <p:cTn id="40" fill="hold">
                            <p:stCondLst>
                              <p:cond delay="400"/>
                            </p:stCondLst>
                            <p:childTnLst>
                              <p:par>
                                <p:cTn id="41" presetID="6" presetClass="emph" presetSubtype="0" fill="hold" grpId="1" nodeType="afterEffect">
                                  <p:stCondLst>
                                    <p:cond delay="0"/>
                                  </p:stCondLst>
                                  <p:childTnLst>
                                    <p:animScale>
                                      <p:cBhvr>
                                        <p:cTn id="42" dur="250" autoRev="1" fill="hold"/>
                                        <p:tgtEl>
                                          <p:spTgt spid="53"/>
                                        </p:tgtEl>
                                      </p:cBhvr>
                                      <p:by x="112000" y="112000"/>
                                    </p:animScale>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350"/>
                                        <p:tgtEl>
                                          <p:spTgt spid="58"/>
                                        </p:tgtEl>
                                      </p:cBhvr>
                                    </p:animEffect>
                                  </p:childTnLst>
                                </p:cTn>
                              </p:par>
                            </p:childTnLst>
                          </p:cTn>
                        </p:par>
                        <p:par>
                          <p:cTn id="48" fill="hold">
                            <p:stCondLst>
                              <p:cond delay="350"/>
                            </p:stCondLst>
                            <p:childTnLst>
                              <p:par>
                                <p:cTn id="49" presetID="10" presetClass="entr" presetSubtype="0" fill="hold" grpId="0" nodeType="after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fade">
                                      <p:cBhvr>
                                        <p:cTn id="51" dur="450"/>
                                        <p:tgtEl>
                                          <p:spTgt spid="6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63"/>
                                        </p:tgtEl>
                                        <p:attrNameLst>
                                          <p:attrName>style.visibility</p:attrName>
                                        </p:attrNameLst>
                                      </p:cBhvr>
                                      <p:to>
                                        <p:strVal val="visible"/>
                                      </p:to>
                                    </p:set>
                                    <p:animEffect transition="in" filter="wipe(left)">
                                      <p:cBhvr>
                                        <p:cTn id="56" dur="700"/>
                                        <p:tgtEl>
                                          <p:spTgt spid="63"/>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fade">
                                      <p:cBhvr>
                                        <p:cTn id="61" dur="380"/>
                                        <p:tgtEl>
                                          <p:spTgt spid="68"/>
                                        </p:tgtEl>
                                      </p:cBhvr>
                                    </p:animEffect>
                                    <p:anim calcmode="lin" valueType="num">
                                      <p:cBhvr>
                                        <p:cTn id="62" dur="380" fill="hold"/>
                                        <p:tgtEl>
                                          <p:spTgt spid="68"/>
                                        </p:tgtEl>
                                        <p:attrNameLst>
                                          <p:attrName>ppt_w</p:attrName>
                                        </p:attrNameLst>
                                      </p:cBhvr>
                                      <p:tavLst>
                                        <p:tav tm="0">
                                          <p:val>
                                            <p:strVal val="0"/>
                                          </p:val>
                                        </p:tav>
                                        <p:tav tm="100000">
                                          <p:val>
                                            <p:strVal val="#ppt_w"/>
                                          </p:val>
                                        </p:tav>
                                      </p:tavLst>
                                    </p:anim>
                                    <p:anim calcmode="lin" valueType="num">
                                      <p:cBhvr>
                                        <p:cTn id="63" dur="380" fill="hold"/>
                                        <p:tgtEl>
                                          <p:spTgt spid="68"/>
                                        </p:tgtEl>
                                        <p:attrNameLst>
                                          <p:attrName>ppt_h</p:attrName>
                                        </p:attrNameLst>
                                      </p:cBhvr>
                                      <p:tavLst>
                                        <p:tav tm="0">
                                          <p:val>
                                            <p:strVal val="0"/>
                                          </p:val>
                                        </p:tav>
                                        <p:tav tm="100000">
                                          <p:val>
                                            <p:strVal val="#ppt_h"/>
                                          </p:val>
                                        </p:tav>
                                      </p:tavLst>
                                    </p:anim>
                                  </p:childTnLst>
                                </p:cTn>
                              </p:par>
                              <p:par>
                                <p:cTn id="64" presetID="53" presetClass="entr" presetSubtype="16" fill="hold" grpId="0" nodeType="withEffect">
                                  <p:stCondLst>
                                    <p:cond delay="140"/>
                                  </p:stCondLst>
                                  <p:childTnLst>
                                    <p:set>
                                      <p:cBhvr>
                                        <p:cTn id="65" dur="1" fill="hold">
                                          <p:stCondLst>
                                            <p:cond delay="0"/>
                                          </p:stCondLst>
                                        </p:cTn>
                                        <p:tgtEl>
                                          <p:spTgt spid="72"/>
                                        </p:tgtEl>
                                        <p:attrNameLst>
                                          <p:attrName>style.visibility</p:attrName>
                                        </p:attrNameLst>
                                      </p:cBhvr>
                                      <p:to>
                                        <p:strVal val="visible"/>
                                      </p:to>
                                    </p:set>
                                    <p:animEffect transition="in" filter="fade">
                                      <p:cBhvr>
                                        <p:cTn id="66" dur="380"/>
                                        <p:tgtEl>
                                          <p:spTgt spid="72"/>
                                        </p:tgtEl>
                                      </p:cBhvr>
                                    </p:animEffect>
                                    <p:anim calcmode="lin" valueType="num">
                                      <p:cBhvr>
                                        <p:cTn id="67" dur="380" fill="hold"/>
                                        <p:tgtEl>
                                          <p:spTgt spid="72"/>
                                        </p:tgtEl>
                                        <p:attrNameLst>
                                          <p:attrName>ppt_w</p:attrName>
                                        </p:attrNameLst>
                                      </p:cBhvr>
                                      <p:tavLst>
                                        <p:tav tm="0">
                                          <p:val>
                                            <p:strVal val="0"/>
                                          </p:val>
                                        </p:tav>
                                        <p:tav tm="100000">
                                          <p:val>
                                            <p:strVal val="#ppt_w"/>
                                          </p:val>
                                        </p:tav>
                                      </p:tavLst>
                                    </p:anim>
                                    <p:anim calcmode="lin" valueType="num">
                                      <p:cBhvr>
                                        <p:cTn id="68" dur="380" fill="hold"/>
                                        <p:tgtEl>
                                          <p:spTgt spid="72"/>
                                        </p:tgtEl>
                                        <p:attrNameLst>
                                          <p:attrName>ppt_h</p:attrName>
                                        </p:attrNameLst>
                                      </p:cBhvr>
                                      <p:tavLst>
                                        <p:tav tm="0">
                                          <p:val>
                                            <p:strVal val="0"/>
                                          </p:val>
                                        </p:tav>
                                        <p:tav tm="100000">
                                          <p:val>
                                            <p:strVal val="#ppt_h"/>
                                          </p:val>
                                        </p:tav>
                                      </p:tavLst>
                                    </p:anim>
                                  </p:childTnLst>
                                </p:cTn>
                              </p:par>
                              <p:par>
                                <p:cTn id="69" presetID="53" presetClass="entr" presetSubtype="16" fill="hold" grpId="0" nodeType="withEffect">
                                  <p:stCondLst>
                                    <p:cond delay="280"/>
                                  </p:stCondLst>
                                  <p:childTnLst>
                                    <p:set>
                                      <p:cBhvr>
                                        <p:cTn id="70" dur="1" fill="hold">
                                          <p:stCondLst>
                                            <p:cond delay="0"/>
                                          </p:stCondLst>
                                        </p:cTn>
                                        <p:tgtEl>
                                          <p:spTgt spid="76"/>
                                        </p:tgtEl>
                                        <p:attrNameLst>
                                          <p:attrName>style.visibility</p:attrName>
                                        </p:attrNameLst>
                                      </p:cBhvr>
                                      <p:to>
                                        <p:strVal val="visible"/>
                                      </p:to>
                                    </p:set>
                                    <p:animEffect transition="in" filter="fade">
                                      <p:cBhvr>
                                        <p:cTn id="71" dur="380"/>
                                        <p:tgtEl>
                                          <p:spTgt spid="76"/>
                                        </p:tgtEl>
                                      </p:cBhvr>
                                    </p:animEffect>
                                    <p:anim calcmode="lin" valueType="num">
                                      <p:cBhvr>
                                        <p:cTn id="72" dur="380" fill="hold"/>
                                        <p:tgtEl>
                                          <p:spTgt spid="76"/>
                                        </p:tgtEl>
                                        <p:attrNameLst>
                                          <p:attrName>ppt_w</p:attrName>
                                        </p:attrNameLst>
                                      </p:cBhvr>
                                      <p:tavLst>
                                        <p:tav tm="0">
                                          <p:val>
                                            <p:strVal val="0"/>
                                          </p:val>
                                        </p:tav>
                                        <p:tav tm="100000">
                                          <p:val>
                                            <p:strVal val="#ppt_w"/>
                                          </p:val>
                                        </p:tav>
                                      </p:tavLst>
                                    </p:anim>
                                    <p:anim calcmode="lin" valueType="num">
                                      <p:cBhvr>
                                        <p:cTn id="73" dur="380" fill="hold"/>
                                        <p:tgtEl>
                                          <p:spTgt spid="76"/>
                                        </p:tgtEl>
                                        <p:attrNameLst>
                                          <p:attrName>ppt_h</p:attrName>
                                        </p:attrNameLst>
                                      </p:cBhvr>
                                      <p:tavLst>
                                        <p:tav tm="0">
                                          <p:val>
                                            <p:strVal val="0"/>
                                          </p:val>
                                        </p:tav>
                                        <p:tav tm="100000">
                                          <p:val>
                                            <p:strVal val="#ppt_h"/>
                                          </p:val>
                                        </p:tav>
                                      </p:tavLst>
                                    </p:anim>
                                  </p:childTnLst>
                                </p:cTn>
                              </p:par>
                              <p:par>
                                <p:cTn id="74" presetID="53" presetClass="entr" presetSubtype="16" fill="hold" grpId="0" nodeType="withEffect">
                                  <p:stCondLst>
                                    <p:cond delay="420"/>
                                  </p:stCondLst>
                                  <p:childTnLst>
                                    <p:set>
                                      <p:cBhvr>
                                        <p:cTn id="75" dur="1" fill="hold">
                                          <p:stCondLst>
                                            <p:cond delay="0"/>
                                          </p:stCondLst>
                                        </p:cTn>
                                        <p:tgtEl>
                                          <p:spTgt spid="80"/>
                                        </p:tgtEl>
                                        <p:attrNameLst>
                                          <p:attrName>style.visibility</p:attrName>
                                        </p:attrNameLst>
                                      </p:cBhvr>
                                      <p:to>
                                        <p:strVal val="visible"/>
                                      </p:to>
                                    </p:set>
                                    <p:animEffect transition="in" filter="fade">
                                      <p:cBhvr>
                                        <p:cTn id="76" dur="380"/>
                                        <p:tgtEl>
                                          <p:spTgt spid="80"/>
                                        </p:tgtEl>
                                      </p:cBhvr>
                                    </p:animEffect>
                                    <p:anim calcmode="lin" valueType="num">
                                      <p:cBhvr>
                                        <p:cTn id="77" dur="380" fill="hold"/>
                                        <p:tgtEl>
                                          <p:spTgt spid="80"/>
                                        </p:tgtEl>
                                        <p:attrNameLst>
                                          <p:attrName>ppt_w</p:attrName>
                                        </p:attrNameLst>
                                      </p:cBhvr>
                                      <p:tavLst>
                                        <p:tav tm="0">
                                          <p:val>
                                            <p:strVal val="0"/>
                                          </p:val>
                                        </p:tav>
                                        <p:tav tm="100000">
                                          <p:val>
                                            <p:strVal val="#ppt_w"/>
                                          </p:val>
                                        </p:tav>
                                      </p:tavLst>
                                    </p:anim>
                                    <p:anim calcmode="lin" valueType="num">
                                      <p:cBhvr>
                                        <p:cTn id="78" dur="380" fill="hold"/>
                                        <p:tgtEl>
                                          <p:spTgt spid="80"/>
                                        </p:tgtEl>
                                        <p:attrNameLst>
                                          <p:attrName>ppt_h</p:attrName>
                                        </p:attrNameLst>
                                      </p:cBhvr>
                                      <p:tavLst>
                                        <p:tav tm="0">
                                          <p:val>
                                            <p:strVal val="0"/>
                                          </p:val>
                                        </p:tav>
                                        <p:tav tm="100000">
                                          <p:val>
                                            <p:strVal val="#ppt_h"/>
                                          </p:val>
                                        </p:tav>
                                      </p:tavLst>
                                    </p:anim>
                                  </p:childTnLst>
                                </p:cTn>
                              </p:par>
                            </p:childTnLst>
                          </p:cTn>
                        </p:par>
                        <p:par>
                          <p:cTn id="79" fill="hold">
                            <p:stCondLst>
                              <p:cond delay="800"/>
                            </p:stCondLst>
                            <p:childTnLst>
                              <p:par>
                                <p:cTn id="80" presetID="6" presetClass="emph" presetSubtype="0" fill="hold" grpId="1" nodeType="afterEffect">
                                  <p:stCondLst>
                                    <p:cond delay="0"/>
                                  </p:stCondLst>
                                  <p:childTnLst>
                                    <p:animScale>
                                      <p:cBhvr>
                                        <p:cTn id="81" dur="280" autoRev="1" fill="hold"/>
                                        <p:tgtEl>
                                          <p:spTgt spid="68"/>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k_track"/>
          <p:cNvSpPr/>
          <p:nvPr/>
        </p:nvSpPr>
        <p:spPr>
          <a:xfrm>
            <a:off x="457200" y="146304"/>
            <a:ext cx="11292840" cy="402336"/>
          </a:xfrm>
          <a:prstGeom prst="roundRect">
            <a:avLst>
              <a:gd name="adj" fmla="val 27272"/>
            </a:avLst>
          </a:prstGeom>
          <a:solidFill>
            <a:srgbClr val="FFFFFF">
              <a:alpha val="78000"/>
            </a:srgbClr>
          </a:solidFill>
          <a:ln>
            <a:noFill/>
          </a:ln>
        </p:spPr>
        <p:txBody>
          <a:bodyPr rtlCol="0" anchor="ctr" lIns="54864" tIns="54864" rIns="54864" bIns="54864" wrap="square">
            <a:noAutofit/>
          </a:bodyPr>
          <a:lstStyle/>
          <a:p>
            <a:pPr algn="ctr"/>
          </a:p>
        </p:txBody>
      </p:sp>
      <p:sp>
        <p:nvSpPr>
          <p:cNvPr id="3" name="!!trk_hl"/>
          <p:cNvSpPr/>
          <p:nvPr/>
        </p:nvSpPr>
        <p:spPr>
          <a:xfrm>
            <a:off x="9284818" y="182880"/>
            <a:ext cx="1163117" cy="329184"/>
          </a:xfrm>
          <a:prstGeom prst="roundRect">
            <a:avLst>
              <a:gd name="adj" fmla="val 27777"/>
            </a:avLst>
          </a:prstGeom>
          <a:solidFill>
            <a:srgbClr val="E8710A"/>
          </a:solidFill>
          <a:ln>
            <a:noFill/>
          </a:ln>
        </p:spPr>
        <p:txBody>
          <a:bodyPr rtlCol="0" anchor="ctr" lIns="54864" tIns="54864" rIns="54864" bIns="54864" wrap="square">
            <a:noAutofit/>
          </a:bodyPr>
          <a:lstStyle/>
          <a:p>
            <a:pPr algn="ctr"/>
          </a:p>
        </p:txBody>
      </p:sp>
      <p:sp>
        <p:nvSpPr>
          <p:cNvPr id="4" name="!!trk_0"/>
          <p:cNvSpPr txBox="1"/>
          <p:nvPr/>
        </p:nvSpPr>
        <p:spPr>
          <a:xfrm>
            <a:off x="50292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Ban đầu</a:t>
            </a:r>
          </a:p>
        </p:txBody>
      </p:sp>
      <p:sp>
        <p:nvSpPr>
          <p:cNvPr id="5" name="!!trk_1"/>
          <p:cNvSpPr txBox="1"/>
          <p:nvPr/>
        </p:nvSpPr>
        <p:spPr>
          <a:xfrm>
            <a:off x="175747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Cascade</a:t>
            </a:r>
          </a:p>
        </p:txBody>
      </p:sp>
      <p:sp>
        <p:nvSpPr>
          <p:cNvPr id="6" name="!!trk_2"/>
          <p:cNvSpPr txBox="1"/>
          <p:nvPr/>
        </p:nvSpPr>
        <p:spPr>
          <a:xfrm>
            <a:off x="3012034"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Bù IMU2</a:t>
            </a:r>
          </a:p>
        </p:txBody>
      </p:sp>
      <p:sp>
        <p:nvSpPr>
          <p:cNvPr id="7" name="!!trk_3"/>
          <p:cNvSpPr txBox="1"/>
          <p:nvPr/>
        </p:nvSpPr>
        <p:spPr>
          <a:xfrm>
            <a:off x="426659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Ngoại suy</a:t>
            </a:r>
          </a:p>
        </p:txBody>
      </p:sp>
      <p:sp>
        <p:nvSpPr>
          <p:cNvPr id="8" name="!!trk_4"/>
          <p:cNvSpPr txBox="1"/>
          <p:nvPr/>
        </p:nvSpPr>
        <p:spPr>
          <a:xfrm>
            <a:off x="552114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Giới hạn động</a:t>
            </a:r>
          </a:p>
        </p:txBody>
      </p:sp>
      <p:sp>
        <p:nvSpPr>
          <p:cNvPr id="9" name="!!trk_5"/>
          <p:cNvSpPr txBox="1"/>
          <p:nvPr/>
        </p:nvSpPr>
        <p:spPr>
          <a:xfrm>
            <a:off x="6775704"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Đảo chiều/dừng</a:t>
            </a:r>
          </a:p>
        </p:txBody>
      </p:sp>
      <p:sp>
        <p:nvSpPr>
          <p:cNvPr id="10" name="!!trk_6"/>
          <p:cNvSpPr txBox="1"/>
          <p:nvPr/>
        </p:nvSpPr>
        <p:spPr>
          <a:xfrm>
            <a:off x="8030261"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Tạo dạng lệnh</a:t>
            </a:r>
          </a:p>
        </p:txBody>
      </p:sp>
      <p:sp>
        <p:nvSpPr>
          <p:cNvPr id="11" name="!!trk_7"/>
          <p:cNvSpPr txBox="1"/>
          <p:nvPr/>
        </p:nvSpPr>
        <p:spPr>
          <a:xfrm>
            <a:off x="9284818" y="182880"/>
            <a:ext cx="1163117" cy="329184"/>
          </a:xfrm>
          <a:prstGeom prst="rect">
            <a:avLst/>
          </a:prstGeom>
          <a:noFill/>
        </p:spPr>
        <p:txBody>
          <a:bodyPr wrap="square" lIns="0" tIns="0" rIns="0" bIns="0" anchor="ctr">
            <a:noAutofit/>
          </a:bodyPr>
          <a:lstStyle/>
          <a:p>
            <a:pPr algn="ctr"/>
            <a:r>
              <a:rPr sz="1050" b="1" i="0" lang="vi-VN">
                <a:solidFill>
                  <a:srgbClr val="FFFFFF"/>
                </a:solidFill>
                <a:latin typeface="Arial"/>
                <a:ea typeface="Arial"/>
                <a:cs typeface="Arial"/>
              </a:rPr>
              <a:t>Lịch RS485</a:t>
            </a:r>
          </a:p>
        </p:txBody>
      </p:sp>
      <p:sp>
        <p:nvSpPr>
          <p:cNvPr id="12" name="!!trk_8"/>
          <p:cNvSpPr txBox="1"/>
          <p:nvPr/>
        </p:nvSpPr>
        <p:spPr>
          <a:xfrm>
            <a:off x="10539374" y="182880"/>
            <a:ext cx="1163117" cy="329184"/>
          </a:xfrm>
          <a:prstGeom prst="rect">
            <a:avLst/>
          </a:prstGeom>
          <a:noFill/>
        </p:spPr>
        <p:txBody>
          <a:bodyPr wrap="square" lIns="0" tIns="0" rIns="0" bIns="0" anchor="ctr">
            <a:noAutofit/>
          </a:bodyPr>
          <a:lstStyle/>
          <a:p>
            <a:pPr algn="ctr"/>
            <a:r>
              <a:rPr sz="1050" b="0" i="0" lang="vi-VN">
                <a:solidFill>
                  <a:srgbClr val="8A99A8"/>
                </a:solidFill>
                <a:latin typeface="Arial"/>
                <a:ea typeface="Arial"/>
                <a:cs typeface="Arial"/>
              </a:rPr>
              <a:t>Hoàn thiện</a:t>
            </a:r>
          </a:p>
        </p:txBody>
      </p:sp>
      <p:sp>
        <p:nvSpPr>
          <p:cNvPr id="13" name="Title"/>
          <p:cNvSpPr txBox="1"/>
          <p:nvPr/>
        </p:nvSpPr>
        <p:spPr>
          <a:xfrm>
            <a:off x="502920" y="603504"/>
            <a:ext cx="11201400" cy="530352"/>
          </a:xfrm>
          <a:prstGeom prst="rect">
            <a:avLst/>
          </a:prstGeom>
          <a:noFill/>
        </p:spPr>
        <p:txBody>
          <a:bodyPr wrap="square" lIns="0" tIns="0" rIns="0" bIns="0" anchor="ctr">
            <a:noAutofit/>
          </a:bodyPr>
          <a:lstStyle/>
          <a:p>
            <a:pPr algn="l"/>
            <a:r>
              <a:rPr sz="2500" b="1" i="0" lang="vi-VN">
                <a:solidFill>
                  <a:srgbClr val="0B2545"/>
                </a:solidFill>
                <a:latin typeface="Arial"/>
                <a:ea typeface="Arial"/>
                <a:cs typeface="Arial"/>
              </a:rPr>
              <a:t>B7 · Lịch RS485 luân phiên: Pitch cập nhật đều, độ tản mát giảm 85 %</a:t>
            </a:r>
          </a:p>
        </p:txBody>
      </p:sp>
      <p:grpSp>
        <p:nvGrpSpPr>
          <p:cNvPr id="14" name="Group 13"/>
          <p:cNvGrpSpPr/>
          <p:nvPr/>
        </p:nvGrpSpPr>
        <p:grpSpPr>
          <a:xfrm>
            <a:off x="502920" y="1261872"/>
            <a:ext cx="3931920" cy="1024128"/>
            <a:chOff x="502920" y="1261872"/>
            <a:chExt cx="3931920" cy="1024128"/>
          </a:xfrm>
        </p:grpSpPr>
        <p:sp>
          <p:nvSpPr>
            <p:cNvPr id="15" name="Rounded Rectangle 14"/>
            <p:cNvSpPr/>
            <p:nvPr/>
          </p:nvSpPr>
          <p:spPr>
            <a:xfrm>
              <a:off x="502920" y="1261872"/>
              <a:ext cx="393192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6" name="Picture 15" descr="warning_C62828.png"/>
            <p:cNvPicPr>
              <a:picLocks noChangeAspect="1"/>
            </p:cNvPicPr>
            <p:nvPr/>
          </p:nvPicPr>
          <p:blipFill>
            <a:blip r:embed="rId2"/>
            <a:stretch>
              <a:fillRect/>
            </a:stretch>
          </p:blipFill>
          <p:spPr>
            <a:xfrm>
              <a:off x="640080" y="1335024"/>
              <a:ext cx="237744" cy="237744"/>
            </a:xfrm>
            <a:prstGeom prst="rect">
              <a:avLst/>
            </a:prstGeom>
          </p:spPr>
        </p:pic>
        <p:sp>
          <p:nvSpPr>
            <p:cNvPr id="17" name="TextBox 16"/>
            <p:cNvSpPr txBox="1"/>
            <p:nvPr/>
          </p:nvSpPr>
          <p:spPr>
            <a:xfrm>
              <a:off x="969264" y="1307592"/>
              <a:ext cx="3328416" cy="292608"/>
            </a:xfrm>
            <a:prstGeom prst="rect">
              <a:avLst/>
            </a:prstGeom>
            <a:noFill/>
          </p:spPr>
          <p:txBody>
            <a:bodyPr wrap="square" lIns="0" tIns="0" rIns="0" bIns="0" anchor="ctr">
              <a:noAutofit/>
            </a:bodyPr>
            <a:lstStyle/>
            <a:p>
              <a:pPr algn="l"/>
              <a:r>
                <a:rPr sz="1250" b="1" i="0" lang="vi-VN" spc="40">
                  <a:solidFill>
                    <a:srgbClr val="C62828"/>
                  </a:solidFill>
                  <a:latin typeface="Arial"/>
                  <a:ea typeface="Arial"/>
                  <a:cs typeface="Arial"/>
                </a:rPr>
                <a:t>VẤN ĐỀ</a:t>
              </a:r>
            </a:p>
          </p:txBody>
        </p:sp>
        <p:sp>
          <p:nvSpPr>
            <p:cNvPr id="18" name="TextBox 17"/>
            <p:cNvSpPr txBox="1"/>
            <p:nvPr/>
          </p:nvSpPr>
          <p:spPr>
            <a:xfrm>
              <a:off x="667512" y="1609344"/>
              <a:ext cx="3639312" cy="658368"/>
            </a:xfrm>
            <a:prstGeom prst="rect">
              <a:avLst/>
            </a:prstGeom>
            <a:noFill/>
          </p:spPr>
          <p:txBody>
            <a:bodyPr wrap="square" lIns="0" tIns="0" rIns="0" bIns="0" anchor="t">
              <a:noAutofit/>
            </a:bodyPr>
            <a:lstStyle/>
            <a:p>
              <a:pPr algn="l">
                <a:lnSpc>
                  <a:spcPct val="98000"/>
                </a:lnSpc>
              </a:pPr>
              <a:r>
                <a:rPr sz="1350" b="0" i="0" lang="vi-VN">
                  <a:solidFill>
                    <a:srgbClr val="1E2B3A"/>
                  </a:solidFill>
                  <a:latin typeface="Arial"/>
                  <a:ea typeface="Arial"/>
                  <a:cs typeface="Arial"/>
                </a:rPr>
                <a:t>Ưu tiên Yaw trên bus chung: Pitch cập nhật không đều → trễ thay đổi, ngoại suy sai</a:t>
              </a:r>
            </a:p>
          </p:txBody>
        </p:sp>
      </p:grpSp>
      <p:grpSp>
        <p:nvGrpSpPr>
          <p:cNvPr id="19" name="Group 18"/>
          <p:cNvGrpSpPr/>
          <p:nvPr/>
        </p:nvGrpSpPr>
        <p:grpSpPr>
          <a:xfrm>
            <a:off x="502920" y="2395728"/>
            <a:ext cx="3931920" cy="2560320"/>
            <a:chOff x="502920" y="2395728"/>
            <a:chExt cx="3931920" cy="2560320"/>
          </a:xfrm>
        </p:grpSpPr>
        <p:sp>
          <p:nvSpPr>
            <p:cNvPr id="20" name="Rounded Rectangle 19"/>
            <p:cNvSpPr/>
            <p:nvPr/>
          </p:nvSpPr>
          <p:spPr>
            <a:xfrm>
              <a:off x="502920" y="2395728"/>
              <a:ext cx="3931920" cy="2560320"/>
            </a:xfrm>
            <a:prstGeom prst="roundRect">
              <a:avLst>
                <a:gd name="adj" fmla="val 357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21" name="Picture 20" descr="flask_0A5FA8.png"/>
            <p:cNvPicPr>
              <a:picLocks noChangeAspect="1"/>
            </p:cNvPicPr>
            <p:nvPr/>
          </p:nvPicPr>
          <p:blipFill>
            <a:blip r:embed="rId3"/>
            <a:stretch>
              <a:fillRect/>
            </a:stretch>
          </p:blipFill>
          <p:spPr>
            <a:xfrm>
              <a:off x="640080" y="2468880"/>
              <a:ext cx="237744" cy="237744"/>
            </a:xfrm>
            <a:prstGeom prst="rect">
              <a:avLst/>
            </a:prstGeom>
          </p:spPr>
        </p:pic>
        <p:sp>
          <p:nvSpPr>
            <p:cNvPr id="22" name="TextBox 21"/>
            <p:cNvSpPr txBox="1"/>
            <p:nvPr/>
          </p:nvSpPr>
          <p:spPr>
            <a:xfrm>
              <a:off x="969264" y="2441448"/>
              <a:ext cx="3374136" cy="292608"/>
            </a:xfrm>
            <a:prstGeom prst="rect">
              <a:avLst/>
            </a:prstGeom>
            <a:noFill/>
          </p:spPr>
          <p:txBody>
            <a:bodyPr wrap="square" lIns="0" tIns="0" rIns="0" bIns="0" anchor="ctr">
              <a:noAutofit/>
            </a:bodyPr>
            <a:lstStyle/>
            <a:p>
              <a:pPr algn="l"/>
              <a:r>
                <a:rPr sz="1250" b="1" i="0" lang="vi-VN" spc="40">
                  <a:solidFill>
                    <a:srgbClr val="0A5FA8"/>
                  </a:solidFill>
                  <a:latin typeface="Arial"/>
                  <a:ea typeface="Arial"/>
                  <a:cs typeface="Arial"/>
                </a:rPr>
                <a:t>MÔ PHỎNG · 20 000 KHE</a:t>
              </a:r>
            </a:p>
          </p:txBody>
        </p:sp>
      </p:grpSp>
      <p:grpSp>
        <p:nvGrpSpPr>
          <p:cNvPr id="23" name="Group 22"/>
          <p:cNvGrpSpPr/>
          <p:nvPr/>
        </p:nvGrpSpPr>
        <p:grpSpPr>
          <a:xfrm>
            <a:off x="612648" y="2788920"/>
            <a:ext cx="3712464" cy="420624"/>
            <a:chOff x="612648" y="2788920"/>
            <a:chExt cx="3712464" cy="420624"/>
          </a:xfrm>
        </p:grpSpPr>
        <p:sp>
          <p:nvSpPr>
            <p:cNvPr id="24" name="Rectangle 23"/>
            <p:cNvSpPr/>
            <p:nvPr/>
          </p:nvSpPr>
          <p:spPr>
            <a:xfrm>
              <a:off x="612648" y="2788920"/>
              <a:ext cx="3712464" cy="420624"/>
            </a:xfrm>
            <a:prstGeom prst="rect">
              <a:avLst/>
            </a:prstGeom>
            <a:solidFill>
              <a:srgbClr val="0B2545"/>
            </a:solidFill>
            <a:ln>
              <a:noFill/>
            </a:ln>
          </p:spPr>
          <p:txBody>
            <a:bodyPr rtlCol="0" anchor="ctr" lIns="54864" tIns="54864" rIns="54864" bIns="54864" wrap="square">
              <a:noAutofit/>
            </a:bodyPr>
            <a:lstStyle/>
            <a:p>
              <a:pPr algn="ctr"/>
            </a:p>
          </p:txBody>
        </p:sp>
        <p:sp>
          <p:nvSpPr>
            <p:cNvPr id="25" name="TextBox 24"/>
            <p:cNvSpPr txBox="1"/>
            <p:nvPr/>
          </p:nvSpPr>
          <p:spPr>
            <a:xfrm>
              <a:off x="667512" y="2788920"/>
              <a:ext cx="1444752" cy="420624"/>
            </a:xfrm>
            <a:prstGeom prst="rect">
              <a:avLst/>
            </a:prstGeom>
            <a:noFill/>
          </p:spPr>
          <p:txBody>
            <a:bodyPr wrap="square" lIns="0" tIns="0" rIns="0" bIns="0" anchor="ctr">
              <a:noAutofit/>
            </a:bodyPr>
            <a:lstStyle/>
            <a:p>
              <a:pPr algn="l">
                <a:lnSpc>
                  <a:spcPct val="95000"/>
                </a:lnSpc>
              </a:pPr>
              <a:r>
                <a:rPr sz="1250" b="1" i="0" lang="vi-VN">
                  <a:solidFill>
                    <a:srgbClr val="FFFFFF"/>
                  </a:solidFill>
                  <a:latin typeface="Arial"/>
                  <a:ea typeface="Arial"/>
                  <a:cs typeface="Arial"/>
                </a:rPr>
                <a:t>Cập nhật (ms)</a:t>
              </a:r>
            </a:p>
          </p:txBody>
        </p:sp>
        <p:sp>
          <p:nvSpPr>
            <p:cNvPr id="26" name="TextBox 25"/>
            <p:cNvSpPr txBox="1"/>
            <p:nvPr/>
          </p:nvSpPr>
          <p:spPr>
            <a:xfrm>
              <a:off x="2221992" y="2788920"/>
              <a:ext cx="969264" cy="420624"/>
            </a:xfrm>
            <a:prstGeom prst="rect">
              <a:avLst/>
            </a:prstGeom>
            <a:noFill/>
          </p:spPr>
          <p:txBody>
            <a:bodyPr wrap="square" lIns="0" tIns="0" rIns="0" bIns="0" anchor="ctr">
              <a:noAutofit/>
            </a:bodyPr>
            <a:lstStyle/>
            <a:p>
              <a:pPr algn="ctr">
                <a:lnSpc>
                  <a:spcPct val="95000"/>
                </a:lnSpc>
              </a:pPr>
              <a:r>
                <a:rPr sz="1250" b="1" i="0" lang="vi-VN">
                  <a:solidFill>
                    <a:srgbClr val="FFFFFF"/>
                  </a:solidFill>
                  <a:latin typeface="Arial"/>
                  <a:ea typeface="Arial"/>
                  <a:cs typeface="Arial"/>
                </a:rPr>
                <a:t>Ưu tiên Yaw</a:t>
              </a:r>
            </a:p>
          </p:txBody>
        </p:sp>
        <p:sp>
          <p:nvSpPr>
            <p:cNvPr id="27" name="TextBox 26"/>
            <p:cNvSpPr txBox="1"/>
            <p:nvPr/>
          </p:nvSpPr>
          <p:spPr>
            <a:xfrm>
              <a:off x="3300984" y="2788920"/>
              <a:ext cx="969264" cy="420624"/>
            </a:xfrm>
            <a:prstGeom prst="rect">
              <a:avLst/>
            </a:prstGeom>
            <a:noFill/>
          </p:spPr>
          <p:txBody>
            <a:bodyPr wrap="square" lIns="0" tIns="0" rIns="0" bIns="0" anchor="ctr">
              <a:noAutofit/>
            </a:bodyPr>
            <a:lstStyle/>
            <a:p>
              <a:pPr algn="ctr">
                <a:lnSpc>
                  <a:spcPct val="95000"/>
                </a:lnSpc>
              </a:pPr>
              <a:r>
                <a:rPr sz="1250" b="1" i="0" lang="vi-VN">
                  <a:solidFill>
                    <a:srgbClr val="FFFFFF"/>
                  </a:solidFill>
                  <a:latin typeface="Arial"/>
                  <a:ea typeface="Arial"/>
                  <a:cs typeface="Arial"/>
                </a:rPr>
                <a:t>Luân phiên</a:t>
              </a:r>
            </a:p>
          </p:txBody>
        </p:sp>
      </p:grpSp>
      <p:grpSp>
        <p:nvGrpSpPr>
          <p:cNvPr id="28" name="Group 27"/>
          <p:cNvGrpSpPr/>
          <p:nvPr/>
        </p:nvGrpSpPr>
        <p:grpSpPr>
          <a:xfrm>
            <a:off x="612648" y="3209544"/>
            <a:ext cx="3712464" cy="502920"/>
            <a:chOff x="612648" y="3209544"/>
            <a:chExt cx="3712464" cy="502920"/>
          </a:xfrm>
        </p:grpSpPr>
        <p:sp>
          <p:nvSpPr>
            <p:cNvPr id="29" name="Rectangle 28"/>
            <p:cNvSpPr/>
            <p:nvPr/>
          </p:nvSpPr>
          <p:spPr>
            <a:xfrm>
              <a:off x="612648" y="3209544"/>
              <a:ext cx="3712464" cy="502920"/>
            </a:xfrm>
            <a:prstGeom prst="rect">
              <a:avLst/>
            </a:prstGeom>
            <a:solidFill>
              <a:srgbClr val="FFFFFF"/>
            </a:solidFill>
            <a:ln>
              <a:noFill/>
            </a:ln>
          </p:spPr>
          <p:txBody>
            <a:bodyPr rtlCol="0" anchor="ctr" lIns="54864" tIns="54864" rIns="54864" bIns="54864" wrap="square">
              <a:noAutofit/>
            </a:bodyPr>
            <a:lstStyle/>
            <a:p>
              <a:pPr algn="ctr"/>
            </a:p>
          </p:txBody>
        </p:sp>
        <p:sp>
          <p:nvSpPr>
            <p:cNvPr id="30" name="TextBox 29"/>
            <p:cNvSpPr txBox="1"/>
            <p:nvPr/>
          </p:nvSpPr>
          <p:spPr>
            <a:xfrm>
              <a:off x="667512" y="3209544"/>
              <a:ext cx="1444752" cy="502920"/>
            </a:xfrm>
            <a:prstGeom prst="rect">
              <a:avLst/>
            </a:prstGeom>
            <a:noFill/>
          </p:spPr>
          <p:txBody>
            <a:bodyPr wrap="square" lIns="0" tIns="0" rIns="0" bIns="0" anchor="ctr">
              <a:noAutofit/>
            </a:bodyPr>
            <a:lstStyle/>
            <a:p>
              <a:pPr algn="l">
                <a:lnSpc>
                  <a:spcPct val="95000"/>
                </a:lnSpc>
              </a:pPr>
              <a:r>
                <a:rPr sz="1300" b="0" i="0" lang="vi-VN">
                  <a:solidFill>
                    <a:srgbClr val="1E2B3A"/>
                  </a:solidFill>
                  <a:latin typeface="Arial"/>
                  <a:ea typeface="Arial"/>
                  <a:cs typeface="Arial"/>
                </a:rPr>
                <a:t>Pitch p99 / lớn nhất</a:t>
              </a:r>
            </a:p>
          </p:txBody>
        </p:sp>
        <p:sp>
          <p:nvSpPr>
            <p:cNvPr id="31" name="TextBox 30"/>
            <p:cNvSpPr txBox="1"/>
            <p:nvPr/>
          </p:nvSpPr>
          <p:spPr>
            <a:xfrm>
              <a:off x="2221992" y="3209544"/>
              <a:ext cx="969264" cy="502920"/>
            </a:xfrm>
            <a:prstGeom prst="rect">
              <a:avLst/>
            </a:prstGeom>
            <a:noFill/>
          </p:spPr>
          <p:txBody>
            <a:bodyPr wrap="square" lIns="0" tIns="0" rIns="0" bIns="0" anchor="ctr">
              <a:noAutofit/>
            </a:bodyPr>
            <a:lstStyle/>
            <a:p>
              <a:pPr algn="ctr">
                <a:lnSpc>
                  <a:spcPct val="95000"/>
                </a:lnSpc>
              </a:pPr>
              <a:r>
                <a:rPr sz="1300" b="0" i="0" lang="vi-VN">
                  <a:solidFill>
                    <a:srgbClr val="1E2B3A"/>
                  </a:solidFill>
                  <a:latin typeface="Arial"/>
                  <a:ea typeface="Arial"/>
                  <a:cs typeface="Arial"/>
                </a:rPr>
                <a:t>30,2 / 70,0</a:t>
              </a:r>
            </a:p>
          </p:txBody>
        </p:sp>
        <p:sp>
          <p:nvSpPr>
            <p:cNvPr id="32" name="TextBox 31"/>
            <p:cNvSpPr txBox="1"/>
            <p:nvPr/>
          </p:nvSpPr>
          <p:spPr>
            <a:xfrm>
              <a:off x="3300984" y="3209544"/>
              <a:ext cx="969264" cy="502920"/>
            </a:xfrm>
            <a:prstGeom prst="rect">
              <a:avLst/>
            </a:prstGeom>
            <a:noFill/>
          </p:spPr>
          <p:txBody>
            <a:bodyPr wrap="square" lIns="0" tIns="0" rIns="0" bIns="0" anchor="ctr">
              <a:noAutofit/>
            </a:bodyPr>
            <a:lstStyle/>
            <a:p>
              <a:pPr algn="ctr">
                <a:lnSpc>
                  <a:spcPct val="95000"/>
                </a:lnSpc>
              </a:pPr>
              <a:r>
                <a:rPr sz="1300" b="0" i="0" lang="vi-VN">
                  <a:solidFill>
                    <a:srgbClr val="1E2B3A"/>
                  </a:solidFill>
                  <a:latin typeface="Arial"/>
                  <a:ea typeface="Arial"/>
                  <a:cs typeface="Arial"/>
                </a:rPr>
                <a:t>11,8 / 22,2</a:t>
              </a:r>
            </a:p>
          </p:txBody>
        </p:sp>
      </p:grpSp>
      <p:grpSp>
        <p:nvGrpSpPr>
          <p:cNvPr id="33" name="Group 32"/>
          <p:cNvGrpSpPr/>
          <p:nvPr/>
        </p:nvGrpSpPr>
        <p:grpSpPr>
          <a:xfrm>
            <a:off x="612648" y="3712464"/>
            <a:ext cx="3712464" cy="502920"/>
            <a:chOff x="612648" y="3712464"/>
            <a:chExt cx="3712464" cy="502920"/>
          </a:xfrm>
        </p:grpSpPr>
        <p:sp>
          <p:nvSpPr>
            <p:cNvPr id="34" name="Rectangle 33"/>
            <p:cNvSpPr/>
            <p:nvPr/>
          </p:nvSpPr>
          <p:spPr>
            <a:xfrm>
              <a:off x="612648" y="3712464"/>
              <a:ext cx="3712464" cy="502920"/>
            </a:xfrm>
            <a:prstGeom prst="rect">
              <a:avLst/>
            </a:prstGeom>
            <a:solidFill>
              <a:srgbClr val="F4F8FC"/>
            </a:solidFill>
            <a:ln>
              <a:noFill/>
            </a:ln>
          </p:spPr>
          <p:txBody>
            <a:bodyPr rtlCol="0" anchor="ctr" lIns="54864" tIns="54864" rIns="54864" bIns="54864" wrap="square">
              <a:noAutofit/>
            </a:bodyPr>
            <a:lstStyle/>
            <a:p>
              <a:pPr algn="ctr"/>
            </a:p>
          </p:txBody>
        </p:sp>
        <p:sp>
          <p:nvSpPr>
            <p:cNvPr id="35" name="TextBox 34"/>
            <p:cNvSpPr txBox="1"/>
            <p:nvPr/>
          </p:nvSpPr>
          <p:spPr>
            <a:xfrm>
              <a:off x="667512" y="3712464"/>
              <a:ext cx="1444752" cy="502920"/>
            </a:xfrm>
            <a:prstGeom prst="rect">
              <a:avLst/>
            </a:prstGeom>
            <a:noFill/>
          </p:spPr>
          <p:txBody>
            <a:bodyPr wrap="square" lIns="0" tIns="0" rIns="0" bIns="0" anchor="ctr">
              <a:noAutofit/>
            </a:bodyPr>
            <a:lstStyle/>
            <a:p>
              <a:pPr algn="l">
                <a:lnSpc>
                  <a:spcPct val="95000"/>
                </a:lnSpc>
              </a:pPr>
              <a:r>
                <a:rPr sz="1300" b="0" i="0" lang="vi-VN">
                  <a:solidFill>
                    <a:srgbClr val="1E2B3A"/>
                  </a:solidFill>
                  <a:latin typeface="Arial"/>
                  <a:ea typeface="Arial"/>
                  <a:cs typeface="Arial"/>
                </a:rPr>
                <a:t>Yaw p99 / lớn nhất</a:t>
              </a:r>
            </a:p>
          </p:txBody>
        </p:sp>
        <p:sp>
          <p:nvSpPr>
            <p:cNvPr id="36" name="TextBox 35"/>
            <p:cNvSpPr txBox="1"/>
            <p:nvPr/>
          </p:nvSpPr>
          <p:spPr>
            <a:xfrm>
              <a:off x="2221992" y="3712464"/>
              <a:ext cx="969264" cy="502920"/>
            </a:xfrm>
            <a:prstGeom prst="rect">
              <a:avLst/>
            </a:prstGeom>
            <a:noFill/>
          </p:spPr>
          <p:txBody>
            <a:bodyPr wrap="square" lIns="0" tIns="0" rIns="0" bIns="0" anchor="ctr">
              <a:noAutofit/>
            </a:bodyPr>
            <a:lstStyle/>
            <a:p>
              <a:pPr algn="ctr">
                <a:lnSpc>
                  <a:spcPct val="95000"/>
                </a:lnSpc>
              </a:pPr>
              <a:r>
                <a:rPr sz="1300" b="0" i="0" lang="vi-VN">
                  <a:solidFill>
                    <a:srgbClr val="1E2B3A"/>
                  </a:solidFill>
                  <a:latin typeface="Arial"/>
                  <a:ea typeface="Arial"/>
                  <a:cs typeface="Arial"/>
                </a:rPr>
                <a:t>7,1 / 15,1</a:t>
              </a:r>
            </a:p>
          </p:txBody>
        </p:sp>
        <p:sp>
          <p:nvSpPr>
            <p:cNvPr id="37" name="TextBox 36"/>
            <p:cNvSpPr txBox="1"/>
            <p:nvPr/>
          </p:nvSpPr>
          <p:spPr>
            <a:xfrm>
              <a:off x="3300984" y="3712464"/>
              <a:ext cx="969264" cy="502920"/>
            </a:xfrm>
            <a:prstGeom prst="rect">
              <a:avLst/>
            </a:prstGeom>
            <a:noFill/>
          </p:spPr>
          <p:txBody>
            <a:bodyPr wrap="square" lIns="0" tIns="0" rIns="0" bIns="0" anchor="ctr">
              <a:noAutofit/>
            </a:bodyPr>
            <a:lstStyle/>
            <a:p>
              <a:pPr algn="ctr">
                <a:lnSpc>
                  <a:spcPct val="95000"/>
                </a:lnSpc>
              </a:pPr>
              <a:r>
                <a:rPr sz="1300" b="0" i="0" lang="vi-VN">
                  <a:solidFill>
                    <a:srgbClr val="1E2B3A"/>
                  </a:solidFill>
                  <a:latin typeface="Arial"/>
                  <a:ea typeface="Arial"/>
                  <a:cs typeface="Arial"/>
                </a:rPr>
                <a:t>11,7 / 30,1</a:t>
              </a:r>
            </a:p>
          </p:txBody>
        </p:sp>
      </p:grpSp>
      <p:grpSp>
        <p:nvGrpSpPr>
          <p:cNvPr id="38" name="Group 37"/>
          <p:cNvGrpSpPr/>
          <p:nvPr/>
        </p:nvGrpSpPr>
        <p:grpSpPr>
          <a:xfrm>
            <a:off x="612648" y="4215384"/>
            <a:ext cx="3712464" cy="502920"/>
            <a:chOff x="612648" y="4215384"/>
            <a:chExt cx="3712464" cy="502920"/>
          </a:xfrm>
        </p:grpSpPr>
        <p:sp>
          <p:nvSpPr>
            <p:cNvPr id="39" name="Rectangle 38"/>
            <p:cNvSpPr/>
            <p:nvPr/>
          </p:nvSpPr>
          <p:spPr>
            <a:xfrm>
              <a:off x="612648" y="4215384"/>
              <a:ext cx="3712464" cy="502920"/>
            </a:xfrm>
            <a:prstGeom prst="rect">
              <a:avLst/>
            </a:prstGeom>
            <a:solidFill>
              <a:srgbClr val="FFFFFF"/>
            </a:solidFill>
            <a:ln>
              <a:noFill/>
            </a:ln>
          </p:spPr>
          <p:txBody>
            <a:bodyPr rtlCol="0" anchor="ctr" lIns="54864" tIns="54864" rIns="54864" bIns="54864" wrap="square">
              <a:noAutofit/>
            </a:bodyPr>
            <a:lstStyle/>
            <a:p>
              <a:pPr algn="ctr"/>
            </a:p>
          </p:txBody>
        </p:sp>
        <p:sp>
          <p:nvSpPr>
            <p:cNvPr id="40" name="TextBox 39"/>
            <p:cNvSpPr txBox="1"/>
            <p:nvPr/>
          </p:nvSpPr>
          <p:spPr>
            <a:xfrm>
              <a:off x="667512" y="4215384"/>
              <a:ext cx="1444752" cy="502920"/>
            </a:xfrm>
            <a:prstGeom prst="rect">
              <a:avLst/>
            </a:prstGeom>
            <a:noFill/>
          </p:spPr>
          <p:txBody>
            <a:bodyPr wrap="square" lIns="0" tIns="0" rIns="0" bIns="0" anchor="ctr">
              <a:noAutofit/>
            </a:bodyPr>
            <a:lstStyle/>
            <a:p>
              <a:pPr algn="l">
                <a:lnSpc>
                  <a:spcPct val="95000"/>
                </a:lnSpc>
              </a:pPr>
              <a:r>
                <a:rPr sz="1300" b="0" i="0" lang="vi-VN">
                  <a:solidFill>
                    <a:srgbClr val="1E2B3A"/>
                  </a:solidFill>
                  <a:latin typeface="Arial"/>
                  <a:ea typeface="Arial"/>
                  <a:cs typeface="Arial"/>
                </a:rPr>
                <a:t>Không khởi động được</a:t>
              </a:r>
            </a:p>
          </p:txBody>
        </p:sp>
        <p:sp>
          <p:nvSpPr>
            <p:cNvPr id="41" name="TextBox 40"/>
            <p:cNvSpPr txBox="1"/>
            <p:nvPr/>
          </p:nvSpPr>
          <p:spPr>
            <a:xfrm>
              <a:off x="2221992" y="4215384"/>
              <a:ext cx="969264" cy="502920"/>
            </a:xfrm>
            <a:prstGeom prst="rect">
              <a:avLst/>
            </a:prstGeom>
            <a:noFill/>
          </p:spPr>
          <p:txBody>
            <a:bodyPr wrap="square" lIns="0" tIns="0" rIns="0" bIns="0" anchor="ctr">
              <a:noAutofit/>
            </a:bodyPr>
            <a:lstStyle/>
            <a:p>
              <a:pPr algn="ctr">
                <a:lnSpc>
                  <a:spcPct val="95000"/>
                </a:lnSpc>
              </a:pPr>
              <a:r>
                <a:rPr sz="1300" b="0" i="0" lang="vi-VN">
                  <a:solidFill>
                    <a:srgbClr val="1E2B3A"/>
                  </a:solidFill>
                  <a:latin typeface="Arial"/>
                  <a:ea typeface="Arial"/>
                  <a:cs typeface="Arial"/>
                </a:rPr>
                <a:t>7,2 %</a:t>
              </a:r>
            </a:p>
          </p:txBody>
        </p:sp>
        <p:sp>
          <p:nvSpPr>
            <p:cNvPr id="42" name="TextBox 41"/>
            <p:cNvSpPr txBox="1"/>
            <p:nvPr/>
          </p:nvSpPr>
          <p:spPr>
            <a:xfrm>
              <a:off x="3300984" y="4215384"/>
              <a:ext cx="969264" cy="502920"/>
            </a:xfrm>
            <a:prstGeom prst="rect">
              <a:avLst/>
            </a:prstGeom>
            <a:noFill/>
          </p:spPr>
          <p:txBody>
            <a:bodyPr wrap="square" lIns="0" tIns="0" rIns="0" bIns="0" anchor="ctr">
              <a:noAutofit/>
            </a:bodyPr>
            <a:lstStyle/>
            <a:p>
              <a:pPr algn="ctr">
                <a:lnSpc>
                  <a:spcPct val="95000"/>
                </a:lnSpc>
              </a:pPr>
              <a:r>
                <a:rPr sz="1300" b="0" i="0" lang="vi-VN">
                  <a:solidFill>
                    <a:srgbClr val="1E2B3A"/>
                  </a:solidFill>
                  <a:latin typeface="Arial"/>
                  <a:ea typeface="Arial"/>
                  <a:cs typeface="Arial"/>
                </a:rPr>
                <a:t>0,8 %</a:t>
              </a:r>
            </a:p>
          </p:txBody>
        </p:sp>
      </p:grpSp>
      <p:grpSp>
        <p:nvGrpSpPr>
          <p:cNvPr id="43" name="Group 42"/>
          <p:cNvGrpSpPr/>
          <p:nvPr/>
        </p:nvGrpSpPr>
        <p:grpSpPr>
          <a:xfrm>
            <a:off x="502920" y="5065776"/>
            <a:ext cx="3931920" cy="987552"/>
            <a:chOff x="502920" y="5065776"/>
            <a:chExt cx="3931920" cy="987552"/>
          </a:xfrm>
        </p:grpSpPr>
        <p:sp>
          <p:nvSpPr>
            <p:cNvPr id="44" name="Rounded Rectangle 43"/>
            <p:cNvSpPr/>
            <p:nvPr/>
          </p:nvSpPr>
          <p:spPr>
            <a:xfrm>
              <a:off x="502920" y="5065776"/>
              <a:ext cx="3931920" cy="987552"/>
            </a:xfrm>
            <a:prstGeom prst="roundRect">
              <a:avLst>
                <a:gd name="adj" fmla="val 9259"/>
              </a:avLst>
            </a:prstGeom>
            <a:solidFill>
              <a:srgbClr val="FFF1E6"/>
            </a:solidFill>
            <a:ln w="19050">
              <a:solidFill>
                <a:srgbClr val="E8710A"/>
              </a:solidFill>
            </a:ln>
          </p:spPr>
          <p:txBody>
            <a:bodyPr rtlCol="0" anchor="ctr" lIns="54864" tIns="54864" rIns="54864" bIns="54864" wrap="square">
              <a:noAutofit/>
            </a:bodyPr>
            <a:lstStyle/>
            <a:p>
              <a:pPr algn="ctr"/>
            </a:p>
          </p:txBody>
        </p:sp>
        <p:pic>
          <p:nvPicPr>
            <p:cNvPr id="45" name="Picture 44" descr="check_B45309.png"/>
            <p:cNvPicPr>
              <a:picLocks noChangeAspect="1"/>
            </p:cNvPicPr>
            <p:nvPr/>
          </p:nvPicPr>
          <p:blipFill>
            <a:blip r:embed="rId4"/>
            <a:stretch>
              <a:fillRect/>
            </a:stretch>
          </p:blipFill>
          <p:spPr>
            <a:xfrm>
              <a:off x="640080" y="5120640"/>
              <a:ext cx="237744" cy="237744"/>
            </a:xfrm>
            <a:prstGeom prst="rect">
              <a:avLst/>
            </a:prstGeom>
          </p:spPr>
        </p:pic>
        <p:sp>
          <p:nvSpPr>
            <p:cNvPr id="46" name="TextBox 45"/>
            <p:cNvSpPr txBox="1"/>
            <p:nvPr/>
          </p:nvSpPr>
          <p:spPr>
            <a:xfrm>
              <a:off x="969264" y="5093208"/>
              <a:ext cx="3328416" cy="292608"/>
            </a:xfrm>
            <a:prstGeom prst="rect">
              <a:avLst/>
            </a:prstGeom>
            <a:noFill/>
          </p:spPr>
          <p:txBody>
            <a:bodyPr wrap="square" lIns="0" tIns="0" rIns="0" bIns="0" anchor="ctr">
              <a:noAutofit/>
            </a:bodyPr>
            <a:lstStyle/>
            <a:p>
              <a:pPr algn="l"/>
              <a:r>
                <a:rPr sz="1250" b="1" i="0" lang="vi-VN" spc="40">
                  <a:solidFill>
                    <a:srgbClr val="B45309"/>
                  </a:solidFill>
                  <a:latin typeface="Arial"/>
                  <a:ea typeface="Arial"/>
                  <a:cs typeface="Arial"/>
                </a:rPr>
                <a:t>LỰA CHỌN</a:t>
              </a:r>
            </a:p>
          </p:txBody>
        </p:sp>
        <p:sp>
          <p:nvSpPr>
            <p:cNvPr id="47" name="TextBox 46"/>
            <p:cNvSpPr txBox="1"/>
            <p:nvPr/>
          </p:nvSpPr>
          <p:spPr>
            <a:xfrm>
              <a:off x="667512" y="5376672"/>
              <a:ext cx="3639312" cy="658368"/>
            </a:xfrm>
            <a:prstGeom prst="rect">
              <a:avLst/>
            </a:prstGeom>
            <a:noFill/>
          </p:spPr>
          <p:txBody>
            <a:bodyPr wrap="square" lIns="0" tIns="0" rIns="0" bIns="0" anchor="t">
              <a:noAutofit/>
            </a:bodyPr>
            <a:lstStyle/>
            <a:p>
              <a:pPr algn="l">
                <a:lnSpc>
                  <a:spcPct val="96000"/>
                </a:lnSpc>
              </a:pPr>
              <a:r>
                <a:rPr sz="1350" b="1" i="0" lang="vi-VN">
                  <a:solidFill>
                    <a:srgbClr val="1E2B3A"/>
                  </a:solidFill>
                  <a:latin typeface="Arial"/>
                  <a:ea typeface="Arial"/>
                  <a:cs typeface="Arial"/>
                </a:rPr>
                <a:t>Luân phiên, khe 5 ms: Yaw khe chẵn, Pitch khe lẻ; không thử lại trong khe</a:t>
              </a:r>
            </a:p>
          </p:txBody>
        </p:sp>
      </p:grpSp>
      <p:grpSp>
        <p:nvGrpSpPr>
          <p:cNvPr id="48" name="Group 47"/>
          <p:cNvGrpSpPr/>
          <p:nvPr/>
        </p:nvGrpSpPr>
        <p:grpSpPr>
          <a:xfrm>
            <a:off x="4617720" y="1261872"/>
            <a:ext cx="7086600" cy="3657600"/>
            <a:chOff x="4617720" y="1261872"/>
            <a:chExt cx="7086600" cy="3657600"/>
          </a:xfrm>
        </p:grpSpPr>
        <p:sp>
          <p:nvSpPr>
            <p:cNvPr id="49" name="Rounded Rectangle 48"/>
            <p:cNvSpPr/>
            <p:nvPr/>
          </p:nvSpPr>
          <p:spPr>
            <a:xfrm>
              <a:off x="4617720" y="1261872"/>
              <a:ext cx="7086600" cy="3657600"/>
            </a:xfrm>
            <a:prstGeom prst="roundRect">
              <a:avLst>
                <a:gd name="adj" fmla="val 2500"/>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50" name="Picture 49" descr="cogs_0B2545.png"/>
            <p:cNvPicPr>
              <a:picLocks noChangeAspect="1"/>
            </p:cNvPicPr>
            <p:nvPr/>
          </p:nvPicPr>
          <p:blipFill>
            <a:blip r:embed="rId5"/>
            <a:stretch>
              <a:fillRect/>
            </a:stretch>
          </p:blipFill>
          <p:spPr>
            <a:xfrm>
              <a:off x="4754880" y="1335024"/>
              <a:ext cx="237744" cy="237744"/>
            </a:xfrm>
            <a:prstGeom prst="rect">
              <a:avLst/>
            </a:prstGeom>
          </p:spPr>
        </p:pic>
        <p:sp>
          <p:nvSpPr>
            <p:cNvPr id="51" name="TextBox 50"/>
            <p:cNvSpPr txBox="1"/>
            <p:nvPr/>
          </p:nvSpPr>
          <p:spPr>
            <a:xfrm>
              <a:off x="5084064" y="1307592"/>
              <a:ext cx="4791456" cy="292608"/>
            </a:xfrm>
            <a:prstGeom prst="rect">
              <a:avLst/>
            </a:prstGeom>
            <a:noFill/>
          </p:spPr>
          <p:txBody>
            <a:bodyPr wrap="square" lIns="0" tIns="0" rIns="0" bIns="0" anchor="ctr">
              <a:noAutofit/>
            </a:bodyPr>
            <a:lstStyle/>
            <a:p>
              <a:pPr algn="l"/>
              <a:r>
                <a:rPr sz="1250" b="1" i="0" lang="vi-VN" spc="40">
                  <a:solidFill>
                    <a:srgbClr val="0B2545"/>
                  </a:solidFill>
                  <a:latin typeface="Arial"/>
                  <a:ea typeface="Arial"/>
                  <a:cs typeface="Arial"/>
                </a:rPr>
                <a:t>HỆ THẬT · TẢI ĐẦY ĐỦ (BẢNG 3.19)</a:t>
              </a:r>
            </a:p>
          </p:txBody>
        </p:sp>
      </p:grpSp>
      <p:pic>
        <p:nvPicPr>
          <p:cNvPr id="52" name="Picture 51" descr="s25_real_base.png"/>
          <p:cNvPicPr>
            <a:picLocks noChangeAspect="1"/>
          </p:cNvPicPr>
          <p:nvPr/>
        </p:nvPicPr>
        <p:blipFill>
          <a:blip r:embed="rId6"/>
          <a:stretch>
            <a:fillRect/>
          </a:stretch>
        </p:blipFill>
        <p:spPr>
          <a:xfrm>
            <a:off x="4754880" y="1700784"/>
            <a:ext cx="6766560" cy="3108960"/>
          </a:xfrm>
          <a:prstGeom prst="rect">
            <a:avLst/>
          </a:prstGeom>
        </p:spPr>
      </p:pic>
      <p:pic>
        <p:nvPicPr>
          <p:cNvPr id="53" name="Picture 52" descr="s25_real_after.png"/>
          <p:cNvPicPr>
            <a:picLocks noChangeAspect="1"/>
          </p:cNvPicPr>
          <p:nvPr/>
        </p:nvPicPr>
        <p:blipFill>
          <a:blip r:embed="rId7"/>
          <a:stretch>
            <a:fillRect/>
          </a:stretch>
        </p:blipFill>
        <p:spPr>
          <a:xfrm>
            <a:off x="4754880" y="1700784"/>
            <a:ext cx="6766560" cy="3108960"/>
          </a:xfrm>
          <a:prstGeom prst="rect">
            <a:avLst/>
          </a:prstGeom>
        </p:spPr>
      </p:pic>
      <p:grpSp>
        <p:nvGrpSpPr>
          <p:cNvPr id="54" name="Group 53"/>
          <p:cNvGrpSpPr/>
          <p:nvPr/>
        </p:nvGrpSpPr>
        <p:grpSpPr>
          <a:xfrm>
            <a:off x="4617720" y="5029200"/>
            <a:ext cx="1668780" cy="1024128"/>
            <a:chOff x="4617720" y="5029200"/>
            <a:chExt cx="1668780" cy="1024128"/>
          </a:xfrm>
        </p:grpSpPr>
        <p:sp>
          <p:nvSpPr>
            <p:cNvPr id="55" name="Rounded Rectangle 54"/>
            <p:cNvSpPr/>
            <p:nvPr/>
          </p:nvSpPr>
          <p:spPr>
            <a:xfrm>
              <a:off x="461772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56" name="TextBox 55"/>
            <p:cNvSpPr txBox="1"/>
            <p:nvPr/>
          </p:nvSpPr>
          <p:spPr>
            <a:xfrm>
              <a:off x="467258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−85 %</a:t>
              </a:r>
            </a:p>
          </p:txBody>
        </p:sp>
        <p:sp>
          <p:nvSpPr>
            <p:cNvPr id="57" name="TextBox 56"/>
            <p:cNvSpPr txBox="1"/>
            <p:nvPr/>
          </p:nvSpPr>
          <p:spPr>
            <a:xfrm>
              <a:off x="469087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tản mát cập nhật Pitch 13,3 → 2,0 ms</a:t>
              </a:r>
            </a:p>
          </p:txBody>
        </p:sp>
      </p:grpSp>
      <p:grpSp>
        <p:nvGrpSpPr>
          <p:cNvPr id="58" name="Group 57"/>
          <p:cNvGrpSpPr/>
          <p:nvPr/>
        </p:nvGrpSpPr>
        <p:grpSpPr>
          <a:xfrm>
            <a:off x="6423660" y="5029200"/>
            <a:ext cx="1668780" cy="1024128"/>
            <a:chOff x="6423660" y="5029200"/>
            <a:chExt cx="1668780" cy="1024128"/>
          </a:xfrm>
        </p:grpSpPr>
        <p:sp>
          <p:nvSpPr>
            <p:cNvPr id="59" name="Rounded Rectangle 58"/>
            <p:cNvSpPr/>
            <p:nvPr/>
          </p:nvSpPr>
          <p:spPr>
            <a:xfrm>
              <a:off x="642366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60" name="TextBox 59"/>
            <p:cNvSpPr txBox="1"/>
            <p:nvPr/>
          </p:nvSpPr>
          <p:spPr>
            <a:xfrm>
              <a:off x="6478524" y="5084064"/>
              <a:ext cx="1559052" cy="45720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62,1 → 14,1</a:t>
              </a:r>
            </a:p>
          </p:txBody>
        </p:sp>
        <p:sp>
          <p:nvSpPr>
            <p:cNvPr id="61" name="TextBox 60"/>
            <p:cNvSpPr txBox="1"/>
            <p:nvPr/>
          </p:nvSpPr>
          <p:spPr>
            <a:xfrm>
              <a:off x="649681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cập nhật lớn nhất Pitch (ms)</a:t>
              </a:r>
            </a:p>
          </p:txBody>
        </p:sp>
      </p:grpSp>
      <p:grpSp>
        <p:nvGrpSpPr>
          <p:cNvPr id="62" name="Group 61"/>
          <p:cNvGrpSpPr/>
          <p:nvPr/>
        </p:nvGrpSpPr>
        <p:grpSpPr>
          <a:xfrm>
            <a:off x="8229600" y="5029200"/>
            <a:ext cx="1668780" cy="1024128"/>
            <a:chOff x="8229600" y="5029200"/>
            <a:chExt cx="1668780" cy="1024128"/>
          </a:xfrm>
        </p:grpSpPr>
        <p:sp>
          <p:nvSpPr>
            <p:cNvPr id="63" name="Rounded Rectangle 62"/>
            <p:cNvSpPr/>
            <p:nvPr/>
          </p:nvSpPr>
          <p:spPr>
            <a:xfrm>
              <a:off x="822960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64" name="TextBox 63"/>
            <p:cNvSpPr txBox="1"/>
            <p:nvPr/>
          </p:nvSpPr>
          <p:spPr>
            <a:xfrm>
              <a:off x="8284464" y="5084064"/>
              <a:ext cx="155905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−18,5 %</a:t>
              </a:r>
            </a:p>
          </p:txBody>
        </p:sp>
        <p:sp>
          <p:nvSpPr>
            <p:cNvPr id="65" name="TextBox 64"/>
            <p:cNvSpPr txBox="1"/>
            <p:nvPr/>
          </p:nvSpPr>
          <p:spPr>
            <a:xfrm>
              <a:off x="8302752" y="5541264"/>
              <a:ext cx="1522476" cy="47548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e</a:t>
              </a:r>
              <a:r>
                <a:rPr sz="1200" b="0" i="0" lang="vi-VN" baseline="-25000">
                  <a:solidFill>
                    <a:srgbClr val="1E2B3A"/>
                  </a:solidFill>
                  <a:latin typeface="Cambria"/>
                  <a:ea typeface="Cambria"/>
                  <a:cs typeface="Cambria"/>
                </a:rPr>
                <a:t>max</a:t>
              </a:r>
              <a:r>
                <a:rPr sz="1200" b="0" i="0" lang="vi-VN">
                  <a:solidFill>
                    <a:srgbClr val="1E2B3A"/>
                  </a:solidFill>
                  <a:latin typeface="Arial"/>
                  <a:ea typeface="Arial"/>
                  <a:cs typeface="Arial"/>
                </a:rPr>
                <a:t> Pitch so với ưu tiên Yaw</a:t>
              </a:r>
            </a:p>
          </p:txBody>
        </p:sp>
      </p:grpSp>
      <p:grpSp>
        <p:nvGrpSpPr>
          <p:cNvPr id="66" name="Group 65"/>
          <p:cNvGrpSpPr/>
          <p:nvPr/>
        </p:nvGrpSpPr>
        <p:grpSpPr>
          <a:xfrm>
            <a:off x="10035540" y="5029200"/>
            <a:ext cx="1668780" cy="1024128"/>
            <a:chOff x="10035540" y="5029200"/>
            <a:chExt cx="1668780" cy="1024128"/>
          </a:xfrm>
        </p:grpSpPr>
        <p:sp>
          <p:nvSpPr>
            <p:cNvPr id="67" name="Rounded Rectangle 66"/>
            <p:cNvSpPr/>
            <p:nvPr/>
          </p:nvSpPr>
          <p:spPr>
            <a:xfrm>
              <a:off x="10035540" y="5029200"/>
              <a:ext cx="1668780" cy="1024128"/>
            </a:xfrm>
            <a:prstGeom prst="roundRect">
              <a:avLst>
                <a:gd name="adj" fmla="val 892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68" name="TextBox 67"/>
            <p:cNvSpPr txBox="1"/>
            <p:nvPr/>
          </p:nvSpPr>
          <p:spPr>
            <a:xfrm>
              <a:off x="10090404" y="5084064"/>
              <a:ext cx="1559052" cy="457200"/>
            </a:xfrm>
            <a:prstGeom prst="rect">
              <a:avLst/>
            </a:prstGeom>
            <a:noFill/>
          </p:spPr>
          <p:txBody>
            <a:bodyPr wrap="square" lIns="0" tIns="0" rIns="0" bIns="0" anchor="ctr">
              <a:noAutofit/>
            </a:bodyPr>
            <a:lstStyle/>
            <a:p>
              <a:pPr algn="ctr"/>
              <a:r>
                <a:rPr sz="2400" b="1" i="0" lang="vi-VN">
                  <a:solidFill>
                    <a:srgbClr val="C62828"/>
                  </a:solidFill>
                  <a:latin typeface="Arial"/>
                  <a:ea typeface="Arial"/>
                  <a:cs typeface="Arial"/>
                </a:rPr>
                <a:t>6,00 ms</a:t>
              </a:r>
            </a:p>
          </p:txBody>
        </p:sp>
        <p:sp>
          <p:nvSpPr>
            <p:cNvPr id="69" name="TextBox 68"/>
            <p:cNvSpPr txBox="1"/>
            <p:nvPr/>
          </p:nvSpPr>
          <p:spPr>
            <a:xfrm>
              <a:off x="10108692" y="5541264"/>
              <a:ext cx="1522476" cy="47548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giao dịch lớn nhất &gt; khe 5 ms (chưa đạt)</a:t>
              </a:r>
            </a:p>
          </p:txBody>
        </p:sp>
      </p:grpSp>
      <p:sp>
        <p:nvSpPr>
          <p:cNvPr id="78"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25</a:t>
            </a:fld>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childTnLst>
                          </p:cTn>
                        </p:par>
                        <p:par>
                          <p:cTn id="13" fill="hold">
                            <p:stCondLst>
                              <p:cond delay="350"/>
                            </p:stCondLst>
                            <p:childTnLst>
                              <p:par>
                                <p:cTn id="14" presetID="22" presetClass="entr" presetSubtype="8"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450"/>
                                        <p:tgtEl>
                                          <p:spTgt spid="23"/>
                                        </p:tgtEl>
                                      </p:cBhvr>
                                    </p:animEffect>
                                  </p:childTnLst>
                                </p:cTn>
                              </p:par>
                            </p:childTnLst>
                          </p:cTn>
                        </p:par>
                        <p:par>
                          <p:cTn id="17" fill="hold">
                            <p:stCondLst>
                              <p:cond delay="800"/>
                            </p:stCondLst>
                            <p:childTnLst>
                              <p:par>
                                <p:cTn id="18" presetID="22" presetClass="entr" presetSubtype="8"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450"/>
                                        <p:tgtEl>
                                          <p:spTgt spid="28"/>
                                        </p:tgtEl>
                                      </p:cBhvr>
                                    </p:animEffect>
                                  </p:childTnLst>
                                </p:cTn>
                              </p:par>
                            </p:childTnLst>
                          </p:cTn>
                        </p:par>
                        <p:par>
                          <p:cTn id="21" fill="hold">
                            <p:stCondLst>
                              <p:cond delay="1250"/>
                            </p:stCondLst>
                            <p:childTnLst>
                              <p:par>
                                <p:cTn id="22" presetID="22" presetClass="entr" presetSubtype="8" fill="hold" grpId="0" nodeType="after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450"/>
                                        <p:tgtEl>
                                          <p:spTgt spid="33"/>
                                        </p:tgtEl>
                                      </p:cBhvr>
                                    </p:animEffect>
                                  </p:childTnLst>
                                </p:cTn>
                              </p:par>
                            </p:childTnLst>
                          </p:cTn>
                        </p:par>
                        <p:par>
                          <p:cTn id="25" fill="hold">
                            <p:stCondLst>
                              <p:cond delay="1700"/>
                            </p:stCondLst>
                            <p:childTnLst>
                              <p:par>
                                <p:cTn id="26" presetID="22" presetClass="entr" presetSubtype="8" fill="hold" grpId="0" nodeType="after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left)">
                                      <p:cBhvr>
                                        <p:cTn id="28" dur="450"/>
                                        <p:tgtEl>
                                          <p:spTgt spid="38"/>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400"/>
                                        <p:tgtEl>
                                          <p:spTgt spid="43"/>
                                        </p:tgtEl>
                                      </p:cBhvr>
                                    </p:animEffect>
                                    <p:anim calcmode="lin" valueType="num">
                                      <p:cBhvr>
                                        <p:cTn id="34" dur="400" fill="hold"/>
                                        <p:tgtEl>
                                          <p:spTgt spid="43"/>
                                        </p:tgtEl>
                                        <p:attrNameLst>
                                          <p:attrName>ppt_w</p:attrName>
                                        </p:attrNameLst>
                                      </p:cBhvr>
                                      <p:tavLst>
                                        <p:tav tm="0">
                                          <p:val>
                                            <p:strVal val="0"/>
                                          </p:val>
                                        </p:tav>
                                        <p:tav tm="100000">
                                          <p:val>
                                            <p:strVal val="#ppt_w"/>
                                          </p:val>
                                        </p:tav>
                                      </p:tavLst>
                                    </p:anim>
                                    <p:anim calcmode="lin" valueType="num">
                                      <p:cBhvr>
                                        <p:cTn id="35" dur="400" fill="hold"/>
                                        <p:tgtEl>
                                          <p:spTgt spid="43"/>
                                        </p:tgtEl>
                                        <p:attrNameLst>
                                          <p:attrName>ppt_h</p:attrName>
                                        </p:attrNameLst>
                                      </p:cBhvr>
                                      <p:tavLst>
                                        <p:tav tm="0">
                                          <p:val>
                                            <p:strVal val="0"/>
                                          </p:val>
                                        </p:tav>
                                        <p:tav tm="100000">
                                          <p:val>
                                            <p:strVal val="#ppt_h"/>
                                          </p:val>
                                        </p:tav>
                                      </p:tavLst>
                                    </p:anim>
                                  </p:childTnLst>
                                </p:cTn>
                              </p:par>
                            </p:childTnLst>
                          </p:cTn>
                        </p:par>
                        <p:par>
                          <p:cTn id="36" fill="hold">
                            <p:stCondLst>
                              <p:cond delay="400"/>
                            </p:stCondLst>
                            <p:childTnLst>
                              <p:par>
                                <p:cTn id="37" presetID="6" presetClass="emph" presetSubtype="0" fill="hold" grpId="1" nodeType="afterEffect">
                                  <p:stCondLst>
                                    <p:cond delay="0"/>
                                  </p:stCondLst>
                                  <p:childTnLst>
                                    <p:animScale>
                                      <p:cBhvr>
                                        <p:cTn id="38" dur="250" autoRev="1" fill="hold"/>
                                        <p:tgtEl>
                                          <p:spTgt spid="43"/>
                                        </p:tgtEl>
                                      </p:cBhvr>
                                      <p:by x="112000" y="112000"/>
                                    </p:animScale>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fade">
                                      <p:cBhvr>
                                        <p:cTn id="43" dur="350"/>
                                        <p:tgtEl>
                                          <p:spTgt spid="48"/>
                                        </p:tgtEl>
                                      </p:cBhvr>
                                    </p:animEffect>
                                  </p:childTnLst>
                                </p:cTn>
                              </p:par>
                            </p:childTnLst>
                          </p:cTn>
                        </p:par>
                        <p:par>
                          <p:cTn id="44" fill="hold">
                            <p:stCondLst>
                              <p:cond delay="350"/>
                            </p:stCondLst>
                            <p:childTnLst>
                              <p:par>
                                <p:cTn id="45" presetID="10" presetClass="entr" presetSubtype="0" fill="hold" grpId="0" nodeType="after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45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wipe(left)">
                                      <p:cBhvr>
                                        <p:cTn id="52" dur="7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fade">
                                      <p:cBhvr>
                                        <p:cTn id="57" dur="380"/>
                                        <p:tgtEl>
                                          <p:spTgt spid="54"/>
                                        </p:tgtEl>
                                      </p:cBhvr>
                                    </p:animEffect>
                                    <p:anim calcmode="lin" valueType="num">
                                      <p:cBhvr>
                                        <p:cTn id="58" dur="380" fill="hold"/>
                                        <p:tgtEl>
                                          <p:spTgt spid="54"/>
                                        </p:tgtEl>
                                        <p:attrNameLst>
                                          <p:attrName>ppt_w</p:attrName>
                                        </p:attrNameLst>
                                      </p:cBhvr>
                                      <p:tavLst>
                                        <p:tav tm="0">
                                          <p:val>
                                            <p:strVal val="0"/>
                                          </p:val>
                                        </p:tav>
                                        <p:tav tm="100000">
                                          <p:val>
                                            <p:strVal val="#ppt_w"/>
                                          </p:val>
                                        </p:tav>
                                      </p:tavLst>
                                    </p:anim>
                                    <p:anim calcmode="lin" valueType="num">
                                      <p:cBhvr>
                                        <p:cTn id="59" dur="380" fill="hold"/>
                                        <p:tgtEl>
                                          <p:spTgt spid="54"/>
                                        </p:tgtEl>
                                        <p:attrNameLst>
                                          <p:attrName>ppt_h</p:attrName>
                                        </p:attrNameLst>
                                      </p:cBhvr>
                                      <p:tavLst>
                                        <p:tav tm="0">
                                          <p:val>
                                            <p:strVal val="0"/>
                                          </p:val>
                                        </p:tav>
                                        <p:tav tm="100000">
                                          <p:val>
                                            <p:strVal val="#ppt_h"/>
                                          </p:val>
                                        </p:tav>
                                      </p:tavLst>
                                    </p:anim>
                                  </p:childTnLst>
                                </p:cTn>
                              </p:par>
                              <p:par>
                                <p:cTn id="60" presetID="53" presetClass="entr" presetSubtype="16" fill="hold" grpId="0" nodeType="withEffect">
                                  <p:stCondLst>
                                    <p:cond delay="140"/>
                                  </p:stCondLst>
                                  <p:childTnLst>
                                    <p:set>
                                      <p:cBhvr>
                                        <p:cTn id="61" dur="1" fill="hold">
                                          <p:stCondLst>
                                            <p:cond delay="0"/>
                                          </p:stCondLst>
                                        </p:cTn>
                                        <p:tgtEl>
                                          <p:spTgt spid="58"/>
                                        </p:tgtEl>
                                        <p:attrNameLst>
                                          <p:attrName>style.visibility</p:attrName>
                                        </p:attrNameLst>
                                      </p:cBhvr>
                                      <p:to>
                                        <p:strVal val="visible"/>
                                      </p:to>
                                    </p:set>
                                    <p:animEffect transition="in" filter="fade">
                                      <p:cBhvr>
                                        <p:cTn id="62" dur="380"/>
                                        <p:tgtEl>
                                          <p:spTgt spid="58"/>
                                        </p:tgtEl>
                                      </p:cBhvr>
                                    </p:animEffect>
                                    <p:anim calcmode="lin" valueType="num">
                                      <p:cBhvr>
                                        <p:cTn id="63" dur="380" fill="hold"/>
                                        <p:tgtEl>
                                          <p:spTgt spid="58"/>
                                        </p:tgtEl>
                                        <p:attrNameLst>
                                          <p:attrName>ppt_w</p:attrName>
                                        </p:attrNameLst>
                                      </p:cBhvr>
                                      <p:tavLst>
                                        <p:tav tm="0">
                                          <p:val>
                                            <p:strVal val="0"/>
                                          </p:val>
                                        </p:tav>
                                        <p:tav tm="100000">
                                          <p:val>
                                            <p:strVal val="#ppt_w"/>
                                          </p:val>
                                        </p:tav>
                                      </p:tavLst>
                                    </p:anim>
                                    <p:anim calcmode="lin" valueType="num">
                                      <p:cBhvr>
                                        <p:cTn id="64" dur="380" fill="hold"/>
                                        <p:tgtEl>
                                          <p:spTgt spid="58"/>
                                        </p:tgtEl>
                                        <p:attrNameLst>
                                          <p:attrName>ppt_h</p:attrName>
                                        </p:attrNameLst>
                                      </p:cBhvr>
                                      <p:tavLst>
                                        <p:tav tm="0">
                                          <p:val>
                                            <p:strVal val="0"/>
                                          </p:val>
                                        </p:tav>
                                        <p:tav tm="100000">
                                          <p:val>
                                            <p:strVal val="#ppt_h"/>
                                          </p:val>
                                        </p:tav>
                                      </p:tavLst>
                                    </p:anim>
                                  </p:childTnLst>
                                </p:cTn>
                              </p:par>
                              <p:par>
                                <p:cTn id="65" presetID="53" presetClass="entr" presetSubtype="16" fill="hold" grpId="0" nodeType="withEffect">
                                  <p:stCondLst>
                                    <p:cond delay="28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380"/>
                                        <p:tgtEl>
                                          <p:spTgt spid="62"/>
                                        </p:tgtEl>
                                      </p:cBhvr>
                                    </p:animEffect>
                                    <p:anim calcmode="lin" valueType="num">
                                      <p:cBhvr>
                                        <p:cTn id="68" dur="380" fill="hold"/>
                                        <p:tgtEl>
                                          <p:spTgt spid="62"/>
                                        </p:tgtEl>
                                        <p:attrNameLst>
                                          <p:attrName>ppt_w</p:attrName>
                                        </p:attrNameLst>
                                      </p:cBhvr>
                                      <p:tavLst>
                                        <p:tav tm="0">
                                          <p:val>
                                            <p:strVal val="0"/>
                                          </p:val>
                                        </p:tav>
                                        <p:tav tm="100000">
                                          <p:val>
                                            <p:strVal val="#ppt_w"/>
                                          </p:val>
                                        </p:tav>
                                      </p:tavLst>
                                    </p:anim>
                                    <p:anim calcmode="lin" valueType="num">
                                      <p:cBhvr>
                                        <p:cTn id="69" dur="380" fill="hold"/>
                                        <p:tgtEl>
                                          <p:spTgt spid="62"/>
                                        </p:tgtEl>
                                        <p:attrNameLst>
                                          <p:attrName>ppt_h</p:attrName>
                                        </p:attrNameLst>
                                      </p:cBhvr>
                                      <p:tavLst>
                                        <p:tav tm="0">
                                          <p:val>
                                            <p:strVal val="0"/>
                                          </p:val>
                                        </p:tav>
                                        <p:tav tm="100000">
                                          <p:val>
                                            <p:strVal val="#ppt_h"/>
                                          </p:val>
                                        </p:tav>
                                      </p:tavLst>
                                    </p:anim>
                                  </p:childTnLst>
                                </p:cTn>
                              </p:par>
                              <p:par>
                                <p:cTn id="70" presetID="53" presetClass="entr" presetSubtype="16" fill="hold" grpId="0" nodeType="withEffect">
                                  <p:stCondLst>
                                    <p:cond delay="420"/>
                                  </p:stCondLst>
                                  <p:childTnLst>
                                    <p:set>
                                      <p:cBhvr>
                                        <p:cTn id="71" dur="1" fill="hold">
                                          <p:stCondLst>
                                            <p:cond delay="0"/>
                                          </p:stCondLst>
                                        </p:cTn>
                                        <p:tgtEl>
                                          <p:spTgt spid="66"/>
                                        </p:tgtEl>
                                        <p:attrNameLst>
                                          <p:attrName>style.visibility</p:attrName>
                                        </p:attrNameLst>
                                      </p:cBhvr>
                                      <p:to>
                                        <p:strVal val="visible"/>
                                      </p:to>
                                    </p:set>
                                    <p:animEffect transition="in" filter="fade">
                                      <p:cBhvr>
                                        <p:cTn id="72" dur="380"/>
                                        <p:tgtEl>
                                          <p:spTgt spid="66"/>
                                        </p:tgtEl>
                                      </p:cBhvr>
                                    </p:animEffect>
                                    <p:anim calcmode="lin" valueType="num">
                                      <p:cBhvr>
                                        <p:cTn id="73" dur="380" fill="hold"/>
                                        <p:tgtEl>
                                          <p:spTgt spid="66"/>
                                        </p:tgtEl>
                                        <p:attrNameLst>
                                          <p:attrName>ppt_w</p:attrName>
                                        </p:attrNameLst>
                                      </p:cBhvr>
                                      <p:tavLst>
                                        <p:tav tm="0">
                                          <p:val>
                                            <p:strVal val="0"/>
                                          </p:val>
                                        </p:tav>
                                        <p:tav tm="100000">
                                          <p:val>
                                            <p:strVal val="#ppt_w"/>
                                          </p:val>
                                        </p:tav>
                                      </p:tavLst>
                                    </p:anim>
                                    <p:anim calcmode="lin" valueType="num">
                                      <p:cBhvr>
                                        <p:cTn id="74" dur="380" fill="hold"/>
                                        <p:tgtEl>
                                          <p:spTgt spid="66"/>
                                        </p:tgtEl>
                                        <p:attrNameLst>
                                          <p:attrName>ppt_h</p:attrName>
                                        </p:attrNameLst>
                                      </p:cBhvr>
                                      <p:tavLst>
                                        <p:tav tm="0">
                                          <p:val>
                                            <p:strVal val="0"/>
                                          </p:val>
                                        </p:tav>
                                        <p:tav tm="100000">
                                          <p:val>
                                            <p:strVal val="#ppt_h"/>
                                          </p:val>
                                        </p:tav>
                                      </p:tavLst>
                                    </p:anim>
                                  </p:childTnLst>
                                </p:cTn>
                              </p:par>
                            </p:childTnLst>
                          </p:cTn>
                        </p:par>
                        <p:par>
                          <p:cTn id="75" fill="hold">
                            <p:stCondLst>
                              <p:cond delay="800"/>
                            </p:stCondLst>
                            <p:childTnLst>
                              <p:par>
                                <p:cTn id="76" presetID="6" presetClass="emph" presetSubtype="0" fill="hold" grpId="1" nodeType="afterEffect">
                                  <p:stCondLst>
                                    <p:cond delay="0"/>
                                  </p:stCondLst>
                                  <p:childTnLst>
                                    <p:animScale>
                                      <p:cBhvr>
                                        <p:cTn id="77" dur="280" autoRev="1" fill="hold"/>
                                        <p:tgtEl>
                                          <p:spTgt spid="54"/>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rk_track"/>
          <p:cNvSpPr/>
          <p:nvPr/>
        </p:nvSpPr>
        <p:spPr>
          <a:xfrm>
            <a:off x="457200" y="146304"/>
            <a:ext cx="11292840" cy="402336"/>
          </a:xfrm>
          <a:prstGeom prst="roundRect">
            <a:avLst>
              <a:gd name="adj" fmla="val 27272"/>
            </a:avLst>
          </a:prstGeom>
          <a:solidFill>
            <a:srgbClr val="FFFFFF">
              <a:alpha val="78000"/>
            </a:srgbClr>
          </a:solidFill>
          <a:ln>
            <a:noFill/>
          </a:ln>
        </p:spPr>
        <p:txBody>
          <a:bodyPr rtlCol="0" anchor="ctr" lIns="54864" tIns="54864" rIns="54864" bIns="54864" wrap="square">
            <a:noAutofit/>
          </a:bodyPr>
          <a:lstStyle/>
          <a:p>
            <a:pPr algn="ctr"/>
          </a:p>
        </p:txBody>
      </p:sp>
      <p:sp>
        <p:nvSpPr>
          <p:cNvPr id="3" name="!!trk_hl"/>
          <p:cNvSpPr/>
          <p:nvPr/>
        </p:nvSpPr>
        <p:spPr>
          <a:xfrm>
            <a:off x="10539374" y="182880"/>
            <a:ext cx="1163117" cy="329184"/>
          </a:xfrm>
          <a:prstGeom prst="roundRect">
            <a:avLst>
              <a:gd name="adj" fmla="val 27777"/>
            </a:avLst>
          </a:prstGeom>
          <a:solidFill>
            <a:srgbClr val="E8710A"/>
          </a:solidFill>
          <a:ln>
            <a:noFill/>
          </a:ln>
        </p:spPr>
        <p:txBody>
          <a:bodyPr rtlCol="0" anchor="ctr" lIns="54864" tIns="54864" rIns="54864" bIns="54864" wrap="square">
            <a:noAutofit/>
          </a:bodyPr>
          <a:lstStyle/>
          <a:p>
            <a:pPr algn="ctr"/>
          </a:p>
        </p:txBody>
      </p:sp>
      <p:sp>
        <p:nvSpPr>
          <p:cNvPr id="4" name="!!trk_0"/>
          <p:cNvSpPr txBox="1"/>
          <p:nvPr/>
        </p:nvSpPr>
        <p:spPr>
          <a:xfrm>
            <a:off x="50292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Ban đầu</a:t>
            </a:r>
          </a:p>
        </p:txBody>
      </p:sp>
      <p:sp>
        <p:nvSpPr>
          <p:cNvPr id="5" name="!!trk_1"/>
          <p:cNvSpPr txBox="1"/>
          <p:nvPr/>
        </p:nvSpPr>
        <p:spPr>
          <a:xfrm>
            <a:off x="175747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Cascade</a:t>
            </a:r>
          </a:p>
        </p:txBody>
      </p:sp>
      <p:sp>
        <p:nvSpPr>
          <p:cNvPr id="6" name="!!trk_2"/>
          <p:cNvSpPr txBox="1"/>
          <p:nvPr/>
        </p:nvSpPr>
        <p:spPr>
          <a:xfrm>
            <a:off x="3012034"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Bù IMU2</a:t>
            </a:r>
          </a:p>
        </p:txBody>
      </p:sp>
      <p:sp>
        <p:nvSpPr>
          <p:cNvPr id="7" name="!!trk_3"/>
          <p:cNvSpPr txBox="1"/>
          <p:nvPr/>
        </p:nvSpPr>
        <p:spPr>
          <a:xfrm>
            <a:off x="4266590"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Ngoại suy</a:t>
            </a:r>
          </a:p>
        </p:txBody>
      </p:sp>
      <p:sp>
        <p:nvSpPr>
          <p:cNvPr id="8" name="!!trk_4"/>
          <p:cNvSpPr txBox="1"/>
          <p:nvPr/>
        </p:nvSpPr>
        <p:spPr>
          <a:xfrm>
            <a:off x="5521147"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Giới hạn động</a:t>
            </a:r>
          </a:p>
        </p:txBody>
      </p:sp>
      <p:sp>
        <p:nvSpPr>
          <p:cNvPr id="9" name="!!trk_5"/>
          <p:cNvSpPr txBox="1"/>
          <p:nvPr/>
        </p:nvSpPr>
        <p:spPr>
          <a:xfrm>
            <a:off x="6775704"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Đảo chiều/dừng</a:t>
            </a:r>
          </a:p>
        </p:txBody>
      </p:sp>
      <p:sp>
        <p:nvSpPr>
          <p:cNvPr id="10" name="!!trk_6"/>
          <p:cNvSpPr txBox="1"/>
          <p:nvPr/>
        </p:nvSpPr>
        <p:spPr>
          <a:xfrm>
            <a:off x="8030261"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Tạo dạng lệnh</a:t>
            </a:r>
          </a:p>
        </p:txBody>
      </p:sp>
      <p:sp>
        <p:nvSpPr>
          <p:cNvPr id="11" name="!!trk_7"/>
          <p:cNvSpPr txBox="1"/>
          <p:nvPr/>
        </p:nvSpPr>
        <p:spPr>
          <a:xfrm>
            <a:off x="9284818" y="182880"/>
            <a:ext cx="1163117" cy="329184"/>
          </a:xfrm>
          <a:prstGeom prst="rect">
            <a:avLst/>
          </a:prstGeom>
          <a:noFill/>
        </p:spPr>
        <p:txBody>
          <a:bodyPr wrap="square" lIns="0" tIns="0" rIns="0" bIns="0" anchor="ctr">
            <a:noAutofit/>
          </a:bodyPr>
          <a:lstStyle/>
          <a:p>
            <a:pPr algn="ctr"/>
            <a:r>
              <a:rPr sz="1050" b="0" i="0" lang="vi-VN">
                <a:solidFill>
                  <a:srgbClr val="0B2545"/>
                </a:solidFill>
                <a:latin typeface="Arial"/>
                <a:ea typeface="Arial"/>
                <a:cs typeface="Arial"/>
              </a:rPr>
              <a:t>✓ Lịch RS485</a:t>
            </a:r>
          </a:p>
        </p:txBody>
      </p:sp>
      <p:sp>
        <p:nvSpPr>
          <p:cNvPr id="12" name="!!trk_8"/>
          <p:cNvSpPr txBox="1"/>
          <p:nvPr/>
        </p:nvSpPr>
        <p:spPr>
          <a:xfrm>
            <a:off x="10539374" y="182880"/>
            <a:ext cx="1163117" cy="329184"/>
          </a:xfrm>
          <a:prstGeom prst="rect">
            <a:avLst/>
          </a:prstGeom>
          <a:noFill/>
        </p:spPr>
        <p:txBody>
          <a:bodyPr wrap="square" lIns="0" tIns="0" rIns="0" bIns="0" anchor="ctr">
            <a:noAutofit/>
          </a:bodyPr>
          <a:lstStyle/>
          <a:p>
            <a:pPr algn="ctr"/>
            <a:r>
              <a:rPr sz="1050" b="1" i="0" lang="vi-VN">
                <a:solidFill>
                  <a:srgbClr val="FFFFFF"/>
                </a:solidFill>
                <a:latin typeface="Arial"/>
                <a:ea typeface="Arial"/>
                <a:cs typeface="Arial"/>
              </a:rPr>
              <a:t>Hoàn thiện</a:t>
            </a:r>
          </a:p>
        </p:txBody>
      </p:sp>
      <p:sp>
        <p:nvSpPr>
          <p:cNvPr id="13" name="Title"/>
          <p:cNvSpPr txBox="1"/>
          <p:nvPr/>
        </p:nvSpPr>
        <p:spPr>
          <a:xfrm>
            <a:off x="502920" y="603504"/>
            <a:ext cx="11201400" cy="530352"/>
          </a:xfrm>
          <a:prstGeom prst="rect">
            <a:avLst/>
          </a:prstGeom>
          <a:noFill/>
        </p:spPr>
        <p:txBody>
          <a:bodyPr wrap="square" lIns="0" tIns="0" rIns="0" bIns="0" anchor="ctr">
            <a:noAutofit/>
          </a:bodyPr>
          <a:lstStyle/>
          <a:p>
            <a:pPr algn="l"/>
            <a:r>
              <a:rPr sz="2500" b="1" i="0" lang="vi-VN">
                <a:solidFill>
                  <a:srgbClr val="0B2545"/>
                </a:solidFill>
                <a:latin typeface="Arial"/>
                <a:ea typeface="Arial"/>
                <a:cs typeface="Arial"/>
              </a:rPr>
              <a:t>Hoàn thiện dần qua 7 bước: </a:t>
            </a:r>
            <a:r>
              <a:rPr sz="2500" b="1" i="1" lang="vi-VN">
                <a:solidFill>
                  <a:srgbClr val="0B2545"/>
                </a:solidFill>
                <a:latin typeface="Cambria"/>
                <a:ea typeface="Cambria"/>
                <a:cs typeface="Cambria"/>
              </a:rPr>
              <a:t>e</a:t>
            </a:r>
            <a:r>
              <a:rPr sz="2500" b="1" i="0" lang="vi-VN" baseline="-25000">
                <a:solidFill>
                  <a:srgbClr val="0B2545"/>
                </a:solidFill>
                <a:latin typeface="Cambria"/>
                <a:ea typeface="Cambria"/>
                <a:cs typeface="Cambria"/>
              </a:rPr>
              <a:t>max</a:t>
            </a:r>
            <a:r>
              <a:rPr sz="2500" b="1" i="0" lang="vi-VN">
                <a:solidFill>
                  <a:srgbClr val="0B2545"/>
                </a:solidFill>
                <a:latin typeface="Arial"/>
                <a:ea typeface="Arial"/>
                <a:cs typeface="Arial"/>
              </a:rPr>
              <a:t> giảm 34,9 % (Yaw) và 32,6 % (Pitch)</a:t>
            </a:r>
          </a:p>
        </p:txBody>
      </p:sp>
      <p:sp>
        <p:nvSpPr>
          <p:cNvPr id="14" name="Rounded Rectangle 13"/>
          <p:cNvSpPr/>
          <p:nvPr/>
        </p:nvSpPr>
        <p:spPr>
          <a:xfrm>
            <a:off x="502920" y="1261872"/>
            <a:ext cx="7818120" cy="4791456"/>
          </a:xfrm>
          <a:prstGeom prst="roundRect">
            <a:avLst>
              <a:gd name="adj" fmla="val 190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15" name="Picture 14" descr="s26_chain_base.png"/>
          <p:cNvPicPr>
            <a:picLocks noChangeAspect="1"/>
          </p:cNvPicPr>
          <p:nvPr/>
        </p:nvPicPr>
        <p:blipFill>
          <a:blip r:embed="rId2"/>
          <a:stretch>
            <a:fillRect/>
          </a:stretch>
        </p:blipFill>
        <p:spPr>
          <a:xfrm>
            <a:off x="640080" y="1371600"/>
            <a:ext cx="7543800" cy="4526280"/>
          </a:xfrm>
          <a:prstGeom prst="rect">
            <a:avLst/>
          </a:prstGeom>
        </p:spPr>
      </p:pic>
      <p:pic>
        <p:nvPicPr>
          <p:cNvPr id="16" name="Picture 15" descr="s26_chain_seg1.png"/>
          <p:cNvPicPr>
            <a:picLocks noChangeAspect="1"/>
          </p:cNvPicPr>
          <p:nvPr/>
        </p:nvPicPr>
        <p:blipFill>
          <a:blip r:embed="rId3"/>
          <a:stretch>
            <a:fillRect/>
          </a:stretch>
        </p:blipFill>
        <p:spPr>
          <a:xfrm>
            <a:off x="640080" y="1371600"/>
            <a:ext cx="7543800" cy="4526280"/>
          </a:xfrm>
          <a:prstGeom prst="rect">
            <a:avLst/>
          </a:prstGeom>
        </p:spPr>
      </p:pic>
      <p:pic>
        <p:nvPicPr>
          <p:cNvPr id="17" name="Picture 16" descr="s26_chain_seg2.png"/>
          <p:cNvPicPr>
            <a:picLocks noChangeAspect="1"/>
          </p:cNvPicPr>
          <p:nvPr/>
        </p:nvPicPr>
        <p:blipFill>
          <a:blip r:embed="rId4"/>
          <a:stretch>
            <a:fillRect/>
          </a:stretch>
        </p:blipFill>
        <p:spPr>
          <a:xfrm>
            <a:off x="640080" y="1371600"/>
            <a:ext cx="7543800" cy="4526280"/>
          </a:xfrm>
          <a:prstGeom prst="rect">
            <a:avLst/>
          </a:prstGeom>
        </p:spPr>
      </p:pic>
      <p:pic>
        <p:nvPicPr>
          <p:cNvPr id="18" name="Picture 17" descr="s26_chain_seg3.png"/>
          <p:cNvPicPr>
            <a:picLocks noChangeAspect="1"/>
          </p:cNvPicPr>
          <p:nvPr/>
        </p:nvPicPr>
        <p:blipFill>
          <a:blip r:embed="rId5"/>
          <a:stretch>
            <a:fillRect/>
          </a:stretch>
        </p:blipFill>
        <p:spPr>
          <a:xfrm>
            <a:off x="640080" y="1371600"/>
            <a:ext cx="7543800" cy="4526280"/>
          </a:xfrm>
          <a:prstGeom prst="rect">
            <a:avLst/>
          </a:prstGeom>
        </p:spPr>
      </p:pic>
      <p:pic>
        <p:nvPicPr>
          <p:cNvPr id="19" name="Picture 18" descr="s26_chain_seg4.png"/>
          <p:cNvPicPr>
            <a:picLocks noChangeAspect="1"/>
          </p:cNvPicPr>
          <p:nvPr/>
        </p:nvPicPr>
        <p:blipFill>
          <a:blip r:embed="rId6"/>
          <a:stretch>
            <a:fillRect/>
          </a:stretch>
        </p:blipFill>
        <p:spPr>
          <a:xfrm>
            <a:off x="640080" y="1371600"/>
            <a:ext cx="7543800" cy="4526280"/>
          </a:xfrm>
          <a:prstGeom prst="rect">
            <a:avLst/>
          </a:prstGeom>
        </p:spPr>
      </p:pic>
      <p:pic>
        <p:nvPicPr>
          <p:cNvPr id="20" name="Picture 19" descr="s26_chain_seg5.png"/>
          <p:cNvPicPr>
            <a:picLocks noChangeAspect="1"/>
          </p:cNvPicPr>
          <p:nvPr/>
        </p:nvPicPr>
        <p:blipFill>
          <a:blip r:embed="rId7"/>
          <a:stretch>
            <a:fillRect/>
          </a:stretch>
        </p:blipFill>
        <p:spPr>
          <a:xfrm>
            <a:off x="640080" y="1371600"/>
            <a:ext cx="7543800" cy="4526280"/>
          </a:xfrm>
          <a:prstGeom prst="rect">
            <a:avLst/>
          </a:prstGeom>
        </p:spPr>
      </p:pic>
      <p:pic>
        <p:nvPicPr>
          <p:cNvPr id="21" name="Picture 20" descr="s26_chain_seg6.png"/>
          <p:cNvPicPr>
            <a:picLocks noChangeAspect="1"/>
          </p:cNvPicPr>
          <p:nvPr/>
        </p:nvPicPr>
        <p:blipFill>
          <a:blip r:embed="rId8"/>
          <a:stretch>
            <a:fillRect/>
          </a:stretch>
        </p:blipFill>
        <p:spPr>
          <a:xfrm>
            <a:off x="640080" y="1371600"/>
            <a:ext cx="7543800" cy="4526280"/>
          </a:xfrm>
          <a:prstGeom prst="rect">
            <a:avLst/>
          </a:prstGeom>
        </p:spPr>
      </p:pic>
      <p:grpSp>
        <p:nvGrpSpPr>
          <p:cNvPr id="22" name="Group 21"/>
          <p:cNvGrpSpPr/>
          <p:nvPr/>
        </p:nvGrpSpPr>
        <p:grpSpPr>
          <a:xfrm>
            <a:off x="8503920" y="1261872"/>
            <a:ext cx="3200400" cy="886968"/>
            <a:chOff x="8503920" y="1261872"/>
            <a:chExt cx="3200400" cy="886968"/>
          </a:xfrm>
        </p:grpSpPr>
        <p:sp>
          <p:nvSpPr>
            <p:cNvPr id="23" name="Rounded Rectangle 22"/>
            <p:cNvSpPr/>
            <p:nvPr/>
          </p:nvSpPr>
          <p:spPr>
            <a:xfrm>
              <a:off x="8503920" y="1261872"/>
              <a:ext cx="3200400" cy="886968"/>
            </a:xfrm>
            <a:prstGeom prst="roundRect">
              <a:avLst>
                <a:gd name="adj" fmla="val 10309"/>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24" name="TextBox 23"/>
            <p:cNvSpPr txBox="1"/>
            <p:nvPr/>
          </p:nvSpPr>
          <p:spPr>
            <a:xfrm>
              <a:off x="8558784" y="1316736"/>
              <a:ext cx="3090672" cy="457200"/>
            </a:xfrm>
            <a:prstGeom prst="rect">
              <a:avLst/>
            </a:prstGeom>
            <a:noFill/>
          </p:spPr>
          <p:txBody>
            <a:bodyPr wrap="square" lIns="0" tIns="0" rIns="0" bIns="0" anchor="ctr">
              <a:noAutofit/>
            </a:bodyPr>
            <a:lstStyle/>
            <a:p>
              <a:pPr algn="ctr"/>
              <a:r>
                <a:rPr sz="1900" b="1" i="0" lang="vi-VN">
                  <a:solidFill>
                    <a:srgbClr val="1F5FAF"/>
                  </a:solidFill>
                  <a:latin typeface="Arial"/>
                  <a:ea typeface="Arial"/>
                  <a:cs typeface="Arial"/>
                </a:rPr>
                <a:t>●</a:t>
              </a:r>
              <a:r>
                <a:rPr sz="1900" b="1" i="0" lang="vi-VN">
                  <a:solidFill>
                    <a:srgbClr val="E8710A"/>
                  </a:solidFill>
                  <a:latin typeface="Arial"/>
                  <a:ea typeface="Arial"/>
                  <a:cs typeface="Arial"/>
                </a:rPr>
                <a:t> −34,9 %    </a:t>
              </a:r>
              <a:r>
                <a:rPr sz="1900" b="1" i="0" lang="vi-VN">
                  <a:solidFill>
                    <a:srgbClr val="2E8B57"/>
                  </a:solidFill>
                  <a:latin typeface="Arial"/>
                  <a:ea typeface="Arial"/>
                  <a:cs typeface="Arial"/>
                </a:rPr>
                <a:t>■</a:t>
              </a:r>
              <a:r>
                <a:rPr sz="1900" b="1" i="0" lang="vi-VN">
                  <a:solidFill>
                    <a:srgbClr val="E8710A"/>
                  </a:solidFill>
                  <a:latin typeface="Arial"/>
                  <a:ea typeface="Arial"/>
                  <a:cs typeface="Arial"/>
                </a:rPr>
                <a:t> −32,6 %</a:t>
              </a:r>
            </a:p>
          </p:txBody>
        </p:sp>
        <p:sp>
          <p:nvSpPr>
            <p:cNvPr id="25" name="TextBox 24"/>
            <p:cNvSpPr txBox="1"/>
            <p:nvPr/>
          </p:nvSpPr>
          <p:spPr>
            <a:xfrm>
              <a:off x="8577072" y="1773936"/>
              <a:ext cx="3054096" cy="33832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e</a:t>
              </a:r>
              <a:r>
                <a:rPr sz="1200" b="0" i="0" lang="vi-VN" baseline="-25000">
                  <a:solidFill>
                    <a:srgbClr val="1E2B3A"/>
                  </a:solidFill>
                  <a:latin typeface="Cambria"/>
                  <a:ea typeface="Cambria"/>
                  <a:cs typeface="Cambria"/>
                </a:rPr>
                <a:t>max</a:t>
              </a:r>
              <a:r>
                <a:rPr sz="1200" b="0" i="0" lang="vi-VN">
                  <a:solidFill>
                    <a:srgbClr val="1E2B3A"/>
                  </a:solidFill>
                  <a:latin typeface="Arial"/>
                  <a:ea typeface="Arial"/>
                  <a:cs typeface="Arial"/>
                </a:rPr>
                <a:t> sau 7 bước</a:t>
              </a:r>
            </a:p>
          </p:txBody>
        </p:sp>
      </p:grpSp>
      <p:grpSp>
        <p:nvGrpSpPr>
          <p:cNvPr id="26" name="Group 25"/>
          <p:cNvGrpSpPr/>
          <p:nvPr/>
        </p:nvGrpSpPr>
        <p:grpSpPr>
          <a:xfrm>
            <a:off x="8503920" y="2240280"/>
            <a:ext cx="3200400" cy="886968"/>
            <a:chOff x="8503920" y="2240280"/>
            <a:chExt cx="3200400" cy="886968"/>
          </a:xfrm>
        </p:grpSpPr>
        <p:sp>
          <p:nvSpPr>
            <p:cNvPr id="27" name="Rounded Rectangle 26"/>
            <p:cNvSpPr/>
            <p:nvPr/>
          </p:nvSpPr>
          <p:spPr>
            <a:xfrm>
              <a:off x="8503920" y="2240280"/>
              <a:ext cx="3200400" cy="886968"/>
            </a:xfrm>
            <a:prstGeom prst="roundRect">
              <a:avLst>
                <a:gd name="adj" fmla="val 10309"/>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28" name="TextBox 27"/>
            <p:cNvSpPr txBox="1"/>
            <p:nvPr/>
          </p:nvSpPr>
          <p:spPr>
            <a:xfrm>
              <a:off x="8558784" y="2295144"/>
              <a:ext cx="3090672" cy="457200"/>
            </a:xfrm>
            <a:prstGeom prst="rect">
              <a:avLst/>
            </a:prstGeom>
            <a:noFill/>
          </p:spPr>
          <p:txBody>
            <a:bodyPr wrap="square" lIns="0" tIns="0" rIns="0" bIns="0" anchor="ctr">
              <a:noAutofit/>
            </a:bodyPr>
            <a:lstStyle/>
            <a:p>
              <a:pPr algn="ctr"/>
              <a:r>
                <a:rPr sz="1900" b="1" i="0" lang="vi-VN">
                  <a:solidFill>
                    <a:srgbClr val="1F5FAF"/>
                  </a:solidFill>
                  <a:latin typeface="Arial"/>
                  <a:ea typeface="Arial"/>
                  <a:cs typeface="Arial"/>
                </a:rPr>
                <a:t>●</a:t>
              </a:r>
              <a:r>
                <a:rPr sz="1900" b="1" i="0" lang="vi-VN">
                  <a:solidFill>
                    <a:srgbClr val="E8710A"/>
                  </a:solidFill>
                  <a:latin typeface="Arial"/>
                  <a:ea typeface="Arial"/>
                  <a:cs typeface="Arial"/>
                </a:rPr>
                <a:t> −23,3 %    </a:t>
              </a:r>
              <a:r>
                <a:rPr sz="1900" b="1" i="0" lang="vi-VN">
                  <a:solidFill>
                    <a:srgbClr val="2E8B57"/>
                  </a:solidFill>
                  <a:latin typeface="Arial"/>
                  <a:ea typeface="Arial"/>
                  <a:cs typeface="Arial"/>
                </a:rPr>
                <a:t>■</a:t>
              </a:r>
              <a:r>
                <a:rPr sz="1900" b="1" i="0" lang="vi-VN">
                  <a:solidFill>
                    <a:srgbClr val="E8710A"/>
                  </a:solidFill>
                  <a:latin typeface="Arial"/>
                  <a:ea typeface="Arial"/>
                  <a:cs typeface="Arial"/>
                </a:rPr>
                <a:t> −22,8 %</a:t>
              </a:r>
            </a:p>
          </p:txBody>
        </p:sp>
        <p:sp>
          <p:nvSpPr>
            <p:cNvPr id="29" name="TextBox 28"/>
            <p:cNvSpPr txBox="1"/>
            <p:nvPr/>
          </p:nvSpPr>
          <p:spPr>
            <a:xfrm>
              <a:off x="8577072" y="2752344"/>
              <a:ext cx="3054096" cy="338328"/>
            </a:xfrm>
            <a:prstGeom prst="rect">
              <a:avLst/>
            </a:prstGeom>
            <a:noFill/>
          </p:spPr>
          <p:txBody>
            <a:bodyPr wrap="square" lIns="0" tIns="0" rIns="0" bIns="0" anchor="t">
              <a:noAutofit/>
            </a:bodyPr>
            <a:lstStyle/>
            <a:p>
              <a:pPr algn="ctr">
                <a:lnSpc>
                  <a:spcPct val="95000"/>
                </a:lnSpc>
              </a:pPr>
              <a:r>
                <a:rPr sz="1200" b="0" i="1" lang="vi-VN">
                  <a:solidFill>
                    <a:srgbClr val="1E2B3A"/>
                  </a:solidFill>
                  <a:latin typeface="Cambria"/>
                  <a:ea typeface="Cambria"/>
                  <a:cs typeface="Cambria"/>
                </a:rPr>
                <a:t>e</a:t>
              </a:r>
              <a:r>
                <a:rPr sz="1200" b="0" i="0" lang="vi-VN" baseline="-25000">
                  <a:solidFill>
                    <a:srgbClr val="1E2B3A"/>
                  </a:solidFill>
                  <a:latin typeface="Cambria"/>
                  <a:ea typeface="Cambria"/>
                  <a:cs typeface="Cambria"/>
                </a:rPr>
                <a:t>rms</a:t>
              </a:r>
              <a:r>
                <a:rPr sz="1200" b="0" i="0" lang="vi-VN">
                  <a:solidFill>
                    <a:srgbClr val="1E2B3A"/>
                  </a:solidFill>
                  <a:latin typeface="Arial"/>
                  <a:ea typeface="Arial"/>
                  <a:cs typeface="Arial"/>
                </a:rPr>
                <a:t> sau 7 bước</a:t>
              </a:r>
            </a:p>
          </p:txBody>
        </p:sp>
      </p:grpSp>
      <p:grpSp>
        <p:nvGrpSpPr>
          <p:cNvPr id="30" name="Group 29"/>
          <p:cNvGrpSpPr/>
          <p:nvPr/>
        </p:nvGrpSpPr>
        <p:grpSpPr>
          <a:xfrm>
            <a:off x="8503920" y="3218688"/>
            <a:ext cx="3200400" cy="886968"/>
            <a:chOff x="8503920" y="3218688"/>
            <a:chExt cx="3200400" cy="886968"/>
          </a:xfrm>
        </p:grpSpPr>
        <p:sp>
          <p:nvSpPr>
            <p:cNvPr id="31" name="Rounded Rectangle 30"/>
            <p:cNvSpPr/>
            <p:nvPr/>
          </p:nvSpPr>
          <p:spPr>
            <a:xfrm>
              <a:off x="8503920" y="3218688"/>
              <a:ext cx="3200400" cy="886968"/>
            </a:xfrm>
            <a:prstGeom prst="roundRect">
              <a:avLst>
                <a:gd name="adj" fmla="val 10309"/>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32" name="TextBox 31"/>
            <p:cNvSpPr txBox="1"/>
            <p:nvPr/>
          </p:nvSpPr>
          <p:spPr>
            <a:xfrm>
              <a:off x="8558784" y="3273552"/>
              <a:ext cx="3090672" cy="45720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6,1 → 0,7 %</a:t>
              </a:r>
            </a:p>
          </p:txBody>
        </p:sp>
        <p:sp>
          <p:nvSpPr>
            <p:cNvPr id="33" name="TextBox 32"/>
            <p:cNvSpPr txBox="1"/>
            <p:nvPr/>
          </p:nvSpPr>
          <p:spPr>
            <a:xfrm>
              <a:off x="8577072" y="3730752"/>
              <a:ext cx="3054096" cy="33832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tỉ lệ bão hòa </a:t>
              </a:r>
              <a:r>
                <a:rPr sz="1200" b="0" i="1" lang="vi-VN">
                  <a:solidFill>
                    <a:srgbClr val="1E2B3A"/>
                  </a:solidFill>
                  <a:latin typeface="Cambria"/>
                  <a:ea typeface="Cambria"/>
                  <a:cs typeface="Cambria"/>
                </a:rPr>
                <a:t>ρ</a:t>
              </a:r>
              <a:r>
                <a:rPr sz="1200" b="0" i="0" lang="vi-VN" baseline="-25000">
                  <a:solidFill>
                    <a:srgbClr val="1E2B3A"/>
                  </a:solidFill>
                  <a:latin typeface="Cambria"/>
                  <a:ea typeface="Cambria"/>
                  <a:cs typeface="Cambria"/>
                </a:rPr>
                <a:t>sat</a:t>
              </a:r>
              <a:r>
                <a:rPr sz="1200" b="0" i="0" lang="vi-VN">
                  <a:solidFill>
                    <a:srgbClr val="1E2B3A"/>
                  </a:solidFill>
                  <a:latin typeface="Arial"/>
                  <a:ea typeface="Arial"/>
                  <a:cs typeface="Arial"/>
                </a:rPr>
                <a:t> Yaw (−88,5 %)</a:t>
              </a:r>
            </a:p>
          </p:txBody>
        </p:sp>
      </p:grpSp>
      <p:grpSp>
        <p:nvGrpSpPr>
          <p:cNvPr id="34" name="Group 33"/>
          <p:cNvGrpSpPr/>
          <p:nvPr/>
        </p:nvGrpSpPr>
        <p:grpSpPr>
          <a:xfrm>
            <a:off x="8503920" y="4197096"/>
            <a:ext cx="3200400" cy="886968"/>
            <a:chOff x="8503920" y="4197096"/>
            <a:chExt cx="3200400" cy="886968"/>
          </a:xfrm>
        </p:grpSpPr>
        <p:sp>
          <p:nvSpPr>
            <p:cNvPr id="35" name="Rounded Rectangle 34"/>
            <p:cNvSpPr/>
            <p:nvPr/>
          </p:nvSpPr>
          <p:spPr>
            <a:xfrm>
              <a:off x="8503920" y="4197096"/>
              <a:ext cx="3200400" cy="886968"/>
            </a:xfrm>
            <a:prstGeom prst="roundRect">
              <a:avLst>
                <a:gd name="adj" fmla="val 10309"/>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36" name="TextBox 35"/>
            <p:cNvSpPr txBox="1"/>
            <p:nvPr/>
          </p:nvSpPr>
          <p:spPr>
            <a:xfrm>
              <a:off x="8558784" y="4251960"/>
              <a:ext cx="3090672" cy="457200"/>
            </a:xfrm>
            <a:prstGeom prst="rect">
              <a:avLst/>
            </a:prstGeom>
            <a:noFill/>
          </p:spPr>
          <p:txBody>
            <a:bodyPr wrap="square" lIns="0" tIns="0" rIns="0" bIns="0" anchor="ctr">
              <a:noAutofit/>
            </a:bodyPr>
            <a:lstStyle/>
            <a:p>
              <a:pPr algn="ctr"/>
              <a:r>
                <a:rPr sz="2400" b="1" i="0" lang="vi-VN">
                  <a:solidFill>
                    <a:srgbClr val="E8710A"/>
                  </a:solidFill>
                  <a:latin typeface="Arial"/>
                  <a:ea typeface="Arial"/>
                  <a:cs typeface="Arial"/>
                </a:rPr>
                <a:t>−23,7 %</a:t>
              </a:r>
            </a:p>
          </p:txBody>
        </p:sp>
        <p:sp>
          <p:nvSpPr>
            <p:cNvPr id="37" name="TextBox 36"/>
            <p:cNvSpPr txBox="1"/>
            <p:nvPr/>
          </p:nvSpPr>
          <p:spPr>
            <a:xfrm>
              <a:off x="8577072" y="4709160"/>
              <a:ext cx="3054096" cy="33832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phục hồi sau đảo chiều 0,392 → 0,299 s</a:t>
              </a:r>
            </a:p>
          </p:txBody>
        </p:sp>
      </p:grpSp>
      <p:grpSp>
        <p:nvGrpSpPr>
          <p:cNvPr id="38" name="Group 37"/>
          <p:cNvGrpSpPr/>
          <p:nvPr/>
        </p:nvGrpSpPr>
        <p:grpSpPr>
          <a:xfrm>
            <a:off x="8503920" y="5175504"/>
            <a:ext cx="3200400" cy="886968"/>
            <a:chOff x="8503920" y="5175504"/>
            <a:chExt cx="3200400" cy="886968"/>
          </a:xfrm>
        </p:grpSpPr>
        <p:sp>
          <p:nvSpPr>
            <p:cNvPr id="39" name="Rounded Rectangle 38"/>
            <p:cNvSpPr/>
            <p:nvPr/>
          </p:nvSpPr>
          <p:spPr>
            <a:xfrm>
              <a:off x="8503920" y="5175504"/>
              <a:ext cx="3200400" cy="886968"/>
            </a:xfrm>
            <a:prstGeom prst="roundRect">
              <a:avLst>
                <a:gd name="adj" fmla="val 10309"/>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40" name="TextBox 39"/>
            <p:cNvSpPr txBox="1"/>
            <p:nvPr/>
          </p:nvSpPr>
          <p:spPr>
            <a:xfrm>
              <a:off x="8558784" y="5230368"/>
              <a:ext cx="3090672" cy="457200"/>
            </a:xfrm>
            <a:prstGeom prst="rect">
              <a:avLst/>
            </a:prstGeom>
            <a:noFill/>
          </p:spPr>
          <p:txBody>
            <a:bodyPr wrap="square" lIns="0" tIns="0" rIns="0" bIns="0" anchor="ctr">
              <a:noAutofit/>
            </a:bodyPr>
            <a:lstStyle/>
            <a:p>
              <a:pPr algn="ctr"/>
              <a:r>
                <a:rPr sz="1900" b="1" i="0" lang="vi-VN">
                  <a:solidFill>
                    <a:srgbClr val="1F5FAF"/>
                  </a:solidFill>
                  <a:latin typeface="Arial"/>
                  <a:ea typeface="Arial"/>
                  <a:cs typeface="Arial"/>
                </a:rPr>
                <a:t>●</a:t>
              </a:r>
              <a:r>
                <a:rPr sz="1900" b="1" i="0" lang="vi-VN">
                  <a:solidFill>
                    <a:srgbClr val="E8710A"/>
                  </a:solidFill>
                  <a:latin typeface="Arial"/>
                  <a:ea typeface="Arial"/>
                  <a:cs typeface="Arial"/>
                </a:rPr>
                <a:t> −52,4 %    </a:t>
              </a:r>
              <a:r>
                <a:rPr sz="1900" b="1" i="0" lang="vi-VN">
                  <a:solidFill>
                    <a:srgbClr val="2E8B57"/>
                  </a:solidFill>
                  <a:latin typeface="Arial"/>
                  <a:ea typeface="Arial"/>
                  <a:cs typeface="Arial"/>
                </a:rPr>
                <a:t>■</a:t>
              </a:r>
              <a:r>
                <a:rPr sz="1900" b="1" i="0" lang="vi-VN">
                  <a:solidFill>
                    <a:srgbClr val="E8710A"/>
                  </a:solidFill>
                  <a:latin typeface="Arial"/>
                  <a:ea typeface="Arial"/>
                  <a:cs typeface="Arial"/>
                </a:rPr>
                <a:t> −58,7 %</a:t>
              </a:r>
            </a:p>
          </p:txBody>
        </p:sp>
        <p:sp>
          <p:nvSpPr>
            <p:cNvPr id="41" name="TextBox 40"/>
            <p:cNvSpPr txBox="1"/>
            <p:nvPr/>
          </p:nvSpPr>
          <p:spPr>
            <a:xfrm>
              <a:off x="8577072" y="5687568"/>
              <a:ext cx="3054096" cy="338328"/>
            </a:xfrm>
            <a:prstGeom prst="rect">
              <a:avLst/>
            </a:prstGeom>
            <a:noFill/>
          </p:spPr>
          <p:txBody>
            <a:bodyPr wrap="square" lIns="0" tIns="0" rIns="0" bIns="0" anchor="t">
              <a:noAutofit/>
            </a:bodyPr>
            <a:lstStyle/>
            <a:p>
              <a:pPr algn="ctr">
                <a:lnSpc>
                  <a:spcPct val="95000"/>
                </a:lnSpc>
              </a:pPr>
              <a:r>
                <a:rPr sz="1200" b="0" i="0" lang="vi-VN">
                  <a:solidFill>
                    <a:srgbClr val="1E2B3A"/>
                  </a:solidFill>
                  <a:latin typeface="Arial"/>
                  <a:ea typeface="Arial"/>
                  <a:cs typeface="Arial"/>
                </a:rPr>
                <a:t>phục hồi sau dừng</a:t>
              </a:r>
            </a:p>
          </p:txBody>
        </p:sp>
      </p:grpSp>
      <p:sp>
        <p:nvSpPr>
          <p:cNvPr id="61"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26</a:t>
            </a:fld>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7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7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600"/>
                                        <p:tgtEl>
                                          <p:spTgt spid="18"/>
                                        </p:tgtEl>
                                      </p:cBhvr>
                                    </p:animEffect>
                                  </p:childTnLst>
                                </p:cTn>
                              </p:par>
                            </p:childTnLst>
                          </p:cTn>
                        </p:par>
                        <p:par>
                          <p:cTn id="18" fill="hold">
                            <p:stCondLst>
                              <p:cond delay="600"/>
                            </p:stCondLst>
                            <p:childTnLst>
                              <p:par>
                                <p:cTn id="19" presetID="22" presetClass="entr" presetSubtype="8"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6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600"/>
                                        <p:tgtEl>
                                          <p:spTgt spid="20"/>
                                        </p:tgtEl>
                                      </p:cBhvr>
                                    </p:animEffect>
                                  </p:childTnLst>
                                </p:cTn>
                              </p:par>
                            </p:childTnLst>
                          </p:cTn>
                        </p:par>
                        <p:par>
                          <p:cTn id="27" fill="hold">
                            <p:stCondLst>
                              <p:cond delay="600"/>
                            </p:stCondLst>
                            <p:childTnLst>
                              <p:par>
                                <p:cTn id="28" presetID="22" presetClass="entr" presetSubtype="8"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6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380"/>
                                        <p:tgtEl>
                                          <p:spTgt spid="22"/>
                                        </p:tgtEl>
                                      </p:cBhvr>
                                    </p:animEffect>
                                    <p:anim calcmode="lin" valueType="num">
                                      <p:cBhvr>
                                        <p:cTn id="36" dur="380" fill="hold"/>
                                        <p:tgtEl>
                                          <p:spTgt spid="22"/>
                                        </p:tgtEl>
                                        <p:attrNameLst>
                                          <p:attrName>ppt_x</p:attrName>
                                        </p:attrNameLst>
                                      </p:cBhvr>
                                      <p:tavLst>
                                        <p:tav tm="0">
                                          <p:val>
                                            <p:strVal val="#ppt_x"/>
                                          </p:val>
                                        </p:tav>
                                        <p:tav tm="100000">
                                          <p:val>
                                            <p:strVal val="#ppt_x"/>
                                          </p:val>
                                        </p:tav>
                                      </p:tavLst>
                                    </p:anim>
                                    <p:anim calcmode="lin" valueType="num">
                                      <p:cBhvr>
                                        <p:cTn id="37" dur="380" fill="hold"/>
                                        <p:tgtEl>
                                          <p:spTgt spid="22"/>
                                        </p:tgtEl>
                                        <p:attrNameLst>
                                          <p:attrName>ppt_y</p:attrName>
                                        </p:attrNameLst>
                                      </p:cBhvr>
                                      <p:tavLst>
                                        <p:tav tm="0">
                                          <p:val>
                                            <p:strVal val="#ppt_y+.05"/>
                                          </p:val>
                                        </p:tav>
                                        <p:tav tm="100000">
                                          <p:val>
                                            <p:strVal val="#ppt_y"/>
                                          </p:val>
                                        </p:tav>
                                      </p:tavLst>
                                    </p:anim>
                                  </p:childTnLst>
                                </p:cTn>
                              </p:par>
                              <p:par>
                                <p:cTn id="38" presetID="42" presetClass="entr" presetSubtype="0" fill="hold" grpId="0" nodeType="withEffect">
                                  <p:stCondLst>
                                    <p:cond delay="13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80"/>
                                        <p:tgtEl>
                                          <p:spTgt spid="26"/>
                                        </p:tgtEl>
                                      </p:cBhvr>
                                    </p:animEffect>
                                    <p:anim calcmode="lin" valueType="num">
                                      <p:cBhvr>
                                        <p:cTn id="41" dur="380" fill="hold"/>
                                        <p:tgtEl>
                                          <p:spTgt spid="26"/>
                                        </p:tgtEl>
                                        <p:attrNameLst>
                                          <p:attrName>ppt_x</p:attrName>
                                        </p:attrNameLst>
                                      </p:cBhvr>
                                      <p:tavLst>
                                        <p:tav tm="0">
                                          <p:val>
                                            <p:strVal val="#ppt_x"/>
                                          </p:val>
                                        </p:tav>
                                        <p:tav tm="100000">
                                          <p:val>
                                            <p:strVal val="#ppt_x"/>
                                          </p:val>
                                        </p:tav>
                                      </p:tavLst>
                                    </p:anim>
                                    <p:anim calcmode="lin" valueType="num">
                                      <p:cBhvr>
                                        <p:cTn id="42" dur="380" fill="hold"/>
                                        <p:tgtEl>
                                          <p:spTgt spid="26"/>
                                        </p:tgtEl>
                                        <p:attrNameLst>
                                          <p:attrName>ppt_y</p:attrName>
                                        </p:attrNameLst>
                                      </p:cBhvr>
                                      <p:tavLst>
                                        <p:tav tm="0">
                                          <p:val>
                                            <p:strVal val="#ppt_y+.05"/>
                                          </p:val>
                                        </p:tav>
                                        <p:tav tm="100000">
                                          <p:val>
                                            <p:strVal val="#ppt_y"/>
                                          </p:val>
                                        </p:tav>
                                      </p:tavLst>
                                    </p:anim>
                                  </p:childTnLst>
                                </p:cTn>
                              </p:par>
                              <p:par>
                                <p:cTn id="43" presetID="42" presetClass="entr" presetSubtype="0" fill="hold" grpId="0" nodeType="withEffect">
                                  <p:stCondLst>
                                    <p:cond delay="26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380"/>
                                        <p:tgtEl>
                                          <p:spTgt spid="30"/>
                                        </p:tgtEl>
                                      </p:cBhvr>
                                    </p:animEffect>
                                    <p:anim calcmode="lin" valueType="num">
                                      <p:cBhvr>
                                        <p:cTn id="46" dur="380" fill="hold"/>
                                        <p:tgtEl>
                                          <p:spTgt spid="30"/>
                                        </p:tgtEl>
                                        <p:attrNameLst>
                                          <p:attrName>ppt_x</p:attrName>
                                        </p:attrNameLst>
                                      </p:cBhvr>
                                      <p:tavLst>
                                        <p:tav tm="0">
                                          <p:val>
                                            <p:strVal val="#ppt_x"/>
                                          </p:val>
                                        </p:tav>
                                        <p:tav tm="100000">
                                          <p:val>
                                            <p:strVal val="#ppt_x"/>
                                          </p:val>
                                        </p:tav>
                                      </p:tavLst>
                                    </p:anim>
                                    <p:anim calcmode="lin" valueType="num">
                                      <p:cBhvr>
                                        <p:cTn id="47" dur="380" fill="hold"/>
                                        <p:tgtEl>
                                          <p:spTgt spid="30"/>
                                        </p:tgtEl>
                                        <p:attrNameLst>
                                          <p:attrName>ppt_y</p:attrName>
                                        </p:attrNameLst>
                                      </p:cBhvr>
                                      <p:tavLst>
                                        <p:tav tm="0">
                                          <p:val>
                                            <p:strVal val="#ppt_y+.05"/>
                                          </p:val>
                                        </p:tav>
                                        <p:tav tm="100000">
                                          <p:val>
                                            <p:strVal val="#ppt_y"/>
                                          </p:val>
                                        </p:tav>
                                      </p:tavLst>
                                    </p:anim>
                                  </p:childTnLst>
                                </p:cTn>
                              </p:par>
                              <p:par>
                                <p:cTn id="48" presetID="42" presetClass="entr" presetSubtype="0" fill="hold" grpId="0" nodeType="withEffect">
                                  <p:stCondLst>
                                    <p:cond delay="39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380"/>
                                        <p:tgtEl>
                                          <p:spTgt spid="34"/>
                                        </p:tgtEl>
                                      </p:cBhvr>
                                    </p:animEffect>
                                    <p:anim calcmode="lin" valueType="num">
                                      <p:cBhvr>
                                        <p:cTn id="51" dur="380" fill="hold"/>
                                        <p:tgtEl>
                                          <p:spTgt spid="34"/>
                                        </p:tgtEl>
                                        <p:attrNameLst>
                                          <p:attrName>ppt_x</p:attrName>
                                        </p:attrNameLst>
                                      </p:cBhvr>
                                      <p:tavLst>
                                        <p:tav tm="0">
                                          <p:val>
                                            <p:strVal val="#ppt_x"/>
                                          </p:val>
                                        </p:tav>
                                        <p:tav tm="100000">
                                          <p:val>
                                            <p:strVal val="#ppt_x"/>
                                          </p:val>
                                        </p:tav>
                                      </p:tavLst>
                                    </p:anim>
                                    <p:anim calcmode="lin" valueType="num">
                                      <p:cBhvr>
                                        <p:cTn id="52" dur="380" fill="hold"/>
                                        <p:tgtEl>
                                          <p:spTgt spid="34"/>
                                        </p:tgtEl>
                                        <p:attrNameLst>
                                          <p:attrName>ppt_y</p:attrName>
                                        </p:attrNameLst>
                                      </p:cBhvr>
                                      <p:tavLst>
                                        <p:tav tm="0">
                                          <p:val>
                                            <p:strVal val="#ppt_y+.05"/>
                                          </p:val>
                                        </p:tav>
                                        <p:tav tm="100000">
                                          <p:val>
                                            <p:strVal val="#ppt_y"/>
                                          </p:val>
                                        </p:tav>
                                      </p:tavLst>
                                    </p:anim>
                                  </p:childTnLst>
                                </p:cTn>
                              </p:par>
                              <p:par>
                                <p:cTn id="53" presetID="42" presetClass="entr" presetSubtype="0" fill="hold" grpId="0" nodeType="withEffect">
                                  <p:stCondLst>
                                    <p:cond delay="52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380"/>
                                        <p:tgtEl>
                                          <p:spTgt spid="38"/>
                                        </p:tgtEl>
                                      </p:cBhvr>
                                    </p:animEffect>
                                    <p:anim calcmode="lin" valueType="num">
                                      <p:cBhvr>
                                        <p:cTn id="56" dur="380" fill="hold"/>
                                        <p:tgtEl>
                                          <p:spTgt spid="38"/>
                                        </p:tgtEl>
                                        <p:attrNameLst>
                                          <p:attrName>ppt_x</p:attrName>
                                        </p:attrNameLst>
                                      </p:cBhvr>
                                      <p:tavLst>
                                        <p:tav tm="0">
                                          <p:val>
                                            <p:strVal val="#ppt_x"/>
                                          </p:val>
                                        </p:tav>
                                        <p:tav tm="100000">
                                          <p:val>
                                            <p:strVal val="#ppt_x"/>
                                          </p:val>
                                        </p:tav>
                                      </p:tavLst>
                                    </p:anim>
                                    <p:anim calcmode="lin" valueType="num">
                                      <p:cBhvr>
                                        <p:cTn id="57" dur="380" fill="hold"/>
                                        <p:tgtEl>
                                          <p:spTgt spid="38"/>
                                        </p:tgtEl>
                                        <p:attrNameLst>
                                          <p:attrName>ppt_y</p:attrName>
                                        </p:attrNameLst>
                                      </p:cBhvr>
                                      <p:tavLst>
                                        <p:tav tm="0">
                                          <p:val>
                                            <p:strVal val="#ppt_y+.05"/>
                                          </p:val>
                                        </p:tav>
                                        <p:tav tm="100000">
                                          <p:val>
                                            <p:strVal val="#ppt_y"/>
                                          </p:val>
                                        </p:tav>
                                      </p:tavLst>
                                    </p:anim>
                                  </p:childTnLst>
                                </p:cTn>
                              </p:par>
                            </p:childTnLst>
                          </p:cTn>
                        </p:par>
                        <p:par>
                          <p:cTn id="58" fill="hold">
                            <p:stCondLst>
                              <p:cond delay="900"/>
                            </p:stCondLst>
                            <p:childTnLst>
                              <p:par>
                                <p:cTn id="59" presetID="6" presetClass="emph" presetSubtype="0" fill="hold" grpId="1" nodeType="afterEffect">
                                  <p:stCondLst>
                                    <p:cond delay="0"/>
                                  </p:stCondLst>
                                  <p:childTnLst>
                                    <p:animScale>
                                      <p:cBhvr>
                                        <p:cTn id="60" dur="300" autoRev="1" fill="hold"/>
                                        <p:tgtEl>
                                          <p:spTgt spid="2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5 · ĐÁNH GIÁ VÀ KẾT LUẬN</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Đánh giá kết quả theo hệ chỉ tiêu kỹ thuật</a:t>
            </a:r>
          </a:p>
        </p:txBody>
      </p:sp>
      <p:grpSp>
        <p:nvGrpSpPr>
          <p:cNvPr id="4" name="Group 3"/>
          <p:cNvGrpSpPr/>
          <p:nvPr/>
        </p:nvGrpSpPr>
        <p:grpSpPr>
          <a:xfrm>
            <a:off x="502920" y="1261872"/>
            <a:ext cx="2676906" cy="4224528"/>
            <a:chOff x="502920" y="1261872"/>
            <a:chExt cx="2676906" cy="4224528"/>
          </a:xfrm>
        </p:grpSpPr>
        <p:sp>
          <p:nvSpPr>
            <p:cNvPr id="5" name="Rounded Rectangle 4"/>
            <p:cNvSpPr/>
            <p:nvPr/>
          </p:nvSpPr>
          <p:spPr>
            <a:xfrm>
              <a:off x="502920" y="1261872"/>
              <a:ext cx="2676906" cy="4224528"/>
            </a:xfrm>
            <a:prstGeom prst="roundRect">
              <a:avLst>
                <a:gd name="adj" fmla="val 3415"/>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6" name="Group 5"/>
            <p:cNvGrpSpPr/>
            <p:nvPr/>
          </p:nvGrpSpPr>
          <p:grpSpPr>
            <a:xfrm>
              <a:off x="1475613" y="1444752"/>
              <a:ext cx="731520" cy="731520"/>
              <a:chOff x="1475613" y="1444752"/>
              <a:chExt cx="731520" cy="731520"/>
            </a:xfrm>
          </p:grpSpPr>
          <p:sp>
            <p:nvSpPr>
              <p:cNvPr id="7" name="Oval 6"/>
              <p:cNvSpPr/>
              <p:nvPr/>
            </p:nvSpPr>
            <p:spPr>
              <a:xfrm>
                <a:off x="1475613" y="1444752"/>
                <a:ext cx="731520" cy="731520"/>
              </a:xfrm>
              <a:prstGeom prst="ellipse">
                <a:avLst/>
              </a:prstGeom>
              <a:solidFill>
                <a:srgbClr val="1E7B34"/>
              </a:solidFill>
              <a:ln>
                <a:noFill/>
              </a:ln>
            </p:spPr>
            <p:txBody>
              <a:bodyPr rtlCol="0" anchor="ctr" lIns="54864" tIns="54864" rIns="54864" bIns="54864" wrap="square">
                <a:noAutofit/>
              </a:bodyPr>
              <a:lstStyle/>
              <a:p>
                <a:pPr algn="ctr"/>
              </a:p>
            </p:txBody>
          </p:sp>
          <p:pic>
            <p:nvPicPr>
              <p:cNvPr id="8" name="Picture 7" descr="checkcircle.png"/>
              <p:cNvPicPr>
                <a:picLocks noChangeAspect="1"/>
              </p:cNvPicPr>
              <p:nvPr/>
            </p:nvPicPr>
            <p:blipFill>
              <a:blip r:embed="rId2"/>
              <a:stretch>
                <a:fillRect/>
              </a:stretch>
            </p:blipFill>
            <p:spPr>
              <a:xfrm>
                <a:off x="1636547" y="1605686"/>
                <a:ext cx="409651" cy="409651"/>
              </a:xfrm>
              <a:prstGeom prst="rect">
                <a:avLst/>
              </a:prstGeom>
            </p:spPr>
          </p:pic>
        </p:grpSp>
        <p:sp>
          <p:nvSpPr>
            <p:cNvPr id="9" name="TextBox 8"/>
            <p:cNvSpPr txBox="1"/>
            <p:nvPr/>
          </p:nvSpPr>
          <p:spPr>
            <a:xfrm>
              <a:off x="594360" y="2267712"/>
              <a:ext cx="2494026" cy="457200"/>
            </a:xfrm>
            <a:prstGeom prst="rect">
              <a:avLst/>
            </a:prstGeom>
            <a:noFill/>
          </p:spPr>
          <p:txBody>
            <a:bodyPr wrap="square" lIns="0" tIns="0" rIns="0" bIns="0" anchor="ctr">
              <a:noAutofit/>
            </a:bodyPr>
            <a:lstStyle/>
            <a:p>
              <a:pPr algn="ctr"/>
              <a:r>
                <a:rPr sz="1700" b="1" i="0" lang="vi-VN">
                  <a:solidFill>
                    <a:srgbClr val="1E7B34"/>
                  </a:solidFill>
                  <a:latin typeface="Arial"/>
                  <a:ea typeface="Arial"/>
                  <a:cs typeface="Arial"/>
                </a:rPr>
                <a:t>ĐẠT</a:t>
              </a:r>
            </a:p>
          </p:txBody>
        </p:sp>
        <p:sp>
          <p:nvSpPr>
            <p:cNvPr id="10" name="TextBox 9"/>
            <p:cNvSpPr txBox="1"/>
            <p:nvPr/>
          </p:nvSpPr>
          <p:spPr>
            <a:xfrm>
              <a:off x="685800" y="2788920"/>
              <a:ext cx="2375154" cy="2651760"/>
            </a:xfrm>
            <a:prstGeom prst="rect">
              <a:avLst/>
            </a:prstGeom>
            <a:noFill/>
          </p:spPr>
          <p:txBody>
            <a:bodyPr wrap="square" lIns="0" tIns="0" rIns="0" bIns="0" anchor="t">
              <a:noAutofit/>
            </a:bodyPr>
            <a:lstStyle/>
            <a:p>
              <a:pPr algn="l" marL="201168" indent="-201168">
                <a:lnSpc>
                  <a:spcPct val="100000"/>
                </a:lnSpc>
                <a:spcAft>
                  <a:spcPts val="600"/>
                </a:spcAft>
                <a:buClr>
                  <a:srgbClr val="1E7B34"/>
                </a:buClr>
                <a:buSzPct val="100000"/>
                <a:buFont typeface="Arial"/>
                <a:buChar char="•"/>
              </a:pPr>
              <a:r>
                <a:rPr sz="1450" b="0" i="0" lang="vi-VN">
                  <a:solidFill>
                    <a:srgbClr val="1E2B3A"/>
                  </a:solidFill>
                  <a:latin typeface="Arial"/>
                  <a:ea typeface="Arial"/>
                  <a:cs typeface="Arial"/>
                </a:rPr>
                <a:t>σ giữ tĩnh </a:t>
              </a:r>
              <a:r>
                <a:rPr sz="1450" b="1" i="0" lang="vi-VN">
                  <a:solidFill>
                    <a:srgbClr val="1E2B3A"/>
                  </a:solidFill>
                  <a:latin typeface="Arial"/>
                  <a:ea typeface="Arial"/>
                  <a:cs typeface="Arial"/>
                </a:rPr>
                <a:t>0,0205° / 0,0068°</a:t>
              </a:r>
              <a:r>
                <a:rPr sz="1450" b="0" i="0" lang="vi-VN">
                  <a:solidFill>
                    <a:srgbClr val="1E2B3A"/>
                  </a:solidFill>
                  <a:latin typeface="Arial"/>
                  <a:ea typeface="Arial"/>
                  <a:cs typeface="Arial"/>
                </a:rPr>
                <a:t> &lt; 0,03°</a:t>
              </a:r>
            </a:p>
            <a:p>
              <a:pPr algn="l" marL="201168" indent="-201168">
                <a:lnSpc>
                  <a:spcPct val="100000"/>
                </a:lnSpc>
                <a:spcAft>
                  <a:spcPts val="600"/>
                </a:spcAft>
                <a:buClr>
                  <a:srgbClr val="1E7B34"/>
                </a:buClr>
                <a:buSzPct val="100000"/>
                <a:buFont typeface="Arial"/>
                <a:buChar char="•"/>
              </a:pPr>
              <a:r>
                <a:rPr sz="1450" b="0" i="0" lang="vi-VN">
                  <a:solidFill>
                    <a:srgbClr val="1E2B3A"/>
                  </a:solidFill>
                  <a:latin typeface="Arial"/>
                  <a:ea typeface="Arial"/>
                  <a:cs typeface="Arial"/>
                </a:rPr>
                <a:t>Độ vọt lố </a:t>
              </a:r>
              <a:r>
                <a:rPr sz="1450" b="1" i="0" lang="vi-VN">
                  <a:solidFill>
                    <a:srgbClr val="1E2B3A"/>
                  </a:solidFill>
                  <a:latin typeface="Arial"/>
                  <a:ea typeface="Arial"/>
                  <a:cs typeface="Arial"/>
                </a:rPr>
                <a:t>0,40 % / 0,72 %</a:t>
              </a:r>
              <a:r>
                <a:rPr sz="1450" b="0" i="0" lang="vi-VN">
                  <a:solidFill>
                    <a:srgbClr val="1E2B3A"/>
                  </a:solidFill>
                  <a:latin typeface="Arial"/>
                  <a:ea typeface="Arial"/>
                  <a:cs typeface="Arial"/>
                </a:rPr>
                <a:t> &lt; 1 %</a:t>
              </a:r>
            </a:p>
            <a:p>
              <a:pPr algn="l" marL="201168" indent="-201168">
                <a:lnSpc>
                  <a:spcPct val="100000"/>
                </a:lnSpc>
                <a:spcAft>
                  <a:spcPts val="600"/>
                </a:spcAft>
                <a:buClr>
                  <a:srgbClr val="1E7B34"/>
                </a:buClr>
                <a:buSzPct val="100000"/>
                <a:buFont typeface="Arial"/>
                <a:buChar char="•"/>
              </a:pPr>
              <a:r>
                <a:rPr sz="1450" b="0" i="0" lang="vi-VN">
                  <a:solidFill>
                    <a:srgbClr val="1E2B3A"/>
                  </a:solidFill>
                  <a:latin typeface="Arial"/>
                  <a:ea typeface="Arial"/>
                  <a:cs typeface="Arial"/>
                </a:rPr>
                <a:t>Vòng tốc độ góc giữ đúng </a:t>
              </a:r>
              <a:r>
                <a:rPr sz="1450" b="1" i="0" lang="vi-VN">
                  <a:solidFill>
                    <a:srgbClr val="1E2B3A"/>
                  </a:solidFill>
                  <a:latin typeface="Arial"/>
                  <a:ea typeface="Arial"/>
                  <a:cs typeface="Arial"/>
                </a:rPr>
                <a:t>2 ms</a:t>
              </a:r>
            </a:p>
            <a:p>
              <a:pPr algn="l" marL="201168" indent="-201168">
                <a:lnSpc>
                  <a:spcPct val="100000"/>
                </a:lnSpc>
                <a:spcAft>
                  <a:spcPts val="600"/>
                </a:spcAft>
                <a:buClr>
                  <a:srgbClr val="1E7B34"/>
                </a:buClr>
                <a:buSzPct val="100000"/>
                <a:buFont typeface="Arial"/>
                <a:buChar char="•"/>
              </a:pPr>
              <a:r>
                <a:rPr sz="1450" b="0" i="0" lang="vi-VN">
                  <a:solidFill>
                    <a:srgbClr val="1E2B3A"/>
                  </a:solidFill>
                  <a:latin typeface="Arial"/>
                  <a:ea typeface="Arial"/>
                  <a:cs typeface="Arial"/>
                </a:rPr>
                <a:t>Xác nhận dừng </a:t>
              </a:r>
              <a:r>
                <a:rPr sz="1450" b="1" i="0" lang="vi-VN">
                  <a:solidFill>
                    <a:srgbClr val="1E2B3A"/>
                  </a:solidFill>
                  <a:latin typeface="Arial"/>
                  <a:ea typeface="Arial"/>
                  <a:cs typeface="Arial"/>
                </a:rPr>
                <a:t>12/12</a:t>
              </a:r>
              <a:r>
                <a:rPr sz="1450" b="0" i="0" lang="vi-VN">
                  <a:solidFill>
                    <a:srgbClr val="1E2B3A"/>
                  </a:solidFill>
                  <a:latin typeface="Arial"/>
                  <a:ea typeface="Arial"/>
                  <a:cs typeface="Arial"/>
                </a:rPr>
                <a:t>; 0 giao dịch lỗi</a:t>
              </a:r>
            </a:p>
          </p:txBody>
        </p:sp>
      </p:grpSp>
      <p:grpSp>
        <p:nvGrpSpPr>
          <p:cNvPr id="11" name="Group 10"/>
          <p:cNvGrpSpPr/>
          <p:nvPr/>
        </p:nvGrpSpPr>
        <p:grpSpPr>
          <a:xfrm>
            <a:off x="3344418" y="1261872"/>
            <a:ext cx="2676906" cy="4224528"/>
            <a:chOff x="3344418" y="1261872"/>
            <a:chExt cx="2676906" cy="4224528"/>
          </a:xfrm>
        </p:grpSpPr>
        <p:sp>
          <p:nvSpPr>
            <p:cNvPr id="12" name="Rounded Rectangle 11"/>
            <p:cNvSpPr/>
            <p:nvPr/>
          </p:nvSpPr>
          <p:spPr>
            <a:xfrm>
              <a:off x="3344418" y="1261872"/>
              <a:ext cx="2676906" cy="4224528"/>
            </a:xfrm>
            <a:prstGeom prst="roundRect">
              <a:avLst>
                <a:gd name="adj" fmla="val 3415"/>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13" name="Group 12"/>
            <p:cNvGrpSpPr/>
            <p:nvPr/>
          </p:nvGrpSpPr>
          <p:grpSpPr>
            <a:xfrm>
              <a:off x="4317111" y="1444752"/>
              <a:ext cx="731520" cy="731520"/>
              <a:chOff x="4317111" y="1444752"/>
              <a:chExt cx="731520" cy="731520"/>
            </a:xfrm>
          </p:grpSpPr>
          <p:sp>
            <p:nvSpPr>
              <p:cNvPr id="14" name="Oval 13"/>
              <p:cNvSpPr/>
              <p:nvPr/>
            </p:nvSpPr>
            <p:spPr>
              <a:xfrm>
                <a:off x="4317111" y="1444752"/>
                <a:ext cx="731520" cy="731520"/>
              </a:xfrm>
              <a:prstGeom prst="ellipse">
                <a:avLst/>
              </a:prstGeom>
              <a:solidFill>
                <a:srgbClr val="0A5FA8"/>
              </a:solidFill>
              <a:ln>
                <a:noFill/>
              </a:ln>
            </p:spPr>
            <p:txBody>
              <a:bodyPr rtlCol="0" anchor="ctr" lIns="54864" tIns="54864" rIns="54864" bIns="54864" wrap="square">
                <a:noAutofit/>
              </a:bodyPr>
              <a:lstStyle/>
              <a:p>
                <a:pPr algn="ctr"/>
              </a:p>
            </p:txBody>
          </p:sp>
          <p:pic>
            <p:nvPicPr>
              <p:cNvPr id="15" name="Picture 14" descr="chartline.png"/>
              <p:cNvPicPr>
                <a:picLocks noChangeAspect="1"/>
              </p:cNvPicPr>
              <p:nvPr/>
            </p:nvPicPr>
            <p:blipFill>
              <a:blip r:embed="rId3"/>
              <a:stretch>
                <a:fillRect/>
              </a:stretch>
            </p:blipFill>
            <p:spPr>
              <a:xfrm>
                <a:off x="4478045" y="1605686"/>
                <a:ext cx="409651" cy="409651"/>
              </a:xfrm>
              <a:prstGeom prst="rect">
                <a:avLst/>
              </a:prstGeom>
            </p:spPr>
          </p:pic>
        </p:grpSp>
        <p:sp>
          <p:nvSpPr>
            <p:cNvPr id="16" name="TextBox 15"/>
            <p:cNvSpPr txBox="1"/>
            <p:nvPr/>
          </p:nvSpPr>
          <p:spPr>
            <a:xfrm>
              <a:off x="3435858" y="2267712"/>
              <a:ext cx="2494026" cy="457200"/>
            </a:xfrm>
            <a:prstGeom prst="rect">
              <a:avLst/>
            </a:prstGeom>
            <a:noFill/>
          </p:spPr>
          <p:txBody>
            <a:bodyPr wrap="square" lIns="0" tIns="0" rIns="0" bIns="0" anchor="ctr">
              <a:noAutofit/>
            </a:bodyPr>
            <a:lstStyle/>
            <a:p>
              <a:pPr algn="ctr"/>
              <a:r>
                <a:rPr sz="1700" b="1" i="0" lang="vi-VN">
                  <a:solidFill>
                    <a:srgbClr val="0A5FA8"/>
                  </a:solidFill>
                  <a:latin typeface="Arial"/>
                  <a:ea typeface="Arial"/>
                  <a:cs typeface="Arial"/>
                </a:rPr>
                <a:t>CẢI THIỆN</a:t>
              </a:r>
            </a:p>
          </p:txBody>
        </p:sp>
        <p:sp>
          <p:nvSpPr>
            <p:cNvPr id="17" name="TextBox 16"/>
            <p:cNvSpPr txBox="1"/>
            <p:nvPr/>
          </p:nvSpPr>
          <p:spPr>
            <a:xfrm>
              <a:off x="3527298" y="2788920"/>
              <a:ext cx="2375154" cy="2651760"/>
            </a:xfrm>
            <a:prstGeom prst="rect">
              <a:avLst/>
            </a:prstGeom>
            <a:noFill/>
          </p:spPr>
          <p:txBody>
            <a:bodyPr wrap="square" lIns="0" tIns="0" rIns="0" bIns="0" anchor="t">
              <a:noAutofit/>
            </a:bodyPr>
            <a:lstStyle/>
            <a:p>
              <a:pPr algn="l" marL="201168" indent="-201168">
                <a:lnSpc>
                  <a:spcPct val="100000"/>
                </a:lnSpc>
                <a:spcAft>
                  <a:spcPts val="600"/>
                </a:spcAft>
                <a:buClr>
                  <a:srgbClr val="0A5FA8"/>
                </a:buClr>
                <a:buSzPct val="100000"/>
                <a:buFont typeface="Arial"/>
                <a:buChar char="•"/>
              </a:pPr>
              <a:r>
                <a:rPr sz="1450" b="0" i="1" lang="vi-VN">
                  <a:solidFill>
                    <a:srgbClr val="1E2B3A"/>
                  </a:solidFill>
                  <a:latin typeface="Cambria"/>
                  <a:ea typeface="Cambria"/>
                  <a:cs typeface="Cambria"/>
                </a:rPr>
                <a:t>e</a:t>
              </a:r>
              <a:r>
                <a:rPr sz="1450" b="0" i="0" lang="vi-VN" baseline="-25000">
                  <a:solidFill>
                    <a:srgbClr val="1E2B3A"/>
                  </a:solidFill>
                  <a:latin typeface="Cambria"/>
                  <a:ea typeface="Cambria"/>
                  <a:cs typeface="Cambria"/>
                </a:rPr>
                <a:t>rms</a:t>
              </a:r>
              <a:r>
                <a:rPr sz="1450" b="0" i="0" lang="vi-VN">
                  <a:solidFill>
                    <a:srgbClr val="1E2B3A"/>
                  </a:solidFill>
                  <a:latin typeface="Arial"/>
                  <a:ea typeface="Arial"/>
                  <a:cs typeface="Arial"/>
                </a:rPr>
                <a:t> </a:t>
              </a:r>
              <a:r>
                <a:rPr sz="1450" b="1" i="0" lang="vi-VN">
                  <a:solidFill>
                    <a:srgbClr val="1E2B3A"/>
                  </a:solidFill>
                  <a:latin typeface="Arial"/>
                  <a:ea typeface="Arial"/>
                  <a:cs typeface="Arial"/>
                </a:rPr>
                <a:t>−23,3 % / −22,8 %</a:t>
              </a:r>
            </a:p>
            <a:p>
              <a:pPr algn="l" marL="201168" indent="-201168">
                <a:lnSpc>
                  <a:spcPct val="100000"/>
                </a:lnSpc>
                <a:spcAft>
                  <a:spcPts val="600"/>
                </a:spcAft>
                <a:buClr>
                  <a:srgbClr val="0A5FA8"/>
                </a:buClr>
                <a:buSzPct val="100000"/>
                <a:buFont typeface="Arial"/>
                <a:buChar char="•"/>
              </a:pPr>
              <a:r>
                <a:rPr sz="1450" b="0" i="1" lang="vi-VN">
                  <a:solidFill>
                    <a:srgbClr val="1E2B3A"/>
                  </a:solidFill>
                  <a:latin typeface="Cambria"/>
                  <a:ea typeface="Cambria"/>
                  <a:cs typeface="Cambria"/>
                </a:rPr>
                <a:t>e</a:t>
              </a:r>
              <a:r>
                <a:rPr sz="1450" b="0" i="0" lang="vi-VN" baseline="-25000">
                  <a:solidFill>
                    <a:srgbClr val="1E2B3A"/>
                  </a:solidFill>
                  <a:latin typeface="Cambria"/>
                  <a:ea typeface="Cambria"/>
                  <a:cs typeface="Cambria"/>
                </a:rPr>
                <a:t>max</a:t>
              </a:r>
              <a:r>
                <a:rPr sz="1450" b="0" i="0" lang="vi-VN">
                  <a:solidFill>
                    <a:srgbClr val="1E2B3A"/>
                  </a:solidFill>
                  <a:latin typeface="Arial"/>
                  <a:ea typeface="Arial"/>
                  <a:cs typeface="Arial"/>
                </a:rPr>
                <a:t> </a:t>
              </a:r>
              <a:r>
                <a:rPr sz="1450" b="1" i="0" lang="vi-VN">
                  <a:solidFill>
                    <a:srgbClr val="1E2B3A"/>
                  </a:solidFill>
                  <a:latin typeface="Arial"/>
                  <a:ea typeface="Arial"/>
                  <a:cs typeface="Arial"/>
                </a:rPr>
                <a:t>−34,9 % / −32,6 %</a:t>
              </a:r>
            </a:p>
            <a:p>
              <a:pPr algn="l" marL="201168" indent="-201168">
                <a:lnSpc>
                  <a:spcPct val="100000"/>
                </a:lnSpc>
                <a:spcAft>
                  <a:spcPts val="600"/>
                </a:spcAft>
                <a:buClr>
                  <a:srgbClr val="0A5FA8"/>
                </a:buClr>
                <a:buSzPct val="100000"/>
                <a:buFont typeface="Arial"/>
                <a:buChar char="•"/>
              </a:pPr>
              <a:r>
                <a:rPr sz="1450" b="0" i="0" lang="vi-VN">
                  <a:solidFill>
                    <a:srgbClr val="1E2B3A"/>
                  </a:solidFill>
                  <a:latin typeface="Arial"/>
                  <a:ea typeface="Arial"/>
                  <a:cs typeface="Arial"/>
                </a:rPr>
                <a:t>Phục hồi sau dừng </a:t>
              </a:r>
              <a:r>
                <a:rPr sz="1450" b="1" i="0" lang="vi-VN">
                  <a:solidFill>
                    <a:srgbClr val="1E2B3A"/>
                  </a:solidFill>
                  <a:latin typeface="Arial"/>
                  <a:ea typeface="Arial"/>
                  <a:cs typeface="Arial"/>
                </a:rPr>
                <a:t>−52,4 % / −58,7 %</a:t>
              </a:r>
            </a:p>
            <a:p>
              <a:pPr algn="l" marL="201168" indent="-201168">
                <a:lnSpc>
                  <a:spcPct val="100000"/>
                </a:lnSpc>
                <a:spcAft>
                  <a:spcPts val="600"/>
                </a:spcAft>
                <a:buClr>
                  <a:srgbClr val="0A5FA8"/>
                </a:buClr>
                <a:buSzPct val="100000"/>
                <a:buFont typeface="Arial"/>
                <a:buChar char="•"/>
              </a:pPr>
              <a:r>
                <a:rPr sz="1450" b="0" i="0" lang="vi-VN">
                  <a:solidFill>
                    <a:srgbClr val="1E2B3A"/>
                  </a:solidFill>
                  <a:latin typeface="Arial"/>
                  <a:ea typeface="Arial"/>
                  <a:cs typeface="Arial"/>
                </a:rPr>
                <a:t>Tản mát cập nhật Pitch </a:t>
              </a:r>
              <a:r>
                <a:rPr sz="1450" b="1" i="0" lang="vi-VN">
                  <a:solidFill>
                    <a:srgbClr val="1E2B3A"/>
                  </a:solidFill>
                  <a:latin typeface="Arial"/>
                  <a:ea typeface="Arial"/>
                  <a:cs typeface="Arial"/>
                </a:rPr>
                <a:t>−85 %</a:t>
              </a:r>
            </a:p>
            <a:p>
              <a:pPr algn="l" marL="201168" indent="-201168">
                <a:lnSpc>
                  <a:spcPct val="100000"/>
                </a:lnSpc>
                <a:spcAft>
                  <a:spcPts val="600"/>
                </a:spcAft>
                <a:buClr>
                  <a:srgbClr val="0A5FA8"/>
                </a:buClr>
                <a:buSzPct val="100000"/>
                <a:buFont typeface="Arial"/>
                <a:buChar char="•"/>
              </a:pPr>
              <a:r>
                <a:rPr sz="1450" b="0" i="0" lang="vi-VN">
                  <a:solidFill>
                    <a:srgbClr val="1E2B3A"/>
                  </a:solidFill>
                  <a:latin typeface="Arial"/>
                  <a:ea typeface="Arial"/>
                  <a:cs typeface="Arial"/>
                </a:rPr>
                <a:t>Bước lệnh </a:t>
              </a:r>
              <a:r>
                <a:rPr sz="1450" b="1" i="0" lang="vi-VN">
                  <a:solidFill>
                    <a:srgbClr val="1E2B3A"/>
                  </a:solidFill>
                  <a:latin typeface="Arial"/>
                  <a:ea typeface="Arial"/>
                  <a:cs typeface="Arial"/>
                </a:rPr>
                <a:t>−45 %</a:t>
              </a:r>
              <a:r>
                <a:rPr sz="1450" b="0" i="0" lang="vi-VN">
                  <a:solidFill>
                    <a:srgbClr val="1E2B3A"/>
                  </a:solidFill>
                  <a:latin typeface="Arial"/>
                  <a:ea typeface="Arial"/>
                  <a:cs typeface="Arial"/>
                </a:rPr>
                <a:t>, dòng </a:t>
              </a:r>
              <a:r>
                <a:rPr sz="1450" b="0" i="1" lang="vi-VN">
                  <a:solidFill>
                    <a:srgbClr val="1E2B3A"/>
                  </a:solidFill>
                  <a:latin typeface="Cambria"/>
                  <a:ea typeface="Cambria"/>
                  <a:cs typeface="Cambria"/>
                </a:rPr>
                <a:t>I</a:t>
              </a:r>
              <a:r>
                <a:rPr sz="1450" b="0" i="0" lang="vi-VN" baseline="-25000">
                  <a:solidFill>
                    <a:srgbClr val="1E2B3A"/>
                  </a:solidFill>
                  <a:latin typeface="Cambria"/>
                  <a:ea typeface="Cambria"/>
                  <a:cs typeface="Cambria"/>
                </a:rPr>
                <a:t>q</a:t>
              </a:r>
              <a:r>
                <a:rPr sz="1450" b="0" i="0" lang="vi-VN">
                  <a:solidFill>
                    <a:srgbClr val="1E2B3A"/>
                  </a:solidFill>
                  <a:latin typeface="Arial"/>
                  <a:ea typeface="Arial"/>
                  <a:cs typeface="Arial"/>
                </a:rPr>
                <a:t> </a:t>
              </a:r>
              <a:r>
                <a:rPr sz="1450" b="1" i="0" lang="vi-VN">
                  <a:solidFill>
                    <a:srgbClr val="1E2B3A"/>
                  </a:solidFill>
                  <a:latin typeface="Arial"/>
                  <a:ea typeface="Arial"/>
                  <a:cs typeface="Arial"/>
                </a:rPr>
                <a:t>−22,3 %</a:t>
              </a:r>
            </a:p>
          </p:txBody>
        </p:sp>
      </p:grpSp>
      <p:grpSp>
        <p:nvGrpSpPr>
          <p:cNvPr id="18" name="Group 17"/>
          <p:cNvGrpSpPr/>
          <p:nvPr/>
        </p:nvGrpSpPr>
        <p:grpSpPr>
          <a:xfrm>
            <a:off x="6185916" y="1261872"/>
            <a:ext cx="2676906" cy="4224528"/>
            <a:chOff x="6185916" y="1261872"/>
            <a:chExt cx="2676906" cy="4224528"/>
          </a:xfrm>
        </p:grpSpPr>
        <p:sp>
          <p:nvSpPr>
            <p:cNvPr id="19" name="Rounded Rectangle 18"/>
            <p:cNvSpPr/>
            <p:nvPr/>
          </p:nvSpPr>
          <p:spPr>
            <a:xfrm>
              <a:off x="6185916" y="1261872"/>
              <a:ext cx="2676906" cy="4224528"/>
            </a:xfrm>
            <a:prstGeom prst="roundRect">
              <a:avLst>
                <a:gd name="adj" fmla="val 3415"/>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20" name="Group 19"/>
            <p:cNvGrpSpPr/>
            <p:nvPr/>
          </p:nvGrpSpPr>
          <p:grpSpPr>
            <a:xfrm>
              <a:off x="7158609" y="1444752"/>
              <a:ext cx="731520" cy="731520"/>
              <a:chOff x="7158609" y="1444752"/>
              <a:chExt cx="731520" cy="731520"/>
            </a:xfrm>
          </p:grpSpPr>
          <p:sp>
            <p:nvSpPr>
              <p:cNvPr id="21" name="Oval 20"/>
              <p:cNvSpPr/>
              <p:nvPr/>
            </p:nvSpPr>
            <p:spPr>
              <a:xfrm>
                <a:off x="7158609" y="1444752"/>
                <a:ext cx="731520" cy="731520"/>
              </a:xfrm>
              <a:prstGeom prst="ellipse">
                <a:avLst/>
              </a:prstGeom>
              <a:solidFill>
                <a:srgbClr val="B7791F"/>
              </a:solidFill>
              <a:ln>
                <a:noFill/>
              </a:ln>
            </p:spPr>
            <p:txBody>
              <a:bodyPr rtlCol="0" anchor="ctr" lIns="54864" tIns="54864" rIns="54864" bIns="54864" wrap="square">
                <a:noAutofit/>
              </a:bodyPr>
              <a:lstStyle/>
              <a:p>
                <a:pPr algn="ctr"/>
              </a:p>
            </p:txBody>
          </p:sp>
          <p:pic>
            <p:nvPicPr>
              <p:cNvPr id="22" name="Picture 21" descr="balance.png"/>
              <p:cNvPicPr>
                <a:picLocks noChangeAspect="1"/>
              </p:cNvPicPr>
              <p:nvPr/>
            </p:nvPicPr>
            <p:blipFill>
              <a:blip r:embed="rId4"/>
              <a:stretch>
                <a:fillRect/>
              </a:stretch>
            </p:blipFill>
            <p:spPr>
              <a:xfrm>
                <a:off x="7319543" y="1605686"/>
                <a:ext cx="409651" cy="409651"/>
              </a:xfrm>
              <a:prstGeom prst="rect">
                <a:avLst/>
              </a:prstGeom>
            </p:spPr>
          </p:pic>
        </p:grpSp>
        <p:sp>
          <p:nvSpPr>
            <p:cNvPr id="23" name="TextBox 22"/>
            <p:cNvSpPr txBox="1"/>
            <p:nvPr/>
          </p:nvSpPr>
          <p:spPr>
            <a:xfrm>
              <a:off x="6277356" y="2267712"/>
              <a:ext cx="2494026" cy="457200"/>
            </a:xfrm>
            <a:prstGeom prst="rect">
              <a:avLst/>
            </a:prstGeom>
            <a:noFill/>
          </p:spPr>
          <p:txBody>
            <a:bodyPr wrap="square" lIns="0" tIns="0" rIns="0" bIns="0" anchor="ctr">
              <a:noAutofit/>
            </a:bodyPr>
            <a:lstStyle/>
            <a:p>
              <a:pPr algn="ctr"/>
              <a:r>
                <a:rPr sz="1700" b="1" i="0" lang="vi-VN">
                  <a:solidFill>
                    <a:srgbClr val="B7791F"/>
                  </a:solidFill>
                  <a:latin typeface="Arial"/>
                  <a:ea typeface="Arial"/>
                  <a:cs typeface="Arial"/>
                </a:rPr>
                <a:t>ĐÁNH ĐỔI</a:t>
              </a:r>
            </a:p>
          </p:txBody>
        </p:sp>
        <p:sp>
          <p:nvSpPr>
            <p:cNvPr id="24" name="TextBox 23"/>
            <p:cNvSpPr txBox="1"/>
            <p:nvPr/>
          </p:nvSpPr>
          <p:spPr>
            <a:xfrm>
              <a:off x="6368796" y="2788920"/>
              <a:ext cx="2375154" cy="2651760"/>
            </a:xfrm>
            <a:prstGeom prst="rect">
              <a:avLst/>
            </a:prstGeom>
            <a:noFill/>
          </p:spPr>
          <p:txBody>
            <a:bodyPr wrap="square" lIns="0" tIns="0" rIns="0" bIns="0" anchor="t">
              <a:noAutofit/>
            </a:bodyPr>
            <a:lstStyle/>
            <a:p>
              <a:pPr algn="l" marL="201168" indent="-201168">
                <a:lnSpc>
                  <a:spcPct val="100000"/>
                </a:lnSpc>
                <a:spcAft>
                  <a:spcPts val="600"/>
                </a:spcAft>
                <a:buClr>
                  <a:srgbClr val="B7791F"/>
                </a:buClr>
                <a:buSzPct val="100000"/>
                <a:buFont typeface="Arial"/>
                <a:buChar char="•"/>
              </a:pPr>
              <a:r>
                <a:rPr sz="1450" b="0" i="1" lang="vi-VN">
                  <a:solidFill>
                    <a:srgbClr val="1E2B3A"/>
                  </a:solidFill>
                  <a:latin typeface="Cambria"/>
                  <a:ea typeface="Cambria"/>
                  <a:cs typeface="Cambria"/>
                </a:rPr>
                <a:t>t</a:t>
              </a:r>
              <a:r>
                <a:rPr sz="1450" b="0" i="0" lang="vi-VN" baseline="-25000">
                  <a:solidFill>
                    <a:srgbClr val="1E2B3A"/>
                  </a:solidFill>
                  <a:latin typeface="Cambria"/>
                  <a:ea typeface="Cambria"/>
                  <a:cs typeface="Cambria"/>
                </a:rPr>
                <a:t>s</a:t>
              </a:r>
              <a:r>
                <a:rPr sz="1450" b="0" i="0" lang="vi-VN">
                  <a:solidFill>
                    <a:srgbClr val="1E2B3A"/>
                  </a:solidFill>
                  <a:latin typeface="Arial"/>
                  <a:ea typeface="Arial"/>
                  <a:cs typeface="Arial"/>
                </a:rPr>
                <a:t> </a:t>
              </a:r>
              <a:r>
                <a:rPr sz="1450" b="1" i="0" lang="vi-VN">
                  <a:solidFill>
                    <a:srgbClr val="1E2B3A"/>
                  </a:solidFill>
                  <a:latin typeface="Arial"/>
                  <a:ea typeface="Arial"/>
                  <a:cs typeface="Arial"/>
                </a:rPr>
                <a:t>+5,6 %</a:t>
              </a:r>
              <a:r>
                <a:rPr sz="1450" b="0" i="0" lang="vi-VN">
                  <a:solidFill>
                    <a:srgbClr val="1E2B3A"/>
                  </a:solidFill>
                  <a:latin typeface="Arial"/>
                  <a:ea typeface="Arial"/>
                  <a:cs typeface="Arial"/>
                </a:rPr>
                <a:t> khi khung nhanh (bù IMU2)</a:t>
              </a:r>
            </a:p>
            <a:p>
              <a:pPr algn="l" marL="201168" indent="-201168">
                <a:lnSpc>
                  <a:spcPct val="100000"/>
                </a:lnSpc>
                <a:spcAft>
                  <a:spcPts val="600"/>
                </a:spcAft>
                <a:buClr>
                  <a:srgbClr val="B7791F"/>
                </a:buClr>
                <a:buSzPct val="100000"/>
                <a:buFont typeface="Arial"/>
                <a:buChar char="•"/>
              </a:pPr>
              <a:r>
                <a:rPr sz="1450" b="0" i="1" lang="vi-VN">
                  <a:solidFill>
                    <a:srgbClr val="1E2B3A"/>
                  </a:solidFill>
                  <a:latin typeface="Cambria"/>
                  <a:ea typeface="Cambria"/>
                  <a:cs typeface="Cambria"/>
                </a:rPr>
                <a:t>e</a:t>
              </a:r>
              <a:r>
                <a:rPr sz="1450" b="0" i="0" lang="vi-VN" baseline="-25000">
                  <a:solidFill>
                    <a:srgbClr val="1E2B3A"/>
                  </a:solidFill>
                  <a:latin typeface="Cambria"/>
                  <a:ea typeface="Cambria"/>
                  <a:cs typeface="Cambria"/>
                </a:rPr>
                <a:t>rms</a:t>
              </a:r>
              <a:r>
                <a:rPr sz="1450" b="0" i="0" lang="vi-VN">
                  <a:solidFill>
                    <a:srgbClr val="1E2B3A"/>
                  </a:solidFill>
                  <a:latin typeface="Arial"/>
                  <a:ea typeface="Arial"/>
                  <a:cs typeface="Arial"/>
                </a:rPr>
                <a:t> Yaw </a:t>
              </a:r>
              <a:r>
                <a:rPr sz="1450" b="1" i="0" lang="vi-VN">
                  <a:solidFill>
                    <a:srgbClr val="1E2B3A"/>
                  </a:solidFill>
                  <a:latin typeface="Arial"/>
                  <a:ea typeface="Arial"/>
                  <a:cs typeface="Arial"/>
                </a:rPr>
                <a:t>+1,4 %</a:t>
              </a:r>
              <a:r>
                <a:rPr sz="1450" b="0" i="0" lang="vi-VN">
                  <a:solidFill>
                    <a:srgbClr val="1E2B3A"/>
                  </a:solidFill>
                  <a:latin typeface="Arial"/>
                  <a:ea typeface="Arial"/>
                  <a:cs typeface="Arial"/>
                </a:rPr>
                <a:t> (tạo dạng lệnh)</a:t>
              </a:r>
            </a:p>
            <a:p>
              <a:pPr algn="l" marL="201168" indent="-201168">
                <a:lnSpc>
                  <a:spcPct val="100000"/>
                </a:lnSpc>
                <a:spcAft>
                  <a:spcPts val="600"/>
                </a:spcAft>
                <a:buClr>
                  <a:srgbClr val="B7791F"/>
                </a:buClr>
                <a:buSzPct val="100000"/>
                <a:buFont typeface="Arial"/>
                <a:buChar char="•"/>
              </a:pPr>
              <a:r>
                <a:rPr sz="1450" b="0" i="0" lang="vi-VN">
                  <a:solidFill>
                    <a:srgbClr val="1E2B3A"/>
                  </a:solidFill>
                  <a:latin typeface="Arial"/>
                  <a:ea typeface="Arial"/>
                  <a:cs typeface="Arial"/>
                </a:rPr>
                <a:t>Không chọn ưu tiên Yaw dù </a:t>
              </a:r>
              <a:r>
                <a:rPr sz="1450" b="0" i="1" lang="vi-VN">
                  <a:solidFill>
                    <a:srgbClr val="1E2B3A"/>
                  </a:solidFill>
                  <a:latin typeface="Cambria"/>
                  <a:ea typeface="Cambria"/>
                  <a:cs typeface="Cambria"/>
                </a:rPr>
                <a:t>e</a:t>
              </a:r>
              <a:r>
                <a:rPr sz="1450" b="0" i="0" lang="vi-VN" baseline="-25000">
                  <a:solidFill>
                    <a:srgbClr val="1E2B3A"/>
                  </a:solidFill>
                  <a:latin typeface="Cambria"/>
                  <a:ea typeface="Cambria"/>
                  <a:cs typeface="Cambria"/>
                </a:rPr>
                <a:t>rms</a:t>
              </a:r>
              <a:r>
                <a:rPr sz="1450" b="0" i="0" lang="vi-VN">
                  <a:solidFill>
                    <a:srgbClr val="1E2B3A"/>
                  </a:solidFill>
                  <a:latin typeface="Arial"/>
                  <a:ea typeface="Arial"/>
                  <a:cs typeface="Arial"/>
                </a:rPr>
                <a:t> Yaw thấp hơn 8,7 %</a:t>
              </a:r>
            </a:p>
          </p:txBody>
        </p:sp>
      </p:grpSp>
      <p:grpSp>
        <p:nvGrpSpPr>
          <p:cNvPr id="25" name="Group 24"/>
          <p:cNvGrpSpPr/>
          <p:nvPr/>
        </p:nvGrpSpPr>
        <p:grpSpPr>
          <a:xfrm>
            <a:off x="9027414" y="1261872"/>
            <a:ext cx="2676906" cy="4224528"/>
            <a:chOff x="9027414" y="1261872"/>
            <a:chExt cx="2676906" cy="4224528"/>
          </a:xfrm>
        </p:grpSpPr>
        <p:sp>
          <p:nvSpPr>
            <p:cNvPr id="26" name="Rounded Rectangle 25"/>
            <p:cNvSpPr/>
            <p:nvPr/>
          </p:nvSpPr>
          <p:spPr>
            <a:xfrm>
              <a:off x="9027414" y="1261872"/>
              <a:ext cx="2676906" cy="4224528"/>
            </a:xfrm>
            <a:prstGeom prst="roundRect">
              <a:avLst>
                <a:gd name="adj" fmla="val 3415"/>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27" name="Group 26"/>
            <p:cNvGrpSpPr/>
            <p:nvPr/>
          </p:nvGrpSpPr>
          <p:grpSpPr>
            <a:xfrm>
              <a:off x="10000107" y="1444752"/>
              <a:ext cx="731520" cy="731520"/>
              <a:chOff x="10000107" y="1444752"/>
              <a:chExt cx="731520" cy="731520"/>
            </a:xfrm>
          </p:grpSpPr>
          <p:sp>
            <p:nvSpPr>
              <p:cNvPr id="28" name="Oval 27"/>
              <p:cNvSpPr/>
              <p:nvPr/>
            </p:nvSpPr>
            <p:spPr>
              <a:xfrm>
                <a:off x="10000107" y="1444752"/>
                <a:ext cx="731520" cy="731520"/>
              </a:xfrm>
              <a:prstGeom prst="ellipse">
                <a:avLst/>
              </a:prstGeom>
              <a:solidFill>
                <a:srgbClr val="C62828"/>
              </a:solidFill>
              <a:ln>
                <a:noFill/>
              </a:ln>
            </p:spPr>
            <p:txBody>
              <a:bodyPr rtlCol="0" anchor="ctr" lIns="54864" tIns="54864" rIns="54864" bIns="54864" wrap="square">
                <a:noAutofit/>
              </a:bodyPr>
              <a:lstStyle/>
              <a:p>
                <a:pPr algn="ctr"/>
              </a:p>
            </p:txBody>
          </p:sp>
          <p:pic>
            <p:nvPicPr>
              <p:cNvPr id="29" name="Picture 28" descr="timescircle.png"/>
              <p:cNvPicPr>
                <a:picLocks noChangeAspect="1"/>
              </p:cNvPicPr>
              <p:nvPr/>
            </p:nvPicPr>
            <p:blipFill>
              <a:blip r:embed="rId5"/>
              <a:stretch>
                <a:fillRect/>
              </a:stretch>
            </p:blipFill>
            <p:spPr>
              <a:xfrm>
                <a:off x="10161041" y="1605686"/>
                <a:ext cx="409651" cy="409651"/>
              </a:xfrm>
              <a:prstGeom prst="rect">
                <a:avLst/>
              </a:prstGeom>
            </p:spPr>
          </p:pic>
        </p:grpSp>
        <p:sp>
          <p:nvSpPr>
            <p:cNvPr id="30" name="TextBox 29"/>
            <p:cNvSpPr txBox="1"/>
            <p:nvPr/>
          </p:nvSpPr>
          <p:spPr>
            <a:xfrm>
              <a:off x="9118854" y="2267712"/>
              <a:ext cx="2494026" cy="457200"/>
            </a:xfrm>
            <a:prstGeom prst="rect">
              <a:avLst/>
            </a:prstGeom>
            <a:noFill/>
          </p:spPr>
          <p:txBody>
            <a:bodyPr wrap="square" lIns="0" tIns="0" rIns="0" bIns="0" anchor="ctr">
              <a:noAutofit/>
            </a:bodyPr>
            <a:lstStyle/>
            <a:p>
              <a:pPr algn="ctr"/>
              <a:r>
                <a:rPr sz="1700" b="1" i="0" lang="vi-VN">
                  <a:solidFill>
                    <a:srgbClr val="C62828"/>
                  </a:solidFill>
                  <a:latin typeface="Arial"/>
                  <a:ea typeface="Arial"/>
                  <a:cs typeface="Arial"/>
                </a:rPr>
                <a:t>CHƯA ĐẠT</a:t>
              </a:r>
            </a:p>
          </p:txBody>
        </p:sp>
        <p:sp>
          <p:nvSpPr>
            <p:cNvPr id="31" name="TextBox 30"/>
            <p:cNvSpPr txBox="1"/>
            <p:nvPr/>
          </p:nvSpPr>
          <p:spPr>
            <a:xfrm>
              <a:off x="9210294" y="2788920"/>
              <a:ext cx="2375154" cy="2651760"/>
            </a:xfrm>
            <a:prstGeom prst="rect">
              <a:avLst/>
            </a:prstGeom>
            <a:noFill/>
          </p:spPr>
          <p:txBody>
            <a:bodyPr wrap="square" lIns="0" tIns="0" rIns="0" bIns="0" anchor="t">
              <a:noAutofit/>
            </a:bodyPr>
            <a:lstStyle/>
            <a:p>
              <a:pPr algn="l" marL="201168" indent="-201168">
                <a:lnSpc>
                  <a:spcPct val="100000"/>
                </a:lnSpc>
                <a:spcAft>
                  <a:spcPts val="600"/>
                </a:spcAft>
                <a:buClr>
                  <a:srgbClr val="C62828"/>
                </a:buClr>
                <a:buSzPct val="100000"/>
                <a:buFont typeface="Arial"/>
                <a:buChar char="•"/>
              </a:pPr>
              <a:r>
                <a:rPr sz="1450" b="0" i="0" lang="vi-VN">
                  <a:solidFill>
                    <a:srgbClr val="1E2B3A"/>
                  </a:solidFill>
                  <a:latin typeface="Arial"/>
                  <a:ea typeface="Arial"/>
                  <a:cs typeface="Arial"/>
                </a:rPr>
                <a:t>Giao dịch lớn nhất </a:t>
              </a:r>
              <a:r>
                <a:rPr sz="1450" b="1" i="0" lang="vi-VN">
                  <a:solidFill>
                    <a:srgbClr val="1E2B3A"/>
                  </a:solidFill>
                  <a:latin typeface="Arial"/>
                  <a:ea typeface="Arial"/>
                  <a:cs typeface="Arial"/>
                </a:rPr>
                <a:t>6,00 ms</a:t>
              </a:r>
              <a:r>
                <a:rPr sz="1450" b="0" i="0" lang="vi-VN">
                  <a:solidFill>
                    <a:srgbClr val="1E2B3A"/>
                  </a:solidFill>
                  <a:latin typeface="Arial"/>
                  <a:ea typeface="Arial"/>
                  <a:cs typeface="Arial"/>
                </a:rPr>
                <a:t> &gt; khe 5 ms</a:t>
              </a:r>
            </a:p>
            <a:p>
              <a:pPr algn="l" marL="201168" indent="-201168">
                <a:lnSpc>
                  <a:spcPct val="100000"/>
                </a:lnSpc>
                <a:spcAft>
                  <a:spcPts val="600"/>
                </a:spcAft>
                <a:buClr>
                  <a:srgbClr val="C62828"/>
                </a:buClr>
                <a:buSzPct val="100000"/>
                <a:buFont typeface="Arial"/>
                <a:buChar char="•"/>
              </a:pPr>
              <a:r>
                <a:rPr sz="1450" b="0" i="0" lang="vi-VN">
                  <a:solidFill>
                    <a:srgbClr val="1E2B3A"/>
                  </a:solidFill>
                  <a:latin typeface="Arial"/>
                  <a:ea typeface="Arial"/>
                  <a:cs typeface="Arial"/>
                </a:rPr>
                <a:t>Cập nhật lớn nhất </a:t>
              </a:r>
              <a:r>
                <a:rPr sz="1450" b="1" i="0" lang="vi-VN">
                  <a:solidFill>
                    <a:srgbClr val="1E2B3A"/>
                  </a:solidFill>
                  <a:latin typeface="Arial"/>
                  <a:ea typeface="Arial"/>
                  <a:cs typeface="Arial"/>
                </a:rPr>
                <a:t>14,1 ms</a:t>
              </a:r>
              <a:r>
                <a:rPr sz="1450" b="0" i="0" lang="vi-VN">
                  <a:solidFill>
                    <a:srgbClr val="1E2B3A"/>
                  </a:solidFill>
                  <a:latin typeface="Arial"/>
                  <a:ea typeface="Arial"/>
                  <a:cs typeface="Arial"/>
                </a:rPr>
                <a:t> &gt; 10 ms</a:t>
              </a:r>
            </a:p>
            <a:p>
              <a:pPr algn="l" marL="201168" indent="-201168">
                <a:lnSpc>
                  <a:spcPct val="100000"/>
                </a:lnSpc>
                <a:spcAft>
                  <a:spcPts val="600"/>
                </a:spcAft>
                <a:buClr>
                  <a:srgbClr val="C62828"/>
                </a:buClr>
                <a:buSzPct val="100000"/>
                <a:buFont typeface="Arial"/>
                <a:buChar char="•"/>
              </a:pPr>
              <a:r>
                <a:rPr sz="1450" b="0" i="0" lang="vi-VN">
                  <a:solidFill>
                    <a:srgbClr val="1E2B3A"/>
                  </a:solidFill>
                  <a:latin typeface="Arial"/>
                  <a:ea typeface="Arial"/>
                  <a:cs typeface="Arial"/>
                </a:rPr>
                <a:t>p99 giao dịch </a:t>
              </a:r>
              <a:r>
                <a:rPr sz="1450" b="1" i="0" lang="vi-VN">
                  <a:solidFill>
                    <a:srgbClr val="1E2B3A"/>
                  </a:solidFill>
                  <a:latin typeface="Arial"/>
                  <a:ea typeface="Arial"/>
                  <a:cs typeface="Arial"/>
                </a:rPr>
                <a:t>+88,9 %</a:t>
              </a:r>
              <a:r>
                <a:rPr sz="1450" b="0" i="0" lang="vi-VN">
                  <a:solidFill>
                    <a:srgbClr val="1E2B3A"/>
                  </a:solidFill>
                  <a:latin typeface="Arial"/>
                  <a:ea typeface="Arial"/>
                  <a:cs typeface="Arial"/>
                </a:rPr>
                <a:t> khi tải tăng</a:t>
              </a:r>
            </a:p>
          </p:txBody>
        </p:sp>
      </p:grpSp>
      <p:sp>
        <p:nvSpPr>
          <p:cNvPr id="32" name="Rounded Rectangle 31"/>
          <p:cNvSpPr/>
          <p:nvPr/>
        </p:nvSpPr>
        <p:spPr>
          <a:xfrm>
            <a:off x="502920" y="5623560"/>
            <a:ext cx="11201400" cy="429768"/>
          </a:xfrm>
          <a:prstGeom prst="roundRect">
            <a:avLst>
              <a:gd name="adj" fmla="val 21276"/>
            </a:avLst>
          </a:prstGeom>
          <a:solidFill>
            <a:srgbClr val="0B2545"/>
          </a:solidFill>
          <a:ln>
            <a:noFill/>
          </a:ln>
        </p:spPr>
        <p:txBody>
          <a:bodyPr rtlCol="0" anchor="ctr" lIns="54864" tIns="54864" rIns="54864" bIns="54864" wrap="square">
            <a:noAutofit/>
          </a:bodyPr>
          <a:lstStyle/>
          <a:p>
            <a:pPr algn="ctr"/>
            <a:r>
              <a:rPr sz="1300" b="0" i="0" lang="vi-VN">
                <a:solidFill>
                  <a:srgbClr val="FFFFFF"/>
                </a:solidFill>
                <a:latin typeface="Arial"/>
                <a:ea typeface="Arial"/>
                <a:cs typeface="Arial"/>
              </a:rPr>
              <a:t>Phạm vi kiểm chứng: tốc độ camera hiệu dụng ≈ 50 °/s, đỉnh ≈ 240 °/s · hãm 2 300 °/s² · bậc 2–7° (Yaw), 3° (Pitch)</a:t>
            </a:r>
          </a:p>
        </p:txBody>
      </p:sp>
      <p:sp>
        <p:nvSpPr>
          <p:cNvPr id="35"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27</a:t>
            </a:fl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anim calcmode="lin" valueType="num">
                                      <p:cBhvr>
                                        <p:cTn id="15" dur="450" fill="hold"/>
                                        <p:tgtEl>
                                          <p:spTgt spid="11"/>
                                        </p:tgtEl>
                                        <p:attrNameLst>
                                          <p:attrName>ppt_x</p:attrName>
                                        </p:attrNameLst>
                                      </p:cBhvr>
                                      <p:tavLst>
                                        <p:tav tm="0">
                                          <p:val>
                                            <p:strVal val="#ppt_x"/>
                                          </p:val>
                                        </p:tav>
                                        <p:tav tm="100000">
                                          <p:val>
                                            <p:strVal val="#ppt_x"/>
                                          </p:val>
                                        </p:tav>
                                      </p:tavLst>
                                    </p:anim>
                                    <p:anim calcmode="lin" valueType="num">
                                      <p:cBhvr>
                                        <p:cTn id="16" dur="450" fill="hold"/>
                                        <p:tgtEl>
                                          <p:spTgt spid="11"/>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anim calcmode="lin" valueType="num">
                                      <p:cBhvr>
                                        <p:cTn id="22" dur="450" fill="hold"/>
                                        <p:tgtEl>
                                          <p:spTgt spid="18"/>
                                        </p:tgtEl>
                                        <p:attrNameLst>
                                          <p:attrName>ppt_x</p:attrName>
                                        </p:attrNameLst>
                                      </p:cBhvr>
                                      <p:tavLst>
                                        <p:tav tm="0">
                                          <p:val>
                                            <p:strVal val="#ppt_x"/>
                                          </p:val>
                                        </p:tav>
                                        <p:tav tm="100000">
                                          <p:val>
                                            <p:strVal val="#ppt_x"/>
                                          </p:val>
                                        </p:tav>
                                      </p:tavLst>
                                    </p:anim>
                                    <p:anim calcmode="lin" valueType="num">
                                      <p:cBhvr>
                                        <p:cTn id="23" dur="450" fill="hold"/>
                                        <p:tgtEl>
                                          <p:spTgt spid="18"/>
                                        </p:tgtEl>
                                        <p:attrNameLst>
                                          <p:attrName>ppt_y</p:attrName>
                                        </p:attrNameLst>
                                      </p:cBhvr>
                                      <p:tavLst>
                                        <p:tav tm="0">
                                          <p:val>
                                            <p:strVal val="#ppt_y+.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50"/>
                                        <p:tgtEl>
                                          <p:spTgt spid="25"/>
                                        </p:tgtEl>
                                      </p:cBhvr>
                                    </p:animEffect>
                                    <p:anim calcmode="lin" valueType="num">
                                      <p:cBhvr>
                                        <p:cTn id="29" dur="450" fill="hold"/>
                                        <p:tgtEl>
                                          <p:spTgt spid="25"/>
                                        </p:tgtEl>
                                        <p:attrNameLst>
                                          <p:attrName>ppt_x</p:attrName>
                                        </p:attrNameLst>
                                      </p:cBhvr>
                                      <p:tavLst>
                                        <p:tav tm="0">
                                          <p:val>
                                            <p:strVal val="#ppt_x"/>
                                          </p:val>
                                        </p:tav>
                                        <p:tav tm="100000">
                                          <p:val>
                                            <p:strVal val="#ppt_x"/>
                                          </p:val>
                                        </p:tav>
                                      </p:tavLst>
                                    </p:anim>
                                    <p:anim calcmode="lin" valueType="num">
                                      <p:cBhvr>
                                        <p:cTn id="30" dur="450" fill="hold"/>
                                        <p:tgtEl>
                                          <p:spTgt spid="25"/>
                                        </p:tgtEl>
                                        <p:attrNameLst>
                                          <p:attrName>ppt_y</p:attrName>
                                        </p:attrNameLst>
                                      </p:cBhvr>
                                      <p:tavLst>
                                        <p:tav tm="0">
                                          <p:val>
                                            <p:strVal val="#ppt_y+.05"/>
                                          </p:val>
                                        </p:tav>
                                        <p:tav tm="100000">
                                          <p:val>
                                            <p:strVal val="#ppt_y"/>
                                          </p:val>
                                        </p:tav>
                                      </p:tavLst>
                                    </p:anim>
                                  </p:childTnLst>
                                </p:cTn>
                              </p:par>
                            </p:childTnLst>
                          </p:cTn>
                        </p:par>
                        <p:par>
                          <p:cTn id="31" fill="hold">
                            <p:stCondLst>
                              <p:cond delay="450"/>
                            </p:stCondLst>
                            <p:childTnLst>
                              <p:par>
                                <p:cTn id="32" presetID="10" presetClass="entr" presetSubtype="0" fill="hold" grpId="0" nodeType="after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5 · TỔNG HỢP</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Các nội dung đã thực hiện tạo nên hệ Gimbal hoàn thiện</a:t>
            </a:r>
          </a:p>
        </p:txBody>
      </p:sp>
      <p:grpSp>
        <p:nvGrpSpPr>
          <p:cNvPr id="4" name="Group 3"/>
          <p:cNvGrpSpPr/>
          <p:nvPr/>
        </p:nvGrpSpPr>
        <p:grpSpPr>
          <a:xfrm>
            <a:off x="502920" y="1325880"/>
            <a:ext cx="1371600" cy="1901952"/>
            <a:chOff x="502920" y="1325880"/>
            <a:chExt cx="1371600" cy="1901952"/>
          </a:xfrm>
        </p:grpSpPr>
        <p:sp>
          <p:nvSpPr>
            <p:cNvPr id="5" name="Rounded Rectangle 4"/>
            <p:cNvSpPr/>
            <p:nvPr/>
          </p:nvSpPr>
          <p:spPr>
            <a:xfrm>
              <a:off x="502920" y="132588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6" name="Group 5"/>
            <p:cNvGrpSpPr/>
            <p:nvPr/>
          </p:nvGrpSpPr>
          <p:grpSpPr>
            <a:xfrm>
              <a:off x="886968" y="1499616"/>
              <a:ext cx="603504" cy="603504"/>
              <a:chOff x="886968" y="1499616"/>
              <a:chExt cx="603504" cy="603504"/>
            </a:xfrm>
          </p:grpSpPr>
          <p:sp>
            <p:nvSpPr>
              <p:cNvPr id="7" name="Oval 6"/>
              <p:cNvSpPr/>
              <p:nvPr/>
            </p:nvSpPr>
            <p:spPr>
              <a:xfrm>
                <a:off x="886968" y="1499616"/>
                <a:ext cx="603504" cy="603504"/>
              </a:xfrm>
              <a:prstGeom prst="ellipse">
                <a:avLst/>
              </a:prstGeom>
              <a:solidFill>
                <a:srgbClr val="0A5FA8"/>
              </a:solidFill>
              <a:ln>
                <a:noFill/>
              </a:ln>
            </p:spPr>
            <p:txBody>
              <a:bodyPr rtlCol="0" anchor="ctr" lIns="54864" tIns="54864" rIns="54864" bIns="54864" wrap="square">
                <a:noAutofit/>
              </a:bodyPr>
              <a:lstStyle/>
              <a:p>
                <a:pPr algn="ctr"/>
              </a:p>
            </p:txBody>
          </p:sp>
          <p:pic>
            <p:nvPicPr>
              <p:cNvPr id="8" name="Picture 7" descr="cube.png"/>
              <p:cNvPicPr>
                <a:picLocks noChangeAspect="1"/>
              </p:cNvPicPr>
              <p:nvPr/>
            </p:nvPicPr>
            <p:blipFill>
              <a:blip r:embed="rId2"/>
              <a:stretch>
                <a:fillRect/>
              </a:stretch>
            </p:blipFill>
            <p:spPr>
              <a:xfrm>
                <a:off x="1019739" y="1632387"/>
                <a:ext cx="337962" cy="337962"/>
              </a:xfrm>
              <a:prstGeom prst="rect">
                <a:avLst/>
              </a:prstGeom>
            </p:spPr>
          </p:pic>
        </p:grpSp>
        <p:sp>
          <p:nvSpPr>
            <p:cNvPr id="9" name="TextBox 8"/>
            <p:cNvSpPr txBox="1"/>
            <p:nvPr/>
          </p:nvSpPr>
          <p:spPr>
            <a:xfrm>
              <a:off x="557784" y="216712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Thiết kế cơ khí</a:t>
              </a:r>
            </a:p>
          </p:txBody>
        </p:sp>
        <p:sp>
          <p:nvSpPr>
            <p:cNvPr id="10" name="TextBox 9"/>
            <p:cNvSpPr txBox="1"/>
            <p:nvPr/>
          </p:nvSpPr>
          <p:spPr>
            <a:xfrm>
              <a:off x="557784" y="275234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thiết kế · chế tạo</a:t>
              </a:r>
            </a:p>
          </p:txBody>
        </p:sp>
      </p:grpSp>
      <p:sp>
        <p:nvSpPr>
          <p:cNvPr id="11" name="TextBox 10"/>
          <p:cNvSpPr txBox="1"/>
          <p:nvPr/>
        </p:nvSpPr>
        <p:spPr>
          <a:xfrm>
            <a:off x="1874520" y="2093976"/>
            <a:ext cx="246888" cy="36576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a:t>
            </a:r>
          </a:p>
        </p:txBody>
      </p:sp>
      <p:grpSp>
        <p:nvGrpSpPr>
          <p:cNvPr id="12" name="Group 11"/>
          <p:cNvGrpSpPr/>
          <p:nvPr/>
        </p:nvGrpSpPr>
        <p:grpSpPr>
          <a:xfrm>
            <a:off x="2121408" y="1325880"/>
            <a:ext cx="1371600" cy="1901952"/>
            <a:chOff x="2121408" y="1325880"/>
            <a:chExt cx="1371600" cy="1901952"/>
          </a:xfrm>
        </p:grpSpPr>
        <p:sp>
          <p:nvSpPr>
            <p:cNvPr id="13" name="Rounded Rectangle 12"/>
            <p:cNvSpPr/>
            <p:nvPr/>
          </p:nvSpPr>
          <p:spPr>
            <a:xfrm>
              <a:off x="2121408" y="132588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14" name="Group 13"/>
            <p:cNvGrpSpPr/>
            <p:nvPr/>
          </p:nvGrpSpPr>
          <p:grpSpPr>
            <a:xfrm>
              <a:off x="2505456" y="1499616"/>
              <a:ext cx="603504" cy="603504"/>
              <a:chOff x="2505456" y="1499616"/>
              <a:chExt cx="603504" cy="603504"/>
            </a:xfrm>
          </p:grpSpPr>
          <p:sp>
            <p:nvSpPr>
              <p:cNvPr id="15" name="Oval 14"/>
              <p:cNvSpPr/>
              <p:nvPr/>
            </p:nvSpPr>
            <p:spPr>
              <a:xfrm>
                <a:off x="2505456" y="1499616"/>
                <a:ext cx="603504" cy="603504"/>
              </a:xfrm>
              <a:prstGeom prst="ellipse">
                <a:avLst/>
              </a:prstGeom>
              <a:solidFill>
                <a:srgbClr val="0A5FA8"/>
              </a:solidFill>
              <a:ln>
                <a:noFill/>
              </a:ln>
            </p:spPr>
            <p:txBody>
              <a:bodyPr rtlCol="0" anchor="ctr" lIns="54864" tIns="54864" rIns="54864" bIns="54864" wrap="square">
                <a:noAutofit/>
              </a:bodyPr>
              <a:lstStyle/>
              <a:p>
                <a:pPr algn="ctr"/>
              </a:p>
            </p:txBody>
          </p:sp>
          <p:pic>
            <p:nvPicPr>
              <p:cNvPr id="16" name="Picture 15" descr="chip.png"/>
              <p:cNvPicPr>
                <a:picLocks noChangeAspect="1"/>
              </p:cNvPicPr>
              <p:nvPr/>
            </p:nvPicPr>
            <p:blipFill>
              <a:blip r:embed="rId3"/>
              <a:stretch>
                <a:fillRect/>
              </a:stretch>
            </p:blipFill>
            <p:spPr>
              <a:xfrm>
                <a:off x="2638227" y="1632387"/>
                <a:ext cx="337962" cy="337962"/>
              </a:xfrm>
              <a:prstGeom prst="rect">
                <a:avLst/>
              </a:prstGeom>
            </p:spPr>
          </p:pic>
        </p:grpSp>
        <p:sp>
          <p:nvSpPr>
            <p:cNvPr id="17" name="TextBox 16"/>
            <p:cNvSpPr txBox="1"/>
            <p:nvPr/>
          </p:nvSpPr>
          <p:spPr>
            <a:xfrm>
              <a:off x="2176272" y="216712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Thiết kế mạch</a:t>
              </a:r>
            </a:p>
          </p:txBody>
        </p:sp>
        <p:sp>
          <p:nvSpPr>
            <p:cNvPr id="18" name="TextBox 17"/>
            <p:cNvSpPr txBox="1"/>
            <p:nvPr/>
          </p:nvSpPr>
          <p:spPr>
            <a:xfrm>
              <a:off x="2176272" y="275234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thiết kế · chế tạo</a:t>
              </a:r>
            </a:p>
          </p:txBody>
        </p:sp>
      </p:grpSp>
      <p:sp>
        <p:nvSpPr>
          <p:cNvPr id="19" name="TextBox 18"/>
          <p:cNvSpPr txBox="1"/>
          <p:nvPr/>
        </p:nvSpPr>
        <p:spPr>
          <a:xfrm>
            <a:off x="3493008" y="2093976"/>
            <a:ext cx="246888" cy="36576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a:t>
            </a:r>
          </a:p>
        </p:txBody>
      </p:sp>
      <p:grpSp>
        <p:nvGrpSpPr>
          <p:cNvPr id="20" name="Group 19"/>
          <p:cNvGrpSpPr/>
          <p:nvPr/>
        </p:nvGrpSpPr>
        <p:grpSpPr>
          <a:xfrm>
            <a:off x="3739896" y="1325880"/>
            <a:ext cx="1371600" cy="1901952"/>
            <a:chOff x="3739896" y="1325880"/>
            <a:chExt cx="1371600" cy="1901952"/>
          </a:xfrm>
        </p:grpSpPr>
        <p:sp>
          <p:nvSpPr>
            <p:cNvPr id="21" name="Rounded Rectangle 20"/>
            <p:cNvSpPr/>
            <p:nvPr/>
          </p:nvSpPr>
          <p:spPr>
            <a:xfrm>
              <a:off x="3739896" y="132588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22" name="Group 21"/>
            <p:cNvGrpSpPr/>
            <p:nvPr/>
          </p:nvGrpSpPr>
          <p:grpSpPr>
            <a:xfrm>
              <a:off x="4123944" y="1499616"/>
              <a:ext cx="603504" cy="603504"/>
              <a:chOff x="4123944" y="1499616"/>
              <a:chExt cx="603504" cy="603504"/>
            </a:xfrm>
          </p:grpSpPr>
          <p:sp>
            <p:nvSpPr>
              <p:cNvPr id="23" name="Oval 22"/>
              <p:cNvSpPr/>
              <p:nvPr/>
            </p:nvSpPr>
            <p:spPr>
              <a:xfrm>
                <a:off x="4123944" y="1499616"/>
                <a:ext cx="603504" cy="603504"/>
              </a:xfrm>
              <a:prstGeom prst="ellipse">
                <a:avLst/>
              </a:prstGeom>
              <a:solidFill>
                <a:srgbClr val="0A5FA8"/>
              </a:solidFill>
              <a:ln>
                <a:noFill/>
              </a:ln>
            </p:spPr>
            <p:txBody>
              <a:bodyPr rtlCol="0" anchor="ctr" lIns="54864" tIns="54864" rIns="54864" bIns="54864" wrap="square">
                <a:noAutofit/>
              </a:bodyPr>
              <a:lstStyle/>
              <a:p>
                <a:pPr algn="ctr"/>
              </a:p>
            </p:txBody>
          </p:sp>
          <p:pic>
            <p:nvPicPr>
              <p:cNvPr id="24" name="Picture 23" descr="code.png"/>
              <p:cNvPicPr>
                <a:picLocks noChangeAspect="1"/>
              </p:cNvPicPr>
              <p:nvPr/>
            </p:nvPicPr>
            <p:blipFill>
              <a:blip r:embed="rId4"/>
              <a:stretch>
                <a:fillRect/>
              </a:stretch>
            </p:blipFill>
            <p:spPr>
              <a:xfrm>
                <a:off x="4256715" y="1632387"/>
                <a:ext cx="337962" cy="337962"/>
              </a:xfrm>
              <a:prstGeom prst="rect">
                <a:avLst/>
              </a:prstGeom>
            </p:spPr>
          </p:pic>
        </p:grpSp>
        <p:sp>
          <p:nvSpPr>
            <p:cNvPr id="25" name="TextBox 24"/>
            <p:cNvSpPr txBox="1"/>
            <p:nvPr/>
          </p:nvSpPr>
          <p:spPr>
            <a:xfrm>
              <a:off x="3794760" y="216712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Lập trình NuttX</a:t>
              </a:r>
            </a:p>
          </p:txBody>
        </p:sp>
        <p:sp>
          <p:nvSpPr>
            <p:cNvPr id="26" name="TextBox 25"/>
            <p:cNvSpPr txBox="1"/>
            <p:nvPr/>
          </p:nvSpPr>
          <p:spPr>
            <a:xfrm>
              <a:off x="3794760" y="275234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7 luồng thời gian thực</a:t>
              </a:r>
            </a:p>
          </p:txBody>
        </p:sp>
      </p:grpSp>
      <p:sp>
        <p:nvSpPr>
          <p:cNvPr id="27" name="TextBox 26"/>
          <p:cNvSpPr txBox="1"/>
          <p:nvPr/>
        </p:nvSpPr>
        <p:spPr>
          <a:xfrm>
            <a:off x="5111496" y="2093976"/>
            <a:ext cx="246888" cy="36576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a:t>
            </a:r>
          </a:p>
        </p:txBody>
      </p:sp>
      <p:grpSp>
        <p:nvGrpSpPr>
          <p:cNvPr id="28" name="Group 27"/>
          <p:cNvGrpSpPr/>
          <p:nvPr/>
        </p:nvGrpSpPr>
        <p:grpSpPr>
          <a:xfrm>
            <a:off x="5358384" y="1325880"/>
            <a:ext cx="1371600" cy="1901952"/>
            <a:chOff x="5358384" y="1325880"/>
            <a:chExt cx="1371600" cy="1901952"/>
          </a:xfrm>
        </p:grpSpPr>
        <p:sp>
          <p:nvSpPr>
            <p:cNvPr id="29" name="Rounded Rectangle 28"/>
            <p:cNvSpPr/>
            <p:nvPr/>
          </p:nvSpPr>
          <p:spPr>
            <a:xfrm>
              <a:off x="5358384" y="132588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30" name="Group 29"/>
            <p:cNvGrpSpPr/>
            <p:nvPr/>
          </p:nvGrpSpPr>
          <p:grpSpPr>
            <a:xfrm>
              <a:off x="5742432" y="1499616"/>
              <a:ext cx="603504" cy="603504"/>
              <a:chOff x="5742432" y="1499616"/>
              <a:chExt cx="603504" cy="603504"/>
            </a:xfrm>
          </p:grpSpPr>
          <p:sp>
            <p:nvSpPr>
              <p:cNvPr id="31" name="Oval 30"/>
              <p:cNvSpPr/>
              <p:nvPr/>
            </p:nvSpPr>
            <p:spPr>
              <a:xfrm>
                <a:off x="5742432" y="1499616"/>
                <a:ext cx="603504" cy="603504"/>
              </a:xfrm>
              <a:prstGeom prst="ellipse">
                <a:avLst/>
              </a:prstGeom>
              <a:solidFill>
                <a:srgbClr val="0A5FA8"/>
              </a:solidFill>
              <a:ln>
                <a:noFill/>
              </a:ln>
            </p:spPr>
            <p:txBody>
              <a:bodyPr rtlCol="0" anchor="ctr" lIns="54864" tIns="54864" rIns="54864" bIns="54864" wrap="square">
                <a:noAutofit/>
              </a:bodyPr>
              <a:lstStyle/>
              <a:p>
                <a:pPr algn="ctr"/>
              </a:p>
            </p:txBody>
          </p:sp>
          <p:pic>
            <p:nvPicPr>
              <p:cNvPr id="32" name="Picture 31" descr="compass.png"/>
              <p:cNvPicPr>
                <a:picLocks noChangeAspect="1"/>
              </p:cNvPicPr>
              <p:nvPr/>
            </p:nvPicPr>
            <p:blipFill>
              <a:blip r:embed="rId5"/>
              <a:stretch>
                <a:fillRect/>
              </a:stretch>
            </p:blipFill>
            <p:spPr>
              <a:xfrm>
                <a:off x="5875203" y="1632387"/>
                <a:ext cx="337962" cy="337962"/>
              </a:xfrm>
              <a:prstGeom prst="rect">
                <a:avLst/>
              </a:prstGeom>
            </p:spPr>
          </p:pic>
        </p:grpSp>
        <p:sp>
          <p:nvSpPr>
            <p:cNvPr id="33" name="TextBox 32"/>
            <p:cNvSpPr txBox="1"/>
            <p:nvPr/>
          </p:nvSpPr>
          <p:spPr>
            <a:xfrm>
              <a:off x="5413248" y="216712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Xử lý hai IMU</a:t>
              </a:r>
            </a:p>
          </p:txBody>
        </p:sp>
        <p:sp>
          <p:nvSpPr>
            <p:cNvPr id="34" name="TextBox 33"/>
            <p:cNvSpPr txBox="1"/>
            <p:nvPr/>
          </p:nvSpPr>
          <p:spPr>
            <a:xfrm>
              <a:off x="5413248" y="275234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lọc · ước lượng tư thế</a:t>
              </a:r>
            </a:p>
          </p:txBody>
        </p:sp>
      </p:grpSp>
      <p:sp>
        <p:nvSpPr>
          <p:cNvPr id="35" name="TextBox 34"/>
          <p:cNvSpPr txBox="1"/>
          <p:nvPr/>
        </p:nvSpPr>
        <p:spPr>
          <a:xfrm>
            <a:off x="6729984" y="2093976"/>
            <a:ext cx="246888" cy="36576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a:t>
            </a:r>
          </a:p>
        </p:txBody>
      </p:sp>
      <p:grpSp>
        <p:nvGrpSpPr>
          <p:cNvPr id="36" name="Group 35"/>
          <p:cNvGrpSpPr/>
          <p:nvPr/>
        </p:nvGrpSpPr>
        <p:grpSpPr>
          <a:xfrm>
            <a:off x="6976872" y="1325880"/>
            <a:ext cx="1371600" cy="1901952"/>
            <a:chOff x="6976872" y="1325880"/>
            <a:chExt cx="1371600" cy="1901952"/>
          </a:xfrm>
        </p:grpSpPr>
        <p:sp>
          <p:nvSpPr>
            <p:cNvPr id="37" name="Rounded Rectangle 36"/>
            <p:cNvSpPr/>
            <p:nvPr/>
          </p:nvSpPr>
          <p:spPr>
            <a:xfrm>
              <a:off x="6976872" y="132588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38" name="Group 37"/>
            <p:cNvGrpSpPr/>
            <p:nvPr/>
          </p:nvGrpSpPr>
          <p:grpSpPr>
            <a:xfrm>
              <a:off x="7360920" y="1499616"/>
              <a:ext cx="603504" cy="603504"/>
              <a:chOff x="7360920" y="1499616"/>
              <a:chExt cx="603504" cy="603504"/>
            </a:xfrm>
          </p:grpSpPr>
          <p:sp>
            <p:nvSpPr>
              <p:cNvPr id="39" name="Oval 38"/>
              <p:cNvSpPr/>
              <p:nvPr/>
            </p:nvSpPr>
            <p:spPr>
              <a:xfrm>
                <a:off x="7360920" y="1499616"/>
                <a:ext cx="603504" cy="603504"/>
              </a:xfrm>
              <a:prstGeom prst="ellipse">
                <a:avLst/>
              </a:prstGeom>
              <a:solidFill>
                <a:srgbClr val="E8710A"/>
              </a:solidFill>
              <a:ln>
                <a:noFill/>
              </a:ln>
            </p:spPr>
            <p:txBody>
              <a:bodyPr rtlCol="0" anchor="ctr" lIns="54864" tIns="54864" rIns="54864" bIns="54864" wrap="square">
                <a:noAutofit/>
              </a:bodyPr>
              <a:lstStyle/>
              <a:p>
                <a:pPr algn="ctr"/>
              </a:p>
            </p:txBody>
          </p:sp>
          <p:pic>
            <p:nvPicPr>
              <p:cNvPr id="40" name="Picture 39" descr="sitemap.png"/>
              <p:cNvPicPr>
                <a:picLocks noChangeAspect="1"/>
              </p:cNvPicPr>
              <p:nvPr/>
            </p:nvPicPr>
            <p:blipFill>
              <a:blip r:embed="rId6"/>
              <a:stretch>
                <a:fillRect/>
              </a:stretch>
            </p:blipFill>
            <p:spPr>
              <a:xfrm>
                <a:off x="7493691" y="1632387"/>
                <a:ext cx="337962" cy="337962"/>
              </a:xfrm>
              <a:prstGeom prst="rect">
                <a:avLst/>
              </a:prstGeom>
            </p:spPr>
          </p:pic>
        </p:grpSp>
        <p:sp>
          <p:nvSpPr>
            <p:cNvPr id="41" name="TextBox 40"/>
            <p:cNvSpPr txBox="1"/>
            <p:nvPr/>
          </p:nvSpPr>
          <p:spPr>
            <a:xfrm>
              <a:off x="7031736" y="216712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Điều khiển cascade</a:t>
              </a:r>
            </a:p>
          </p:txBody>
        </p:sp>
        <p:sp>
          <p:nvSpPr>
            <p:cNvPr id="42" name="TextBox 41"/>
            <p:cNvSpPr txBox="1"/>
            <p:nvPr/>
          </p:nvSpPr>
          <p:spPr>
            <a:xfrm>
              <a:off x="7031736" y="275234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góc – tốc độ góc</a:t>
              </a:r>
            </a:p>
          </p:txBody>
        </p:sp>
      </p:grpSp>
      <p:grpSp>
        <p:nvGrpSpPr>
          <p:cNvPr id="43" name="Group 42"/>
          <p:cNvGrpSpPr/>
          <p:nvPr/>
        </p:nvGrpSpPr>
        <p:grpSpPr>
          <a:xfrm>
            <a:off x="502920" y="3520440"/>
            <a:ext cx="1371600" cy="1901952"/>
            <a:chOff x="502920" y="3520440"/>
            <a:chExt cx="1371600" cy="1901952"/>
          </a:xfrm>
        </p:grpSpPr>
        <p:sp>
          <p:nvSpPr>
            <p:cNvPr id="44" name="Rounded Rectangle 43"/>
            <p:cNvSpPr/>
            <p:nvPr/>
          </p:nvSpPr>
          <p:spPr>
            <a:xfrm>
              <a:off x="502920" y="352044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45" name="Group 44"/>
            <p:cNvGrpSpPr/>
            <p:nvPr/>
          </p:nvGrpSpPr>
          <p:grpSpPr>
            <a:xfrm>
              <a:off x="886968" y="3694176"/>
              <a:ext cx="603504" cy="603504"/>
              <a:chOff x="886968" y="3694176"/>
              <a:chExt cx="603504" cy="603504"/>
            </a:xfrm>
          </p:grpSpPr>
          <p:sp>
            <p:nvSpPr>
              <p:cNvPr id="46" name="Oval 45"/>
              <p:cNvSpPr/>
              <p:nvPr/>
            </p:nvSpPr>
            <p:spPr>
              <a:xfrm>
                <a:off x="886968" y="3694176"/>
                <a:ext cx="603504" cy="603504"/>
              </a:xfrm>
              <a:prstGeom prst="ellipse">
                <a:avLst/>
              </a:prstGeom>
              <a:solidFill>
                <a:srgbClr val="E8710A"/>
              </a:solidFill>
              <a:ln>
                <a:noFill/>
              </a:ln>
            </p:spPr>
            <p:txBody>
              <a:bodyPr rtlCol="0" anchor="ctr" lIns="54864" tIns="54864" rIns="54864" bIns="54864" wrap="square">
                <a:noAutofit/>
              </a:bodyPr>
              <a:lstStyle/>
              <a:p>
                <a:pPr algn="ctr"/>
              </a:p>
            </p:txBody>
          </p:sp>
          <p:pic>
            <p:nvPicPr>
              <p:cNvPr id="47" name="Picture 46" descr="exchange.png"/>
              <p:cNvPicPr>
                <a:picLocks noChangeAspect="1"/>
              </p:cNvPicPr>
              <p:nvPr/>
            </p:nvPicPr>
            <p:blipFill>
              <a:blip r:embed="rId7"/>
              <a:stretch>
                <a:fillRect/>
              </a:stretch>
            </p:blipFill>
            <p:spPr>
              <a:xfrm>
                <a:off x="1019739" y="3826947"/>
                <a:ext cx="337962" cy="337962"/>
              </a:xfrm>
              <a:prstGeom prst="rect">
                <a:avLst/>
              </a:prstGeom>
            </p:spPr>
          </p:pic>
        </p:grpSp>
        <p:sp>
          <p:nvSpPr>
            <p:cNvPr id="48" name="TextBox 47"/>
            <p:cNvSpPr txBox="1"/>
            <p:nvPr/>
          </p:nvSpPr>
          <p:spPr>
            <a:xfrm>
              <a:off x="557784" y="436168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Bù IMU2</a:t>
              </a:r>
            </a:p>
          </p:txBody>
        </p:sp>
        <p:sp>
          <p:nvSpPr>
            <p:cNvPr id="49" name="TextBox 48"/>
            <p:cNvSpPr txBox="1"/>
            <p:nvPr/>
          </p:nvSpPr>
          <p:spPr>
            <a:xfrm>
              <a:off x="557784" y="494690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bù trước khung mang</a:t>
              </a:r>
            </a:p>
          </p:txBody>
        </p:sp>
      </p:grpSp>
      <p:sp>
        <p:nvSpPr>
          <p:cNvPr id="50" name="TextBox 49"/>
          <p:cNvSpPr txBox="1"/>
          <p:nvPr/>
        </p:nvSpPr>
        <p:spPr>
          <a:xfrm>
            <a:off x="1874520" y="4288536"/>
            <a:ext cx="246888" cy="36576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a:t>
            </a:r>
          </a:p>
        </p:txBody>
      </p:sp>
      <p:grpSp>
        <p:nvGrpSpPr>
          <p:cNvPr id="51" name="Group 50"/>
          <p:cNvGrpSpPr/>
          <p:nvPr/>
        </p:nvGrpSpPr>
        <p:grpSpPr>
          <a:xfrm>
            <a:off x="2121408" y="3520440"/>
            <a:ext cx="1371600" cy="1901952"/>
            <a:chOff x="2121408" y="3520440"/>
            <a:chExt cx="1371600" cy="1901952"/>
          </a:xfrm>
        </p:grpSpPr>
        <p:sp>
          <p:nvSpPr>
            <p:cNvPr id="52" name="Rounded Rectangle 51"/>
            <p:cNvSpPr/>
            <p:nvPr/>
          </p:nvSpPr>
          <p:spPr>
            <a:xfrm>
              <a:off x="2121408" y="352044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53" name="Group 52"/>
            <p:cNvGrpSpPr/>
            <p:nvPr/>
          </p:nvGrpSpPr>
          <p:grpSpPr>
            <a:xfrm>
              <a:off x="2505456" y="3694176"/>
              <a:ext cx="603504" cy="603504"/>
              <a:chOff x="2505456" y="3694176"/>
              <a:chExt cx="603504" cy="603504"/>
            </a:xfrm>
          </p:grpSpPr>
          <p:sp>
            <p:nvSpPr>
              <p:cNvPr id="54" name="Oval 53"/>
              <p:cNvSpPr/>
              <p:nvPr/>
            </p:nvSpPr>
            <p:spPr>
              <a:xfrm>
                <a:off x="2505456" y="3694176"/>
                <a:ext cx="603504" cy="603504"/>
              </a:xfrm>
              <a:prstGeom prst="ellipse">
                <a:avLst/>
              </a:prstGeom>
              <a:solidFill>
                <a:srgbClr val="E8710A"/>
              </a:solidFill>
              <a:ln>
                <a:noFill/>
              </a:ln>
            </p:spPr>
            <p:txBody>
              <a:bodyPr rtlCol="0" anchor="ctr" lIns="54864" tIns="54864" rIns="54864" bIns="54864" wrap="square">
                <a:noAutofit/>
              </a:bodyPr>
              <a:lstStyle/>
              <a:p>
                <a:pPr algn="ctr"/>
              </a:p>
            </p:txBody>
          </p:sp>
          <p:pic>
            <p:nvPicPr>
              <p:cNvPr id="55" name="Picture 54" descr="stopwatch.png"/>
              <p:cNvPicPr>
                <a:picLocks noChangeAspect="1"/>
              </p:cNvPicPr>
              <p:nvPr/>
            </p:nvPicPr>
            <p:blipFill>
              <a:blip r:embed="rId8"/>
              <a:stretch>
                <a:fillRect/>
              </a:stretch>
            </p:blipFill>
            <p:spPr>
              <a:xfrm>
                <a:off x="2638227" y="3826947"/>
                <a:ext cx="337962" cy="337962"/>
              </a:xfrm>
              <a:prstGeom prst="rect">
                <a:avLst/>
              </a:prstGeom>
            </p:spPr>
          </p:pic>
        </p:grpSp>
        <p:sp>
          <p:nvSpPr>
            <p:cNvPr id="56" name="TextBox 55"/>
            <p:cNvSpPr txBox="1"/>
            <p:nvPr/>
          </p:nvSpPr>
          <p:spPr>
            <a:xfrm>
              <a:off x="2176272" y="436168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Bù trễ</a:t>
              </a:r>
            </a:p>
          </p:txBody>
        </p:sp>
        <p:sp>
          <p:nvSpPr>
            <p:cNvPr id="57" name="TextBox 56"/>
            <p:cNvSpPr txBox="1"/>
            <p:nvPr/>
          </p:nvSpPr>
          <p:spPr>
            <a:xfrm>
              <a:off x="2176272" y="494690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ngoại suy 12 ms</a:t>
              </a:r>
            </a:p>
          </p:txBody>
        </p:sp>
      </p:grpSp>
      <p:sp>
        <p:nvSpPr>
          <p:cNvPr id="58" name="TextBox 57"/>
          <p:cNvSpPr txBox="1"/>
          <p:nvPr/>
        </p:nvSpPr>
        <p:spPr>
          <a:xfrm>
            <a:off x="3493008" y="4288536"/>
            <a:ext cx="246888" cy="36576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a:t>
            </a:r>
          </a:p>
        </p:txBody>
      </p:sp>
      <p:grpSp>
        <p:nvGrpSpPr>
          <p:cNvPr id="59" name="Group 58"/>
          <p:cNvGrpSpPr/>
          <p:nvPr/>
        </p:nvGrpSpPr>
        <p:grpSpPr>
          <a:xfrm>
            <a:off x="3739896" y="3520440"/>
            <a:ext cx="1371600" cy="1901952"/>
            <a:chOff x="3739896" y="3520440"/>
            <a:chExt cx="1371600" cy="1901952"/>
          </a:xfrm>
        </p:grpSpPr>
        <p:sp>
          <p:nvSpPr>
            <p:cNvPr id="60" name="Rounded Rectangle 59"/>
            <p:cNvSpPr/>
            <p:nvPr/>
          </p:nvSpPr>
          <p:spPr>
            <a:xfrm>
              <a:off x="3739896" y="352044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61" name="Group 60"/>
            <p:cNvGrpSpPr/>
            <p:nvPr/>
          </p:nvGrpSpPr>
          <p:grpSpPr>
            <a:xfrm>
              <a:off x="4123944" y="3694176"/>
              <a:ext cx="603504" cy="603504"/>
              <a:chOff x="4123944" y="3694176"/>
              <a:chExt cx="603504" cy="603504"/>
            </a:xfrm>
          </p:grpSpPr>
          <p:sp>
            <p:nvSpPr>
              <p:cNvPr id="62" name="Oval 61"/>
              <p:cNvSpPr/>
              <p:nvPr/>
            </p:nvSpPr>
            <p:spPr>
              <a:xfrm>
                <a:off x="4123944" y="3694176"/>
                <a:ext cx="603504" cy="603504"/>
              </a:xfrm>
              <a:prstGeom prst="ellipse">
                <a:avLst/>
              </a:prstGeom>
              <a:solidFill>
                <a:srgbClr val="E8710A"/>
              </a:solidFill>
              <a:ln>
                <a:noFill/>
              </a:ln>
            </p:spPr>
            <p:txBody>
              <a:bodyPr rtlCol="0" anchor="ctr" lIns="54864" tIns="54864" rIns="54864" bIns="54864" wrap="square">
                <a:noAutofit/>
              </a:bodyPr>
              <a:lstStyle/>
              <a:p>
                <a:pPr algn="ctr"/>
              </a:p>
            </p:txBody>
          </p:sp>
          <p:pic>
            <p:nvPicPr>
              <p:cNvPr id="63" name="Picture 62" descr="route.png"/>
              <p:cNvPicPr>
                <a:picLocks noChangeAspect="1"/>
              </p:cNvPicPr>
              <p:nvPr/>
            </p:nvPicPr>
            <p:blipFill>
              <a:blip r:embed="rId9"/>
              <a:stretch>
                <a:fillRect/>
              </a:stretch>
            </p:blipFill>
            <p:spPr>
              <a:xfrm>
                <a:off x="4256715" y="3826947"/>
                <a:ext cx="337962" cy="337962"/>
              </a:xfrm>
              <a:prstGeom prst="rect">
                <a:avLst/>
              </a:prstGeom>
            </p:spPr>
          </p:pic>
        </p:grpSp>
        <p:sp>
          <p:nvSpPr>
            <p:cNvPr id="64" name="TextBox 63"/>
            <p:cNvSpPr txBox="1"/>
            <p:nvPr/>
          </p:nvSpPr>
          <p:spPr>
            <a:xfrm>
              <a:off x="3794760" y="436168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Xử lý chuyển động nhanh</a:t>
              </a:r>
            </a:p>
          </p:txBody>
        </p:sp>
        <p:sp>
          <p:nvSpPr>
            <p:cNvPr id="65" name="TextBox 64"/>
            <p:cNvSpPr txBox="1"/>
            <p:nvPr/>
          </p:nvSpPr>
          <p:spPr>
            <a:xfrm>
              <a:off x="3794760" y="494690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giới hạn · đảo chiều · dừng</a:t>
              </a:r>
            </a:p>
          </p:txBody>
        </p:sp>
      </p:grpSp>
      <p:sp>
        <p:nvSpPr>
          <p:cNvPr id="66" name="TextBox 65"/>
          <p:cNvSpPr txBox="1"/>
          <p:nvPr/>
        </p:nvSpPr>
        <p:spPr>
          <a:xfrm>
            <a:off x="5111496" y="4288536"/>
            <a:ext cx="246888" cy="36576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a:t>
            </a:r>
          </a:p>
        </p:txBody>
      </p:sp>
      <p:grpSp>
        <p:nvGrpSpPr>
          <p:cNvPr id="67" name="Group 66"/>
          <p:cNvGrpSpPr/>
          <p:nvPr/>
        </p:nvGrpSpPr>
        <p:grpSpPr>
          <a:xfrm>
            <a:off x="5358384" y="3520440"/>
            <a:ext cx="1371600" cy="1901952"/>
            <a:chOff x="5358384" y="3520440"/>
            <a:chExt cx="1371600" cy="1901952"/>
          </a:xfrm>
        </p:grpSpPr>
        <p:sp>
          <p:nvSpPr>
            <p:cNvPr id="68" name="Rounded Rectangle 67"/>
            <p:cNvSpPr/>
            <p:nvPr/>
          </p:nvSpPr>
          <p:spPr>
            <a:xfrm>
              <a:off x="5358384" y="352044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69" name="Group 68"/>
            <p:cNvGrpSpPr/>
            <p:nvPr/>
          </p:nvGrpSpPr>
          <p:grpSpPr>
            <a:xfrm>
              <a:off x="5742432" y="3694176"/>
              <a:ext cx="603504" cy="603504"/>
              <a:chOff x="5742432" y="3694176"/>
              <a:chExt cx="603504" cy="603504"/>
            </a:xfrm>
          </p:grpSpPr>
          <p:sp>
            <p:nvSpPr>
              <p:cNvPr id="70" name="Oval 69"/>
              <p:cNvSpPr/>
              <p:nvPr/>
            </p:nvSpPr>
            <p:spPr>
              <a:xfrm>
                <a:off x="5742432" y="3694176"/>
                <a:ext cx="603504" cy="603504"/>
              </a:xfrm>
              <a:prstGeom prst="ellipse">
                <a:avLst/>
              </a:prstGeom>
              <a:solidFill>
                <a:srgbClr val="E8710A"/>
              </a:solidFill>
              <a:ln>
                <a:noFill/>
              </a:ln>
            </p:spPr>
            <p:txBody>
              <a:bodyPr rtlCol="0" anchor="ctr" lIns="54864" tIns="54864" rIns="54864" bIns="54864" wrap="square">
                <a:noAutofit/>
              </a:bodyPr>
              <a:lstStyle/>
              <a:p>
                <a:pPr algn="ctr"/>
              </a:p>
            </p:txBody>
          </p:sp>
          <p:pic>
            <p:nvPicPr>
              <p:cNvPr id="71" name="Picture 70" descr="network.png"/>
              <p:cNvPicPr>
                <a:picLocks noChangeAspect="1"/>
              </p:cNvPicPr>
              <p:nvPr/>
            </p:nvPicPr>
            <p:blipFill>
              <a:blip r:embed="rId10"/>
              <a:stretch>
                <a:fillRect/>
              </a:stretch>
            </p:blipFill>
            <p:spPr>
              <a:xfrm>
                <a:off x="5875203" y="3826947"/>
                <a:ext cx="337962" cy="337962"/>
              </a:xfrm>
              <a:prstGeom prst="rect">
                <a:avLst/>
              </a:prstGeom>
            </p:spPr>
          </p:pic>
        </p:grpSp>
        <p:sp>
          <p:nvSpPr>
            <p:cNvPr id="72" name="TextBox 71"/>
            <p:cNvSpPr txBox="1"/>
            <p:nvPr/>
          </p:nvSpPr>
          <p:spPr>
            <a:xfrm>
              <a:off x="5413248" y="436168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RS485</a:t>
              </a:r>
            </a:p>
          </p:txBody>
        </p:sp>
        <p:sp>
          <p:nvSpPr>
            <p:cNvPr id="73" name="TextBox 72"/>
            <p:cNvSpPr txBox="1"/>
            <p:nvPr/>
          </p:nvSpPr>
          <p:spPr>
            <a:xfrm>
              <a:off x="5413248" y="494690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lịch luân phiên 5 ms</a:t>
              </a:r>
            </a:p>
          </p:txBody>
        </p:sp>
      </p:grpSp>
      <p:sp>
        <p:nvSpPr>
          <p:cNvPr id="74" name="TextBox 73"/>
          <p:cNvSpPr txBox="1"/>
          <p:nvPr/>
        </p:nvSpPr>
        <p:spPr>
          <a:xfrm>
            <a:off x="6729984" y="4288536"/>
            <a:ext cx="246888" cy="365760"/>
          </a:xfrm>
          <a:prstGeom prst="rect">
            <a:avLst/>
          </a:prstGeom>
          <a:noFill/>
        </p:spPr>
        <p:txBody>
          <a:bodyPr wrap="square" lIns="0" tIns="0" rIns="0" bIns="0" anchor="ctr">
            <a:noAutofit/>
          </a:bodyPr>
          <a:lstStyle/>
          <a:p>
            <a:pPr algn="ctr"/>
            <a:r>
              <a:rPr sz="2000" b="1" i="0" lang="vi-VN">
                <a:solidFill>
                  <a:srgbClr val="E8710A"/>
                </a:solidFill>
                <a:latin typeface="Arial"/>
                <a:ea typeface="Arial"/>
                <a:cs typeface="Arial"/>
              </a:rPr>
              <a:t>+</a:t>
            </a:r>
          </a:p>
        </p:txBody>
      </p:sp>
      <p:grpSp>
        <p:nvGrpSpPr>
          <p:cNvPr id="75" name="Group 74"/>
          <p:cNvGrpSpPr/>
          <p:nvPr/>
        </p:nvGrpSpPr>
        <p:grpSpPr>
          <a:xfrm>
            <a:off x="6976872" y="3520440"/>
            <a:ext cx="1371600" cy="1901952"/>
            <a:chOff x="6976872" y="3520440"/>
            <a:chExt cx="1371600" cy="1901952"/>
          </a:xfrm>
        </p:grpSpPr>
        <p:sp>
          <p:nvSpPr>
            <p:cNvPr id="76" name="Rounded Rectangle 75"/>
            <p:cNvSpPr/>
            <p:nvPr/>
          </p:nvSpPr>
          <p:spPr>
            <a:xfrm>
              <a:off x="6976872" y="3520440"/>
              <a:ext cx="1371600" cy="1901952"/>
            </a:xfrm>
            <a:prstGeom prst="roundRect">
              <a:avLst>
                <a:gd name="adj" fmla="val 6666"/>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grpSp>
          <p:nvGrpSpPr>
            <p:cNvPr id="77" name="Group 76"/>
            <p:cNvGrpSpPr/>
            <p:nvPr/>
          </p:nvGrpSpPr>
          <p:grpSpPr>
            <a:xfrm>
              <a:off x="7360920" y="3694176"/>
              <a:ext cx="603504" cy="603504"/>
              <a:chOff x="7360920" y="3694176"/>
              <a:chExt cx="603504" cy="603504"/>
            </a:xfrm>
          </p:grpSpPr>
          <p:sp>
            <p:nvSpPr>
              <p:cNvPr id="78" name="Oval 77"/>
              <p:cNvSpPr/>
              <p:nvPr/>
            </p:nvSpPr>
            <p:spPr>
              <a:xfrm>
                <a:off x="7360920" y="3694176"/>
                <a:ext cx="603504" cy="603504"/>
              </a:xfrm>
              <a:prstGeom prst="ellipse">
                <a:avLst/>
              </a:prstGeom>
              <a:solidFill>
                <a:srgbClr val="0B2545"/>
              </a:solidFill>
              <a:ln>
                <a:noFill/>
              </a:ln>
            </p:spPr>
            <p:txBody>
              <a:bodyPr rtlCol="0" anchor="ctr" lIns="54864" tIns="54864" rIns="54864" bIns="54864" wrap="square">
                <a:noAutofit/>
              </a:bodyPr>
              <a:lstStyle/>
              <a:p>
                <a:pPr algn="ctr"/>
              </a:p>
            </p:txBody>
          </p:sp>
          <p:pic>
            <p:nvPicPr>
              <p:cNvPr id="79" name="Picture 78" descr="desktop.png"/>
              <p:cNvPicPr>
                <a:picLocks noChangeAspect="1"/>
              </p:cNvPicPr>
              <p:nvPr/>
            </p:nvPicPr>
            <p:blipFill>
              <a:blip r:embed="rId11"/>
              <a:stretch>
                <a:fillRect/>
              </a:stretch>
            </p:blipFill>
            <p:spPr>
              <a:xfrm>
                <a:off x="7493691" y="3826947"/>
                <a:ext cx="337962" cy="337962"/>
              </a:xfrm>
              <a:prstGeom prst="rect">
                <a:avLst/>
              </a:prstGeom>
            </p:spPr>
          </p:pic>
        </p:grpSp>
        <p:sp>
          <p:nvSpPr>
            <p:cNvPr id="80" name="TextBox 79"/>
            <p:cNvSpPr txBox="1"/>
            <p:nvPr/>
          </p:nvSpPr>
          <p:spPr>
            <a:xfrm>
              <a:off x="7031736" y="4361688"/>
              <a:ext cx="1261872" cy="603504"/>
            </a:xfrm>
            <a:prstGeom prst="rect">
              <a:avLst/>
            </a:prstGeom>
            <a:noFill/>
          </p:spPr>
          <p:txBody>
            <a:bodyPr wrap="square" lIns="0" tIns="0" rIns="0" bIns="0" anchor="ctr">
              <a:noAutofit/>
            </a:bodyPr>
            <a:lstStyle/>
            <a:p>
              <a:pPr algn="ctr">
                <a:lnSpc>
                  <a:spcPct val="95000"/>
                </a:lnSpc>
              </a:pPr>
              <a:r>
                <a:rPr sz="1400" b="1" i="0" lang="vi-VN">
                  <a:solidFill>
                    <a:srgbClr val="0B2545"/>
                  </a:solidFill>
                  <a:latin typeface="Arial"/>
                  <a:ea typeface="Arial"/>
                  <a:cs typeface="Arial"/>
                </a:rPr>
                <a:t>Phần mềm giám sát</a:t>
              </a:r>
            </a:p>
          </p:txBody>
        </p:sp>
        <p:sp>
          <p:nvSpPr>
            <p:cNvPr id="81" name="TextBox 80"/>
            <p:cNvSpPr txBox="1"/>
            <p:nvPr/>
          </p:nvSpPr>
          <p:spPr>
            <a:xfrm>
              <a:off x="7031736" y="4946904"/>
              <a:ext cx="1261872" cy="420624"/>
            </a:xfrm>
            <a:prstGeom prst="rect">
              <a:avLst/>
            </a:prstGeom>
            <a:noFill/>
          </p:spPr>
          <p:txBody>
            <a:bodyPr wrap="square" lIns="0" tIns="0" rIns="0" bIns="0" anchor="t">
              <a:noAutofit/>
            </a:bodyPr>
            <a:lstStyle/>
            <a:p>
              <a:pPr algn="ctr">
                <a:lnSpc>
                  <a:spcPct val="95000"/>
                </a:lnSpc>
              </a:pPr>
              <a:r>
                <a:rPr sz="1150" b="0" i="0" lang="vi-VN">
                  <a:solidFill>
                    <a:srgbClr val="5B6B7B"/>
                  </a:solidFill>
                  <a:latin typeface="Arial"/>
                  <a:ea typeface="Arial"/>
                  <a:cs typeface="Arial"/>
                </a:rPr>
                <a:t>điều khiển · ghi log</a:t>
              </a:r>
            </a:p>
          </p:txBody>
        </p:sp>
      </p:grpSp>
      <p:sp>
        <p:nvSpPr>
          <p:cNvPr id="82" name="Right Arrow 81"/>
          <p:cNvSpPr/>
          <p:nvPr/>
        </p:nvSpPr>
        <p:spPr>
          <a:xfrm>
            <a:off x="8366760" y="2880360"/>
            <a:ext cx="548640" cy="640080"/>
          </a:xfrm>
          <a:prstGeom prst="rightArrow">
            <a:avLst/>
          </a:prstGeom>
          <a:solidFill>
            <a:srgbClr val="E8710A"/>
          </a:solidFill>
          <a:ln>
            <a:noFill/>
          </a:ln>
        </p:spPr>
        <p:txBody>
          <a:bodyPr rtlCol="0" anchor="ctr" lIns="54864" tIns="54864" rIns="54864" bIns="54864" wrap="square">
            <a:noAutofit/>
          </a:bodyPr>
          <a:lstStyle/>
          <a:p>
            <a:pPr algn="ctr"/>
          </a:p>
        </p:txBody>
      </p:sp>
      <p:grpSp>
        <p:nvGrpSpPr>
          <p:cNvPr id="83" name="Group 82"/>
          <p:cNvGrpSpPr/>
          <p:nvPr/>
        </p:nvGrpSpPr>
        <p:grpSpPr>
          <a:xfrm>
            <a:off x="9052560" y="1325880"/>
            <a:ext cx="2651760" cy="4114800"/>
            <a:chOff x="9052560" y="1325880"/>
            <a:chExt cx="2651760" cy="4114800"/>
          </a:xfrm>
        </p:grpSpPr>
        <p:sp>
          <p:nvSpPr>
            <p:cNvPr id="84" name="Rounded Rectangle 83"/>
            <p:cNvSpPr/>
            <p:nvPr/>
          </p:nvSpPr>
          <p:spPr>
            <a:xfrm>
              <a:off x="9052560" y="1325880"/>
              <a:ext cx="2651760" cy="4114800"/>
            </a:xfrm>
            <a:prstGeom prst="roundRect">
              <a:avLst>
                <a:gd name="adj" fmla="val 3448"/>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pic>
          <p:nvPicPr>
            <p:cNvPr id="85" name="Picture 84" descr="cad_render_cut.png"/>
            <p:cNvPicPr>
              <a:picLocks noChangeAspect="1"/>
            </p:cNvPicPr>
            <p:nvPr/>
          </p:nvPicPr>
          <p:blipFill>
            <a:blip r:embed="rId12"/>
            <a:stretch>
              <a:fillRect/>
            </a:stretch>
          </p:blipFill>
          <p:spPr>
            <a:xfrm>
              <a:off x="9144000" y="1463040"/>
              <a:ext cx="2468880" cy="2290635"/>
            </a:xfrm>
            <a:prstGeom prst="rect">
              <a:avLst/>
            </a:prstGeom>
          </p:spPr>
        </p:pic>
        <p:sp>
          <p:nvSpPr>
            <p:cNvPr id="86" name="TextBox 85"/>
            <p:cNvSpPr txBox="1"/>
            <p:nvPr/>
          </p:nvSpPr>
          <p:spPr>
            <a:xfrm>
              <a:off x="9098280" y="3840480"/>
              <a:ext cx="2560320" cy="548640"/>
            </a:xfrm>
            <a:prstGeom prst="rect">
              <a:avLst/>
            </a:prstGeom>
            <a:noFill/>
          </p:spPr>
          <p:txBody>
            <a:bodyPr wrap="square" lIns="0" tIns="0" rIns="0" bIns="0" anchor="ctr">
              <a:noAutofit/>
            </a:bodyPr>
            <a:lstStyle/>
            <a:p>
              <a:pPr algn="ctr">
                <a:lnSpc>
                  <a:spcPct val="95000"/>
                </a:lnSpc>
              </a:pPr>
              <a:r>
                <a:rPr sz="1700" b="1" i="0" lang="vi-VN">
                  <a:solidFill>
                    <a:srgbClr val="0B2545"/>
                  </a:solidFill>
                  <a:latin typeface="Arial"/>
                  <a:ea typeface="Arial"/>
                  <a:cs typeface="Arial"/>
                </a:rPr>
                <a:t>HỆ GIMBAL</a:t>
              </a:r>
            </a:p>
            <a:p>
              <a:pPr algn="ctr">
                <a:lnSpc>
                  <a:spcPct val="95000"/>
                </a:lnSpc>
              </a:pPr>
              <a:r>
                <a:rPr sz="1700" b="1" i="0" lang="vi-VN">
                  <a:solidFill>
                    <a:srgbClr val="0B2545"/>
                  </a:solidFill>
                  <a:latin typeface="Arial"/>
                  <a:ea typeface="Arial"/>
                  <a:cs typeface="Arial"/>
                </a:rPr>
                <a:t>HOÀN THIỆN</a:t>
              </a:r>
            </a:p>
          </p:txBody>
        </p:sp>
        <p:sp>
          <p:nvSpPr>
            <p:cNvPr id="87" name="TextBox 86"/>
            <p:cNvSpPr txBox="1"/>
            <p:nvPr/>
          </p:nvSpPr>
          <p:spPr>
            <a:xfrm>
              <a:off x="9125712" y="4434840"/>
              <a:ext cx="2505456" cy="914400"/>
            </a:xfrm>
            <a:prstGeom prst="rect">
              <a:avLst/>
            </a:prstGeom>
            <a:noFill/>
          </p:spPr>
          <p:txBody>
            <a:bodyPr wrap="square" lIns="0" tIns="0" rIns="0" bIns="0" anchor="t">
              <a:noAutofit/>
            </a:bodyPr>
            <a:lstStyle/>
            <a:p>
              <a:pPr algn="ctr">
                <a:lnSpc>
                  <a:spcPct val="100000"/>
                </a:lnSpc>
              </a:pPr>
              <a:r>
                <a:rPr sz="1250" b="0" i="0" lang="vi-VN">
                  <a:solidFill>
                    <a:srgbClr val="1F5FAF"/>
                  </a:solidFill>
                  <a:latin typeface="Arial"/>
                  <a:ea typeface="Arial"/>
                  <a:cs typeface="Arial"/>
                </a:rPr>
                <a:t>●</a:t>
              </a:r>
              <a:r>
                <a:rPr sz="1250" b="0" i="0" lang="vi-VN">
                  <a:solidFill>
                    <a:srgbClr val="1E2B3A"/>
                  </a:solidFill>
                  <a:latin typeface="Arial"/>
                  <a:ea typeface="Arial"/>
                  <a:cs typeface="Arial"/>
                </a:rPr>
                <a:t> </a:t>
              </a:r>
              <a:r>
                <a:rPr sz="1250" b="0" i="1" lang="vi-VN">
                  <a:solidFill>
                    <a:srgbClr val="1E2B3A"/>
                  </a:solidFill>
                  <a:latin typeface="Cambria"/>
                  <a:ea typeface="Cambria"/>
                  <a:cs typeface="Cambria"/>
                </a:rPr>
                <a:t>e</a:t>
              </a:r>
              <a:r>
                <a:rPr sz="1250" b="0" i="0" lang="vi-VN" baseline="-25000">
                  <a:solidFill>
                    <a:srgbClr val="1E2B3A"/>
                  </a:solidFill>
                  <a:latin typeface="Cambria"/>
                  <a:ea typeface="Cambria"/>
                  <a:cs typeface="Cambria"/>
                </a:rPr>
                <a:t>max</a:t>
              </a:r>
              <a:r>
                <a:rPr sz="1250" b="0" i="0" lang="vi-VN">
                  <a:solidFill>
                    <a:srgbClr val="1E2B3A"/>
                  </a:solidFill>
                  <a:latin typeface="Arial"/>
                  <a:ea typeface="Arial"/>
                  <a:cs typeface="Arial"/>
                </a:rPr>
                <a:t> −34,9 %</a:t>
              </a:r>
            </a:p>
            <a:p>
              <a:pPr algn="ctr">
                <a:lnSpc>
                  <a:spcPct val="100000"/>
                </a:lnSpc>
              </a:pPr>
              <a:r>
                <a:rPr sz="1250" b="0" i="0" lang="vi-VN">
                  <a:solidFill>
                    <a:srgbClr val="2E8B57"/>
                  </a:solidFill>
                  <a:latin typeface="Arial"/>
                  <a:ea typeface="Arial"/>
                  <a:cs typeface="Arial"/>
                </a:rPr>
                <a:t>■</a:t>
              </a:r>
              <a:r>
                <a:rPr sz="1250" b="0" i="0" lang="vi-VN">
                  <a:solidFill>
                    <a:srgbClr val="1E2B3A"/>
                  </a:solidFill>
                  <a:latin typeface="Arial"/>
                  <a:ea typeface="Arial"/>
                  <a:cs typeface="Arial"/>
                </a:rPr>
                <a:t> </a:t>
              </a:r>
              <a:r>
                <a:rPr sz="1250" b="0" i="1" lang="vi-VN">
                  <a:solidFill>
                    <a:srgbClr val="1E2B3A"/>
                  </a:solidFill>
                  <a:latin typeface="Cambria"/>
                  <a:ea typeface="Cambria"/>
                  <a:cs typeface="Cambria"/>
                </a:rPr>
                <a:t>e</a:t>
              </a:r>
              <a:r>
                <a:rPr sz="1250" b="0" i="0" lang="vi-VN" baseline="-25000">
                  <a:solidFill>
                    <a:srgbClr val="1E2B3A"/>
                  </a:solidFill>
                  <a:latin typeface="Cambria"/>
                  <a:ea typeface="Cambria"/>
                  <a:cs typeface="Cambria"/>
                </a:rPr>
                <a:t>max</a:t>
              </a:r>
              <a:r>
                <a:rPr sz="1250" b="0" i="0" lang="vi-VN">
                  <a:solidFill>
                    <a:srgbClr val="1E2B3A"/>
                  </a:solidFill>
                  <a:latin typeface="Arial"/>
                  <a:ea typeface="Arial"/>
                  <a:cs typeface="Arial"/>
                </a:rPr>
                <a:t> −32,6 %</a:t>
              </a:r>
            </a:p>
            <a:p>
              <a:pPr algn="ctr">
                <a:lnSpc>
                  <a:spcPct val="100000"/>
                </a:lnSpc>
              </a:pPr>
              <a:r>
                <a:rPr sz="1250" b="0" i="0" lang="vi-VN">
                  <a:solidFill>
                    <a:srgbClr val="1E2B3A"/>
                  </a:solidFill>
                  <a:latin typeface="Arial"/>
                  <a:ea typeface="Arial"/>
                  <a:cs typeface="Arial"/>
                </a:rPr>
                <a:t>phục hồi sau dừng −52 %…−59 %</a:t>
              </a:r>
            </a:p>
          </p:txBody>
        </p:sp>
      </p:grpSp>
      <p:sp>
        <p:nvSpPr>
          <p:cNvPr id="88" name="Rectangle 87"/>
          <p:cNvSpPr/>
          <p:nvPr/>
        </p:nvSpPr>
        <p:spPr>
          <a:xfrm>
            <a:off x="502920" y="5779008"/>
            <a:ext cx="11201400" cy="292608"/>
          </a:xfrm>
          <a:prstGeom prst="rect">
            <a:avLst/>
          </a:prstGeom>
          <a:noFill/>
          <a:ln>
            <a:noFill/>
          </a:ln>
        </p:spPr>
        <p:txBody>
          <a:bodyPr rtlCol="0" anchor="ctr" lIns="54864" tIns="54864" rIns="54864" bIns="54864" wrap="square">
            <a:noAutofit/>
          </a:bodyPr>
          <a:lstStyle/>
          <a:p>
            <a:pPr algn="ctr"/>
            <a:r>
              <a:rPr sz="1350" b="1" i="0" lang="vi-VN">
                <a:solidFill>
                  <a:srgbClr val="0B2545"/>
                </a:solidFill>
                <a:latin typeface="Arial"/>
                <a:ea typeface="Arial"/>
                <a:cs typeface="Arial"/>
              </a:rPr>
              <a:t>Đã thiết kế · đã chế tạo · đã lập trình · đã mô phỏng · đã kiểm chứng trên hệ thật</a:t>
            </a:r>
          </a:p>
        </p:txBody>
      </p:sp>
      <p:sp>
        <p:nvSpPr>
          <p:cNvPr id="106"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28</a:t>
            </a:fld>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80"/>
                                        <p:tgtEl>
                                          <p:spTgt spid="4"/>
                                        </p:tgtEl>
                                      </p:cBhvr>
                                    </p:animEffect>
                                    <p:anim calcmode="lin" valueType="num">
                                      <p:cBhvr>
                                        <p:cTn id="8" dur="280" fill="hold"/>
                                        <p:tgtEl>
                                          <p:spTgt spid="4"/>
                                        </p:tgtEl>
                                        <p:attrNameLst>
                                          <p:attrName>ppt_w</p:attrName>
                                        </p:attrNameLst>
                                      </p:cBhvr>
                                      <p:tavLst>
                                        <p:tav tm="0">
                                          <p:val>
                                            <p:strVal val="0"/>
                                          </p:val>
                                        </p:tav>
                                        <p:tav tm="100000">
                                          <p:val>
                                            <p:strVal val="#ppt_w"/>
                                          </p:val>
                                        </p:tav>
                                      </p:tavLst>
                                    </p:anim>
                                    <p:anim calcmode="lin" valueType="num">
                                      <p:cBhvr>
                                        <p:cTn id="9" dur="280" fill="hold"/>
                                        <p:tgtEl>
                                          <p:spTgt spid="4"/>
                                        </p:tgtEl>
                                        <p:attrNameLst>
                                          <p:attrName>ppt_h</p:attrName>
                                        </p:attrNameLst>
                                      </p:cBhvr>
                                      <p:tavLst>
                                        <p:tav tm="0">
                                          <p:val>
                                            <p:strVal val="0"/>
                                          </p:val>
                                        </p:tav>
                                        <p:tav tm="100000">
                                          <p:val>
                                            <p:strVal val="#ppt_h"/>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50"/>
                                        <p:tgtEl>
                                          <p:spTgt spid="11"/>
                                        </p:tgtEl>
                                      </p:cBhvr>
                                    </p:animEffect>
                                  </p:childTnLst>
                                </p:cTn>
                              </p:par>
                            </p:childTnLst>
                          </p:cTn>
                        </p:par>
                        <p:par>
                          <p:cTn id="13" fill="hold">
                            <p:stCondLst>
                              <p:cond delay="280"/>
                            </p:stCondLst>
                            <p:childTnLst>
                              <p:par>
                                <p:cTn id="14" presetID="53" presetClass="entr" presetSubtype="16"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280"/>
                                        <p:tgtEl>
                                          <p:spTgt spid="12"/>
                                        </p:tgtEl>
                                      </p:cBhvr>
                                    </p:animEffect>
                                    <p:anim calcmode="lin" valueType="num">
                                      <p:cBhvr>
                                        <p:cTn id="17" dur="280" fill="hold"/>
                                        <p:tgtEl>
                                          <p:spTgt spid="12"/>
                                        </p:tgtEl>
                                        <p:attrNameLst>
                                          <p:attrName>ppt_w</p:attrName>
                                        </p:attrNameLst>
                                      </p:cBhvr>
                                      <p:tavLst>
                                        <p:tav tm="0">
                                          <p:val>
                                            <p:strVal val="0"/>
                                          </p:val>
                                        </p:tav>
                                        <p:tav tm="100000">
                                          <p:val>
                                            <p:strVal val="#ppt_w"/>
                                          </p:val>
                                        </p:tav>
                                      </p:tavLst>
                                    </p:anim>
                                    <p:anim calcmode="lin" valueType="num">
                                      <p:cBhvr>
                                        <p:cTn id="18" dur="280" fill="hold"/>
                                        <p:tgtEl>
                                          <p:spTgt spid="12"/>
                                        </p:tgtEl>
                                        <p:attrNameLst>
                                          <p:attrName>ppt_h</p:attrName>
                                        </p:attrNameLst>
                                      </p:cBhvr>
                                      <p:tavLst>
                                        <p:tav tm="0">
                                          <p:val>
                                            <p:strVal val="0"/>
                                          </p:val>
                                        </p:tav>
                                        <p:tav tm="100000">
                                          <p:val>
                                            <p:strVal val="#ppt_h"/>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150"/>
                                        <p:tgtEl>
                                          <p:spTgt spid="19"/>
                                        </p:tgtEl>
                                      </p:cBhvr>
                                    </p:animEffect>
                                  </p:childTnLst>
                                </p:cTn>
                              </p:par>
                            </p:childTnLst>
                          </p:cTn>
                        </p:par>
                        <p:par>
                          <p:cTn id="22" fill="hold">
                            <p:stCondLst>
                              <p:cond delay="560"/>
                            </p:stCondLst>
                            <p:childTnLst>
                              <p:par>
                                <p:cTn id="23" presetID="53" presetClass="entr" presetSubtype="16"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280"/>
                                        <p:tgtEl>
                                          <p:spTgt spid="20"/>
                                        </p:tgtEl>
                                      </p:cBhvr>
                                    </p:animEffect>
                                    <p:anim calcmode="lin" valueType="num">
                                      <p:cBhvr>
                                        <p:cTn id="26" dur="280" fill="hold"/>
                                        <p:tgtEl>
                                          <p:spTgt spid="20"/>
                                        </p:tgtEl>
                                        <p:attrNameLst>
                                          <p:attrName>ppt_w</p:attrName>
                                        </p:attrNameLst>
                                      </p:cBhvr>
                                      <p:tavLst>
                                        <p:tav tm="0">
                                          <p:val>
                                            <p:strVal val="0"/>
                                          </p:val>
                                        </p:tav>
                                        <p:tav tm="100000">
                                          <p:val>
                                            <p:strVal val="#ppt_w"/>
                                          </p:val>
                                        </p:tav>
                                      </p:tavLst>
                                    </p:anim>
                                    <p:anim calcmode="lin" valueType="num">
                                      <p:cBhvr>
                                        <p:cTn id="27" dur="280" fill="hold"/>
                                        <p:tgtEl>
                                          <p:spTgt spid="20"/>
                                        </p:tgtEl>
                                        <p:attrNameLst>
                                          <p:attrName>ppt_h</p:attrName>
                                        </p:attrNameLst>
                                      </p:cBhvr>
                                      <p:tavLst>
                                        <p:tav tm="0">
                                          <p:val>
                                            <p:strVal val="0"/>
                                          </p:val>
                                        </p:tav>
                                        <p:tav tm="100000">
                                          <p:val>
                                            <p:strVal val="#ppt_h"/>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150"/>
                                        <p:tgtEl>
                                          <p:spTgt spid="27"/>
                                        </p:tgtEl>
                                      </p:cBhvr>
                                    </p:animEffect>
                                  </p:childTnLst>
                                </p:cTn>
                              </p:par>
                            </p:childTnLst>
                          </p:cTn>
                        </p:par>
                        <p:par>
                          <p:cTn id="31" fill="hold">
                            <p:stCondLst>
                              <p:cond delay="840"/>
                            </p:stCondLst>
                            <p:childTnLst>
                              <p:par>
                                <p:cTn id="32" presetID="53" presetClass="entr" presetSubtype="16" fill="hold" grpId="0"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280"/>
                                        <p:tgtEl>
                                          <p:spTgt spid="28"/>
                                        </p:tgtEl>
                                      </p:cBhvr>
                                    </p:animEffect>
                                    <p:anim calcmode="lin" valueType="num">
                                      <p:cBhvr>
                                        <p:cTn id="35" dur="280" fill="hold"/>
                                        <p:tgtEl>
                                          <p:spTgt spid="28"/>
                                        </p:tgtEl>
                                        <p:attrNameLst>
                                          <p:attrName>ppt_w</p:attrName>
                                        </p:attrNameLst>
                                      </p:cBhvr>
                                      <p:tavLst>
                                        <p:tav tm="0">
                                          <p:val>
                                            <p:strVal val="0"/>
                                          </p:val>
                                        </p:tav>
                                        <p:tav tm="100000">
                                          <p:val>
                                            <p:strVal val="#ppt_w"/>
                                          </p:val>
                                        </p:tav>
                                      </p:tavLst>
                                    </p:anim>
                                    <p:anim calcmode="lin" valueType="num">
                                      <p:cBhvr>
                                        <p:cTn id="36" dur="280" fill="hold"/>
                                        <p:tgtEl>
                                          <p:spTgt spid="28"/>
                                        </p:tgtEl>
                                        <p:attrNameLst>
                                          <p:attrName>ppt_h</p:attrName>
                                        </p:attrNameLst>
                                      </p:cBhvr>
                                      <p:tavLst>
                                        <p:tav tm="0">
                                          <p:val>
                                            <p:strVal val="0"/>
                                          </p:val>
                                        </p:tav>
                                        <p:tav tm="100000">
                                          <p:val>
                                            <p:strVal val="#ppt_h"/>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150"/>
                                        <p:tgtEl>
                                          <p:spTgt spid="35"/>
                                        </p:tgtEl>
                                      </p:cBhvr>
                                    </p:animEffect>
                                  </p:childTnLst>
                                </p:cTn>
                              </p:par>
                            </p:childTnLst>
                          </p:cTn>
                        </p:par>
                        <p:par>
                          <p:cTn id="40" fill="hold">
                            <p:stCondLst>
                              <p:cond delay="1120"/>
                            </p:stCondLst>
                            <p:childTnLst>
                              <p:par>
                                <p:cTn id="41" presetID="53" presetClass="entr" presetSubtype="16" fill="hold" grpId="0" nodeType="after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280"/>
                                        <p:tgtEl>
                                          <p:spTgt spid="36"/>
                                        </p:tgtEl>
                                      </p:cBhvr>
                                    </p:animEffect>
                                    <p:anim calcmode="lin" valueType="num">
                                      <p:cBhvr>
                                        <p:cTn id="44" dur="280" fill="hold"/>
                                        <p:tgtEl>
                                          <p:spTgt spid="36"/>
                                        </p:tgtEl>
                                        <p:attrNameLst>
                                          <p:attrName>ppt_w</p:attrName>
                                        </p:attrNameLst>
                                      </p:cBhvr>
                                      <p:tavLst>
                                        <p:tav tm="0">
                                          <p:val>
                                            <p:strVal val="0"/>
                                          </p:val>
                                        </p:tav>
                                        <p:tav tm="100000">
                                          <p:val>
                                            <p:strVal val="#ppt_w"/>
                                          </p:val>
                                        </p:tav>
                                      </p:tavLst>
                                    </p:anim>
                                    <p:anim calcmode="lin" valueType="num">
                                      <p:cBhvr>
                                        <p:cTn id="45" dur="280" fill="hold"/>
                                        <p:tgtEl>
                                          <p:spTgt spid="36"/>
                                        </p:tgtEl>
                                        <p:attrNameLst>
                                          <p:attrName>ppt_h</p:attrName>
                                        </p:attrNameLst>
                                      </p:cBhvr>
                                      <p:tavLst>
                                        <p:tav tm="0">
                                          <p:val>
                                            <p:strVal val="0"/>
                                          </p:val>
                                        </p:tav>
                                        <p:tav tm="100000">
                                          <p:val>
                                            <p:strVal val="#ppt_h"/>
                                          </p:val>
                                        </p:tav>
                                      </p:tavLst>
                                    </p:anim>
                                  </p:childTnLst>
                                </p:cTn>
                              </p:par>
                            </p:childTnLst>
                          </p:cTn>
                        </p:par>
                        <p:par>
                          <p:cTn id="46" fill="hold">
                            <p:stCondLst>
                              <p:cond delay="1400"/>
                            </p:stCondLst>
                            <p:childTnLst>
                              <p:par>
                                <p:cTn id="47" presetID="53" presetClass="entr" presetSubtype="16" fill="hold" grpId="0" nodeType="after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280"/>
                                        <p:tgtEl>
                                          <p:spTgt spid="43"/>
                                        </p:tgtEl>
                                      </p:cBhvr>
                                    </p:animEffect>
                                    <p:anim calcmode="lin" valueType="num">
                                      <p:cBhvr>
                                        <p:cTn id="50" dur="280" fill="hold"/>
                                        <p:tgtEl>
                                          <p:spTgt spid="43"/>
                                        </p:tgtEl>
                                        <p:attrNameLst>
                                          <p:attrName>ppt_w</p:attrName>
                                        </p:attrNameLst>
                                      </p:cBhvr>
                                      <p:tavLst>
                                        <p:tav tm="0">
                                          <p:val>
                                            <p:strVal val="0"/>
                                          </p:val>
                                        </p:tav>
                                        <p:tav tm="100000">
                                          <p:val>
                                            <p:strVal val="#ppt_w"/>
                                          </p:val>
                                        </p:tav>
                                      </p:tavLst>
                                    </p:anim>
                                    <p:anim calcmode="lin" valueType="num">
                                      <p:cBhvr>
                                        <p:cTn id="51" dur="280" fill="hold"/>
                                        <p:tgtEl>
                                          <p:spTgt spid="43"/>
                                        </p:tgtEl>
                                        <p:attrNameLst>
                                          <p:attrName>ppt_h</p:attrName>
                                        </p:attrNameLst>
                                      </p:cBhvr>
                                      <p:tavLst>
                                        <p:tav tm="0">
                                          <p:val>
                                            <p:strVal val="0"/>
                                          </p:val>
                                        </p:tav>
                                        <p:tav tm="100000">
                                          <p:val>
                                            <p:strVal val="#ppt_h"/>
                                          </p:val>
                                        </p:tav>
                                      </p:tavLst>
                                    </p:anim>
                                  </p:childTnLst>
                                </p:cTn>
                              </p:par>
                              <p:par>
                                <p:cTn id="52" presetID="10" presetClass="entr" presetSubtype="0" fill="hold" grpId="0" nodeType="with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150"/>
                                        <p:tgtEl>
                                          <p:spTgt spid="50"/>
                                        </p:tgtEl>
                                      </p:cBhvr>
                                    </p:animEffect>
                                  </p:childTnLst>
                                </p:cTn>
                              </p:par>
                            </p:childTnLst>
                          </p:cTn>
                        </p:par>
                        <p:par>
                          <p:cTn id="55" fill="hold">
                            <p:stCondLst>
                              <p:cond delay="1680"/>
                            </p:stCondLst>
                            <p:childTnLst>
                              <p:par>
                                <p:cTn id="56" presetID="53" presetClass="entr" presetSubtype="16" fill="hold" grpId="0" nodeType="after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fade">
                                      <p:cBhvr>
                                        <p:cTn id="58" dur="280"/>
                                        <p:tgtEl>
                                          <p:spTgt spid="51"/>
                                        </p:tgtEl>
                                      </p:cBhvr>
                                    </p:animEffect>
                                    <p:anim calcmode="lin" valueType="num">
                                      <p:cBhvr>
                                        <p:cTn id="59" dur="280" fill="hold"/>
                                        <p:tgtEl>
                                          <p:spTgt spid="51"/>
                                        </p:tgtEl>
                                        <p:attrNameLst>
                                          <p:attrName>ppt_w</p:attrName>
                                        </p:attrNameLst>
                                      </p:cBhvr>
                                      <p:tavLst>
                                        <p:tav tm="0">
                                          <p:val>
                                            <p:strVal val="0"/>
                                          </p:val>
                                        </p:tav>
                                        <p:tav tm="100000">
                                          <p:val>
                                            <p:strVal val="#ppt_w"/>
                                          </p:val>
                                        </p:tav>
                                      </p:tavLst>
                                    </p:anim>
                                    <p:anim calcmode="lin" valueType="num">
                                      <p:cBhvr>
                                        <p:cTn id="60" dur="280" fill="hold"/>
                                        <p:tgtEl>
                                          <p:spTgt spid="51"/>
                                        </p:tgtEl>
                                        <p:attrNameLst>
                                          <p:attrName>ppt_h</p:attrName>
                                        </p:attrNameLst>
                                      </p:cBhvr>
                                      <p:tavLst>
                                        <p:tav tm="0">
                                          <p:val>
                                            <p:strVal val="0"/>
                                          </p:val>
                                        </p:tav>
                                        <p:tav tm="100000">
                                          <p:val>
                                            <p:strVal val="#ppt_h"/>
                                          </p:val>
                                        </p:tav>
                                      </p:tavLst>
                                    </p:anim>
                                  </p:childTnLst>
                                </p:cTn>
                              </p:par>
                              <p:par>
                                <p:cTn id="61" presetID="10" presetClass="entr" presetSubtype="0" fill="hold" grpId="0" nodeType="withEffect">
                                  <p:stCondLst>
                                    <p:cond delay="0"/>
                                  </p:stCondLst>
                                  <p:childTnLst>
                                    <p:set>
                                      <p:cBhvr>
                                        <p:cTn id="62" dur="1" fill="hold">
                                          <p:stCondLst>
                                            <p:cond delay="0"/>
                                          </p:stCondLst>
                                        </p:cTn>
                                        <p:tgtEl>
                                          <p:spTgt spid="58"/>
                                        </p:tgtEl>
                                        <p:attrNameLst>
                                          <p:attrName>style.visibility</p:attrName>
                                        </p:attrNameLst>
                                      </p:cBhvr>
                                      <p:to>
                                        <p:strVal val="visible"/>
                                      </p:to>
                                    </p:set>
                                    <p:animEffect transition="in" filter="fade">
                                      <p:cBhvr>
                                        <p:cTn id="63" dur="150"/>
                                        <p:tgtEl>
                                          <p:spTgt spid="58"/>
                                        </p:tgtEl>
                                      </p:cBhvr>
                                    </p:animEffect>
                                  </p:childTnLst>
                                </p:cTn>
                              </p:par>
                            </p:childTnLst>
                          </p:cTn>
                        </p:par>
                        <p:par>
                          <p:cTn id="64" fill="hold">
                            <p:stCondLst>
                              <p:cond delay="1960"/>
                            </p:stCondLst>
                            <p:childTnLst>
                              <p:par>
                                <p:cTn id="65" presetID="53" presetClass="entr" presetSubtype="16" fill="hold" grpId="0" nodeType="after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280"/>
                                        <p:tgtEl>
                                          <p:spTgt spid="59"/>
                                        </p:tgtEl>
                                      </p:cBhvr>
                                    </p:animEffect>
                                    <p:anim calcmode="lin" valueType="num">
                                      <p:cBhvr>
                                        <p:cTn id="68" dur="280" fill="hold"/>
                                        <p:tgtEl>
                                          <p:spTgt spid="59"/>
                                        </p:tgtEl>
                                        <p:attrNameLst>
                                          <p:attrName>ppt_w</p:attrName>
                                        </p:attrNameLst>
                                      </p:cBhvr>
                                      <p:tavLst>
                                        <p:tav tm="0">
                                          <p:val>
                                            <p:strVal val="0"/>
                                          </p:val>
                                        </p:tav>
                                        <p:tav tm="100000">
                                          <p:val>
                                            <p:strVal val="#ppt_w"/>
                                          </p:val>
                                        </p:tav>
                                      </p:tavLst>
                                    </p:anim>
                                    <p:anim calcmode="lin" valueType="num">
                                      <p:cBhvr>
                                        <p:cTn id="69" dur="280" fill="hold"/>
                                        <p:tgtEl>
                                          <p:spTgt spid="59"/>
                                        </p:tgtEl>
                                        <p:attrNameLst>
                                          <p:attrName>ppt_h</p:attrName>
                                        </p:attrNameLst>
                                      </p:cBhvr>
                                      <p:tavLst>
                                        <p:tav tm="0">
                                          <p:val>
                                            <p:strVal val="0"/>
                                          </p:val>
                                        </p:tav>
                                        <p:tav tm="100000">
                                          <p:val>
                                            <p:strVal val="#ppt_h"/>
                                          </p:val>
                                        </p:tav>
                                      </p:tavLst>
                                    </p:anim>
                                  </p:childTnLst>
                                </p:cTn>
                              </p:par>
                              <p:par>
                                <p:cTn id="70" presetID="10" presetClass="entr" presetSubtype="0" fill="hold" grpId="0" nodeType="withEffect">
                                  <p:stCondLst>
                                    <p:cond delay="0"/>
                                  </p:stCondLst>
                                  <p:childTnLst>
                                    <p:set>
                                      <p:cBhvr>
                                        <p:cTn id="71" dur="1" fill="hold">
                                          <p:stCondLst>
                                            <p:cond delay="0"/>
                                          </p:stCondLst>
                                        </p:cTn>
                                        <p:tgtEl>
                                          <p:spTgt spid="66"/>
                                        </p:tgtEl>
                                        <p:attrNameLst>
                                          <p:attrName>style.visibility</p:attrName>
                                        </p:attrNameLst>
                                      </p:cBhvr>
                                      <p:to>
                                        <p:strVal val="visible"/>
                                      </p:to>
                                    </p:set>
                                    <p:animEffect transition="in" filter="fade">
                                      <p:cBhvr>
                                        <p:cTn id="72" dur="150"/>
                                        <p:tgtEl>
                                          <p:spTgt spid="66"/>
                                        </p:tgtEl>
                                      </p:cBhvr>
                                    </p:animEffect>
                                  </p:childTnLst>
                                </p:cTn>
                              </p:par>
                            </p:childTnLst>
                          </p:cTn>
                        </p:par>
                        <p:par>
                          <p:cTn id="73" fill="hold">
                            <p:stCondLst>
                              <p:cond delay="2240"/>
                            </p:stCondLst>
                            <p:childTnLst>
                              <p:par>
                                <p:cTn id="74" presetID="53" presetClass="entr" presetSubtype="16" fill="hold" grpId="0" nodeType="afterEffect">
                                  <p:stCondLst>
                                    <p:cond delay="0"/>
                                  </p:stCondLst>
                                  <p:childTnLst>
                                    <p:set>
                                      <p:cBhvr>
                                        <p:cTn id="75" dur="1" fill="hold">
                                          <p:stCondLst>
                                            <p:cond delay="0"/>
                                          </p:stCondLst>
                                        </p:cTn>
                                        <p:tgtEl>
                                          <p:spTgt spid="67"/>
                                        </p:tgtEl>
                                        <p:attrNameLst>
                                          <p:attrName>style.visibility</p:attrName>
                                        </p:attrNameLst>
                                      </p:cBhvr>
                                      <p:to>
                                        <p:strVal val="visible"/>
                                      </p:to>
                                    </p:set>
                                    <p:animEffect transition="in" filter="fade">
                                      <p:cBhvr>
                                        <p:cTn id="76" dur="280"/>
                                        <p:tgtEl>
                                          <p:spTgt spid="67"/>
                                        </p:tgtEl>
                                      </p:cBhvr>
                                    </p:animEffect>
                                    <p:anim calcmode="lin" valueType="num">
                                      <p:cBhvr>
                                        <p:cTn id="77" dur="280" fill="hold"/>
                                        <p:tgtEl>
                                          <p:spTgt spid="67"/>
                                        </p:tgtEl>
                                        <p:attrNameLst>
                                          <p:attrName>ppt_w</p:attrName>
                                        </p:attrNameLst>
                                      </p:cBhvr>
                                      <p:tavLst>
                                        <p:tav tm="0">
                                          <p:val>
                                            <p:strVal val="0"/>
                                          </p:val>
                                        </p:tav>
                                        <p:tav tm="100000">
                                          <p:val>
                                            <p:strVal val="#ppt_w"/>
                                          </p:val>
                                        </p:tav>
                                      </p:tavLst>
                                    </p:anim>
                                    <p:anim calcmode="lin" valueType="num">
                                      <p:cBhvr>
                                        <p:cTn id="78" dur="280" fill="hold"/>
                                        <p:tgtEl>
                                          <p:spTgt spid="67"/>
                                        </p:tgtEl>
                                        <p:attrNameLst>
                                          <p:attrName>ppt_h</p:attrName>
                                        </p:attrNameLst>
                                      </p:cBhvr>
                                      <p:tavLst>
                                        <p:tav tm="0">
                                          <p:val>
                                            <p:strVal val="0"/>
                                          </p:val>
                                        </p:tav>
                                        <p:tav tm="100000">
                                          <p:val>
                                            <p:strVal val="#ppt_h"/>
                                          </p:val>
                                        </p:tav>
                                      </p:tavLst>
                                    </p:anim>
                                  </p:childTnLst>
                                </p:cTn>
                              </p:par>
                              <p:par>
                                <p:cTn id="79" presetID="10" presetClass="entr" presetSubtype="0" fill="hold" grpId="0" nodeType="withEffect">
                                  <p:stCondLst>
                                    <p:cond delay="0"/>
                                  </p:stCondLst>
                                  <p:childTnLst>
                                    <p:set>
                                      <p:cBhvr>
                                        <p:cTn id="80" dur="1" fill="hold">
                                          <p:stCondLst>
                                            <p:cond delay="0"/>
                                          </p:stCondLst>
                                        </p:cTn>
                                        <p:tgtEl>
                                          <p:spTgt spid="74"/>
                                        </p:tgtEl>
                                        <p:attrNameLst>
                                          <p:attrName>style.visibility</p:attrName>
                                        </p:attrNameLst>
                                      </p:cBhvr>
                                      <p:to>
                                        <p:strVal val="visible"/>
                                      </p:to>
                                    </p:set>
                                    <p:animEffect transition="in" filter="fade">
                                      <p:cBhvr>
                                        <p:cTn id="81" dur="150"/>
                                        <p:tgtEl>
                                          <p:spTgt spid="74"/>
                                        </p:tgtEl>
                                      </p:cBhvr>
                                    </p:animEffect>
                                  </p:childTnLst>
                                </p:cTn>
                              </p:par>
                            </p:childTnLst>
                          </p:cTn>
                        </p:par>
                        <p:par>
                          <p:cTn id="82" fill="hold">
                            <p:stCondLst>
                              <p:cond delay="2520"/>
                            </p:stCondLst>
                            <p:childTnLst>
                              <p:par>
                                <p:cTn id="83" presetID="53" presetClass="entr" presetSubtype="16" fill="hold" grpId="0" nodeType="afterEffect">
                                  <p:stCondLst>
                                    <p:cond delay="0"/>
                                  </p:stCondLst>
                                  <p:childTnLst>
                                    <p:set>
                                      <p:cBhvr>
                                        <p:cTn id="84" dur="1" fill="hold">
                                          <p:stCondLst>
                                            <p:cond delay="0"/>
                                          </p:stCondLst>
                                        </p:cTn>
                                        <p:tgtEl>
                                          <p:spTgt spid="75"/>
                                        </p:tgtEl>
                                        <p:attrNameLst>
                                          <p:attrName>style.visibility</p:attrName>
                                        </p:attrNameLst>
                                      </p:cBhvr>
                                      <p:to>
                                        <p:strVal val="visible"/>
                                      </p:to>
                                    </p:set>
                                    <p:animEffect transition="in" filter="fade">
                                      <p:cBhvr>
                                        <p:cTn id="85" dur="280"/>
                                        <p:tgtEl>
                                          <p:spTgt spid="75"/>
                                        </p:tgtEl>
                                      </p:cBhvr>
                                    </p:animEffect>
                                    <p:anim calcmode="lin" valueType="num">
                                      <p:cBhvr>
                                        <p:cTn id="86" dur="280" fill="hold"/>
                                        <p:tgtEl>
                                          <p:spTgt spid="75"/>
                                        </p:tgtEl>
                                        <p:attrNameLst>
                                          <p:attrName>ppt_w</p:attrName>
                                        </p:attrNameLst>
                                      </p:cBhvr>
                                      <p:tavLst>
                                        <p:tav tm="0">
                                          <p:val>
                                            <p:strVal val="0"/>
                                          </p:val>
                                        </p:tav>
                                        <p:tav tm="100000">
                                          <p:val>
                                            <p:strVal val="#ppt_w"/>
                                          </p:val>
                                        </p:tav>
                                      </p:tavLst>
                                    </p:anim>
                                    <p:anim calcmode="lin" valueType="num">
                                      <p:cBhvr>
                                        <p:cTn id="87" dur="280" fill="hold"/>
                                        <p:tgtEl>
                                          <p:spTgt spid="75"/>
                                        </p:tgtEl>
                                        <p:attrNameLst>
                                          <p:attrName>ppt_h</p:attrName>
                                        </p:attrNameLst>
                                      </p:cBhvr>
                                      <p:tavLst>
                                        <p:tav tm="0">
                                          <p:val>
                                            <p:strVal val="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82"/>
                                        </p:tgtEl>
                                        <p:attrNameLst>
                                          <p:attrName>style.visibility</p:attrName>
                                        </p:attrNameLst>
                                      </p:cBhvr>
                                      <p:to>
                                        <p:strVal val="visible"/>
                                      </p:to>
                                    </p:set>
                                    <p:animEffect transition="in" filter="wipe(left)">
                                      <p:cBhvr>
                                        <p:cTn id="92" dur="400"/>
                                        <p:tgtEl>
                                          <p:spTgt spid="82"/>
                                        </p:tgtEl>
                                      </p:cBhvr>
                                    </p:animEffect>
                                  </p:childTnLst>
                                </p:cTn>
                              </p:par>
                            </p:childTnLst>
                          </p:cTn>
                        </p:par>
                        <p:par>
                          <p:cTn id="93" fill="hold">
                            <p:stCondLst>
                              <p:cond delay="400"/>
                            </p:stCondLst>
                            <p:childTnLst>
                              <p:par>
                                <p:cTn id="94" presetID="53" presetClass="entr" presetSubtype="16" fill="hold" grpId="0" nodeType="afterEffect">
                                  <p:stCondLst>
                                    <p:cond delay="0"/>
                                  </p:stCondLst>
                                  <p:childTnLst>
                                    <p:set>
                                      <p:cBhvr>
                                        <p:cTn id="95" dur="1" fill="hold">
                                          <p:stCondLst>
                                            <p:cond delay="0"/>
                                          </p:stCondLst>
                                        </p:cTn>
                                        <p:tgtEl>
                                          <p:spTgt spid="83"/>
                                        </p:tgtEl>
                                        <p:attrNameLst>
                                          <p:attrName>style.visibility</p:attrName>
                                        </p:attrNameLst>
                                      </p:cBhvr>
                                      <p:to>
                                        <p:strVal val="visible"/>
                                      </p:to>
                                    </p:set>
                                    <p:animEffect transition="in" filter="fade">
                                      <p:cBhvr>
                                        <p:cTn id="96" dur="600"/>
                                        <p:tgtEl>
                                          <p:spTgt spid="83"/>
                                        </p:tgtEl>
                                      </p:cBhvr>
                                    </p:animEffect>
                                    <p:anim calcmode="lin" valueType="num">
                                      <p:cBhvr>
                                        <p:cTn id="97" dur="600" fill="hold"/>
                                        <p:tgtEl>
                                          <p:spTgt spid="83"/>
                                        </p:tgtEl>
                                        <p:attrNameLst>
                                          <p:attrName>ppt_w</p:attrName>
                                        </p:attrNameLst>
                                      </p:cBhvr>
                                      <p:tavLst>
                                        <p:tav tm="0">
                                          <p:val>
                                            <p:strVal val="0"/>
                                          </p:val>
                                        </p:tav>
                                        <p:tav tm="100000">
                                          <p:val>
                                            <p:strVal val="#ppt_w"/>
                                          </p:val>
                                        </p:tav>
                                      </p:tavLst>
                                    </p:anim>
                                    <p:anim calcmode="lin" valueType="num">
                                      <p:cBhvr>
                                        <p:cTn id="98" dur="600" fill="hold"/>
                                        <p:tgtEl>
                                          <p:spTgt spid="83"/>
                                        </p:tgtEl>
                                        <p:attrNameLst>
                                          <p:attrName>ppt_h</p:attrName>
                                        </p:attrNameLst>
                                      </p:cBhvr>
                                      <p:tavLst>
                                        <p:tav tm="0">
                                          <p:val>
                                            <p:strVal val="0"/>
                                          </p:val>
                                        </p:tav>
                                        <p:tav tm="100000">
                                          <p:val>
                                            <p:strVal val="#ppt_h"/>
                                          </p:val>
                                        </p:tav>
                                      </p:tavLst>
                                    </p:anim>
                                  </p:childTnLst>
                                </p:cTn>
                              </p:par>
                            </p:childTnLst>
                          </p:cTn>
                        </p:par>
                        <p:par>
                          <p:cTn id="99" fill="hold">
                            <p:stCondLst>
                              <p:cond delay="1000"/>
                            </p:stCondLst>
                            <p:childTnLst>
                              <p:par>
                                <p:cTn id="100" presetID="6" presetClass="emph" presetSubtype="0" fill="hold" grpId="1" nodeType="afterEffect">
                                  <p:stCondLst>
                                    <p:cond delay="0"/>
                                  </p:stCondLst>
                                  <p:childTnLst>
                                    <p:animScale>
                                      <p:cBhvr>
                                        <p:cTn id="101" dur="300" autoRev="1" fill="hold"/>
                                        <p:tgtEl>
                                          <p:spTgt spid="83"/>
                                        </p:tgtEl>
                                      </p:cBhvr>
                                      <p:by x="112000" y="112000"/>
                                    </p:animScale>
                                  </p:childTnLst>
                                </p:cTn>
                              </p:par>
                            </p:childTnLst>
                          </p:cTn>
                        </p:par>
                        <p:par>
                          <p:cTn id="102" fill="hold">
                            <p:stCondLst>
                              <p:cond delay="1600"/>
                            </p:stCondLst>
                            <p:childTnLst>
                              <p:par>
                                <p:cTn id="103" presetID="10" presetClass="entr" presetSubtype="0" fill="hold" grpId="0" nodeType="afterEffect">
                                  <p:stCondLst>
                                    <p:cond delay="0"/>
                                  </p:stCondLst>
                                  <p:childTnLst>
                                    <p:set>
                                      <p:cBhvr>
                                        <p:cTn id="104" dur="1" fill="hold">
                                          <p:stCondLst>
                                            <p:cond delay="0"/>
                                          </p:stCondLst>
                                        </p:cTn>
                                        <p:tgtEl>
                                          <p:spTgt spid="88"/>
                                        </p:tgtEl>
                                        <p:attrNameLst>
                                          <p:attrName>style.visibility</p:attrName>
                                        </p:attrNameLst>
                                      </p:cBhvr>
                                      <p:to>
                                        <p:strVal val="visible"/>
                                      </p:to>
                                    </p:set>
                                    <p:animEffect transition="in" filter="fade">
                                      <p:cBhvr>
                                        <p:cTn id="105" dur="4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27" grpId="0" animBg="1"/>
      <p:bldP spid="35" grpId="0" animBg="1"/>
      <p:bldP spid="50" grpId="0" animBg="1"/>
      <p:bldP spid="58" grpId="0" animBg="1"/>
      <p:bldP spid="66" grpId="0" animBg="1"/>
      <p:bldP spid="74" grpId="0" animBg="1"/>
      <p:bldP spid="82" grpId="0" animBg="1"/>
      <p:bldP spid="8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502920" y="201168"/>
            <a:ext cx="9144000" cy="292608"/>
          </a:xfrm>
          <a:prstGeom prst="rect">
            <a:avLst/>
          </a:prstGeom>
          <a:noFill/>
        </p:spPr>
        <p:txBody>
          <a:bodyPr wrap="square" lIns="0" tIns="0" rIns="0" bIns="0" anchor="t">
            <a:noAutofit/>
          </a:bodyPr>
          <a:lstStyle/>
          <a:p>
            <a:pPr algn="l"/>
            <a:r>
              <a:rPr sz="1300" b="1" i="0" lang="vi-VN" spc="60">
                <a:solidFill>
                  <a:srgbClr val="0A5FA8"/>
                </a:solidFill>
                <a:latin typeface="Arial"/>
                <a:ea typeface="Arial"/>
                <a:cs typeface="Arial"/>
              </a:rPr>
              <a:t>PHẦN 5 · KẾT LUẬN</a:t>
            </a:r>
          </a:p>
        </p:txBody>
      </p:sp>
      <p:sp>
        <p:nvSpPr>
          <p:cNvPr id="3" name="Title"/>
          <p:cNvSpPr txBox="1"/>
          <p:nvPr/>
        </p:nvSpPr>
        <p:spPr>
          <a:xfrm>
            <a:off x="502920" y="475488"/>
            <a:ext cx="11201400" cy="603504"/>
          </a:xfrm>
          <a:prstGeom prst="rect">
            <a:avLst/>
          </a:prstGeom>
          <a:noFill/>
        </p:spPr>
        <p:txBody>
          <a:bodyPr wrap="square" lIns="0" tIns="0" rIns="0" bIns="0" anchor="ctr">
            <a:noAutofit/>
          </a:bodyPr>
          <a:lstStyle/>
          <a:p>
            <a:pPr algn="l"/>
            <a:r>
              <a:rPr sz="2700" b="1" i="0" lang="vi-VN">
                <a:solidFill>
                  <a:srgbClr val="0B2545"/>
                </a:solidFill>
                <a:latin typeface="Arial"/>
                <a:ea typeface="Arial"/>
                <a:cs typeface="Arial"/>
              </a:rPr>
              <a:t>Kết luận, hạn chế và hướng phát triển</a:t>
            </a:r>
          </a:p>
        </p:txBody>
      </p:sp>
      <p:grpSp>
        <p:nvGrpSpPr>
          <p:cNvPr id="4" name="Group 3"/>
          <p:cNvGrpSpPr/>
          <p:nvPr/>
        </p:nvGrpSpPr>
        <p:grpSpPr>
          <a:xfrm>
            <a:off x="502920" y="1261872"/>
            <a:ext cx="3611880" cy="4791456"/>
            <a:chOff x="502920" y="1261872"/>
            <a:chExt cx="3611880" cy="4791456"/>
          </a:xfrm>
        </p:grpSpPr>
        <p:sp>
          <p:nvSpPr>
            <p:cNvPr id="5" name="Rounded Rectangle 4"/>
            <p:cNvSpPr/>
            <p:nvPr/>
          </p:nvSpPr>
          <p:spPr>
            <a:xfrm>
              <a:off x="502920" y="1261872"/>
              <a:ext cx="3611880" cy="4791456"/>
            </a:xfrm>
            <a:prstGeom prst="roundRect">
              <a:avLst>
                <a:gd name="adj" fmla="val 253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6" name="Rounded Rectangle 5"/>
            <p:cNvSpPr/>
            <p:nvPr/>
          </p:nvSpPr>
          <p:spPr>
            <a:xfrm>
              <a:off x="502920" y="1261872"/>
              <a:ext cx="3611880" cy="713232"/>
            </a:xfrm>
            <a:prstGeom prst="roundRect">
              <a:avLst>
                <a:gd name="adj" fmla="val 12820"/>
              </a:avLst>
            </a:prstGeom>
            <a:solidFill>
              <a:srgbClr val="0B2545"/>
            </a:solidFill>
            <a:ln>
              <a:noFill/>
            </a:ln>
          </p:spPr>
          <p:txBody>
            <a:bodyPr rtlCol="0" anchor="ctr" lIns="54864" tIns="54864" rIns="54864" bIns="54864" wrap="square">
              <a:noAutofit/>
            </a:bodyPr>
            <a:lstStyle/>
            <a:p>
              <a:pPr algn="ctr"/>
            </a:p>
          </p:txBody>
        </p:sp>
        <p:grpSp>
          <p:nvGrpSpPr>
            <p:cNvPr id="7" name="Group 6"/>
            <p:cNvGrpSpPr/>
            <p:nvPr/>
          </p:nvGrpSpPr>
          <p:grpSpPr>
            <a:xfrm>
              <a:off x="713232" y="1371600"/>
              <a:ext cx="493776" cy="493776"/>
              <a:chOff x="713232" y="1371600"/>
              <a:chExt cx="493776" cy="493776"/>
            </a:xfrm>
          </p:grpSpPr>
          <p:sp>
            <p:nvSpPr>
              <p:cNvPr id="8" name="Oval 7"/>
              <p:cNvSpPr/>
              <p:nvPr/>
            </p:nvSpPr>
            <p:spPr>
              <a:xfrm>
                <a:off x="713232" y="1371600"/>
                <a:ext cx="493776" cy="493776"/>
              </a:xfrm>
              <a:prstGeom prst="ellipse">
                <a:avLst/>
              </a:prstGeom>
              <a:solidFill>
                <a:srgbClr val="0B2545"/>
              </a:solidFill>
              <a:ln w="25400">
                <a:solidFill>
                  <a:srgbClr val="FFFFFF"/>
                </a:solidFill>
              </a:ln>
            </p:spPr>
            <p:txBody>
              <a:bodyPr rtlCol="0" anchor="ctr" lIns="54864" tIns="54864" rIns="54864" bIns="54864" wrap="square">
                <a:noAutofit/>
              </a:bodyPr>
              <a:lstStyle/>
              <a:p>
                <a:pPr algn="ctr"/>
              </a:p>
            </p:txBody>
          </p:sp>
          <p:pic>
            <p:nvPicPr>
              <p:cNvPr id="9" name="Picture 8" descr="checkcircle.png"/>
              <p:cNvPicPr>
                <a:picLocks noChangeAspect="1"/>
              </p:cNvPicPr>
              <p:nvPr/>
            </p:nvPicPr>
            <p:blipFill>
              <a:blip r:embed="rId2"/>
              <a:stretch>
                <a:fillRect/>
              </a:stretch>
            </p:blipFill>
            <p:spPr>
              <a:xfrm>
                <a:off x="821863" y="1480231"/>
                <a:ext cx="276515" cy="276515"/>
              </a:xfrm>
              <a:prstGeom prst="rect">
                <a:avLst/>
              </a:prstGeom>
            </p:spPr>
          </p:pic>
        </p:grpSp>
        <p:sp>
          <p:nvSpPr>
            <p:cNvPr id="10" name="TextBox 9"/>
            <p:cNvSpPr txBox="1"/>
            <p:nvPr/>
          </p:nvSpPr>
          <p:spPr>
            <a:xfrm>
              <a:off x="1325880" y="1261872"/>
              <a:ext cx="2697480" cy="713232"/>
            </a:xfrm>
            <a:prstGeom prst="rect">
              <a:avLst/>
            </a:prstGeom>
            <a:noFill/>
          </p:spPr>
          <p:txBody>
            <a:bodyPr wrap="square" lIns="0" tIns="0" rIns="0" bIns="0" anchor="ctr">
              <a:noAutofit/>
            </a:bodyPr>
            <a:lstStyle/>
            <a:p>
              <a:pPr algn="l"/>
              <a:r>
                <a:rPr sz="1700" b="1" i="0" lang="vi-VN" spc="30">
                  <a:solidFill>
                    <a:srgbClr val="FFFFFF"/>
                  </a:solidFill>
                  <a:latin typeface="Arial"/>
                  <a:ea typeface="Arial"/>
                  <a:cs typeface="Arial"/>
                </a:rPr>
                <a:t>KẾT QUẢ ĐẠT ĐƯỢC</a:t>
              </a:r>
            </a:p>
          </p:txBody>
        </p:sp>
        <p:sp>
          <p:nvSpPr>
            <p:cNvPr id="11" name="TextBox 10"/>
            <p:cNvSpPr txBox="1"/>
            <p:nvPr/>
          </p:nvSpPr>
          <p:spPr>
            <a:xfrm>
              <a:off x="704088" y="2176272"/>
              <a:ext cx="3246120" cy="3794760"/>
            </a:xfrm>
            <a:prstGeom prst="rect">
              <a:avLst/>
            </a:prstGeom>
            <a:noFill/>
          </p:spPr>
          <p:txBody>
            <a:bodyPr wrap="square" lIns="0" tIns="0" rIns="0" bIns="0" anchor="t">
              <a:noAutofit/>
            </a:bodyPr>
            <a:lstStyle/>
            <a:p>
              <a:pPr algn="l" marL="201168" indent="-201168">
                <a:lnSpc>
                  <a:spcPct val="102000"/>
                </a:lnSpc>
                <a:spcAft>
                  <a:spcPts val="1000"/>
                </a:spcAft>
                <a:buClr>
                  <a:srgbClr val="0B2545"/>
                </a:buClr>
                <a:buSzPct val="100000"/>
                <a:buFont typeface="Arial"/>
                <a:buChar char="•"/>
              </a:pPr>
              <a:r>
                <a:rPr sz="1600" b="0" i="0" lang="vi-VN">
                  <a:solidFill>
                    <a:srgbClr val="1E2B3A"/>
                  </a:solidFill>
                  <a:latin typeface="Arial"/>
                  <a:ea typeface="Arial"/>
                  <a:cs typeface="Arial"/>
                </a:rPr>
                <a:t>Thiết kế, chế tạo Gimbal 2 trục Yaw–Pitch, mạch STM32F407 và phần mềm giám sát</a:t>
              </a:r>
            </a:p>
            <a:p>
              <a:pPr algn="l" marL="201168" indent="-201168">
                <a:lnSpc>
                  <a:spcPct val="102000"/>
                </a:lnSpc>
                <a:spcAft>
                  <a:spcPts val="1000"/>
                </a:spcAft>
                <a:buClr>
                  <a:srgbClr val="0B2545"/>
                </a:buClr>
                <a:buSzPct val="100000"/>
                <a:buFont typeface="Arial"/>
                <a:buChar char="•"/>
              </a:pPr>
              <a:r>
                <a:rPr sz="1600" b="0" i="0" lang="vi-VN">
                  <a:solidFill>
                    <a:srgbClr val="1E2B3A"/>
                  </a:solidFill>
                  <a:latin typeface="Arial"/>
                  <a:ea typeface="Arial"/>
                  <a:cs typeface="Arial"/>
                </a:rPr>
                <a:t>Phần mềm Apache NuttX 7 luồng; xử lý 2 IMU; 6 khâu điều khiển</a:t>
              </a:r>
            </a:p>
            <a:p>
              <a:pPr algn="l" marL="201168" indent="-201168">
                <a:lnSpc>
                  <a:spcPct val="102000"/>
                </a:lnSpc>
                <a:spcAft>
                  <a:spcPts val="1000"/>
                </a:spcAft>
                <a:buClr>
                  <a:srgbClr val="0B2545"/>
                </a:buClr>
                <a:buSzPct val="100000"/>
                <a:buFont typeface="Arial"/>
                <a:buChar char="•"/>
              </a:pPr>
              <a:r>
                <a:rPr sz="1600" b="0" i="0" lang="vi-VN">
                  <a:solidFill>
                    <a:srgbClr val="1E2B3A"/>
                  </a:solidFill>
                  <a:latin typeface="Arial"/>
                  <a:ea typeface="Arial"/>
                  <a:cs typeface="Arial"/>
                </a:rPr>
                <a:t>Mô hình mô phỏng sai lệch dạng sóng 2,4 % / 2,2 %</a:t>
              </a:r>
            </a:p>
            <a:p>
              <a:pPr algn="l" marL="201168" indent="-201168">
                <a:lnSpc>
                  <a:spcPct val="102000"/>
                </a:lnSpc>
                <a:spcAft>
                  <a:spcPts val="1000"/>
                </a:spcAft>
                <a:buClr>
                  <a:srgbClr val="0B2545"/>
                </a:buClr>
                <a:buSzPct val="100000"/>
                <a:buFont typeface="Arial"/>
                <a:buChar char="•"/>
              </a:pPr>
              <a:r>
                <a:rPr sz="1600" b="0" i="0" lang="vi-VN">
                  <a:solidFill>
                    <a:srgbClr val="1E2B3A"/>
                  </a:solidFill>
                  <a:latin typeface="Arial"/>
                  <a:ea typeface="Arial"/>
                  <a:cs typeface="Arial"/>
                </a:rPr>
                <a:t>7 bước hiệu chỉnh: </a:t>
              </a:r>
              <a:r>
                <a:rPr sz="1600" b="0" i="1" lang="vi-VN">
                  <a:solidFill>
                    <a:srgbClr val="1E2B3A"/>
                  </a:solidFill>
                  <a:latin typeface="Cambria"/>
                  <a:ea typeface="Cambria"/>
                  <a:cs typeface="Cambria"/>
                </a:rPr>
                <a:t>e</a:t>
              </a:r>
              <a:r>
                <a:rPr sz="1600" b="0" i="0" lang="vi-VN" baseline="-25000">
                  <a:solidFill>
                    <a:srgbClr val="1E2B3A"/>
                  </a:solidFill>
                  <a:latin typeface="Cambria"/>
                  <a:ea typeface="Cambria"/>
                  <a:cs typeface="Cambria"/>
                </a:rPr>
                <a:t>max</a:t>
              </a:r>
              <a:r>
                <a:rPr sz="1600" b="0" i="0" lang="vi-VN">
                  <a:solidFill>
                    <a:srgbClr val="1E2B3A"/>
                  </a:solidFill>
                  <a:latin typeface="Arial"/>
                  <a:ea typeface="Arial"/>
                  <a:cs typeface="Arial"/>
                </a:rPr>
                <a:t> −34,9 % / −32,6 %; </a:t>
              </a:r>
              <a:r>
                <a:rPr sz="1600" b="0" i="1" lang="vi-VN">
                  <a:solidFill>
                    <a:srgbClr val="1E2B3A"/>
                  </a:solidFill>
                  <a:latin typeface="Cambria"/>
                  <a:ea typeface="Cambria"/>
                  <a:cs typeface="Cambria"/>
                </a:rPr>
                <a:t>e</a:t>
              </a:r>
              <a:r>
                <a:rPr sz="1600" b="0" i="0" lang="vi-VN" baseline="-25000">
                  <a:solidFill>
                    <a:srgbClr val="1E2B3A"/>
                  </a:solidFill>
                  <a:latin typeface="Cambria"/>
                  <a:ea typeface="Cambria"/>
                  <a:cs typeface="Cambria"/>
                </a:rPr>
                <a:t>rms</a:t>
              </a:r>
              <a:r>
                <a:rPr sz="1600" b="0" i="0" lang="vi-VN">
                  <a:solidFill>
                    <a:srgbClr val="1E2B3A"/>
                  </a:solidFill>
                  <a:latin typeface="Arial"/>
                  <a:ea typeface="Arial"/>
                  <a:cs typeface="Arial"/>
                </a:rPr>
                <a:t> −23,3 % / −22,8 %; phục hồi sau dừng −52,4 % / −58,7 %</a:t>
              </a:r>
            </a:p>
          </p:txBody>
        </p:sp>
      </p:grpSp>
      <p:grpSp>
        <p:nvGrpSpPr>
          <p:cNvPr id="12" name="Group 11"/>
          <p:cNvGrpSpPr/>
          <p:nvPr/>
        </p:nvGrpSpPr>
        <p:grpSpPr>
          <a:xfrm>
            <a:off x="4297680" y="1261872"/>
            <a:ext cx="3611880" cy="4791456"/>
            <a:chOff x="4297680" y="1261872"/>
            <a:chExt cx="3611880" cy="4791456"/>
          </a:xfrm>
        </p:grpSpPr>
        <p:sp>
          <p:nvSpPr>
            <p:cNvPr id="13" name="Rounded Rectangle 12"/>
            <p:cNvSpPr/>
            <p:nvPr/>
          </p:nvSpPr>
          <p:spPr>
            <a:xfrm>
              <a:off x="4297680" y="1261872"/>
              <a:ext cx="3611880" cy="4791456"/>
            </a:xfrm>
            <a:prstGeom prst="roundRect">
              <a:avLst>
                <a:gd name="adj" fmla="val 253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14" name="Rounded Rectangle 13"/>
            <p:cNvSpPr/>
            <p:nvPr/>
          </p:nvSpPr>
          <p:spPr>
            <a:xfrm>
              <a:off x="4297680" y="1261872"/>
              <a:ext cx="3611880" cy="713232"/>
            </a:xfrm>
            <a:prstGeom prst="roundRect">
              <a:avLst>
                <a:gd name="adj" fmla="val 12820"/>
              </a:avLst>
            </a:prstGeom>
            <a:solidFill>
              <a:srgbClr val="C62828"/>
            </a:solidFill>
            <a:ln>
              <a:noFill/>
            </a:ln>
          </p:spPr>
          <p:txBody>
            <a:bodyPr rtlCol="0" anchor="ctr" lIns="54864" tIns="54864" rIns="54864" bIns="54864" wrap="square">
              <a:noAutofit/>
            </a:bodyPr>
            <a:lstStyle/>
            <a:p>
              <a:pPr algn="ctr"/>
            </a:p>
          </p:txBody>
        </p:sp>
        <p:grpSp>
          <p:nvGrpSpPr>
            <p:cNvPr id="15" name="Group 14"/>
            <p:cNvGrpSpPr/>
            <p:nvPr/>
          </p:nvGrpSpPr>
          <p:grpSpPr>
            <a:xfrm>
              <a:off x="4507992" y="1371600"/>
              <a:ext cx="493776" cy="493776"/>
              <a:chOff x="4507992" y="1371600"/>
              <a:chExt cx="493776" cy="493776"/>
            </a:xfrm>
          </p:grpSpPr>
          <p:sp>
            <p:nvSpPr>
              <p:cNvPr id="16" name="Oval 15"/>
              <p:cNvSpPr/>
              <p:nvPr/>
            </p:nvSpPr>
            <p:spPr>
              <a:xfrm>
                <a:off x="4507992" y="1371600"/>
                <a:ext cx="493776" cy="493776"/>
              </a:xfrm>
              <a:prstGeom prst="ellipse">
                <a:avLst/>
              </a:prstGeom>
              <a:solidFill>
                <a:srgbClr val="C62828"/>
              </a:solidFill>
              <a:ln w="25400">
                <a:solidFill>
                  <a:srgbClr val="FFFFFF"/>
                </a:solidFill>
              </a:ln>
            </p:spPr>
            <p:txBody>
              <a:bodyPr rtlCol="0" anchor="ctr" lIns="54864" tIns="54864" rIns="54864" bIns="54864" wrap="square">
                <a:noAutofit/>
              </a:bodyPr>
              <a:lstStyle/>
              <a:p>
                <a:pPr algn="ctr"/>
              </a:p>
            </p:txBody>
          </p:sp>
          <p:pic>
            <p:nvPicPr>
              <p:cNvPr id="17" name="Picture 16" descr="warning.png"/>
              <p:cNvPicPr>
                <a:picLocks noChangeAspect="1"/>
              </p:cNvPicPr>
              <p:nvPr/>
            </p:nvPicPr>
            <p:blipFill>
              <a:blip r:embed="rId3"/>
              <a:stretch>
                <a:fillRect/>
              </a:stretch>
            </p:blipFill>
            <p:spPr>
              <a:xfrm>
                <a:off x="4616623" y="1480231"/>
                <a:ext cx="276515" cy="276515"/>
              </a:xfrm>
              <a:prstGeom prst="rect">
                <a:avLst/>
              </a:prstGeom>
            </p:spPr>
          </p:pic>
        </p:grpSp>
        <p:sp>
          <p:nvSpPr>
            <p:cNvPr id="18" name="TextBox 17"/>
            <p:cNvSpPr txBox="1"/>
            <p:nvPr/>
          </p:nvSpPr>
          <p:spPr>
            <a:xfrm>
              <a:off x="5120640" y="1261872"/>
              <a:ext cx="2697480" cy="713232"/>
            </a:xfrm>
            <a:prstGeom prst="rect">
              <a:avLst/>
            </a:prstGeom>
            <a:noFill/>
          </p:spPr>
          <p:txBody>
            <a:bodyPr wrap="square" lIns="0" tIns="0" rIns="0" bIns="0" anchor="ctr">
              <a:noAutofit/>
            </a:bodyPr>
            <a:lstStyle/>
            <a:p>
              <a:pPr algn="l"/>
              <a:r>
                <a:rPr sz="1700" b="1" i="0" lang="vi-VN" spc="30">
                  <a:solidFill>
                    <a:srgbClr val="FFFFFF"/>
                  </a:solidFill>
                  <a:latin typeface="Arial"/>
                  <a:ea typeface="Arial"/>
                  <a:cs typeface="Arial"/>
                </a:rPr>
                <a:t>HẠN CHẾ</a:t>
              </a:r>
            </a:p>
          </p:txBody>
        </p:sp>
        <p:sp>
          <p:nvSpPr>
            <p:cNvPr id="19" name="TextBox 18"/>
            <p:cNvSpPr txBox="1"/>
            <p:nvPr/>
          </p:nvSpPr>
          <p:spPr>
            <a:xfrm>
              <a:off x="4498848" y="2176272"/>
              <a:ext cx="3246120" cy="3794760"/>
            </a:xfrm>
            <a:prstGeom prst="rect">
              <a:avLst/>
            </a:prstGeom>
            <a:noFill/>
          </p:spPr>
          <p:txBody>
            <a:bodyPr wrap="square" lIns="0" tIns="0" rIns="0" bIns="0" anchor="t">
              <a:noAutofit/>
            </a:bodyPr>
            <a:lstStyle/>
            <a:p>
              <a:pPr algn="l" marL="201168" indent="-201168">
                <a:lnSpc>
                  <a:spcPct val="102000"/>
                </a:lnSpc>
                <a:spcAft>
                  <a:spcPts val="1000"/>
                </a:spcAft>
                <a:buClr>
                  <a:srgbClr val="C62828"/>
                </a:buClr>
                <a:buSzPct val="100000"/>
                <a:buFont typeface="Arial"/>
                <a:buChar char="•"/>
              </a:pPr>
              <a:r>
                <a:rPr sz="1600" b="0" i="0" lang="vi-VN">
                  <a:solidFill>
                    <a:srgbClr val="1E2B3A"/>
                  </a:solidFill>
                  <a:latin typeface="Arial"/>
                  <a:ea typeface="Arial"/>
                  <a:cs typeface="Arial"/>
                </a:rPr>
                <a:t>RS485 chưa tất định hoàn toàn: giao dịch 6,00 ms &gt; khe 5 ms; cập nhật lớn nhất 14,1 ms</a:t>
              </a:r>
            </a:p>
            <a:p>
              <a:pPr algn="l" marL="201168" indent="-201168">
                <a:lnSpc>
                  <a:spcPct val="102000"/>
                </a:lnSpc>
                <a:spcAft>
                  <a:spcPts val="1000"/>
                </a:spcAft>
                <a:buClr>
                  <a:srgbClr val="C62828"/>
                </a:buClr>
                <a:buSzPct val="100000"/>
                <a:buFont typeface="Arial"/>
                <a:buChar char="•"/>
              </a:pPr>
              <a:r>
                <a:rPr sz="1600" b="0" i="0" lang="vi-VN">
                  <a:solidFill>
                    <a:srgbClr val="1E2B3A"/>
                  </a:solidFill>
                  <a:latin typeface="Arial"/>
                  <a:ea typeface="Arial"/>
                  <a:cs typeface="Arial"/>
                </a:rPr>
                <a:t>Thực nghiệm đến ≈ 240 °/s; dải 600–900 °/s mới xác nhận bằng mô phỏng</a:t>
              </a:r>
            </a:p>
            <a:p>
              <a:pPr algn="l" marL="201168" indent="-201168">
                <a:lnSpc>
                  <a:spcPct val="102000"/>
                </a:lnSpc>
                <a:spcAft>
                  <a:spcPts val="1000"/>
                </a:spcAft>
                <a:buClr>
                  <a:srgbClr val="C62828"/>
                </a:buClr>
                <a:buSzPct val="100000"/>
                <a:buFont typeface="Arial"/>
                <a:buChar char="•"/>
              </a:pPr>
              <a:r>
                <a:rPr sz="1600" b="0" i="0" lang="vi-VN">
                  <a:solidFill>
                    <a:srgbClr val="1E2B3A"/>
                  </a:solidFill>
                  <a:latin typeface="Arial"/>
                  <a:ea typeface="Arial"/>
                  <a:cs typeface="Arial"/>
                </a:rPr>
                <a:t>Mô hình chưa có ma sát, khe hở, đàn hồi → lạc quan hơn hệ thật</a:t>
              </a:r>
            </a:p>
          </p:txBody>
        </p:sp>
      </p:grpSp>
      <p:grpSp>
        <p:nvGrpSpPr>
          <p:cNvPr id="20" name="Group 19"/>
          <p:cNvGrpSpPr/>
          <p:nvPr/>
        </p:nvGrpSpPr>
        <p:grpSpPr>
          <a:xfrm>
            <a:off x="8092440" y="1261872"/>
            <a:ext cx="3611880" cy="4791456"/>
            <a:chOff x="8092440" y="1261872"/>
            <a:chExt cx="3611880" cy="4791456"/>
          </a:xfrm>
        </p:grpSpPr>
        <p:sp>
          <p:nvSpPr>
            <p:cNvPr id="21" name="Rounded Rectangle 20"/>
            <p:cNvSpPr/>
            <p:nvPr/>
          </p:nvSpPr>
          <p:spPr>
            <a:xfrm>
              <a:off x="8092440" y="1261872"/>
              <a:ext cx="3611880" cy="4791456"/>
            </a:xfrm>
            <a:prstGeom prst="roundRect">
              <a:avLst>
                <a:gd name="adj" fmla="val 2531"/>
              </a:avLst>
            </a:prstGeom>
            <a:solidFill>
              <a:srgbClr val="FFFFFF"/>
            </a:solidFill>
            <a:ln>
              <a:noFill/>
            </a:ln>
            <a:effectLst>
              <a:outerShdw blurRad="91440" dist="32004" dir="5400000" algn="t" rotWithShape="0">
                <a:srgbClr val="0B2545">
                  <a:alpha val="16000"/>
                </a:srgbClr>
              </a:outerShdw>
            </a:effectLst>
          </p:spPr>
          <p:txBody>
            <a:bodyPr rtlCol="0" anchor="ctr" lIns="54864" tIns="54864" rIns="54864" bIns="54864" wrap="square">
              <a:noAutofit/>
            </a:bodyPr>
            <a:lstStyle/>
            <a:p>
              <a:pPr algn="ctr"/>
            </a:p>
          </p:txBody>
        </p:sp>
        <p:sp>
          <p:nvSpPr>
            <p:cNvPr id="22" name="Rounded Rectangle 21"/>
            <p:cNvSpPr/>
            <p:nvPr/>
          </p:nvSpPr>
          <p:spPr>
            <a:xfrm>
              <a:off x="8092440" y="1261872"/>
              <a:ext cx="3611880" cy="713232"/>
            </a:xfrm>
            <a:prstGeom prst="roundRect">
              <a:avLst>
                <a:gd name="adj" fmla="val 12820"/>
              </a:avLst>
            </a:prstGeom>
            <a:solidFill>
              <a:srgbClr val="E8710A"/>
            </a:solidFill>
            <a:ln>
              <a:noFill/>
            </a:ln>
          </p:spPr>
          <p:txBody>
            <a:bodyPr rtlCol="0" anchor="ctr" lIns="54864" tIns="54864" rIns="54864" bIns="54864" wrap="square">
              <a:noAutofit/>
            </a:bodyPr>
            <a:lstStyle/>
            <a:p>
              <a:pPr algn="ctr"/>
            </a:p>
          </p:txBody>
        </p:sp>
        <p:grpSp>
          <p:nvGrpSpPr>
            <p:cNvPr id="23" name="Group 22"/>
            <p:cNvGrpSpPr/>
            <p:nvPr/>
          </p:nvGrpSpPr>
          <p:grpSpPr>
            <a:xfrm>
              <a:off x="8302752" y="1371600"/>
              <a:ext cx="493776" cy="493776"/>
              <a:chOff x="8302752" y="1371600"/>
              <a:chExt cx="493776" cy="493776"/>
            </a:xfrm>
          </p:grpSpPr>
          <p:sp>
            <p:nvSpPr>
              <p:cNvPr id="24" name="Oval 23"/>
              <p:cNvSpPr/>
              <p:nvPr/>
            </p:nvSpPr>
            <p:spPr>
              <a:xfrm>
                <a:off x="8302752" y="1371600"/>
                <a:ext cx="493776" cy="493776"/>
              </a:xfrm>
              <a:prstGeom prst="ellipse">
                <a:avLst/>
              </a:prstGeom>
              <a:solidFill>
                <a:srgbClr val="E8710A"/>
              </a:solidFill>
              <a:ln w="25400">
                <a:solidFill>
                  <a:srgbClr val="FFFFFF"/>
                </a:solidFill>
              </a:ln>
            </p:spPr>
            <p:txBody>
              <a:bodyPr rtlCol="0" anchor="ctr" lIns="54864" tIns="54864" rIns="54864" bIns="54864" wrap="square">
                <a:noAutofit/>
              </a:bodyPr>
              <a:lstStyle/>
              <a:p>
                <a:pPr algn="ctr"/>
              </a:p>
            </p:txBody>
          </p:sp>
          <p:pic>
            <p:nvPicPr>
              <p:cNvPr id="25" name="Picture 24" descr="route.png"/>
              <p:cNvPicPr>
                <a:picLocks noChangeAspect="1"/>
              </p:cNvPicPr>
              <p:nvPr/>
            </p:nvPicPr>
            <p:blipFill>
              <a:blip r:embed="rId4"/>
              <a:stretch>
                <a:fillRect/>
              </a:stretch>
            </p:blipFill>
            <p:spPr>
              <a:xfrm>
                <a:off x="8411383" y="1480231"/>
                <a:ext cx="276515" cy="276515"/>
              </a:xfrm>
              <a:prstGeom prst="rect">
                <a:avLst/>
              </a:prstGeom>
            </p:spPr>
          </p:pic>
        </p:grpSp>
        <p:sp>
          <p:nvSpPr>
            <p:cNvPr id="26" name="TextBox 25"/>
            <p:cNvSpPr txBox="1"/>
            <p:nvPr/>
          </p:nvSpPr>
          <p:spPr>
            <a:xfrm>
              <a:off x="8915400" y="1261872"/>
              <a:ext cx="2697480" cy="713232"/>
            </a:xfrm>
            <a:prstGeom prst="rect">
              <a:avLst/>
            </a:prstGeom>
            <a:noFill/>
          </p:spPr>
          <p:txBody>
            <a:bodyPr wrap="square" lIns="0" tIns="0" rIns="0" bIns="0" anchor="ctr">
              <a:noAutofit/>
            </a:bodyPr>
            <a:lstStyle/>
            <a:p>
              <a:pPr algn="l"/>
              <a:r>
                <a:rPr sz="1700" b="1" i="0" lang="vi-VN" spc="30">
                  <a:solidFill>
                    <a:srgbClr val="FFFFFF"/>
                  </a:solidFill>
                  <a:latin typeface="Arial"/>
                  <a:ea typeface="Arial"/>
                  <a:cs typeface="Arial"/>
                </a:rPr>
                <a:t>HƯỚNG PHÁT TRIỂN</a:t>
              </a:r>
            </a:p>
          </p:txBody>
        </p:sp>
        <p:sp>
          <p:nvSpPr>
            <p:cNvPr id="27" name="TextBox 26"/>
            <p:cNvSpPr txBox="1"/>
            <p:nvPr/>
          </p:nvSpPr>
          <p:spPr>
            <a:xfrm>
              <a:off x="8293608" y="2176272"/>
              <a:ext cx="3246120" cy="3794760"/>
            </a:xfrm>
            <a:prstGeom prst="rect">
              <a:avLst/>
            </a:prstGeom>
            <a:noFill/>
          </p:spPr>
          <p:txBody>
            <a:bodyPr wrap="square" lIns="0" tIns="0" rIns="0" bIns="0" anchor="t">
              <a:noAutofit/>
            </a:bodyPr>
            <a:lstStyle/>
            <a:p>
              <a:pPr algn="l" marL="201168" indent="-201168">
                <a:lnSpc>
                  <a:spcPct val="102000"/>
                </a:lnSpc>
                <a:spcAft>
                  <a:spcPts val="1000"/>
                </a:spcAft>
                <a:buClr>
                  <a:srgbClr val="E8710A"/>
                </a:buClr>
                <a:buSzPct val="100000"/>
                <a:buFont typeface="Arial"/>
                <a:buChar char="•"/>
              </a:pPr>
              <a:r>
                <a:rPr sz="1600" b="0" i="0" lang="vi-VN">
                  <a:solidFill>
                    <a:srgbClr val="1E2B3A"/>
                  </a:solidFill>
                  <a:latin typeface="Arial"/>
                  <a:ea typeface="Arial"/>
                  <a:cs typeface="Arial"/>
                </a:rPr>
                <a:t>Bus riêng mỗi trục hoặc CAN; ngoại suy thích nghi theo tuổi dữ liệu</a:t>
              </a:r>
            </a:p>
            <a:p>
              <a:pPr algn="l" marL="201168" indent="-201168">
                <a:lnSpc>
                  <a:spcPct val="102000"/>
                </a:lnSpc>
                <a:spcAft>
                  <a:spcPts val="1000"/>
                </a:spcAft>
                <a:buClr>
                  <a:srgbClr val="E8710A"/>
                </a:buClr>
                <a:buSzPct val="100000"/>
                <a:buFont typeface="Arial"/>
                <a:buChar char="•"/>
              </a:pPr>
              <a:r>
                <a:rPr sz="1600" b="0" i="0" lang="vi-VN">
                  <a:solidFill>
                    <a:srgbClr val="1E2B3A"/>
                  </a:solidFill>
                  <a:latin typeface="Arial"/>
                  <a:ea typeface="Arial"/>
                  <a:cs typeface="Arial"/>
                </a:rPr>
                <a:t>Quét tần số, xác nhận mode cộng hưởng, lọc chắn dải 16,5 Hz</a:t>
              </a:r>
            </a:p>
            <a:p>
              <a:pPr algn="l" marL="201168" indent="-201168">
                <a:lnSpc>
                  <a:spcPct val="102000"/>
                </a:lnSpc>
                <a:spcAft>
                  <a:spcPts val="1000"/>
                </a:spcAft>
                <a:buClr>
                  <a:srgbClr val="E8710A"/>
                </a:buClr>
                <a:buSzPct val="100000"/>
                <a:buFont typeface="Arial"/>
                <a:buChar char="•"/>
              </a:pPr>
              <a:r>
                <a:rPr sz="1600" b="0" i="0" lang="vi-VN">
                  <a:solidFill>
                    <a:srgbClr val="1E2B3A"/>
                  </a:solidFill>
                  <a:latin typeface="Arial"/>
                  <a:ea typeface="Arial"/>
                  <a:cs typeface="Arial"/>
                </a:rPr>
                <a:t>Giá thử kích thích &gt; 240 °/s, lặp đủ số lần</a:t>
              </a:r>
            </a:p>
            <a:p>
              <a:pPr algn="l" marL="201168" indent="-201168">
                <a:lnSpc>
                  <a:spcPct val="102000"/>
                </a:lnSpc>
                <a:spcAft>
                  <a:spcPts val="1000"/>
                </a:spcAft>
                <a:buClr>
                  <a:srgbClr val="E8710A"/>
                </a:buClr>
                <a:buSzPct val="100000"/>
                <a:buFont typeface="Arial"/>
                <a:buChar char="•"/>
              </a:pPr>
              <a:r>
                <a:rPr sz="1600" b="0" i="0" lang="vi-VN">
                  <a:solidFill>
                    <a:srgbClr val="1E2B3A"/>
                  </a:solidFill>
                  <a:latin typeface="Arial"/>
                  <a:ea typeface="Arial"/>
                  <a:cs typeface="Arial"/>
                </a:rPr>
                <a:t>Tham chiếu phương vị độc lập cho trục Yaw</a:t>
              </a:r>
            </a:p>
            <a:p>
              <a:pPr algn="l" marL="201168" indent="-201168">
                <a:lnSpc>
                  <a:spcPct val="102000"/>
                </a:lnSpc>
                <a:spcAft>
                  <a:spcPts val="1000"/>
                </a:spcAft>
                <a:buClr>
                  <a:srgbClr val="E8710A"/>
                </a:buClr>
                <a:buSzPct val="100000"/>
                <a:buFont typeface="Arial"/>
                <a:buChar char="•"/>
              </a:pPr>
              <a:r>
                <a:rPr sz="1600" b="0" i="0" lang="vi-VN">
                  <a:solidFill>
                    <a:srgbClr val="1E2B3A"/>
                  </a:solidFill>
                  <a:latin typeface="Arial"/>
                  <a:ea typeface="Arial"/>
                  <a:cs typeface="Arial"/>
                </a:rPr>
                <a:t>Điều khiển trực tiếp dòng </a:t>
              </a:r>
              <a:r>
                <a:rPr sz="1600" b="0" i="1" lang="vi-VN">
                  <a:solidFill>
                    <a:srgbClr val="1E2B3A"/>
                  </a:solidFill>
                  <a:latin typeface="Cambria"/>
                  <a:ea typeface="Cambria"/>
                  <a:cs typeface="Cambria"/>
                </a:rPr>
                <a:t>I</a:t>
              </a:r>
              <a:r>
                <a:rPr sz="1600" b="0" i="0" lang="vi-VN" baseline="-25000">
                  <a:solidFill>
                    <a:srgbClr val="1E2B3A"/>
                  </a:solidFill>
                  <a:latin typeface="Cambria"/>
                  <a:ea typeface="Cambria"/>
                  <a:cs typeface="Cambria"/>
                </a:rPr>
                <a:t>q</a:t>
              </a:r>
            </a:p>
          </p:txBody>
        </p:sp>
      </p:grpSp>
      <p:sp>
        <p:nvSpPr>
          <p:cNvPr id="28"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29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anim calcmode="lin" valueType="num">
                                      <p:cBhvr>
                                        <p:cTn id="15" dur="500" fill="hold"/>
                                        <p:tgtEl>
                                          <p:spTgt spid="12"/>
                                        </p:tgtEl>
                                        <p:attrNameLst>
                                          <p:attrName>ppt_x</p:attrName>
                                        </p:attrNameLst>
                                      </p:cBhvr>
                                      <p:tavLst>
                                        <p:tav tm="0">
                                          <p:val>
                                            <p:strVal val="#ppt_x"/>
                                          </p:val>
                                        </p:tav>
                                        <p:tav tm="100000">
                                          <p:val>
                                            <p:strVal val="#ppt_x"/>
                                          </p:val>
                                        </p:tav>
                                      </p:tavLst>
                                    </p:anim>
                                    <p:anim calcmode="lin" valueType="num">
                                      <p:cBhvr>
                                        <p:cTn id="16" dur="500" fill="hold"/>
                                        <p:tgtEl>
                                          <p:spTgt spid="12"/>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anim calcmode="lin" valueType="num">
                                      <p:cBhvr>
                                        <p:cTn id="22" dur="500" fill="hold"/>
                                        <p:tgtEl>
                                          <p:spTgt spid="20"/>
                                        </p:tgtEl>
                                        <p:attrNameLst>
                                          <p:attrName>ppt_x</p:attrName>
                                        </p:attrNameLst>
                                      </p:cBhvr>
                                      <p:tavLst>
                                        <p:tav tm="0">
                                          <p:val>
                                            <p:strVal val="#ppt_x"/>
                                          </p:val>
                                        </p:tav>
                                        <p:tav tm="100000">
                                          <p:val>
                                            <p:strVal val="#ppt_x"/>
                                          </p:val>
                                        </p:tav>
                                      </p:tavLst>
                                    </p:anim>
                                    <p:anim calcmode="lin" valueType="num">
                                      <p:cBhvr>
                                        <p:cTn id="23" dur="500" fill="hold"/>
                                        <p:tgtEl>
                                          <p:spTgt spid="20"/>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5632704" y="502920"/>
            <a:ext cx="914400" cy="914400"/>
          </a:xfrm>
          <a:prstGeom prst="rect">
            <a:avLst/>
          </a:prstGeom>
        </p:spPr>
      </p:pic>
      <p:sp>
        <p:nvSpPr>
          <p:cNvPr id="3" name="TextBox 2"/>
          <p:cNvSpPr txBox="1"/>
          <p:nvPr/>
        </p:nvSpPr>
        <p:spPr>
          <a:xfrm>
            <a:off x="731520" y="1691640"/>
            <a:ext cx="10725912" cy="914400"/>
          </a:xfrm>
          <a:prstGeom prst="rect">
            <a:avLst/>
          </a:prstGeom>
          <a:noFill/>
        </p:spPr>
        <p:txBody>
          <a:bodyPr wrap="square" lIns="0" tIns="0" rIns="0" bIns="0" anchor="ctr">
            <a:noAutofit/>
          </a:bodyPr>
          <a:lstStyle/>
          <a:p>
            <a:pPr algn="ctr"/>
            <a:r>
              <a:rPr sz="4400" b="1" i="0" lang="vi-VN">
                <a:solidFill>
                  <a:srgbClr val="0B2545"/>
                </a:solidFill>
                <a:latin typeface="Arial"/>
                <a:ea typeface="Arial"/>
                <a:cs typeface="Arial"/>
              </a:rPr>
              <a:t>EM XIN CHÂN THÀNH CẢM ƠN!</a:t>
            </a:r>
          </a:p>
        </p:txBody>
      </p:sp>
      <p:sp>
        <p:nvSpPr>
          <p:cNvPr id="4" name="TextBox 3"/>
          <p:cNvSpPr txBox="1"/>
          <p:nvPr/>
        </p:nvSpPr>
        <p:spPr>
          <a:xfrm>
            <a:off x="731520" y="2651760"/>
            <a:ext cx="10725912" cy="548640"/>
          </a:xfrm>
          <a:prstGeom prst="rect">
            <a:avLst/>
          </a:prstGeom>
          <a:noFill/>
        </p:spPr>
        <p:txBody>
          <a:bodyPr wrap="square" lIns="0" tIns="0" rIns="0" bIns="0" anchor="ctr">
            <a:noAutofit/>
          </a:bodyPr>
          <a:lstStyle/>
          <a:p>
            <a:pPr algn="ctr"/>
            <a:r>
              <a:rPr sz="2400" b="0" i="1" lang="vi-VN">
                <a:solidFill>
                  <a:srgbClr val="0A5FA8"/>
                </a:solidFill>
                <a:latin typeface="Arial"/>
                <a:ea typeface="Arial"/>
                <a:cs typeface="Arial"/>
              </a:rPr>
              <a:t>Kính mong nhận được ý kiến đóng góp của Hội đồng</a:t>
            </a:r>
          </a:p>
        </p:txBody>
      </p:sp>
      <p:pic>
        <p:nvPicPr>
          <p:cNvPr id="5" name="Picture 4" descr="cad_render_cut.png"/>
          <p:cNvPicPr>
            <a:picLocks noChangeAspect="1"/>
          </p:cNvPicPr>
          <p:nvPr/>
        </p:nvPicPr>
        <p:blipFill>
          <a:blip r:embed="rId3"/>
          <a:stretch>
            <a:fillRect/>
          </a:stretch>
        </p:blipFill>
        <p:spPr>
          <a:xfrm>
            <a:off x="5074920" y="3246120"/>
            <a:ext cx="2011680" cy="1866444"/>
          </a:xfrm>
          <a:prstGeom prst="rect">
            <a:avLst/>
          </a:prstGeom>
        </p:spPr>
      </p:pic>
      <p:sp>
        <p:nvSpPr>
          <p:cNvPr id="6" name="Rounded Rectangle 5"/>
          <p:cNvSpPr/>
          <p:nvPr/>
        </p:nvSpPr>
        <p:spPr>
          <a:xfrm>
            <a:off x="1097280" y="5257800"/>
            <a:ext cx="9994392" cy="777240"/>
          </a:xfrm>
          <a:prstGeom prst="roundRect">
            <a:avLst>
              <a:gd name="adj" fmla="val 14117"/>
            </a:avLst>
          </a:prstGeom>
          <a:solidFill>
            <a:srgbClr val="0B2545"/>
          </a:solidFill>
          <a:ln>
            <a:noFill/>
          </a:ln>
        </p:spPr>
        <p:txBody>
          <a:bodyPr rtlCol="0" anchor="ctr" lIns="54864" tIns="54864" rIns="54864" bIns="54864" wrap="square">
            <a:noAutofit/>
          </a:bodyPr>
          <a:lstStyle/>
          <a:p>
            <a:pPr algn="ctr"/>
            <a:r>
              <a:rPr sz="1500" b="1" i="0" lang="vi-VN">
                <a:solidFill>
                  <a:srgbClr val="FFFFFF"/>
                </a:solidFill>
                <a:latin typeface="Arial"/>
                <a:ea typeface="Arial"/>
                <a:cs typeface="Arial"/>
              </a:rPr>
              <a:t>Đề tài: Thiết kế bộ điều khiển Gimbal trên cơ sở hệ điều hành thời gian thực NuttX</a:t>
            </a:r>
          </a:p>
          <a:p>
            <a:pPr algn="ctr"/>
            <a:r>
              <a:rPr sz="1300" b="0" i="0" lang="vi-VN">
                <a:solidFill>
                  <a:srgbClr val="FFFFFF"/>
                </a:solidFill>
                <a:latin typeface="Arial"/>
                <a:ea typeface="Arial"/>
                <a:cs typeface="Arial"/>
              </a:rPr>
              <a:t>GVHD: Trung tá, TS. Nguyễn Ngọc Hưng · Trung tá, ThS. Lê Văn Huy   |   HV: Huỳnh Thanh Nam – Lớp Tên lửa phòng không 2</a:t>
            </a:r>
          </a:p>
        </p:txBody>
      </p:sp>
      <p:sp>
        <p:nvSpPr>
          <p:cNvPr id="23" name="SlideNo"/>
          <p:cNvSpPr txBox="1"/>
          <p:nvPr/>
        </p:nvSpPr>
        <p:spPr>
          <a:xfrm>
            <a:off x="11274552" y="6437376"/>
            <a:ext cx="548640" cy="274320"/>
          </a:xfrm>
          <a:prstGeom prst="rect">
            <a:avLst/>
          </a:prstGeom>
          <a:noFill/>
        </p:spPr>
        <p:txBody>
          <a:bodyPr wrap="square" lIns="0" tIns="0" rIns="0" bIns="0" anchor="t">
            <a:noAutofit/>
          </a:bodyPr>
          <a:lstStyle/>
          <a:p>
            <a:pPr algn="r"/>
            <a:fld id="{8D2B4A71-3C1E-4C55-9E2B-0A1B2C3D4E5F}" type="slidenum">
              <a:rPr lang="vi-VN" sz="1200">
                <a:solidFill>
                  <a:srgbClr val="5B6B7B"/>
                </a:solidFill>
                <a:latin typeface="Arial"/>
              </a:rPr>
              <a:t>30</a:t>
            </a:fld>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ppt_w</p:attrName>
                                        </p:attrNameLst>
                                      </p:cBhvr>
                                      <p:tavLst>
                                        <p:tav tm="0">
                                          <p:val>
                                            <p:strVal val="0"/>
                                          </p:val>
                                        </p:tav>
                                        <p:tav tm="100000">
                                          <p:val>
                                            <p:strVal val="#ppt_w"/>
                                          </p:val>
                                        </p:tav>
                                      </p:tavLst>
                                    </p:anim>
                                    <p:anim calcmode="lin" valueType="num">
                                      <p:cBhvr>
                                        <p:cTn id="9" dur="600" fill="hold"/>
                                        <p:tgtEl>
                                          <p:spTgt spid="3"/>
                                        </p:tgtEl>
                                        <p:attrNameLst>
                                          <p:attrName>ppt_h</p:attrName>
                                        </p:attrNameLst>
                                      </p:cBhvr>
                                      <p:tavLst>
                                        <p:tav tm="0">
                                          <p:val>
                                            <p:strVal val="0"/>
                                          </p:val>
                                        </p:tav>
                                        <p:tav tm="100000">
                                          <p:val>
                                            <p:strVal val="#ppt_h"/>
                                          </p:val>
                                        </p:tav>
                                      </p:tavLst>
                                    </p:anim>
                                  </p:childTnLst>
                                </p:cTn>
                              </p:par>
                            </p:childTnLst>
                          </p:cTn>
                        </p:par>
                        <p:par>
                          <p:cTn id="10" fill="hold">
                            <p:stCondLst>
                              <p:cond delay="6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200"/>
                            </p:stCondLst>
                            <p:childTnLst>
                              <p:par>
                                <p:cTn id="18" presetID="42"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anim calcmode="lin" valueType="num">
                                      <p:cBhvr>
                                        <p:cTn id="21" dur="500" fill="hold"/>
                                        <p:tgtEl>
                                          <p:spTgt spid="6"/>
                                        </p:tgtEl>
                                        <p:attrNameLst>
                                          <p:attrName>ppt_x</p:attrName>
                                        </p:attrNameLst>
                                      </p:cBhvr>
                                      <p:tavLst>
                                        <p:tav tm="0">
                                          <p:val>
                                            <p:strVal val="#ppt_x"/>
                                          </p:val>
                                        </p:tav>
                                        <p:tav tm="100000">
                                          <p:val>
                                            <p:strVal val="#ppt_x"/>
                                          </p:val>
                                        </p:tav>
                                      </p:tavLst>
                                    </p:anim>
                                    <p:anim calcmode="lin" valueType="num">
                                      <p:cBhvr>
                                        <p:cTn id="22" dur="500" fill="hold"/>
                                        <p:tgtEl>
                                          <p:spTgt spid="6"/>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4959</TotalTime>
  <Words>13232</Words>
  <Application>Microsoft Office PowerPoint</Application>
  <PresentationFormat>Widescreen</PresentationFormat>
  <Paragraphs>1395</Paragraphs>
  <Slides>44</Slides>
  <Notes>44</Notes>
  <HiddenSlides>12</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44</vt:i4>
      </vt:variant>
    </vt:vector>
  </HeadingPairs>
  <TitlesOfParts>
    <vt:vector size="58" baseType="lpstr">
      <vt:lpstr>Aptos</vt:lpstr>
      <vt:lpstr>Aptos Display</vt:lpstr>
      <vt:lpstr>Arial</vt:lpstr>
      <vt:lpstr>Calibri</vt:lpstr>
      <vt:lpstr>Cambria</vt:lpstr>
      <vt:lpstr>Fira Sans</vt:lpstr>
      <vt:lpstr>Fira Sans Condensed</vt:lpstr>
      <vt:lpstr>Fira Sans ExtraBold</vt:lpstr>
      <vt:lpstr>LucidaGrande</vt:lpstr>
      <vt:lpstr>Open Sans</vt:lpstr>
      <vt:lpstr>Open Sans ExtraBold</vt:lpstr>
      <vt:lpstr>Overpass Black</vt:lpstr>
      <vt:lpstr>Times New Roman</vt:lpstr>
      <vt:lpstr>Office Theme</vt:lpstr>
      <vt:lpstr>THIẾT KẾ BỘ ĐIỀU KHIỂN GIMBAL TRÊN CƠ SỞ HỆ ĐIỀU HÀNH THỜI GIAN THỰC NUTTX</vt:lpstr>
      <vt:lpstr>Lý do lựa chọn đề tài</vt:lpstr>
      <vt:lpstr>KẾT CẤU ĐỒ ÁN TỐT NGHIỆP</vt:lpstr>
      <vt:lpstr>PowerPoint Presentation</vt:lpstr>
      <vt:lpstr>PowerPoint Presentation</vt:lpstr>
      <vt:lpstr>PowerPoint Presentation</vt:lpstr>
      <vt:lpstr>PowerPoint Presentation</vt:lpstr>
      <vt:lpstr>PHẦN 2 · THIẾT KẾ HỆ THỐNG</vt:lpstr>
      <vt:lpstr>PowerPoint Presentation</vt:lpstr>
      <vt:lpstr>PowerPoint Presentation</vt:lpstr>
      <vt:lpstr>PowerPoint Presentation</vt:lpstr>
      <vt:lpstr>PowerPoint Presentation</vt:lpstr>
      <vt:lpstr>PowerPoint Presentation</vt:lpstr>
      <vt:lpstr>PHẦN 3 · THUẬT TOÁN ĐIỀU KHIỂN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PHẦN 4 · MÔ PHỎNG, HIỆU CHỈNH VÀ THỰC NGHIỆM</vt:lpstr>
      <vt:lpstr>PowerPoint Presentation</vt:lpstr>
      <vt:lpstr>PowerPoint Presentation</vt:lpstr>
      <vt:lpstr>PowerPoint Presentation</vt:lpstr>
      <vt:lpstr>PowerPoint Presentation</vt:lpstr>
      <vt:lpstr>PowerPoint Presentation</vt:lpstr>
      <vt:lpstr>PowerPoint Presentation</vt:lpstr>
      <vt:lpstr>PHẦN 5 · ĐÁNH GIÁ VÀ KẾT LUẬN</vt:lpstr>
      <vt:lpstr>PowerPoint Presentation</vt:lpstr>
      <vt:lpstr>KẾT LUẬN CHUNG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NGHIÊN CỨU, THIẾT KẾ HỆ THỐNG ỔN ĐỊNH  VÀ ĐIỀU KHIỂN ĐƯỜNG NGẮM CHO CAMERA TRÊN THIẾT BỊ BAY KHÔNG NGƯỜI LÁI</dc:title>
  <dc:creator>vu tung</dc:creator>
  <cp:lastModifiedBy>Nam Huỳnh</cp:lastModifiedBy>
  <cp:revision>248</cp:revision>
  <dcterms:created xsi:type="dcterms:W3CDTF">2024-10-01T01:58:32Z</dcterms:created>
  <dcterms:modified xsi:type="dcterms:W3CDTF">2026-10-01T00:46:48Z</dcterms:modified>
</cp:coreProperties>
</file>